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448"/>
  </p:notesMasterIdLst>
  <p:handoutMasterIdLst>
    <p:handoutMasterId r:id="rId449"/>
  </p:handoutMasterIdLst>
  <p:sldIdLst>
    <p:sldId id="256" r:id="rId2"/>
    <p:sldId id="627" r:id="rId3"/>
    <p:sldId id="356" r:id="rId4"/>
    <p:sldId id="260" r:id="rId5"/>
    <p:sldId id="571" r:id="rId6"/>
    <p:sldId id="939" r:id="rId7"/>
    <p:sldId id="622" r:id="rId8"/>
    <p:sldId id="624" r:id="rId9"/>
    <p:sldId id="625" r:id="rId10"/>
    <p:sldId id="940" r:id="rId11"/>
    <p:sldId id="291" r:id="rId12"/>
    <p:sldId id="941" r:id="rId13"/>
    <p:sldId id="273" r:id="rId14"/>
    <p:sldId id="292" r:id="rId15"/>
    <p:sldId id="298" r:id="rId16"/>
    <p:sldId id="299" r:id="rId17"/>
    <p:sldId id="300" r:id="rId18"/>
    <p:sldId id="301" r:id="rId19"/>
    <p:sldId id="297" r:id="rId20"/>
    <p:sldId id="791" r:id="rId21"/>
    <p:sldId id="792" r:id="rId22"/>
    <p:sldId id="793" r:id="rId23"/>
    <p:sldId id="942" r:id="rId24"/>
    <p:sldId id="307" r:id="rId25"/>
    <p:sldId id="943" r:id="rId26"/>
    <p:sldId id="306" r:id="rId27"/>
    <p:sldId id="314" r:id="rId28"/>
    <p:sldId id="315" r:id="rId29"/>
    <p:sldId id="794" r:id="rId30"/>
    <p:sldId id="795" r:id="rId31"/>
    <p:sldId id="796" r:id="rId32"/>
    <p:sldId id="323" r:id="rId33"/>
    <p:sldId id="329" r:id="rId34"/>
    <p:sldId id="797" r:id="rId35"/>
    <p:sldId id="798" r:id="rId36"/>
    <p:sldId id="328" r:id="rId37"/>
    <p:sldId id="324" r:id="rId38"/>
    <p:sldId id="799" r:id="rId39"/>
    <p:sldId id="800" r:id="rId40"/>
    <p:sldId id="801" r:id="rId41"/>
    <p:sldId id="802" r:id="rId42"/>
    <p:sldId id="332" r:id="rId43"/>
    <p:sldId id="804" r:id="rId44"/>
    <p:sldId id="335" r:id="rId45"/>
    <p:sldId id="805" r:id="rId46"/>
    <p:sldId id="337" r:id="rId47"/>
    <p:sldId id="803" r:id="rId48"/>
    <p:sldId id="944" r:id="rId49"/>
    <p:sldId id="293" r:id="rId50"/>
    <p:sldId id="945" r:id="rId51"/>
    <p:sldId id="319" r:id="rId52"/>
    <p:sldId id="313" r:id="rId53"/>
    <p:sldId id="310" r:id="rId54"/>
    <p:sldId id="946" r:id="rId55"/>
    <p:sldId id="339" r:id="rId56"/>
    <p:sldId id="340" r:id="rId57"/>
    <p:sldId id="934" r:id="rId58"/>
    <p:sldId id="947" r:id="rId59"/>
    <p:sldId id="949" r:id="rId60"/>
    <p:sldId id="948" r:id="rId61"/>
    <p:sldId id="950" r:id="rId62"/>
    <p:sldId id="342" r:id="rId63"/>
    <p:sldId id="951" r:id="rId64"/>
    <p:sldId id="952" r:id="rId65"/>
    <p:sldId id="369" r:id="rId66"/>
    <p:sldId id="370" r:id="rId67"/>
    <p:sldId id="806" r:id="rId68"/>
    <p:sldId id="807" r:id="rId69"/>
    <p:sldId id="354" r:id="rId70"/>
    <p:sldId id="808" r:id="rId71"/>
    <p:sldId id="371" r:id="rId72"/>
    <p:sldId id="809" r:id="rId73"/>
    <p:sldId id="403" r:id="rId74"/>
    <p:sldId id="407" r:id="rId75"/>
    <p:sldId id="810" r:id="rId76"/>
    <p:sldId id="811" r:id="rId77"/>
    <p:sldId id="812" r:id="rId78"/>
    <p:sldId id="406" r:id="rId79"/>
    <p:sldId id="813" r:id="rId80"/>
    <p:sldId id="814" r:id="rId81"/>
    <p:sldId id="815" r:id="rId82"/>
    <p:sldId id="379" r:id="rId83"/>
    <p:sldId id="816" r:id="rId84"/>
    <p:sldId id="376" r:id="rId85"/>
    <p:sldId id="817" r:id="rId86"/>
    <p:sldId id="818" r:id="rId87"/>
    <p:sldId id="374" r:id="rId88"/>
    <p:sldId id="932" r:id="rId89"/>
    <p:sldId id="400" r:id="rId90"/>
    <p:sldId id="819" r:id="rId91"/>
    <p:sldId id="820" r:id="rId92"/>
    <p:sldId id="362" r:id="rId93"/>
    <p:sldId id="353" r:id="rId94"/>
    <p:sldId id="351" r:id="rId95"/>
    <p:sldId id="352" r:id="rId96"/>
    <p:sldId id="821" r:id="rId97"/>
    <p:sldId id="363" r:id="rId98"/>
    <p:sldId id="366" r:id="rId99"/>
    <p:sldId id="367" r:id="rId100"/>
    <p:sldId id="381" r:id="rId101"/>
    <p:sldId id="382" r:id="rId102"/>
    <p:sldId id="355" r:id="rId103"/>
    <p:sldId id="822" r:id="rId104"/>
    <p:sldId id="383" r:id="rId105"/>
    <p:sldId id="384" r:id="rId106"/>
    <p:sldId id="385" r:id="rId107"/>
    <p:sldId id="628" r:id="rId108"/>
    <p:sldId id="386" r:id="rId109"/>
    <p:sldId id="387" r:id="rId110"/>
    <p:sldId id="388" r:id="rId111"/>
    <p:sldId id="389" r:id="rId112"/>
    <p:sldId id="390" r:id="rId113"/>
    <p:sldId id="391" r:id="rId114"/>
    <p:sldId id="392" r:id="rId115"/>
    <p:sldId id="823" r:id="rId116"/>
    <p:sldId id="824" r:id="rId117"/>
    <p:sldId id="825" r:id="rId118"/>
    <p:sldId id="826" r:id="rId119"/>
    <p:sldId id="827" r:id="rId120"/>
    <p:sldId id="828" r:id="rId121"/>
    <p:sldId id="416" r:id="rId122"/>
    <p:sldId id="411" r:id="rId123"/>
    <p:sldId id="417" r:id="rId124"/>
    <p:sldId id="412" r:id="rId125"/>
    <p:sldId id="413" r:id="rId126"/>
    <p:sldId id="418" r:id="rId127"/>
    <p:sldId id="414" r:id="rId128"/>
    <p:sldId id="830" r:id="rId129"/>
    <p:sldId id="831" r:id="rId130"/>
    <p:sldId id="833" r:id="rId131"/>
    <p:sldId id="832" r:id="rId132"/>
    <p:sldId id="620" r:id="rId133"/>
    <p:sldId id="621" r:id="rId134"/>
    <p:sldId id="430" r:id="rId135"/>
    <p:sldId id="431" r:id="rId136"/>
    <p:sldId id="953" r:id="rId137"/>
    <p:sldId id="432" r:id="rId138"/>
    <p:sldId id="954" r:id="rId139"/>
    <p:sldId id="955" r:id="rId140"/>
    <p:sldId id="956" r:id="rId141"/>
    <p:sldId id="957" r:id="rId142"/>
    <p:sldId id="958" r:id="rId143"/>
    <p:sldId id="438" r:id="rId144"/>
    <p:sldId id="439" r:id="rId145"/>
    <p:sldId id="834" r:id="rId146"/>
    <p:sldId id="835" r:id="rId147"/>
    <p:sldId id="836" r:id="rId148"/>
    <p:sldId id="837" r:id="rId149"/>
    <p:sldId id="838" r:id="rId150"/>
    <p:sldId id="444" r:id="rId151"/>
    <p:sldId id="445" r:id="rId152"/>
    <p:sldId id="446" r:id="rId153"/>
    <p:sldId id="447" r:id="rId154"/>
    <p:sldId id="448" r:id="rId155"/>
    <p:sldId id="449" r:id="rId156"/>
    <p:sldId id="840" r:id="rId157"/>
    <p:sldId id="841" r:id="rId158"/>
    <p:sldId id="842" r:id="rId159"/>
    <p:sldId id="843" r:id="rId160"/>
    <p:sldId id="844" r:id="rId161"/>
    <p:sldId id="845" r:id="rId162"/>
    <p:sldId id="456" r:id="rId163"/>
    <p:sldId id="457" r:id="rId164"/>
    <p:sldId id="458" r:id="rId165"/>
    <p:sldId id="459" r:id="rId166"/>
    <p:sldId id="847" r:id="rId167"/>
    <p:sldId id="848" r:id="rId168"/>
    <p:sldId id="849" r:id="rId169"/>
    <p:sldId id="463" r:id="rId170"/>
    <p:sldId id="850" r:id="rId171"/>
    <p:sldId id="465" r:id="rId172"/>
    <p:sldId id="851" r:id="rId173"/>
    <p:sldId id="467" r:id="rId174"/>
    <p:sldId id="468" r:id="rId175"/>
    <p:sldId id="469" r:id="rId176"/>
    <p:sldId id="470" r:id="rId177"/>
    <p:sldId id="852" r:id="rId178"/>
    <p:sldId id="853" r:id="rId179"/>
    <p:sldId id="854" r:id="rId180"/>
    <p:sldId id="855" r:id="rId181"/>
    <p:sldId id="474" r:id="rId182"/>
    <p:sldId id="475" r:id="rId183"/>
    <p:sldId id="476" r:id="rId184"/>
    <p:sldId id="477" r:id="rId185"/>
    <p:sldId id="478" r:id="rId186"/>
    <p:sldId id="857" r:id="rId187"/>
    <p:sldId id="856" r:id="rId188"/>
    <p:sldId id="858" r:id="rId189"/>
    <p:sldId id="482" r:id="rId190"/>
    <p:sldId id="483" r:id="rId191"/>
    <p:sldId id="484" r:id="rId192"/>
    <p:sldId id="485" r:id="rId193"/>
    <p:sldId id="486" r:id="rId194"/>
    <p:sldId id="487" r:id="rId195"/>
    <p:sldId id="859" r:id="rId196"/>
    <p:sldId id="860" r:id="rId197"/>
    <p:sldId id="861" r:id="rId198"/>
    <p:sldId id="491" r:id="rId199"/>
    <p:sldId id="492" r:id="rId200"/>
    <p:sldId id="493" r:id="rId201"/>
    <p:sldId id="862" r:id="rId202"/>
    <p:sldId id="863" r:id="rId203"/>
    <p:sldId id="864" r:id="rId204"/>
    <p:sldId id="496" r:id="rId205"/>
    <p:sldId id="497" r:id="rId206"/>
    <p:sldId id="498" r:id="rId207"/>
    <p:sldId id="499" r:id="rId208"/>
    <p:sldId id="865" r:id="rId209"/>
    <p:sldId id="866" r:id="rId210"/>
    <p:sldId id="867" r:id="rId211"/>
    <p:sldId id="502" r:id="rId212"/>
    <p:sldId id="503" r:id="rId213"/>
    <p:sldId id="504" r:id="rId214"/>
    <p:sldId id="505" r:id="rId215"/>
    <p:sldId id="506" r:id="rId216"/>
    <p:sldId id="507" r:id="rId217"/>
    <p:sldId id="868" r:id="rId218"/>
    <p:sldId id="869" r:id="rId219"/>
    <p:sldId id="870" r:id="rId220"/>
    <p:sldId id="511" r:id="rId221"/>
    <p:sldId id="512" r:id="rId222"/>
    <p:sldId id="513" r:id="rId223"/>
    <p:sldId id="514" r:id="rId224"/>
    <p:sldId id="871" r:id="rId225"/>
    <p:sldId id="872" r:id="rId226"/>
    <p:sldId id="873" r:id="rId227"/>
    <p:sldId id="517" r:id="rId228"/>
    <p:sldId id="518" r:id="rId229"/>
    <p:sldId id="519" r:id="rId230"/>
    <p:sldId id="520" r:id="rId231"/>
    <p:sldId id="521" r:id="rId232"/>
    <p:sldId id="874" r:id="rId233"/>
    <p:sldId id="875" r:id="rId234"/>
    <p:sldId id="876" r:id="rId235"/>
    <p:sldId id="525" r:id="rId236"/>
    <p:sldId id="526" r:id="rId237"/>
    <p:sldId id="527" r:id="rId238"/>
    <p:sldId id="528" r:id="rId239"/>
    <p:sldId id="529" r:id="rId240"/>
    <p:sldId id="530" r:id="rId241"/>
    <p:sldId id="531" r:id="rId242"/>
    <p:sldId id="532" r:id="rId243"/>
    <p:sldId id="877" r:id="rId244"/>
    <p:sldId id="878" r:id="rId245"/>
    <p:sldId id="879" r:id="rId246"/>
    <p:sldId id="880" r:id="rId247"/>
    <p:sldId id="536" r:id="rId248"/>
    <p:sldId id="537" r:id="rId249"/>
    <p:sldId id="538" r:id="rId250"/>
    <p:sldId id="539" r:id="rId251"/>
    <p:sldId id="540" r:id="rId252"/>
    <p:sldId id="541" r:id="rId253"/>
    <p:sldId id="542" r:id="rId254"/>
    <p:sldId id="543" r:id="rId255"/>
    <p:sldId id="881" r:id="rId256"/>
    <p:sldId id="882" r:id="rId257"/>
    <p:sldId id="883" r:id="rId258"/>
    <p:sldId id="884" r:id="rId259"/>
    <p:sldId id="547" r:id="rId260"/>
    <p:sldId id="885" r:id="rId261"/>
    <p:sldId id="549" r:id="rId262"/>
    <p:sldId id="886" r:id="rId263"/>
    <p:sldId id="551" r:id="rId264"/>
    <p:sldId id="552" r:id="rId265"/>
    <p:sldId id="553" r:id="rId266"/>
    <p:sldId id="887" r:id="rId267"/>
    <p:sldId id="888" r:id="rId268"/>
    <p:sldId id="889" r:id="rId269"/>
    <p:sldId id="890" r:id="rId270"/>
    <p:sldId id="557" r:id="rId271"/>
    <p:sldId id="558" r:id="rId272"/>
    <p:sldId id="891" r:id="rId273"/>
    <p:sldId id="892" r:id="rId274"/>
    <p:sldId id="893" r:id="rId275"/>
    <p:sldId id="561" r:id="rId276"/>
    <p:sldId id="562" r:id="rId277"/>
    <p:sldId id="563" r:id="rId278"/>
    <p:sldId id="564" r:id="rId279"/>
    <p:sldId id="894" r:id="rId280"/>
    <p:sldId id="895" r:id="rId281"/>
    <p:sldId id="896" r:id="rId282"/>
    <p:sldId id="897" r:id="rId283"/>
    <p:sldId id="569" r:id="rId284"/>
    <p:sldId id="898" r:id="rId285"/>
    <p:sldId id="629" r:id="rId286"/>
    <p:sldId id="959" r:id="rId287"/>
    <p:sldId id="630" r:id="rId288"/>
    <p:sldId id="960" r:id="rId289"/>
    <p:sldId id="632" r:id="rId290"/>
    <p:sldId id="633" r:id="rId291"/>
    <p:sldId id="636" r:id="rId292"/>
    <p:sldId id="635" r:id="rId293"/>
    <p:sldId id="899" r:id="rId294"/>
    <p:sldId id="900" r:id="rId295"/>
    <p:sldId id="901" r:id="rId296"/>
    <p:sldId id="902" r:id="rId297"/>
    <p:sldId id="641" r:id="rId298"/>
    <p:sldId id="903" r:id="rId299"/>
    <p:sldId id="643" r:id="rId300"/>
    <p:sldId id="904" r:id="rId301"/>
    <p:sldId id="645" r:id="rId302"/>
    <p:sldId id="651" r:id="rId303"/>
    <p:sldId id="646" r:id="rId304"/>
    <p:sldId id="648" r:id="rId305"/>
    <p:sldId id="647" r:id="rId306"/>
    <p:sldId id="905" r:id="rId307"/>
    <p:sldId id="906" r:id="rId308"/>
    <p:sldId id="652" r:id="rId309"/>
    <p:sldId id="655" r:id="rId310"/>
    <p:sldId id="907" r:id="rId311"/>
    <p:sldId id="908" r:id="rId312"/>
    <p:sldId id="656" r:id="rId313"/>
    <p:sldId id="657" r:id="rId314"/>
    <p:sldId id="658" r:id="rId315"/>
    <p:sldId id="659" r:id="rId316"/>
    <p:sldId id="909" r:id="rId317"/>
    <p:sldId id="910" r:id="rId318"/>
    <p:sldId id="911" r:id="rId319"/>
    <p:sldId id="912" r:id="rId320"/>
    <p:sldId id="664" r:id="rId321"/>
    <p:sldId id="665" r:id="rId322"/>
    <p:sldId id="666" r:id="rId323"/>
    <p:sldId id="667" r:id="rId324"/>
    <p:sldId id="668" r:id="rId325"/>
    <p:sldId id="961" r:id="rId326"/>
    <p:sldId id="671" r:id="rId327"/>
    <p:sldId id="669" r:id="rId328"/>
    <p:sldId id="962" r:id="rId329"/>
    <p:sldId id="963" r:id="rId330"/>
    <p:sldId id="677" r:id="rId331"/>
    <p:sldId id="678" r:id="rId332"/>
    <p:sldId id="679" r:id="rId333"/>
    <p:sldId id="680" r:id="rId334"/>
    <p:sldId id="682" r:id="rId335"/>
    <p:sldId id="683" r:id="rId336"/>
    <p:sldId id="687" r:id="rId337"/>
    <p:sldId id="686" r:id="rId338"/>
    <p:sldId id="688" r:id="rId339"/>
    <p:sldId id="689" r:id="rId340"/>
    <p:sldId id="690" r:id="rId341"/>
    <p:sldId id="913" r:id="rId342"/>
    <p:sldId id="692" r:id="rId343"/>
    <p:sldId id="914" r:id="rId344"/>
    <p:sldId id="693" r:id="rId345"/>
    <p:sldId id="698" r:id="rId346"/>
    <p:sldId id="694" r:id="rId347"/>
    <p:sldId id="696" r:id="rId348"/>
    <p:sldId id="697" r:id="rId349"/>
    <p:sldId id="699" r:id="rId350"/>
    <p:sldId id="700" r:id="rId351"/>
    <p:sldId id="701" r:id="rId352"/>
    <p:sldId id="702" r:id="rId353"/>
    <p:sldId id="703" r:id="rId354"/>
    <p:sldId id="704" r:id="rId355"/>
    <p:sldId id="705" r:id="rId356"/>
    <p:sldId id="706" r:id="rId357"/>
    <p:sldId id="915" r:id="rId358"/>
    <p:sldId id="708" r:id="rId359"/>
    <p:sldId id="709" r:id="rId360"/>
    <p:sldId id="916" r:id="rId361"/>
    <p:sldId id="711" r:id="rId362"/>
    <p:sldId id="712" r:id="rId363"/>
    <p:sldId id="713" r:id="rId364"/>
    <p:sldId id="714" r:id="rId365"/>
    <p:sldId id="715" r:id="rId366"/>
    <p:sldId id="716" r:id="rId367"/>
    <p:sldId id="717" r:id="rId368"/>
    <p:sldId id="718" r:id="rId369"/>
    <p:sldId id="719" r:id="rId370"/>
    <p:sldId id="720" r:id="rId371"/>
    <p:sldId id="721" r:id="rId372"/>
    <p:sldId id="722" r:id="rId373"/>
    <p:sldId id="723" r:id="rId374"/>
    <p:sldId id="724" r:id="rId375"/>
    <p:sldId id="725" r:id="rId376"/>
    <p:sldId id="729" r:id="rId377"/>
    <p:sldId id="726" r:id="rId378"/>
    <p:sldId id="727" r:id="rId379"/>
    <p:sldId id="728" r:id="rId380"/>
    <p:sldId id="730" r:id="rId381"/>
    <p:sldId id="731" r:id="rId382"/>
    <p:sldId id="732" r:id="rId383"/>
    <p:sldId id="733" r:id="rId384"/>
    <p:sldId id="734" r:id="rId385"/>
    <p:sldId id="735" r:id="rId386"/>
    <p:sldId id="740" r:id="rId387"/>
    <p:sldId id="741" r:id="rId388"/>
    <p:sldId id="742" r:id="rId389"/>
    <p:sldId id="743" r:id="rId390"/>
    <p:sldId id="736" r:id="rId391"/>
    <p:sldId id="737" r:id="rId392"/>
    <p:sldId id="738" r:id="rId393"/>
    <p:sldId id="739" r:id="rId394"/>
    <p:sldId id="744" r:id="rId395"/>
    <p:sldId id="917" r:id="rId396"/>
    <p:sldId id="918" r:id="rId397"/>
    <p:sldId id="673" r:id="rId398"/>
    <p:sldId id="676" r:id="rId399"/>
    <p:sldId id="674" r:id="rId400"/>
    <p:sldId id="964" r:id="rId401"/>
    <p:sldId id="965" r:id="rId402"/>
    <p:sldId id="748" r:id="rId403"/>
    <p:sldId id="749" r:id="rId404"/>
    <p:sldId id="750" r:id="rId405"/>
    <p:sldId id="751" r:id="rId406"/>
    <p:sldId id="752" r:id="rId407"/>
    <p:sldId id="753" r:id="rId408"/>
    <p:sldId id="919" r:id="rId409"/>
    <p:sldId id="754" r:id="rId410"/>
    <p:sldId id="920" r:id="rId411"/>
    <p:sldId id="756" r:id="rId412"/>
    <p:sldId id="757" r:id="rId413"/>
    <p:sldId id="758" r:id="rId414"/>
    <p:sldId id="759" r:id="rId415"/>
    <p:sldId id="760" r:id="rId416"/>
    <p:sldId id="761" r:id="rId417"/>
    <p:sldId id="921" r:id="rId418"/>
    <p:sldId id="922" r:id="rId419"/>
    <p:sldId id="764" r:id="rId420"/>
    <p:sldId id="767" r:id="rId421"/>
    <p:sldId id="768" r:id="rId422"/>
    <p:sldId id="765" r:id="rId423"/>
    <p:sldId id="766" r:id="rId424"/>
    <p:sldId id="769" r:id="rId425"/>
    <p:sldId id="924" r:id="rId426"/>
    <p:sldId id="923" r:id="rId427"/>
    <p:sldId id="771" r:id="rId428"/>
    <p:sldId id="935" r:id="rId429"/>
    <p:sldId id="773" r:id="rId430"/>
    <p:sldId id="774" r:id="rId431"/>
    <p:sldId id="775" r:id="rId432"/>
    <p:sldId id="776" r:id="rId433"/>
    <p:sldId id="777" r:id="rId434"/>
    <p:sldId id="926" r:id="rId435"/>
    <p:sldId id="933" r:id="rId436"/>
    <p:sldId id="780" r:id="rId437"/>
    <p:sldId id="936" r:id="rId438"/>
    <p:sldId id="782" r:id="rId439"/>
    <p:sldId id="783" r:id="rId440"/>
    <p:sldId id="928" r:id="rId441"/>
    <p:sldId id="785" r:id="rId442"/>
    <p:sldId id="786" r:id="rId443"/>
    <p:sldId id="787" r:id="rId444"/>
    <p:sldId id="929" r:id="rId445"/>
    <p:sldId id="938" r:id="rId446"/>
    <p:sldId id="937" r:id="rId447"/>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 id="622"/>
            <p14:sldId id="624"/>
            <p14:sldId id="625"/>
          </p14:sldIdLst>
        </p14:section>
        <p14:section name="1.입찰공고 목록조회" id="{A88D8C4A-42D5-488C-851B-9A15CEB54A60}">
          <p14:sldIdLst>
            <p14:sldId id="940"/>
            <p14:sldId id="291"/>
            <p14:sldId id="941"/>
            <p14:sldId id="273"/>
            <p14:sldId id="292"/>
            <p14:sldId id="298"/>
            <p14:sldId id="299"/>
            <p14:sldId id="300"/>
            <p14:sldId id="301"/>
            <p14:sldId id="297"/>
            <p14:sldId id="791"/>
            <p14:sldId id="792"/>
            <p14:sldId id="793"/>
          </p14:sldIdLst>
        </p14:section>
        <p14:section name="2.입찰공고상세조회" id="{019FD015-75A8-4452-8691-168FACA46FB5}">
          <p14:sldIdLst>
            <p14:sldId id="942"/>
            <p14:sldId id="307"/>
            <p14:sldId id="943"/>
            <p14:sldId id="306"/>
            <p14:sldId id="314"/>
            <p14:sldId id="315"/>
            <p14:sldId id="794"/>
            <p14:sldId id="795"/>
            <p14:sldId id="796"/>
            <p14:sldId id="323"/>
            <p14:sldId id="329"/>
            <p14:sldId id="797"/>
            <p14:sldId id="798"/>
            <p14:sldId id="328"/>
            <p14:sldId id="324"/>
            <p14:sldId id="799"/>
            <p14:sldId id="800"/>
            <p14:sldId id="801"/>
            <p14:sldId id="802"/>
            <p14:sldId id="332"/>
            <p14:sldId id="804"/>
            <p14:sldId id="335"/>
            <p14:sldId id="805"/>
            <p14:sldId id="337"/>
            <p14:sldId id="803"/>
          </p14:sldIdLst>
        </p14:section>
        <p14:section name="3.입찰공고 상세 기능 안내" id="{EC2577BA-5ADA-4D2C-A338-F65E0039895B}">
          <p14:sldIdLst>
            <p14:sldId id="944"/>
            <p14:sldId id="293"/>
            <p14:sldId id="945"/>
            <p14:sldId id="319"/>
          </p14:sldIdLst>
        </p14:section>
        <p14:section name="4.플로팅 버튼, 환율 정보 조회" id="{A5AF1C76-9E96-4A4A-9A7D-214FEC1DF1CE}">
          <p14:sldIdLst>
            <p14:sldId id="313"/>
            <p14:sldId id="310"/>
            <p14:sldId id="946"/>
            <p14:sldId id="339"/>
            <p14:sldId id="340"/>
            <p14:sldId id="934"/>
          </p14:sldIdLst>
        </p14:section>
        <p14:section name="5.입찰진행 목록 및 신청서 작성" id="{72142622-FA4E-4D90-95BC-6816075B9BE0}">
          <p14:sldIdLst>
            <p14:sldId id="947"/>
            <p14:sldId id="949"/>
            <p14:sldId id="948"/>
            <p14:sldId id="950"/>
            <p14:sldId id="342"/>
            <p14:sldId id="951"/>
            <p14:sldId id="952"/>
            <p14:sldId id="369"/>
            <p14:sldId id="370"/>
            <p14:sldId id="806"/>
            <p14:sldId id="807"/>
            <p14:sldId id="354"/>
            <p14:sldId id="808"/>
            <p14:sldId id="371"/>
            <p14:sldId id="809"/>
            <p14:sldId id="403"/>
            <p14:sldId id="407"/>
            <p14:sldId id="810"/>
            <p14:sldId id="811"/>
            <p14:sldId id="812"/>
            <p14:sldId id="406"/>
            <p14:sldId id="813"/>
            <p14:sldId id="814"/>
            <p14:sldId id="815"/>
            <p14:sldId id="379"/>
            <p14:sldId id="816"/>
            <p14:sldId id="376"/>
            <p14:sldId id="817"/>
            <p14:sldId id="818"/>
            <p14:sldId id="374"/>
            <p14:sldId id="932"/>
            <p14:sldId id="400"/>
            <p14:sldId id="819"/>
            <p14:sldId id="820"/>
            <p14:sldId id="362"/>
            <p14:sldId id="353"/>
            <p14:sldId id="351"/>
            <p14:sldId id="352"/>
            <p14:sldId id="821"/>
            <p14:sldId id="363"/>
            <p14:sldId id="366"/>
            <p14:sldId id="367"/>
            <p14:sldId id="381"/>
            <p14:sldId id="382"/>
            <p14:sldId id="355"/>
            <p14:sldId id="822"/>
            <p14:sldId id="383"/>
            <p14:sldId id="384"/>
            <p14:sldId id="385"/>
            <p14:sldId id="628"/>
            <p14:sldId id="386"/>
            <p14:sldId id="387"/>
            <p14:sldId id="388"/>
            <p14:sldId id="389"/>
            <p14:sldId id="390"/>
            <p14:sldId id="391"/>
            <p14:sldId id="392"/>
            <p14:sldId id="823"/>
            <p14:sldId id="824"/>
            <p14:sldId id="825"/>
            <p14:sldId id="826"/>
            <p14:sldId id="827"/>
            <p14:sldId id="828"/>
            <p14:sldId id="416"/>
            <p14:sldId id="411"/>
            <p14:sldId id="417"/>
            <p14:sldId id="412"/>
            <p14:sldId id="413"/>
            <p14:sldId id="418"/>
            <p14:sldId id="414"/>
            <p14:sldId id="830"/>
            <p14:sldId id="831"/>
            <p14:sldId id="833"/>
            <p14:sldId id="832"/>
            <p14:sldId id="620"/>
            <p14:sldId id="621"/>
          </p14:sldIdLst>
        </p14:section>
        <p14:section name="6.개찰목록 및 이행/적격심사" id="{B55A82DD-BF82-48E6-9A16-642B371930CB}">
          <p14:sldIdLst>
            <p14:sldId id="430"/>
            <p14:sldId id="431"/>
            <p14:sldId id="953"/>
            <p14:sldId id="432"/>
            <p14:sldId id="954"/>
            <p14:sldId id="955"/>
            <p14:sldId id="956"/>
            <p14:sldId id="957"/>
            <p14:sldId id="958"/>
            <p14:sldId id="438"/>
            <p14:sldId id="439"/>
            <p14:sldId id="834"/>
            <p14:sldId id="835"/>
            <p14:sldId id="836"/>
            <p14:sldId id="837"/>
            <p14:sldId id="838"/>
            <p14:sldId id="444"/>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국외] 입찰공고" id="{65A9D0DA-6746-46CD-8543-32D071B186A6}">
          <p14:sldIdLst>
            <p14:sldId id="629"/>
            <p14:sldId id="959"/>
            <p14:sldId id="630"/>
            <p14:sldId id="960"/>
            <p14:sldId id="632"/>
            <p14:sldId id="633"/>
            <p14:sldId id="636"/>
            <p14:sldId id="635"/>
            <p14:sldId id="899"/>
            <p14:sldId id="900"/>
            <p14:sldId id="901"/>
            <p14:sldId id="902"/>
            <p14:sldId id="641"/>
            <p14:sldId id="903"/>
            <p14:sldId id="643"/>
            <p14:sldId id="904"/>
            <p14:sldId id="645"/>
            <p14:sldId id="651"/>
            <p14:sldId id="646"/>
            <p14:sldId id="648"/>
            <p14:sldId id="647"/>
            <p14:sldId id="905"/>
            <p14:sldId id="906"/>
            <p14:sldId id="652"/>
            <p14:sldId id="655"/>
            <p14:sldId id="907"/>
            <p14:sldId id="908"/>
            <p14:sldId id="656"/>
            <p14:sldId id="657"/>
            <p14:sldId id="658"/>
            <p14:sldId id="659"/>
            <p14:sldId id="909"/>
            <p14:sldId id="910"/>
            <p14:sldId id="911"/>
            <p14:sldId id="912"/>
            <p14:sldId id="664"/>
            <p14:sldId id="665"/>
            <p14:sldId id="666"/>
            <p14:sldId id="667"/>
          </p14:sldIdLst>
        </p14:section>
        <p14:section name="[국외] 입찰진행" id="{8F8B0E34-4114-4555-BC11-FA6CE5A64ADD}">
          <p14:sldIdLst>
            <p14:sldId id="668"/>
            <p14:sldId id="961"/>
            <p14:sldId id="671"/>
            <p14:sldId id="669"/>
            <p14:sldId id="962"/>
            <p14:sldId id="963"/>
            <p14:sldId id="677"/>
            <p14:sldId id="678"/>
            <p14:sldId id="679"/>
            <p14:sldId id="680"/>
            <p14:sldId id="682"/>
            <p14:sldId id="683"/>
            <p14:sldId id="687"/>
            <p14:sldId id="686"/>
            <p14:sldId id="688"/>
            <p14:sldId id="689"/>
            <p14:sldId id="690"/>
            <p14:sldId id="913"/>
            <p14:sldId id="692"/>
            <p14:sldId id="914"/>
            <p14:sldId id="693"/>
            <p14:sldId id="698"/>
            <p14:sldId id="694"/>
            <p14:sldId id="696"/>
            <p14:sldId id="697"/>
            <p14:sldId id="699"/>
            <p14:sldId id="700"/>
            <p14:sldId id="701"/>
            <p14:sldId id="702"/>
            <p14:sldId id="703"/>
            <p14:sldId id="704"/>
            <p14:sldId id="705"/>
            <p14:sldId id="706"/>
            <p14:sldId id="915"/>
            <p14:sldId id="708"/>
            <p14:sldId id="709"/>
            <p14:sldId id="916"/>
            <p14:sldId id="711"/>
            <p14:sldId id="712"/>
            <p14:sldId id="713"/>
            <p14:sldId id="714"/>
            <p14:sldId id="715"/>
            <p14:sldId id="716"/>
            <p14:sldId id="717"/>
            <p14:sldId id="718"/>
            <p14:sldId id="719"/>
            <p14:sldId id="720"/>
            <p14:sldId id="721"/>
            <p14:sldId id="722"/>
            <p14:sldId id="723"/>
            <p14:sldId id="724"/>
            <p14:sldId id="725"/>
            <p14:sldId id="729"/>
            <p14:sldId id="726"/>
            <p14:sldId id="727"/>
            <p14:sldId id="728"/>
            <p14:sldId id="730"/>
            <p14:sldId id="731"/>
            <p14:sldId id="732"/>
            <p14:sldId id="733"/>
            <p14:sldId id="734"/>
            <p14:sldId id="735"/>
            <p14:sldId id="740"/>
            <p14:sldId id="741"/>
            <p14:sldId id="742"/>
            <p14:sldId id="743"/>
            <p14:sldId id="736"/>
            <p14:sldId id="737"/>
            <p14:sldId id="738"/>
            <p14:sldId id="739"/>
            <p14:sldId id="744"/>
            <p14:sldId id="917"/>
            <p14:sldId id="918"/>
          </p14:sldIdLst>
        </p14:section>
        <p14:section name="[국외] 개찰" id="{8BF51E7C-1E7A-41BF-BAD4-6362867269E7}">
          <p14:sldIdLst>
            <p14:sldId id="673"/>
            <p14:sldId id="676"/>
            <p14:sldId id="674"/>
            <p14:sldId id="964"/>
            <p14:sldId id="965"/>
            <p14:sldId id="748"/>
            <p14:sldId id="749"/>
            <p14:sldId id="750"/>
            <p14:sldId id="751"/>
            <p14:sldId id="752"/>
            <p14:sldId id="753"/>
            <p14:sldId id="919"/>
            <p14:sldId id="754"/>
            <p14:sldId id="920"/>
            <p14:sldId id="756"/>
            <p14:sldId id="757"/>
            <p14:sldId id="758"/>
            <p14:sldId id="759"/>
            <p14:sldId id="760"/>
            <p14:sldId id="761"/>
            <p14:sldId id="921"/>
            <p14:sldId id="922"/>
            <p14:sldId id="764"/>
            <p14:sldId id="767"/>
            <p14:sldId id="768"/>
            <p14:sldId id="765"/>
            <p14:sldId id="766"/>
            <p14:sldId id="769"/>
            <p14:sldId id="924"/>
            <p14:sldId id="923"/>
            <p14:sldId id="771"/>
            <p14:sldId id="935"/>
            <p14:sldId id="773"/>
            <p14:sldId id="774"/>
            <p14:sldId id="775"/>
            <p14:sldId id="776"/>
            <p14:sldId id="777"/>
            <p14:sldId id="926"/>
            <p14:sldId id="933"/>
            <p14:sldId id="780"/>
            <p14:sldId id="936"/>
            <p14:sldId id="782"/>
            <p14:sldId id="783"/>
            <p14:sldId id="928"/>
            <p14:sldId id="785"/>
            <p14:sldId id="786"/>
            <p14:sldId id="787"/>
            <p14:sldId id="929"/>
            <p14:sldId id="938"/>
            <p14:sldId id="937"/>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BFBF"/>
    <a:srgbClr val="000000"/>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467" autoAdjust="0"/>
    <p:restoredTop sz="94660"/>
  </p:normalViewPr>
  <p:slideViewPr>
    <p:cSldViewPr snapToGrid="0">
      <p:cViewPr varScale="1">
        <p:scale>
          <a:sx n="110" d="100"/>
          <a:sy n="110" d="100"/>
        </p:scale>
        <p:origin x="1470" y="102"/>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notesMaster" Target="notesMasters/notesMaster1.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presProps" Target="presProps.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theme" Target="theme/theme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tableStyles" Target="tableStyles.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handoutMaster" Target="handoutMasters/handoutMaster1.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viewProps" Target="viewProps.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2026-06-22 (Monday)</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2026-06-22 (Monday)</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28</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29</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30</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318</a:t>
            </a:fld>
            <a:endParaRPr lang="ko-KR" altLang="en-US"/>
          </a:p>
        </p:txBody>
      </p:sp>
    </p:spTree>
    <p:extLst>
      <p:ext uri="{BB962C8B-B14F-4D97-AF65-F5344CB8AC3E}">
        <p14:creationId xmlns:p14="http://schemas.microsoft.com/office/powerpoint/2010/main" val="2004781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355</a:t>
            </a:fld>
            <a:endParaRPr lang="ko-KR" altLang="en-US"/>
          </a:p>
        </p:txBody>
      </p:sp>
    </p:spTree>
    <p:extLst>
      <p:ext uri="{BB962C8B-B14F-4D97-AF65-F5344CB8AC3E}">
        <p14:creationId xmlns:p14="http://schemas.microsoft.com/office/powerpoint/2010/main" val="157896936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412318304"/>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1. </a:t>
                      </a:r>
                      <a:r>
                        <a:rPr lang="ko-KR" altLang="en-US" sz="1200" dirty="0">
                          <a:latin typeface="+mn-ea"/>
                          <a:ea typeface="+mn-ea"/>
                        </a:rPr>
                        <a:t>메인 홈</a:t>
                      </a:r>
                      <a:endParaRPr lang="en-US" altLang="ko-KR" sz="1200" dirty="0">
                        <a:latin typeface="+mn-ea"/>
                        <a:ea typeface="+mn-ea"/>
                      </a:endParaRPr>
                    </a:p>
                    <a:p>
                      <a:pPr marL="0" indent="0" algn="l" latinLnBrk="1">
                        <a:lnSpc>
                          <a:spcPct val="150000"/>
                        </a:lnSpc>
                        <a:buNone/>
                      </a:pPr>
                      <a:r>
                        <a:rPr lang="en-US" altLang="ko-KR" sz="1200" dirty="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3.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3.4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4.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4.4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6</a:t>
                      </a:r>
                    </a:p>
                    <a:p>
                      <a:pPr algn="r" latinLnBrk="1">
                        <a:lnSpc>
                          <a:spcPct val="150000"/>
                        </a:lnSpc>
                      </a:pPr>
                      <a:r>
                        <a:rPr lang="en-US" altLang="ko-KR" sz="1200" dirty="0">
                          <a:latin typeface="+mn-ea"/>
                          <a:ea typeface="+mn-ea"/>
                        </a:rPr>
                        <a:t>9</a:t>
                      </a:r>
                    </a:p>
                    <a:p>
                      <a:pPr algn="r" latinLnBrk="1">
                        <a:lnSpc>
                          <a:spcPct val="150000"/>
                        </a:lnSpc>
                      </a:pPr>
                      <a:r>
                        <a:rPr lang="en-US" altLang="ko-KR" sz="1200" dirty="0">
                          <a:latin typeface="+mn-ea"/>
                          <a:ea typeface="+mn-ea"/>
                        </a:rPr>
                        <a:t>9</a:t>
                      </a:r>
                    </a:p>
                    <a:p>
                      <a:pPr algn="r" latinLnBrk="1">
                        <a:lnSpc>
                          <a:spcPct val="150000"/>
                        </a:lnSpc>
                      </a:pPr>
                      <a:r>
                        <a:rPr lang="en-US" altLang="ko-KR" sz="1200" dirty="0">
                          <a:latin typeface="+mn-ea"/>
                          <a:ea typeface="+mn-ea"/>
                        </a:rPr>
                        <a:t>10</a:t>
                      </a:r>
                    </a:p>
                    <a:p>
                      <a:pPr algn="r" latinLnBrk="1">
                        <a:lnSpc>
                          <a:spcPct val="150000"/>
                        </a:lnSpc>
                      </a:pPr>
                      <a:r>
                        <a:rPr lang="en-US" altLang="ko-KR" sz="1200" dirty="0">
                          <a:latin typeface="+mn-ea"/>
                          <a:ea typeface="+mn-ea"/>
                        </a:rPr>
                        <a:t>11</a:t>
                      </a:r>
                    </a:p>
                    <a:p>
                      <a:pPr algn="r" latinLnBrk="1">
                        <a:lnSpc>
                          <a:spcPct val="150000"/>
                        </a:lnSpc>
                      </a:pPr>
                      <a:r>
                        <a:rPr lang="en-US" altLang="ko-KR" sz="1200" dirty="0">
                          <a:latin typeface="+mn-ea"/>
                          <a:ea typeface="+mn-ea"/>
                        </a:rPr>
                        <a:t>12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26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p>
                      <a:pPr algn="r" latinLnBrk="1">
                        <a:lnSpc>
                          <a:spcPct val="150000"/>
                        </a:lnSpc>
                      </a:pPr>
                      <a:r>
                        <a:rPr lang="en-US" altLang="ko-KR" sz="1200" dirty="0">
                          <a:latin typeface="+mn-ea"/>
                          <a:ea typeface="+mn-ea"/>
                        </a:rPr>
                        <a:t>49</a:t>
                      </a:r>
                    </a:p>
                    <a:p>
                      <a:pPr algn="r" latinLnBrk="1">
                        <a:lnSpc>
                          <a:spcPct val="150000"/>
                        </a:lnSpc>
                      </a:pPr>
                      <a:r>
                        <a:rPr lang="en-US" altLang="ko-KR" sz="1200" dirty="0">
                          <a:latin typeface="+mn-ea"/>
                          <a:ea typeface="+mn-ea"/>
                        </a:rPr>
                        <a:t>50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113799667"/>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5.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6.4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7.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a:latin typeface="+mn-ea"/>
                          <a:ea typeface="+mn-ea"/>
                        </a:rPr>
                        <a:t>7.1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7.2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7.3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7.4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53</a:t>
                      </a:r>
                    </a:p>
                    <a:p>
                      <a:pPr algn="r" latinLnBrk="1">
                        <a:lnSpc>
                          <a:spcPct val="150000"/>
                        </a:lnSpc>
                      </a:pPr>
                      <a:r>
                        <a:rPr lang="en-US" altLang="ko-KR" sz="1200" dirty="0">
                          <a:latin typeface="+mn-ea"/>
                          <a:ea typeface="+mn-ea"/>
                        </a:rPr>
                        <a:t>54</a:t>
                      </a:r>
                    </a:p>
                    <a:p>
                      <a:pPr algn="r" latinLnBrk="1">
                        <a:lnSpc>
                          <a:spcPct val="150000"/>
                        </a:lnSpc>
                      </a:pPr>
                      <a:r>
                        <a:rPr lang="en-US" altLang="ko-KR" sz="1200" dirty="0">
                          <a:latin typeface="+mn-ea"/>
                          <a:ea typeface="+mn-ea"/>
                        </a:rPr>
                        <a:t>55</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62</a:t>
                      </a:r>
                    </a:p>
                    <a:p>
                      <a:pPr algn="r" latinLnBrk="1">
                        <a:lnSpc>
                          <a:spcPct val="150000"/>
                        </a:lnSpc>
                      </a:pPr>
                      <a:r>
                        <a:rPr lang="en-US" altLang="ko-KR" sz="1200" dirty="0">
                          <a:latin typeface="+mn-ea"/>
                          <a:ea typeface="+mn-ea"/>
                        </a:rPr>
                        <a:t>63</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137</a:t>
                      </a:r>
                    </a:p>
                    <a:p>
                      <a:pPr algn="r" latinLnBrk="1">
                        <a:lnSpc>
                          <a:spcPct val="150000"/>
                        </a:lnSpc>
                      </a:pPr>
                      <a:r>
                        <a:rPr lang="en-US" altLang="ko-KR" sz="1200" dirty="0">
                          <a:latin typeface="+mn-ea"/>
                          <a:ea typeface="+mn-ea"/>
                        </a:rPr>
                        <a:t>138</a:t>
                      </a:r>
                    </a:p>
                    <a:p>
                      <a:pPr algn="r" latinLnBrk="1">
                        <a:lnSpc>
                          <a:spcPct val="150000"/>
                        </a:lnSpc>
                      </a:pPr>
                      <a:r>
                        <a:rPr lang="en-US" altLang="ko-KR" sz="1200" dirty="0">
                          <a:latin typeface="+mn-ea"/>
                          <a:ea typeface="+mn-ea"/>
                        </a:rPr>
                        <a:t>143</a:t>
                      </a: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MUI-MS-01-M07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solidFill>
                            <a:schemeClr val="tx1"/>
                          </a:solidFill>
                          <a:latin typeface="+mn-ea"/>
                          <a:ea typeface="+mn-ea"/>
                        </a:rPr>
                        <a:t>앱 기동 완료 후 노출되는 메인 화면</a:t>
                      </a:r>
                      <a:endParaRPr lang="en-US" altLang="ko-KR" sz="800" dirty="0">
                        <a:solidFill>
                          <a:schemeClr val="tx1"/>
                        </a:solidFill>
                        <a:latin typeface="+mn-ea"/>
                        <a:ea typeface="+mn-ea"/>
                      </a:endParaRPr>
                    </a:p>
                    <a:p>
                      <a:pPr latinLnBrk="1"/>
                      <a:r>
                        <a:rPr lang="en-US" altLang="ko-KR" sz="800" dirty="0">
                          <a:solidFill>
                            <a:schemeClr val="tx1"/>
                          </a:solidFill>
                          <a:latin typeface="+mn-ea"/>
                          <a:ea typeface="+mn-ea"/>
                        </a:rPr>
                        <a:t>- </a:t>
                      </a:r>
                      <a:r>
                        <a:rPr lang="ko-KR" altLang="en-US" sz="800" dirty="0">
                          <a:solidFill>
                            <a:schemeClr val="tx1"/>
                          </a:solidFill>
                          <a:latin typeface="+mn-ea"/>
                          <a:ea typeface="+mn-ea"/>
                        </a:rPr>
                        <a:t>로그인 사용자</a:t>
                      </a:r>
                      <a:r>
                        <a:rPr lang="en-US" altLang="ko-KR" sz="800" dirty="0">
                          <a:solidFill>
                            <a:schemeClr val="tx1"/>
                          </a:solidFill>
                          <a:latin typeface="+mn-ea"/>
                          <a:ea typeface="+mn-ea"/>
                        </a:rPr>
                        <a:t>, </a:t>
                      </a:r>
                      <a:r>
                        <a:rPr lang="ko-KR" altLang="en-US" sz="800" dirty="0" err="1">
                          <a:solidFill>
                            <a:schemeClr val="tx1"/>
                          </a:solidFill>
                          <a:latin typeface="+mn-ea"/>
                          <a:ea typeface="+mn-ea"/>
                        </a:rPr>
                        <a:t>비로그인</a:t>
                      </a:r>
                      <a:r>
                        <a:rPr lang="ko-KR" altLang="en-US" sz="800" dirty="0">
                          <a:solidFill>
                            <a:schemeClr val="tx1"/>
                          </a:solidFill>
                          <a:latin typeface="+mn-ea"/>
                          <a:ea typeface="+mn-ea"/>
                        </a:rPr>
                        <a:t> 사용자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mscrn</a:t>
                      </a:r>
                      <a:r>
                        <a:rPr lang="en-US" altLang="ko-KR" sz="800" dirty="0">
                          <a:solidFill>
                            <a:schemeClr val="tx1"/>
                          </a:solidFill>
                          <a:latin typeface="+mn-ea"/>
                          <a:ea typeface="+mn-ea"/>
                        </a:rPr>
                        <a:t>/</a:t>
                      </a:r>
                      <a:r>
                        <a:rPr lang="en-US" altLang="ko-KR" sz="800" dirty="0" err="1">
                          <a:solidFill>
                            <a:schemeClr val="tx1"/>
                          </a:solidFill>
                          <a:latin typeface="+mn-ea"/>
                          <a:ea typeface="+mn-ea"/>
                        </a:rPr>
                        <a:t>M</a:t>
                      </a:r>
                      <a:r>
                        <a:rPr lang="en-US" altLang="ko-KR" sz="800" b="0" i="0" u="none" strike="noStrike" dirty="0" err="1">
                          <a:solidFill>
                            <a:schemeClr val="tx1"/>
                          </a:solidFill>
                          <a:effectLst/>
                          <a:latin typeface="+mn-lt"/>
                          <a:ea typeface="+mn-ea"/>
                        </a:rPr>
                        <a:t>scrn</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메뉴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dirty="0">
                          <a:solidFill>
                            <a:schemeClr val="tx1"/>
                          </a:solidFill>
                          <a:latin typeface="+mn-lt"/>
                          <a:ea typeface="+mn-ea"/>
                        </a:rPr>
                        <a:t>menu</a:t>
                      </a:r>
                      <a:r>
                        <a:rPr lang="en-US" altLang="ko-KR" sz="800" dirty="0">
                          <a:solidFill>
                            <a:schemeClr val="tx1"/>
                          </a:solidFill>
                          <a:latin typeface="+mn-ea"/>
                          <a:ea typeface="+mn-ea"/>
                        </a:rPr>
                        <a:t>/</a:t>
                      </a:r>
                      <a:r>
                        <a:rPr lang="en-US" altLang="ko-KR" sz="800" dirty="0" err="1">
                          <a:solidFill>
                            <a:schemeClr val="tx1"/>
                          </a:solidFill>
                          <a:latin typeface="+mn-lt"/>
                          <a:ea typeface="+mn-ea"/>
                        </a:rPr>
                        <a:t>Menu</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푸시 알림 현황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Tree>
    <p:extLst>
      <p:ext uri="{BB962C8B-B14F-4D97-AF65-F5344CB8AC3E}">
        <p14:creationId xmlns:p14="http://schemas.microsoft.com/office/powerpoint/2010/main" val="342432080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0" indent="0">
              <a:buNone/>
            </a:pPr>
            <a:endParaRPr lang="en-US" altLang="ko-KR" dirty="0"/>
          </a:p>
          <a:p>
            <a:pPr marL="228600" indent="-228600">
              <a:buFont typeface="+mj-lt"/>
              <a:buAutoNum type="arabicPeriod"/>
            </a:pPr>
            <a:r>
              <a:rPr lang="ko-KR" altLang="en-US" dirty="0"/>
              <a:t>로고 영역</a:t>
            </a:r>
            <a:r>
              <a:rPr lang="en-US" altLang="ko-KR" dirty="0"/>
              <a:t>, </a:t>
            </a:r>
            <a:r>
              <a:rPr lang="ko-KR" altLang="en-US" dirty="0"/>
              <a:t>상단 버튼 영역</a:t>
            </a:r>
            <a:r>
              <a:rPr lang="en-US" altLang="ko-KR" dirty="0"/>
              <a:t/>
            </a:r>
            <a:br>
              <a:rPr lang="en-US" altLang="ko-KR" dirty="0"/>
            </a:br>
            <a:r>
              <a:rPr lang="en-US" altLang="ko-KR" dirty="0"/>
              <a:t>- </a:t>
            </a:r>
            <a:r>
              <a:rPr lang="ko-KR" altLang="en-US" dirty="0"/>
              <a:t>로고 또는 </a:t>
            </a:r>
            <a:r>
              <a:rPr lang="ko-KR" altLang="en-US" dirty="0" err="1"/>
              <a:t>홈아이콘</a:t>
            </a:r>
            <a:r>
              <a:rPr lang="ko-KR" altLang="en-US" dirty="0"/>
              <a:t> 클릭</a:t>
            </a:r>
            <a:r>
              <a:rPr lang="en-US" altLang="ko-KR" dirty="0"/>
              <a:t/>
            </a:r>
            <a:br>
              <a:rPr lang="en-US" altLang="ko-KR" dirty="0"/>
            </a:br>
            <a:r>
              <a:rPr lang="en-US" altLang="ko-KR" dirty="0"/>
              <a:t>- </a:t>
            </a:r>
            <a:r>
              <a:rPr lang="ko-KR" altLang="en-US" dirty="0"/>
              <a:t>우측 아이콘 버튼</a:t>
            </a:r>
            <a:r>
              <a:rPr lang="en-US" altLang="ko-KR" dirty="0"/>
              <a:t/>
            </a:r>
            <a:br>
              <a:rPr lang="en-US" altLang="ko-KR" dirty="0"/>
            </a:br>
            <a:r>
              <a:rPr lang="en-US" altLang="ko-KR" dirty="0"/>
              <a:t>  &gt; 1. </a:t>
            </a:r>
            <a:r>
              <a:rPr lang="ko-KR" altLang="en-US" dirty="0"/>
              <a:t>로그인 </a:t>
            </a:r>
            <a:r>
              <a:rPr lang="en-US" altLang="ko-KR" dirty="0"/>
              <a:t>(</a:t>
            </a:r>
            <a:r>
              <a:rPr lang="ko-KR" altLang="en-US" dirty="0"/>
              <a:t>로그인 후 숨김</a:t>
            </a:r>
            <a:r>
              <a:rPr lang="en-US" altLang="ko-KR" dirty="0"/>
              <a:t>)</a:t>
            </a:r>
            <a:br>
              <a:rPr lang="en-US" altLang="ko-KR" dirty="0"/>
            </a:br>
            <a:r>
              <a:rPr lang="en-US" altLang="ko-KR" dirty="0"/>
              <a:t>  &gt; 2. </a:t>
            </a:r>
            <a:r>
              <a:rPr lang="ko-KR" altLang="en-US" dirty="0"/>
              <a:t>통합검색</a:t>
            </a:r>
            <a:r>
              <a:rPr lang="en-US" altLang="ko-KR" dirty="0"/>
              <a:t/>
            </a:r>
            <a:br>
              <a:rPr lang="en-US" altLang="ko-KR" dirty="0"/>
            </a:br>
            <a:r>
              <a:rPr lang="en-US" altLang="ko-KR" dirty="0"/>
              <a:t>  &gt; 3. </a:t>
            </a:r>
            <a:r>
              <a:rPr lang="ko-KR" altLang="en-US" dirty="0"/>
              <a:t>햄버거 메뉴</a:t>
            </a:r>
            <a:endParaRPr lang="en-US" altLang="ko-KR" dirty="0"/>
          </a:p>
          <a:p>
            <a:pPr marL="228600" indent="-228600">
              <a:buFont typeface="+mj-lt"/>
              <a:buAutoNum type="arabicPeriod"/>
            </a:pPr>
            <a:r>
              <a:rPr lang="ko-KR" altLang="en-US" dirty="0"/>
              <a:t>입찰 공고 검색</a:t>
            </a:r>
            <a:r>
              <a:rPr lang="en-US" altLang="ko-KR" dirty="0"/>
              <a:t/>
            </a:r>
            <a:br>
              <a:rPr lang="en-US" altLang="ko-KR" dirty="0"/>
            </a:br>
            <a:r>
              <a:rPr lang="en-US" altLang="ko-KR" dirty="0"/>
              <a:t>- </a:t>
            </a:r>
            <a:r>
              <a:rPr lang="ko-KR" altLang="en-US" dirty="0" err="1"/>
              <a:t>공고명</a:t>
            </a:r>
            <a:r>
              <a:rPr lang="en-US" altLang="ko-KR" dirty="0"/>
              <a:t>, </a:t>
            </a:r>
            <a:r>
              <a:rPr lang="ko-KR" altLang="en-US" dirty="0" err="1"/>
              <a:t>공고번호와</a:t>
            </a:r>
            <a:r>
              <a:rPr lang="ko-KR" altLang="en-US" dirty="0"/>
              <a:t> 업무 구분으로 검색</a:t>
            </a:r>
            <a:r>
              <a:rPr lang="en-US" altLang="ko-KR" dirty="0"/>
              <a:t/>
            </a:r>
            <a:br>
              <a:rPr lang="en-US" altLang="ko-KR" dirty="0"/>
            </a:br>
            <a:r>
              <a:rPr lang="en-US" altLang="ko-KR" dirty="0"/>
              <a:t>- </a:t>
            </a:r>
            <a:r>
              <a:rPr lang="ko-KR" altLang="en-US" dirty="0"/>
              <a:t>입찰공고 화면으로 이동하여 </a:t>
            </a:r>
            <a:r>
              <a:rPr lang="ko-KR" altLang="en-US" dirty="0" err="1"/>
              <a:t>검색필터에</a:t>
            </a:r>
            <a:r>
              <a:rPr lang="ko-KR" altLang="en-US" dirty="0"/>
              <a:t> </a:t>
            </a:r>
            <a:r>
              <a:rPr lang="ko-KR" altLang="en-US" dirty="0" err="1"/>
              <a:t>검색어</a:t>
            </a:r>
            <a:r>
              <a:rPr lang="ko-KR" altLang="en-US" dirty="0"/>
              <a:t> 적용하여 결과 표시</a:t>
            </a:r>
            <a:endParaRPr lang="en-US" altLang="ko-KR" dirty="0"/>
          </a:p>
          <a:p>
            <a:pPr marL="228600" indent="-228600">
              <a:buFont typeface="+mj-lt"/>
              <a:buAutoNum type="arabicPeriod"/>
            </a:pPr>
            <a:r>
              <a:rPr lang="ko-KR" altLang="en-US" dirty="0" err="1"/>
              <a:t>바로가기</a:t>
            </a:r>
            <a:r>
              <a:rPr lang="ko-KR" altLang="en-US" dirty="0"/>
              <a:t> 버튼 영역</a:t>
            </a:r>
            <a:endParaRPr lang="en-US" altLang="ko-KR" dirty="0"/>
          </a:p>
          <a:p>
            <a:pPr marL="228600" indent="-228600">
              <a:buFont typeface="+mj-lt"/>
              <a:buAutoNum type="arabicPeriod"/>
            </a:pPr>
            <a:r>
              <a:rPr lang="ko-KR" altLang="en-US" dirty="0"/>
              <a:t>사전준비</a:t>
            </a:r>
            <a:r>
              <a:rPr lang="en-US" altLang="ko-KR" dirty="0"/>
              <a:t>, </a:t>
            </a:r>
            <a:r>
              <a:rPr lang="ko-KR" altLang="en-US" dirty="0"/>
              <a:t>국내조달</a:t>
            </a:r>
            <a:r>
              <a:rPr lang="en-US" altLang="ko-KR" dirty="0"/>
              <a:t>, </a:t>
            </a:r>
            <a:r>
              <a:rPr lang="ko-KR" altLang="en-US" dirty="0" err="1"/>
              <a:t>국외조달</a:t>
            </a:r>
            <a:r>
              <a:rPr lang="ko-KR" altLang="en-US" dirty="0"/>
              <a:t> </a:t>
            </a:r>
            <a:r>
              <a:rPr lang="en-US" altLang="ko-KR" dirty="0"/>
              <a:t>3</a:t>
            </a:r>
            <a:r>
              <a:rPr lang="ko-KR" altLang="en-US" dirty="0"/>
              <a:t>가지 항목으로 제공</a:t>
            </a:r>
            <a:r>
              <a:rPr lang="en-US" altLang="ko-KR" dirty="0"/>
              <a:t/>
            </a:r>
            <a:br>
              <a:rPr lang="en-US" altLang="ko-KR" dirty="0"/>
            </a:br>
            <a:r>
              <a:rPr lang="ko-KR" altLang="en-US" dirty="0">
                <a:solidFill>
                  <a:srgbClr val="FF0000"/>
                </a:solidFill>
              </a:rPr>
              <a:t>모바일 앱은 </a:t>
            </a:r>
            <a:r>
              <a:rPr lang="ko-KR" altLang="en-US" dirty="0" err="1">
                <a:solidFill>
                  <a:srgbClr val="FF0000"/>
                </a:solidFill>
              </a:rPr>
              <a:t>모의입찰</a:t>
            </a:r>
            <a:r>
              <a:rPr lang="ko-KR" altLang="en-US" dirty="0">
                <a:solidFill>
                  <a:srgbClr val="FF0000"/>
                </a:solidFill>
              </a:rPr>
              <a:t> 없음</a:t>
            </a:r>
            <a:endParaRPr lang="en-US" altLang="ko-KR" dirty="0">
              <a:solidFill>
                <a:srgbClr val="FF0000"/>
              </a:solidFill>
            </a:endParaRPr>
          </a:p>
          <a:p>
            <a:pPr marL="228600" indent="-228600">
              <a:buFont typeface="+mj-lt"/>
              <a:buAutoNum type="arabicPeriod"/>
            </a:pPr>
            <a:r>
              <a:rPr lang="ko-KR" altLang="en-US" dirty="0" err="1"/>
              <a:t>탭바</a:t>
            </a:r>
            <a:r>
              <a:rPr lang="ko-KR" altLang="en-US" dirty="0"/>
              <a:t> 표시</a:t>
            </a:r>
            <a:r>
              <a:rPr lang="en-US" altLang="ko-KR" dirty="0"/>
              <a:t/>
            </a:r>
            <a:br>
              <a:rPr lang="en-US" altLang="ko-KR" dirty="0"/>
            </a:br>
            <a:r>
              <a:rPr lang="en-US" altLang="ko-KR" dirty="0"/>
              <a:t>- </a:t>
            </a:r>
            <a:r>
              <a:rPr lang="ko-KR" altLang="en-US" dirty="0"/>
              <a:t>주요 사용하는 메뉴 표시</a:t>
            </a:r>
            <a:endParaRPr lang="en-US" altLang="ko-KR" dirty="0"/>
          </a:p>
          <a:p>
            <a:pPr marL="228600" indent="-228600">
              <a:buFont typeface="+mj-lt"/>
              <a:buAutoNum type="arabicPeriod"/>
            </a:pPr>
            <a:r>
              <a:rPr lang="ko-KR" altLang="en-US" dirty="0"/>
              <a:t>공지사항 노출</a:t>
            </a:r>
            <a:r>
              <a:rPr lang="en-US" altLang="ko-KR" dirty="0"/>
              <a:t/>
            </a:r>
            <a:br>
              <a:rPr lang="en-US" altLang="ko-KR" dirty="0"/>
            </a:br>
            <a:r>
              <a:rPr lang="en-US" altLang="ko-KR" dirty="0"/>
              <a:t>- </a:t>
            </a:r>
            <a:r>
              <a:rPr lang="ko-KR" altLang="en-US" dirty="0"/>
              <a:t>각 공지사항 최근 </a:t>
            </a:r>
            <a:r>
              <a:rPr lang="en-US" altLang="ko-KR" dirty="0"/>
              <a:t>3</a:t>
            </a:r>
            <a:r>
              <a:rPr lang="ko-KR" altLang="en-US" dirty="0"/>
              <a:t>개</a:t>
            </a:r>
            <a:endParaRPr lang="en-US" altLang="ko-KR" dirty="0"/>
          </a:p>
          <a:p>
            <a:pPr marL="228600" indent="-228600">
              <a:buFont typeface="+mj-lt"/>
              <a:buAutoNum type="arabicPeriod"/>
            </a:pPr>
            <a:r>
              <a:rPr lang="ko-KR" altLang="en-US" dirty="0"/>
              <a:t>배너 표시</a:t>
            </a:r>
            <a:endParaRPr lang="en-US" altLang="ko-KR" dirty="0"/>
          </a:p>
          <a:p>
            <a:pPr marL="228600" indent="-228600">
              <a:buFont typeface="+mj-lt"/>
              <a:buAutoNum type="arabicPeriod"/>
            </a:pPr>
            <a:r>
              <a:rPr lang="ko-KR" altLang="en-US" dirty="0"/>
              <a:t>스크롤 시 </a:t>
            </a:r>
            <a:r>
              <a:rPr lang="ko-KR" altLang="en-US" dirty="0" err="1"/>
              <a:t>플로팅</a:t>
            </a:r>
            <a:r>
              <a:rPr lang="ko-KR" altLang="en-US" dirty="0"/>
              <a:t> </a:t>
            </a:r>
            <a:r>
              <a:rPr lang="en-US" altLang="ko-KR" dirty="0"/>
              <a:t>Top </a:t>
            </a:r>
            <a:r>
              <a:rPr lang="ko-KR" altLang="en-US" dirty="0"/>
              <a:t>이동 버튼 표시</a:t>
            </a:r>
            <a:endParaRPr lang="en-US" altLang="ko-KR" dirty="0"/>
          </a:p>
          <a:p>
            <a:pPr marL="228600" indent="-228600">
              <a:buFont typeface="+mj-lt"/>
              <a:buAutoNum type="arabicPeriod"/>
            </a:pPr>
            <a:r>
              <a:rPr lang="ko-KR" altLang="en-US" dirty="0" err="1"/>
              <a:t>푸터</a:t>
            </a:r>
            <a:r>
              <a:rPr lang="ko-KR" altLang="en-US" dirty="0"/>
              <a:t> 표시</a:t>
            </a:r>
            <a:endParaRPr lang="ko-KR" altLang="en-US"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메인 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메인 홈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MUI-MS-01-M07</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타원 16">
            <a:extLst>
              <a:ext uri="{FF2B5EF4-FFF2-40B4-BE49-F238E27FC236}">
                <a16:creationId xmlns:a16="http://schemas.microsoft.com/office/drawing/2014/main" id="{37A7FF4F-0EAA-1463-560A-D5EC24416103}"/>
              </a:ext>
            </a:extLst>
          </p:cNvPr>
          <p:cNvSpPr/>
          <p:nvPr/>
        </p:nvSpPr>
        <p:spPr>
          <a:xfrm>
            <a:off x="571848" y="1603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pic>
        <p:nvPicPr>
          <p:cNvPr id="1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6" name="타원 65">
            <a:extLst>
              <a:ext uri="{FF2B5EF4-FFF2-40B4-BE49-F238E27FC236}">
                <a16:creationId xmlns:a16="http://schemas.microsoft.com/office/drawing/2014/main" id="{37A7FF4F-0EAA-1463-560A-D5EC24416103}"/>
              </a:ext>
            </a:extLst>
          </p:cNvPr>
          <p:cNvSpPr/>
          <p:nvPr/>
        </p:nvSpPr>
        <p:spPr>
          <a:xfrm>
            <a:off x="571848" y="22790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677960" y="5859779"/>
            <a:ext cx="2712027" cy="372519"/>
            <a:chOff x="3788901" y="5859779"/>
            <a:chExt cx="2712027" cy="372519"/>
          </a:xfrm>
        </p:grpSpPr>
        <p:sp>
          <p:nvSpPr>
            <p:cNvPr id="69" name="직사각형 68">
              <a:extLst>
                <a:ext uri="{FF2B5EF4-FFF2-40B4-BE49-F238E27FC236}">
                  <a16:creationId xmlns:a16="http://schemas.microsoft.com/office/drawing/2014/main" id="{F56F1743-11A0-EA94-9184-4E42C0A37F9C}"/>
                </a:ext>
              </a:extLst>
            </p:cNvPr>
            <p:cNvSpPr/>
            <p:nvPr/>
          </p:nvSpPr>
          <p:spPr>
            <a:xfrm>
              <a:off x="378890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직사각형 71">
              <a:extLst>
                <a:ext uri="{FF2B5EF4-FFF2-40B4-BE49-F238E27FC236}">
                  <a16:creationId xmlns:a16="http://schemas.microsoft.com/office/drawing/2014/main" id="{F56F1743-11A0-EA94-9184-4E42C0A37F9C}"/>
                </a:ext>
              </a:extLst>
            </p:cNvPr>
            <p:cNvSpPr/>
            <p:nvPr/>
          </p:nvSpPr>
          <p:spPr>
            <a:xfrm>
              <a:off x="4466908"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F56F1743-11A0-EA94-9184-4E42C0A37F9C}"/>
                </a:ext>
              </a:extLst>
            </p:cNvPr>
            <p:cNvSpPr/>
            <p:nvPr/>
          </p:nvSpPr>
          <p:spPr>
            <a:xfrm>
              <a:off x="5144915"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직사각형 77">
              <a:extLst>
                <a:ext uri="{FF2B5EF4-FFF2-40B4-BE49-F238E27FC236}">
                  <a16:creationId xmlns:a16="http://schemas.microsoft.com/office/drawing/2014/main" id="{F56F1743-11A0-EA94-9184-4E42C0A37F9C}"/>
                </a:ext>
              </a:extLst>
            </p:cNvPr>
            <p:cNvSpPr/>
            <p:nvPr/>
          </p:nvSpPr>
          <p:spPr>
            <a:xfrm>
              <a:off x="581985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타원 69"/>
            <p:cNvSpPr/>
            <p:nvPr/>
          </p:nvSpPr>
          <p:spPr>
            <a:xfrm>
              <a:off x="4028078"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3872308" y="6119441"/>
              <a:ext cx="499500" cy="107722"/>
            </a:xfrm>
            <a:prstGeom prst="rect">
              <a:avLst/>
            </a:prstGeom>
            <a:noFill/>
          </p:spPr>
          <p:txBody>
            <a:bodyPr wrap="square" lIns="0" tIns="0" rIns="0" bIns="0" rtlCol="0">
              <a:spAutoFit/>
            </a:bodyPr>
            <a:lstStyle/>
            <a:p>
              <a:pPr algn="ctr"/>
              <a:r>
                <a:rPr lang="ko-KR" altLang="en-US" sz="700" dirty="0">
                  <a:latin typeface="+mn-ea"/>
                </a:rPr>
                <a:t>홈</a:t>
              </a:r>
            </a:p>
          </p:txBody>
        </p:sp>
        <p:sp>
          <p:nvSpPr>
            <p:cNvPr id="73" name="타원 72"/>
            <p:cNvSpPr/>
            <p:nvPr/>
          </p:nvSpPr>
          <p:spPr>
            <a:xfrm>
              <a:off x="4716846"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a:extLst>
                <a:ext uri="{FF2B5EF4-FFF2-40B4-BE49-F238E27FC236}">
                  <a16:creationId xmlns:a16="http://schemas.microsoft.com/office/drawing/2014/main" id="{FFC49AEA-2A8F-250C-A86A-A7751D9706C3}"/>
                </a:ext>
              </a:extLst>
            </p:cNvPr>
            <p:cNvSpPr txBox="1"/>
            <p:nvPr/>
          </p:nvSpPr>
          <p:spPr>
            <a:xfrm>
              <a:off x="4561076" y="6119441"/>
              <a:ext cx="499500" cy="107722"/>
            </a:xfrm>
            <a:prstGeom prst="rect">
              <a:avLst/>
            </a:prstGeom>
            <a:noFill/>
          </p:spPr>
          <p:txBody>
            <a:bodyPr wrap="square" lIns="0" tIns="0" rIns="0" bIns="0" rtlCol="0">
              <a:spAutoFit/>
            </a:bodyPr>
            <a:lstStyle/>
            <a:p>
              <a:pPr algn="ctr"/>
              <a:r>
                <a:rPr lang="ko-KR" altLang="en-US" sz="700" dirty="0">
                  <a:latin typeface="+mn-ea"/>
                </a:rPr>
                <a:t>통합 검색</a:t>
              </a:r>
            </a:p>
          </p:txBody>
        </p:sp>
        <p:sp>
          <p:nvSpPr>
            <p:cNvPr id="76" name="타원 75"/>
            <p:cNvSpPr/>
            <p:nvPr/>
          </p:nvSpPr>
          <p:spPr>
            <a:xfrm>
              <a:off x="5386873"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5231103" y="6119441"/>
              <a:ext cx="499500" cy="107722"/>
            </a:xfrm>
            <a:prstGeom prst="rect">
              <a:avLst/>
            </a:prstGeom>
            <a:noFill/>
          </p:spPr>
          <p:txBody>
            <a:bodyPr wrap="square" lIns="0" tIns="0" rIns="0" bIns="0" rtlCol="0">
              <a:spAutoFit/>
            </a:bodyPr>
            <a:lstStyle/>
            <a:p>
              <a:pPr algn="ctr"/>
              <a:r>
                <a:rPr lang="ko-KR" altLang="en-US" sz="700" dirty="0">
                  <a:latin typeface="+mn-ea"/>
                </a:rPr>
                <a:t>입찰공고</a:t>
              </a:r>
            </a:p>
          </p:txBody>
        </p:sp>
        <p:sp>
          <p:nvSpPr>
            <p:cNvPr id="79" name="타원 78"/>
            <p:cNvSpPr/>
            <p:nvPr/>
          </p:nvSpPr>
          <p:spPr>
            <a:xfrm>
              <a:off x="6069480"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5913710" y="6119441"/>
              <a:ext cx="499500" cy="107722"/>
            </a:xfrm>
            <a:prstGeom prst="rect">
              <a:avLst/>
            </a:prstGeom>
            <a:noFill/>
          </p:spPr>
          <p:txBody>
            <a:bodyPr wrap="square" lIns="0" tIns="0" rIns="0" bIns="0" rtlCol="0">
              <a:spAutoFit/>
            </a:bodyPr>
            <a:lstStyle/>
            <a:p>
              <a:pPr algn="ctr"/>
              <a:r>
                <a:rPr lang="ko-KR" altLang="en-US" sz="700" dirty="0">
                  <a:latin typeface="+mn-ea"/>
                </a:rPr>
                <a:t>마이</a:t>
              </a:r>
            </a:p>
          </p:txBody>
        </p:sp>
      </p:grpSp>
      <p:sp>
        <p:nvSpPr>
          <p:cNvPr id="81" name="타원 8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a:extLst>
              <a:ext uri="{FF2B5EF4-FFF2-40B4-BE49-F238E27FC236}">
                <a16:creationId xmlns:a16="http://schemas.microsoft.com/office/drawing/2014/main" id="{37A7FF4F-0EAA-1463-560A-D5EC24416103}"/>
              </a:ext>
            </a:extLst>
          </p:cNvPr>
          <p:cNvSpPr/>
          <p:nvPr/>
        </p:nvSpPr>
        <p:spPr>
          <a:xfrm>
            <a:off x="571848" y="31535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93" name="타원 92">
            <a:extLst>
              <a:ext uri="{FF2B5EF4-FFF2-40B4-BE49-F238E27FC236}">
                <a16:creationId xmlns:a16="http://schemas.microsoft.com/office/drawing/2014/main" id="{37A7FF4F-0EAA-1463-560A-D5EC24416103}"/>
              </a:ext>
            </a:extLst>
          </p:cNvPr>
          <p:cNvSpPr/>
          <p:nvPr/>
        </p:nvSpPr>
        <p:spPr>
          <a:xfrm>
            <a:off x="571848" y="43038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43" name="직선 연결선 42">
            <a:extLst>
              <a:ext uri="{FF2B5EF4-FFF2-40B4-BE49-F238E27FC236}">
                <a16:creationId xmlns:a16="http://schemas.microsoft.com/office/drawing/2014/main" id="{E9293055-D5CD-4B9E-7F64-64B2D2CA7A52}"/>
              </a:ext>
            </a:extLst>
          </p:cNvPr>
          <p:cNvCxnSpPr/>
          <p:nvPr/>
        </p:nvCxnSpPr>
        <p:spPr>
          <a:xfrm>
            <a:off x="677960" y="4101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FFC49AEA-2A8F-250C-A86A-A7751D9706C3}"/>
              </a:ext>
            </a:extLst>
          </p:cNvPr>
          <p:cNvSpPr txBox="1"/>
          <p:nvPr/>
        </p:nvSpPr>
        <p:spPr>
          <a:xfrm>
            <a:off x="881401" y="2899271"/>
            <a:ext cx="2305144" cy="138499"/>
          </a:xfrm>
          <a:prstGeom prst="rect">
            <a:avLst/>
          </a:prstGeom>
          <a:noFill/>
        </p:spPr>
        <p:txBody>
          <a:bodyPr wrap="square" lIns="0" tIns="0" rIns="0" bIns="0" rtlCol="0">
            <a:spAutoFit/>
          </a:bodyPr>
          <a:lstStyle/>
          <a:p>
            <a:r>
              <a:rPr lang="ko-KR" altLang="en-US" sz="900" b="1" dirty="0" err="1">
                <a:latin typeface="+mn-ea"/>
              </a:rPr>
              <a:t>바로가기</a:t>
            </a:r>
            <a:endParaRPr lang="ko-KR" altLang="en-US" sz="900" b="1" dirty="0">
              <a:latin typeface="+mn-ea"/>
            </a:endParaRPr>
          </a:p>
        </p:txBody>
      </p:sp>
      <p:sp>
        <p:nvSpPr>
          <p:cNvPr id="46" name="모서리가 둥근 직사각형 45"/>
          <p:cNvSpPr/>
          <p:nvPr/>
        </p:nvSpPr>
        <p:spPr>
          <a:xfrm>
            <a:off x="1508351"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직사각형 54">
            <a:extLst>
              <a:ext uri="{FF2B5EF4-FFF2-40B4-BE49-F238E27FC236}">
                <a16:creationId xmlns:a16="http://schemas.microsoft.com/office/drawing/2014/main" id="{F56F1743-11A0-EA94-9184-4E42C0A37F9C}"/>
              </a:ext>
            </a:extLst>
          </p:cNvPr>
          <p:cNvSpPr/>
          <p:nvPr/>
        </p:nvSpPr>
        <p:spPr>
          <a:xfrm>
            <a:off x="378890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9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3900722"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6" name="직선 연결선 95">
            <a:extLst>
              <a:ext uri="{FF2B5EF4-FFF2-40B4-BE49-F238E27FC236}">
                <a16:creationId xmlns:a16="http://schemas.microsoft.com/office/drawing/2014/main" id="{E9293055-D5CD-4B9E-7F64-64B2D2CA7A52}"/>
              </a:ext>
            </a:extLst>
          </p:cNvPr>
          <p:cNvCxnSpPr/>
          <p:nvPr/>
        </p:nvCxnSpPr>
        <p:spPr>
          <a:xfrm>
            <a:off x="3790561"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타원 96"/>
          <p:cNvSpPr/>
          <p:nvPr/>
        </p:nvSpPr>
        <p:spPr>
          <a:xfrm>
            <a:off x="5558730"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5872487"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타원 98"/>
          <p:cNvSpPr/>
          <p:nvPr/>
        </p:nvSpPr>
        <p:spPr>
          <a:xfrm>
            <a:off x="6186244"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3796969" y="1974039"/>
            <a:ext cx="2712027" cy="2638270"/>
            <a:chOff x="3796969" y="4333445"/>
            <a:chExt cx="2712027" cy="2638270"/>
          </a:xfrm>
        </p:grpSpPr>
        <p:sp>
          <p:nvSpPr>
            <p:cNvPr id="84" name="TextBox 83">
              <a:extLst>
                <a:ext uri="{FF2B5EF4-FFF2-40B4-BE49-F238E27FC236}">
                  <a16:creationId xmlns:a16="http://schemas.microsoft.com/office/drawing/2014/main" id="{FFC49AEA-2A8F-250C-A86A-A7751D9706C3}"/>
                </a:ext>
              </a:extLst>
            </p:cNvPr>
            <p:cNvSpPr txBox="1"/>
            <p:nvPr/>
          </p:nvSpPr>
          <p:spPr>
            <a:xfrm>
              <a:off x="3992343" y="4356946"/>
              <a:ext cx="2305144" cy="138499"/>
            </a:xfrm>
            <a:prstGeom prst="rect">
              <a:avLst/>
            </a:prstGeom>
            <a:noFill/>
          </p:spPr>
          <p:txBody>
            <a:bodyPr wrap="square" lIns="0" tIns="0" rIns="0" bIns="0" rtlCol="0">
              <a:spAutoFit/>
            </a:bodyPr>
            <a:lstStyle/>
            <a:p>
              <a:r>
                <a:rPr lang="ko-KR" altLang="en-US" sz="900" b="1" dirty="0" err="1">
                  <a:latin typeface="+mn-ea"/>
                </a:rPr>
                <a:t>방위사업청</a:t>
              </a:r>
              <a:r>
                <a:rPr lang="ko-KR" altLang="en-US" sz="900" b="1" dirty="0">
                  <a:latin typeface="+mn-ea"/>
                </a:rPr>
                <a:t> 공지</a:t>
              </a:r>
            </a:p>
          </p:txBody>
        </p:sp>
        <p:sp>
          <p:nvSpPr>
            <p:cNvPr id="85" name="TextBox 84">
              <a:extLst>
                <a:ext uri="{FF2B5EF4-FFF2-40B4-BE49-F238E27FC236}">
                  <a16:creationId xmlns:a16="http://schemas.microsoft.com/office/drawing/2014/main" id="{FFC49AEA-2A8F-250C-A86A-A7751D9706C3}"/>
                </a:ext>
              </a:extLst>
            </p:cNvPr>
            <p:cNvSpPr txBox="1"/>
            <p:nvPr/>
          </p:nvSpPr>
          <p:spPr>
            <a:xfrm>
              <a:off x="3992343" y="4585115"/>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5791465" y="433344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5387975" y="4585115"/>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992343" y="4749883"/>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387975" y="4749883"/>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992343" y="4914650"/>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04" name="TextBox 103">
              <a:extLst>
                <a:ext uri="{FF2B5EF4-FFF2-40B4-BE49-F238E27FC236}">
                  <a16:creationId xmlns:a16="http://schemas.microsoft.com/office/drawing/2014/main" id="{FFC49AEA-2A8F-250C-A86A-A7751D9706C3}"/>
                </a:ext>
              </a:extLst>
            </p:cNvPr>
            <p:cNvSpPr txBox="1"/>
            <p:nvPr/>
          </p:nvSpPr>
          <p:spPr>
            <a:xfrm>
              <a:off x="5387975" y="491465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992343" y="5253933"/>
              <a:ext cx="2305144" cy="138499"/>
            </a:xfrm>
            <a:prstGeom prst="rect">
              <a:avLst/>
            </a:prstGeom>
            <a:noFill/>
          </p:spPr>
          <p:txBody>
            <a:bodyPr wrap="square" lIns="0" tIns="0" rIns="0" bIns="0" rtlCol="0">
              <a:spAutoFit/>
            </a:bodyPr>
            <a:lstStyle/>
            <a:p>
              <a:r>
                <a:rPr lang="ko-KR" altLang="en-US" sz="900" b="1" dirty="0" err="1">
                  <a:latin typeface="+mn-ea"/>
                </a:rPr>
                <a:t>수요부대</a:t>
              </a:r>
              <a:r>
                <a:rPr lang="ko-KR" altLang="en-US" sz="900" b="1" dirty="0">
                  <a:latin typeface="+mn-ea"/>
                </a:rPr>
                <a:t> 공지</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3992343" y="5482102"/>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5791465" y="523043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5387975" y="5482102"/>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9" name="TextBox 108">
              <a:extLst>
                <a:ext uri="{FF2B5EF4-FFF2-40B4-BE49-F238E27FC236}">
                  <a16:creationId xmlns:a16="http://schemas.microsoft.com/office/drawing/2014/main" id="{FFC49AEA-2A8F-250C-A86A-A7751D9706C3}"/>
                </a:ext>
              </a:extLst>
            </p:cNvPr>
            <p:cNvSpPr txBox="1"/>
            <p:nvPr/>
          </p:nvSpPr>
          <p:spPr>
            <a:xfrm>
              <a:off x="3992343" y="5646870"/>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5387975" y="564687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92343" y="5811637"/>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5387975" y="5811637"/>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3992343" y="6177572"/>
              <a:ext cx="2305144" cy="138499"/>
            </a:xfrm>
            <a:prstGeom prst="rect">
              <a:avLst/>
            </a:prstGeom>
            <a:noFill/>
          </p:spPr>
          <p:txBody>
            <a:bodyPr wrap="square" lIns="0" tIns="0" rIns="0" bIns="0" rtlCol="0">
              <a:spAutoFit/>
            </a:bodyPr>
            <a:lstStyle/>
            <a:p>
              <a:r>
                <a:rPr lang="ko-KR" altLang="en-US" sz="900" b="1" dirty="0">
                  <a:latin typeface="+mn-ea"/>
                </a:rPr>
                <a:t>일반 공지</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3992343" y="6405741"/>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5791465" y="615407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5387975" y="640574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6969" y="51429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6969" y="60475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6969" y="69717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TextBox 147">
              <a:extLst>
                <a:ext uri="{FF2B5EF4-FFF2-40B4-BE49-F238E27FC236}">
                  <a16:creationId xmlns:a16="http://schemas.microsoft.com/office/drawing/2014/main" id="{FFC49AEA-2A8F-250C-A86A-A7751D9706C3}"/>
                </a:ext>
              </a:extLst>
            </p:cNvPr>
            <p:cNvSpPr txBox="1"/>
            <p:nvPr/>
          </p:nvSpPr>
          <p:spPr>
            <a:xfrm>
              <a:off x="3992343" y="6564181"/>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387975" y="656418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992343" y="6728948"/>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5387975" y="6728948"/>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grpSp>
      <p:sp>
        <p:nvSpPr>
          <p:cNvPr id="147" name="모서리가 둥근 직사각형 146"/>
          <p:cNvSpPr/>
          <p:nvPr/>
        </p:nvSpPr>
        <p:spPr>
          <a:xfrm>
            <a:off x="4002170" y="4676843"/>
            <a:ext cx="2285490" cy="1277072"/>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배너 영역</a:t>
            </a:r>
          </a:p>
        </p:txBody>
      </p:sp>
      <p:sp>
        <p:nvSpPr>
          <p:cNvPr id="117" name="모서리가 둥근 직사각형 116"/>
          <p:cNvSpPr/>
          <p:nvPr/>
        </p:nvSpPr>
        <p:spPr>
          <a:xfrm>
            <a:off x="3788901" y="6018448"/>
            <a:ext cx="2712027" cy="218999"/>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Footer</a:t>
            </a:r>
            <a:endParaRPr lang="ko-KR" altLang="en-US" dirty="0"/>
          </a:p>
        </p:txBody>
      </p:sp>
      <p:sp>
        <p:nvSpPr>
          <p:cNvPr id="118" name="타원 117">
            <a:extLst>
              <a:ext uri="{FF2B5EF4-FFF2-40B4-BE49-F238E27FC236}">
                <a16:creationId xmlns:a16="http://schemas.microsoft.com/office/drawing/2014/main" id="{37A7FF4F-0EAA-1463-560A-D5EC24416103}"/>
              </a:ext>
            </a:extLst>
          </p:cNvPr>
          <p:cNvSpPr/>
          <p:nvPr/>
        </p:nvSpPr>
        <p:spPr>
          <a:xfrm>
            <a:off x="571848" y="590891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3701178" y="19937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701178" y="49697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01178" y="6042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9</a:t>
            </a:r>
            <a:endParaRPr lang="ko-KR" altLang="en-US" sz="900" b="1" dirty="0"/>
          </a:p>
        </p:txBody>
      </p:sp>
      <p:sp>
        <p:nvSpPr>
          <p:cNvPr id="125" name="모서리가 둥근 직사각형 124"/>
          <p:cNvSpPr/>
          <p:nvPr/>
        </p:nvSpPr>
        <p:spPr>
          <a:xfrm>
            <a:off x="891228"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모서리가 둥근 직사각형 125"/>
          <p:cNvSpPr/>
          <p:nvPr/>
        </p:nvSpPr>
        <p:spPr>
          <a:xfrm>
            <a:off x="1508351"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모서리가 둥근 직사각형 129"/>
          <p:cNvSpPr/>
          <p:nvPr/>
        </p:nvSpPr>
        <p:spPr>
          <a:xfrm>
            <a:off x="2125474"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모서리가 둥근 직사각형 130"/>
          <p:cNvSpPr/>
          <p:nvPr/>
        </p:nvSpPr>
        <p:spPr>
          <a:xfrm>
            <a:off x="2742597"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a:off x="6726256" y="4802272"/>
            <a:ext cx="124144" cy="148935"/>
            <a:chOff x="161606" y="5392781"/>
            <a:chExt cx="97885" cy="117432"/>
          </a:xfrm>
        </p:grpSpPr>
        <p:cxnSp>
          <p:nvCxnSpPr>
            <p:cNvPr id="153" name="직선 연결선 15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64" name="타원 163">
            <a:extLst>
              <a:ext uri="{FF2B5EF4-FFF2-40B4-BE49-F238E27FC236}">
                <a16:creationId xmlns:a16="http://schemas.microsoft.com/office/drawing/2014/main" id="{37A7FF4F-0EAA-1463-560A-D5EC24416103}"/>
              </a:ext>
            </a:extLst>
          </p:cNvPr>
          <p:cNvSpPr/>
          <p:nvPr/>
        </p:nvSpPr>
        <p:spPr>
          <a:xfrm>
            <a:off x="6588653" y="45047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4307902"/>
            <a:ext cx="2305144" cy="138499"/>
          </a:xfrm>
          <a:prstGeom prst="rect">
            <a:avLst/>
          </a:prstGeom>
          <a:noFill/>
        </p:spPr>
        <p:txBody>
          <a:bodyPr wrap="square" lIns="0" tIns="0" rIns="0" bIns="0" rtlCol="0">
            <a:spAutoFit/>
          </a:bodyPr>
          <a:lstStyle/>
          <a:p>
            <a:r>
              <a:rPr lang="ko-KR" altLang="en-US" sz="900" b="1" dirty="0">
                <a:latin typeface="+mn-ea"/>
              </a:rPr>
              <a:t>사용 안내</a:t>
            </a: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2678014" y="450854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4537337"/>
            <a:ext cx="2305144" cy="123111"/>
          </a:xfrm>
          <a:prstGeom prst="rect">
            <a:avLst/>
          </a:prstGeom>
          <a:noFill/>
        </p:spPr>
        <p:txBody>
          <a:bodyPr wrap="square" lIns="0" tIns="0" rIns="0" bIns="0" rtlCol="0">
            <a:spAutoFit/>
          </a:bodyPr>
          <a:lstStyle/>
          <a:p>
            <a:r>
              <a:rPr lang="ko-KR" altLang="en-US" sz="800" dirty="0">
                <a:latin typeface="+mn-ea"/>
              </a:rPr>
              <a:t>사전준비안내</a:t>
            </a:r>
          </a:p>
        </p:txBody>
      </p:sp>
      <p:sp>
        <p:nvSpPr>
          <p:cNvPr id="183" name="모서리가 둥근 직사각형 182"/>
          <p:cNvSpPr/>
          <p:nvPr/>
        </p:nvSpPr>
        <p:spPr>
          <a:xfrm>
            <a:off x="891228" y="473642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490343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2678014" y="512375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5152551"/>
            <a:ext cx="2305144" cy="123111"/>
          </a:xfrm>
          <a:prstGeom prst="rect">
            <a:avLst/>
          </a:prstGeom>
          <a:noFill/>
        </p:spPr>
        <p:txBody>
          <a:bodyPr wrap="square" lIns="0" tIns="0" rIns="0" bIns="0" rtlCol="0">
            <a:spAutoFit/>
          </a:bodyPr>
          <a:lstStyle/>
          <a:p>
            <a:r>
              <a:rPr lang="ko-KR" altLang="en-US" sz="800" dirty="0">
                <a:latin typeface="+mn-ea"/>
              </a:rPr>
              <a:t>국내조달안내</a:t>
            </a:r>
          </a:p>
        </p:txBody>
      </p:sp>
      <p:sp>
        <p:nvSpPr>
          <p:cNvPr id="187" name="모서리가 둥근 직사각형 186"/>
          <p:cNvSpPr/>
          <p:nvPr/>
        </p:nvSpPr>
        <p:spPr>
          <a:xfrm>
            <a:off x="891228" y="535164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551864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직사각형 12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grpSp>
        <p:nvGrpSpPr>
          <p:cNvPr id="129" name="그룹 128"/>
          <p:cNvGrpSpPr/>
          <p:nvPr/>
        </p:nvGrpSpPr>
        <p:grpSpPr>
          <a:xfrm>
            <a:off x="767702" y="2122064"/>
            <a:ext cx="2527420" cy="477995"/>
            <a:chOff x="786326" y="2270279"/>
            <a:chExt cx="2527420" cy="477995"/>
          </a:xfrm>
        </p:grpSpPr>
        <p:sp>
          <p:nvSpPr>
            <p:cNvPr id="133" name="모서리가 둥근 직사각형 132"/>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36" name="그룹 135"/>
            <p:cNvGrpSpPr/>
            <p:nvPr/>
          </p:nvGrpSpPr>
          <p:grpSpPr>
            <a:xfrm>
              <a:off x="795624" y="2274581"/>
              <a:ext cx="1299303" cy="155984"/>
              <a:chOff x="808107" y="2288229"/>
              <a:chExt cx="1189739" cy="168318"/>
            </a:xfrm>
          </p:grpSpPr>
          <p:sp>
            <p:nvSpPr>
              <p:cNvPr id="157"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계약명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8"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계약번호</a:t>
                </a:r>
                <a:endParaRPr kumimoji="1" lang="en-US" sz="800" b="0" i="0" u="none" strike="noStrike" kern="0" cap="none" spc="0" normalizeH="0" baseline="0" noProof="0" dirty="0">
                  <a:ln>
                    <a:noFill/>
                  </a:ln>
                  <a:effectLst/>
                  <a:uLnTx/>
                  <a:uFillTx/>
                  <a:latin typeface="맑은 고딕"/>
                </a:endParaRPr>
              </a:p>
            </p:txBody>
          </p:sp>
        </p:grpSp>
        <p:sp>
          <p:nvSpPr>
            <p:cNvPr id="137" name="타원 136"/>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38"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39" name="타원 138"/>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a:off x="2901631" y="2585953"/>
              <a:ext cx="58075" cy="58074"/>
              <a:chOff x="6812560" y="3297172"/>
              <a:chExt cx="94010" cy="94010"/>
            </a:xfrm>
          </p:grpSpPr>
          <p:cxnSp>
            <p:nvCxnSpPr>
              <p:cNvPr id="141" name="직선 연결선 14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825279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햄버거 메뉴 닫기</a:t>
            </a:r>
            <a:r>
              <a:rPr lang="en-US" altLang="ko-KR" dirty="0"/>
              <a:t>, </a:t>
            </a:r>
            <a:r>
              <a:rPr lang="ko-KR" altLang="en-US" dirty="0"/>
              <a:t>설정 등 버튼 영역</a:t>
            </a:r>
            <a:endParaRPr lang="en-US" altLang="ko-KR" dirty="0"/>
          </a:p>
          <a:p>
            <a:pPr marL="228600" indent="-228600">
              <a:buFont typeface="+mj-lt"/>
              <a:buAutoNum type="arabicPeriod"/>
            </a:pPr>
            <a:r>
              <a:rPr lang="ko-KR" altLang="en-US" dirty="0"/>
              <a:t>로그인 정보 표시 영역</a:t>
            </a:r>
            <a:r>
              <a:rPr lang="en-US" altLang="ko-KR" dirty="0"/>
              <a:t/>
            </a:r>
            <a:br>
              <a:rPr lang="en-US" altLang="ko-KR" dirty="0"/>
            </a:br>
            <a:r>
              <a:rPr lang="en-US" altLang="ko-KR" dirty="0"/>
              <a:t>- </a:t>
            </a:r>
            <a:r>
              <a:rPr lang="ko-KR" altLang="en-US" dirty="0"/>
              <a:t>로그인 전</a:t>
            </a:r>
            <a:r>
              <a:rPr lang="en-US" altLang="ko-KR" dirty="0"/>
              <a:t/>
            </a:r>
            <a:br>
              <a:rPr lang="en-US" altLang="ko-KR" dirty="0"/>
            </a:br>
            <a:r>
              <a:rPr lang="en-US" altLang="ko-KR" dirty="0"/>
              <a:t>  &gt; </a:t>
            </a:r>
            <a:r>
              <a:rPr lang="ko-KR" altLang="en-US" dirty="0"/>
              <a:t>로그인 메시지 표시</a:t>
            </a:r>
            <a:endParaRPr lang="en-US" altLang="ko-KR" dirty="0"/>
          </a:p>
          <a:p>
            <a:pPr marL="228600" indent="-228600">
              <a:buFont typeface="+mj-lt"/>
              <a:buAutoNum type="arabicPeriod"/>
            </a:pPr>
            <a:r>
              <a:rPr lang="ko-KR" altLang="en-US" dirty="0"/>
              <a:t>전체 메뉴 목록 표시</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햄버거 메뉴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햄버거 메뉴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t>햄버거 메뉴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MUI-MS-01-M12</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FFC49AEA-2A8F-250C-A86A-A7751D9706C3}"/>
              </a:ext>
            </a:extLst>
          </p:cNvPr>
          <p:cNvSpPr txBox="1"/>
          <p:nvPr/>
        </p:nvSpPr>
        <p:spPr>
          <a:xfrm>
            <a:off x="881401" y="2034581"/>
            <a:ext cx="2305144" cy="138499"/>
          </a:xfrm>
          <a:prstGeom prst="rect">
            <a:avLst/>
          </a:prstGeom>
          <a:noFill/>
        </p:spPr>
        <p:txBody>
          <a:bodyPr wrap="square" lIns="0" tIns="0" rIns="0" bIns="0" rtlCol="0">
            <a:spAutoFit/>
          </a:bodyPr>
          <a:lstStyle/>
          <a:p>
            <a:r>
              <a:rPr lang="en-US" altLang="ko-KR" sz="900" b="1" dirty="0">
                <a:latin typeface="+mn-ea"/>
              </a:rPr>
              <a:t>[</a:t>
            </a:r>
            <a:r>
              <a:rPr lang="ko-KR" altLang="en-US" sz="900" b="1" dirty="0">
                <a:latin typeface="+mn-ea"/>
              </a:rPr>
              <a:t>사용자명</a:t>
            </a:r>
            <a:r>
              <a:rPr lang="en-US" altLang="ko-KR" sz="900" b="1" dirty="0">
                <a:latin typeface="+mn-ea"/>
              </a:rPr>
              <a:t>]</a:t>
            </a:r>
            <a:endParaRPr lang="ko-KR" altLang="en-US" sz="9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1" name="타원 80"/>
          <p:cNvSpPr/>
          <p:nvPr/>
        </p:nvSpPr>
        <p:spPr>
          <a:xfrm>
            <a:off x="87336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21832" y="310329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모서리가 둥근 직사각형 45"/>
          <p:cNvSpPr/>
          <p:nvPr/>
        </p:nvSpPr>
        <p:spPr>
          <a:xfrm>
            <a:off x="1508351"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2932148"/>
            <a:ext cx="2305144" cy="138499"/>
          </a:xfrm>
          <a:prstGeom prst="rect">
            <a:avLst/>
          </a:prstGeom>
          <a:noFill/>
        </p:spPr>
        <p:txBody>
          <a:bodyPr wrap="square" lIns="0" tIns="0" rIns="0" bIns="0" rtlCol="0">
            <a:spAutoFit/>
          </a:bodyPr>
          <a:lstStyle/>
          <a:p>
            <a:r>
              <a:rPr lang="ko-KR" altLang="en-US" sz="900" b="1" dirty="0">
                <a:latin typeface="+mn-ea"/>
              </a:rPr>
              <a:t>메뉴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3161583"/>
            <a:ext cx="2305144" cy="123111"/>
          </a:xfrm>
          <a:prstGeom prst="rect">
            <a:avLst/>
          </a:prstGeom>
          <a:noFill/>
        </p:spPr>
        <p:txBody>
          <a:bodyPr wrap="square" lIns="0" tIns="0" rIns="0" bIns="0" rtlCol="0">
            <a:spAutoFit/>
          </a:bodyPr>
          <a:lstStyle/>
          <a:p>
            <a:r>
              <a:rPr lang="ko-KR" altLang="en-US" sz="800" dirty="0">
                <a:latin typeface="+mn-ea"/>
              </a:rPr>
              <a:t>조달계획</a:t>
            </a:r>
          </a:p>
        </p:txBody>
      </p:sp>
      <p:sp>
        <p:nvSpPr>
          <p:cNvPr id="183" name="모서리가 둥근 직사각형 182"/>
          <p:cNvSpPr/>
          <p:nvPr/>
        </p:nvSpPr>
        <p:spPr>
          <a:xfrm>
            <a:off x="891228" y="3360672"/>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3527681"/>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3776797"/>
            <a:ext cx="2305144" cy="123111"/>
          </a:xfrm>
          <a:prstGeom prst="rect">
            <a:avLst/>
          </a:prstGeom>
          <a:noFill/>
        </p:spPr>
        <p:txBody>
          <a:bodyPr wrap="square" lIns="0" tIns="0" rIns="0" bIns="0" rtlCol="0">
            <a:spAutoFit/>
          </a:bodyPr>
          <a:lstStyle/>
          <a:p>
            <a:r>
              <a:rPr lang="ko-KR" altLang="en-US" sz="800" dirty="0">
                <a:latin typeface="+mn-ea"/>
              </a:rPr>
              <a:t>입찰</a:t>
            </a:r>
          </a:p>
        </p:txBody>
      </p:sp>
      <p:sp>
        <p:nvSpPr>
          <p:cNvPr id="187" name="모서리가 둥근 직사각형 186"/>
          <p:cNvSpPr/>
          <p:nvPr/>
        </p:nvSpPr>
        <p:spPr>
          <a:xfrm>
            <a:off x="891228" y="397588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414289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1011117" y="2620465"/>
            <a:ext cx="214311" cy="123111"/>
          </a:xfrm>
          <a:prstGeom prst="rect">
            <a:avLst/>
          </a:prstGeom>
          <a:noFill/>
        </p:spPr>
        <p:txBody>
          <a:bodyPr wrap="square" lIns="0" tIns="0" rIns="0" bIns="0" rtlCol="0">
            <a:noAutofit/>
          </a:bodyPr>
          <a:lstStyle/>
          <a:p>
            <a:r>
              <a:rPr lang="ko-KR" altLang="en-US" sz="800" dirty="0">
                <a:latin typeface="+mn-ea"/>
              </a:rPr>
              <a:t>입찰</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4447082"/>
            <a:ext cx="2305144" cy="123111"/>
          </a:xfrm>
          <a:prstGeom prst="rect">
            <a:avLst/>
          </a:prstGeom>
          <a:noFill/>
        </p:spPr>
        <p:txBody>
          <a:bodyPr wrap="square" lIns="0" tIns="0" rIns="0" bIns="0" rtlCol="0">
            <a:spAutoFit/>
          </a:bodyPr>
          <a:lstStyle/>
          <a:p>
            <a:r>
              <a:rPr lang="ko-KR" altLang="en-US" sz="800" dirty="0">
                <a:latin typeface="+mn-ea"/>
              </a:rPr>
              <a:t>계약</a:t>
            </a:r>
          </a:p>
        </p:txBody>
      </p:sp>
      <p:sp>
        <p:nvSpPr>
          <p:cNvPr id="129" name="모서리가 둥근 직사각형 128"/>
          <p:cNvSpPr/>
          <p:nvPr/>
        </p:nvSpPr>
        <p:spPr>
          <a:xfrm>
            <a:off x="891228" y="4646171"/>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모서리가 둥근 직사각형 132"/>
          <p:cNvSpPr/>
          <p:nvPr/>
        </p:nvSpPr>
        <p:spPr>
          <a:xfrm>
            <a:off x="891227" y="4813180"/>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372236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4359289"/>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flipV="1">
            <a:off x="3124233" y="3199636"/>
            <a:ext cx="94010" cy="47005"/>
            <a:chOff x="6812560" y="3297172"/>
            <a:chExt cx="94010" cy="47005"/>
          </a:xfrm>
        </p:grpSpPr>
        <p:cxnSp>
          <p:nvCxnSpPr>
            <p:cNvPr id="139" name="직선 연결선 1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0" name="직선 연결선 1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1" name="그룹 140"/>
          <p:cNvGrpSpPr/>
          <p:nvPr/>
        </p:nvGrpSpPr>
        <p:grpSpPr>
          <a:xfrm flipV="1">
            <a:off x="3124233" y="3814850"/>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7" name="직선 연결선 1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8" name="그룹 157"/>
          <p:cNvGrpSpPr/>
          <p:nvPr/>
        </p:nvGrpSpPr>
        <p:grpSpPr>
          <a:xfrm flipV="1">
            <a:off x="3124233" y="4485135"/>
            <a:ext cx="94010" cy="47005"/>
            <a:chOff x="6812560" y="3297172"/>
            <a:chExt cx="94010" cy="47005"/>
          </a:xfrm>
        </p:grpSpPr>
        <p:cxnSp>
          <p:nvCxnSpPr>
            <p:cNvPr id="159" name="직선 연결선 1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0" name="직선 연결선 1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TextBox 160">
            <a:extLst>
              <a:ext uri="{FF2B5EF4-FFF2-40B4-BE49-F238E27FC236}">
                <a16:creationId xmlns:a16="http://schemas.microsoft.com/office/drawing/2014/main" id="{FFC49AEA-2A8F-250C-A86A-A7751D9706C3}"/>
              </a:ext>
            </a:extLst>
          </p:cNvPr>
          <p:cNvSpPr txBox="1"/>
          <p:nvPr/>
        </p:nvSpPr>
        <p:spPr>
          <a:xfrm>
            <a:off x="878892" y="5120611"/>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a:t>
            </a:r>
          </a:p>
        </p:txBody>
      </p:sp>
      <p:sp>
        <p:nvSpPr>
          <p:cNvPr id="162" name="모서리가 둥근 직사각형 161"/>
          <p:cNvSpPr/>
          <p:nvPr/>
        </p:nvSpPr>
        <p:spPr>
          <a:xfrm>
            <a:off x="891228" y="531970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모서리가 둥근 직사각형 162"/>
          <p:cNvSpPr/>
          <p:nvPr/>
        </p:nvSpPr>
        <p:spPr>
          <a:xfrm>
            <a:off x="891227" y="548670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5032818"/>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flipV="1">
            <a:off x="3124233" y="5158664"/>
            <a:ext cx="94010" cy="47005"/>
            <a:chOff x="6812560" y="3297172"/>
            <a:chExt cx="94010" cy="47005"/>
          </a:xfrm>
        </p:grpSpPr>
        <p:cxnSp>
          <p:nvCxnSpPr>
            <p:cNvPr id="169" name="직선 연결선 16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9" name="그룹 188">
            <a:extLst>
              <a:ext uri="{FF2B5EF4-FFF2-40B4-BE49-F238E27FC236}">
                <a16:creationId xmlns:a16="http://schemas.microsoft.com/office/drawing/2014/main" id="{22BC05EE-C648-7CA2-4CCC-6E1C1A7E9BDA}"/>
              </a:ext>
            </a:extLst>
          </p:cNvPr>
          <p:cNvGrpSpPr/>
          <p:nvPr/>
        </p:nvGrpSpPr>
        <p:grpSpPr>
          <a:xfrm>
            <a:off x="1992981" y="5897889"/>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81401" y="2006534"/>
            <a:ext cx="2305144" cy="215444"/>
          </a:xfrm>
          <a:prstGeom prst="rect">
            <a:avLst/>
          </a:prstGeom>
          <a:noFill/>
        </p:spPr>
        <p:txBody>
          <a:bodyPr wrap="square" lIns="0" tIns="0" rIns="0" bIns="0" rtlCol="0">
            <a:spAutoFit/>
          </a:bodyPr>
          <a:lstStyle/>
          <a:p>
            <a:pPr algn="r"/>
            <a:r>
              <a:rPr lang="ko-KR" altLang="en-US" sz="700" dirty="0">
                <a:latin typeface="+mn-ea"/>
              </a:rPr>
              <a:t>최근 로그인</a:t>
            </a:r>
            <a:endParaRPr lang="en-US" altLang="ko-KR" sz="700" dirty="0">
              <a:latin typeface="+mn-ea"/>
            </a:endParaRPr>
          </a:p>
          <a:p>
            <a:pPr algn="r"/>
            <a:r>
              <a:rPr lang="en-US" altLang="ko-KR" sz="700" dirty="0">
                <a:latin typeface="+mn-ea"/>
              </a:rPr>
              <a:t>2025-10-30 13:42:22</a:t>
            </a:r>
            <a:endParaRPr lang="ko-KR" altLang="en-US" sz="700" dirty="0">
              <a:latin typeface="+mn-ea"/>
            </a:endParaRPr>
          </a:p>
        </p:txBody>
      </p:sp>
      <p:sp>
        <p:nvSpPr>
          <p:cNvPr id="194" name="타원 193">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6" name="타원 195">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8" name="직사각형 5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7691493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알림 표시 영역</a:t>
            </a:r>
            <a:r>
              <a:rPr lang="en-US" altLang="ko-KR" dirty="0"/>
              <a:t/>
            </a:r>
            <a:br>
              <a:rPr lang="en-US" altLang="ko-KR" dirty="0"/>
            </a:br>
            <a:r>
              <a:rPr lang="en-US" altLang="ko-KR" dirty="0"/>
              <a:t>- </a:t>
            </a:r>
            <a:r>
              <a:rPr lang="ko-KR" altLang="en-US" dirty="0"/>
              <a:t>클릭 시 </a:t>
            </a:r>
            <a:r>
              <a:rPr lang="ko-KR" altLang="en-US" dirty="0" err="1"/>
              <a:t>딥링크를</a:t>
            </a:r>
            <a:r>
              <a:rPr lang="ko-KR" altLang="en-US" dirty="0"/>
              <a:t> 통해 해당 내역으로 이동</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알림 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알림 현황</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latin typeface="+mn-ea"/>
              </a:rPr>
              <a:t>알림 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MUI-MS-01-M13</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1969936"/>
            <a:ext cx="2305144" cy="123111"/>
          </a:xfrm>
          <a:prstGeom prst="rect">
            <a:avLst/>
          </a:prstGeom>
          <a:noFill/>
        </p:spPr>
        <p:txBody>
          <a:bodyPr wrap="square" lIns="0" tIns="0" rIns="0" bIns="0" rtlCol="0">
            <a:spAutoFit/>
          </a:bodyPr>
          <a:lstStyle/>
          <a:p>
            <a:r>
              <a:rPr lang="ko-KR" altLang="en-US" sz="800" dirty="0" err="1">
                <a:latin typeface="+mn-ea"/>
              </a:rPr>
              <a:t>조달계획이</a:t>
            </a:r>
            <a:r>
              <a:rPr lang="ko-KR" altLang="en-US" sz="800" dirty="0">
                <a:latin typeface="+mn-ea"/>
              </a:rPr>
              <a:t> 등록되었습니다</a:t>
            </a:r>
            <a:r>
              <a:rPr lang="en-US" altLang="ko-KR" sz="800" dirty="0">
                <a:latin typeface="+mn-ea"/>
              </a:rPr>
              <a:t>.</a:t>
            </a:r>
            <a:endParaRPr lang="ko-KR" altLang="en-US" sz="800" dirty="0">
              <a:latin typeface="+mn-ea"/>
            </a:endParaRPr>
          </a:p>
        </p:txBody>
      </p:sp>
      <p:sp>
        <p:nvSpPr>
          <p:cNvPr id="183" name="모서리가 둥근 직사각형 182"/>
          <p:cNvSpPr/>
          <p:nvPr/>
        </p:nvSpPr>
        <p:spPr>
          <a:xfrm>
            <a:off x="891228" y="2169025"/>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2585150"/>
            <a:ext cx="2305144" cy="123111"/>
          </a:xfrm>
          <a:prstGeom prst="rect">
            <a:avLst/>
          </a:prstGeom>
          <a:noFill/>
        </p:spPr>
        <p:txBody>
          <a:bodyPr wrap="square" lIns="0" tIns="0" rIns="0" bIns="0" rtlCol="0">
            <a:spAutoFit/>
          </a:bodyPr>
          <a:lstStyle/>
          <a:p>
            <a:r>
              <a:rPr lang="ko-KR" altLang="en-US" sz="800" dirty="0">
                <a:latin typeface="+mn-ea"/>
              </a:rPr>
              <a:t>입찰참가 신청 결과가 등록되었습니다</a:t>
            </a:r>
            <a:r>
              <a:rPr lang="en-US" altLang="ko-KR" sz="800" dirty="0">
                <a:latin typeface="+mn-ea"/>
              </a:rPr>
              <a:t>.</a:t>
            </a:r>
            <a:endParaRPr lang="ko-KR" altLang="en-US" sz="800" dirty="0">
              <a:latin typeface="+mn-ea"/>
            </a:endParaRPr>
          </a:p>
        </p:txBody>
      </p:sp>
      <p:sp>
        <p:nvSpPr>
          <p:cNvPr id="187" name="모서리가 둥근 직사각형 186"/>
          <p:cNvSpPr/>
          <p:nvPr/>
        </p:nvSpPr>
        <p:spPr>
          <a:xfrm>
            <a:off x="891228" y="2784239"/>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3255435"/>
            <a:ext cx="2305144" cy="123111"/>
          </a:xfrm>
          <a:prstGeom prst="rect">
            <a:avLst/>
          </a:prstGeom>
          <a:noFill/>
        </p:spPr>
        <p:txBody>
          <a:bodyPr wrap="square" lIns="0" tIns="0" rIns="0" bIns="0" rtlCol="0">
            <a:spAutoFit/>
          </a:bodyPr>
          <a:lstStyle/>
          <a:p>
            <a:r>
              <a:rPr lang="ko-KR" altLang="en-US" sz="800" dirty="0">
                <a:latin typeface="+mn-ea"/>
              </a:rPr>
              <a:t>계약이 완료되었습니다</a:t>
            </a:r>
            <a:r>
              <a:rPr lang="en-US" altLang="ko-KR" sz="800" dirty="0">
                <a:latin typeface="+mn-ea"/>
              </a:rPr>
              <a:t>.</a:t>
            </a:r>
            <a:endParaRPr lang="ko-KR" altLang="en-US" sz="800" dirty="0">
              <a:latin typeface="+mn-ea"/>
            </a:endParaRPr>
          </a:p>
        </p:txBody>
      </p:sp>
      <p:sp>
        <p:nvSpPr>
          <p:cNvPr id="129" name="모서리가 둥근 직사각형 128"/>
          <p:cNvSpPr/>
          <p:nvPr/>
        </p:nvSpPr>
        <p:spPr>
          <a:xfrm>
            <a:off x="891228" y="3454524"/>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2530716"/>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3167642"/>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878892" y="3928964"/>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 수정 내역이 처리되었습니다</a:t>
            </a:r>
            <a:r>
              <a:rPr lang="en-US" altLang="ko-KR" sz="800" dirty="0">
                <a:latin typeface="+mn-ea"/>
              </a:rPr>
              <a:t>.</a:t>
            </a:r>
            <a:endParaRPr lang="ko-KR" altLang="en-US" sz="800" dirty="0">
              <a:latin typeface="+mn-ea"/>
            </a:endParaRPr>
          </a:p>
        </p:txBody>
      </p:sp>
      <p:sp>
        <p:nvSpPr>
          <p:cNvPr id="162" name="모서리가 둥근 직사각형 161"/>
          <p:cNvSpPr/>
          <p:nvPr/>
        </p:nvSpPr>
        <p:spPr>
          <a:xfrm>
            <a:off x="891228" y="4128053"/>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3841171"/>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9" name="그룹 188">
            <a:extLst>
              <a:ext uri="{FF2B5EF4-FFF2-40B4-BE49-F238E27FC236}">
                <a16:creationId xmlns:a16="http://schemas.microsoft.com/office/drawing/2014/main" id="{22BC05EE-C648-7CA2-4CCC-6E1C1A7E9BDA}"/>
              </a:ext>
            </a:extLst>
          </p:cNvPr>
          <p:cNvGrpSpPr/>
          <p:nvPr/>
        </p:nvGrpSpPr>
        <p:grpSpPr>
          <a:xfrm>
            <a:off x="1992981" y="4950686"/>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78892" y="2335073"/>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cxnSp>
        <p:nvCxnSpPr>
          <p:cNvPr id="57" name="직선 연결선 56">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8" name="그룹 57"/>
          <p:cNvGrpSpPr/>
          <p:nvPr/>
        </p:nvGrpSpPr>
        <p:grpSpPr>
          <a:xfrm>
            <a:off x="3138377" y="1650089"/>
            <a:ext cx="94010" cy="94010"/>
            <a:chOff x="6812560" y="3297172"/>
            <a:chExt cx="94010" cy="94010"/>
          </a:xfrm>
        </p:grpSpPr>
        <p:cxnSp>
          <p:nvCxnSpPr>
            <p:cNvPr id="59" name="직선 연결선 5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0" name="직선 연결선 5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2" name="TextBox 61">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알림현황</a:t>
            </a:r>
            <a:endParaRPr lang="ko-KR" altLang="en-US" sz="900" dirty="0">
              <a:latin typeface="+mn-ea"/>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878892" y="2998031"/>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878892" y="363495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9" name="TextBox 68">
            <a:extLst>
              <a:ext uri="{FF2B5EF4-FFF2-40B4-BE49-F238E27FC236}">
                <a16:creationId xmlns:a16="http://schemas.microsoft.com/office/drawing/2014/main" id="{FFC49AEA-2A8F-250C-A86A-A7751D9706C3}"/>
              </a:ext>
            </a:extLst>
          </p:cNvPr>
          <p:cNvSpPr txBox="1"/>
          <p:nvPr/>
        </p:nvSpPr>
        <p:spPr>
          <a:xfrm>
            <a:off x="878892" y="433159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70" name="타원 69">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1" name="타원 70">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6" name="직사각형 35"/>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87407936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1837010599"/>
              </p:ext>
            </p:extLst>
          </p:nvPr>
        </p:nvGraphicFramePr>
        <p:xfrm>
          <a:off x="635474" y="1413419"/>
          <a:ext cx="8701200" cy="26505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MUI-BD-01-M02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검색필터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지역검색</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a:solidFill>
                            <a:schemeClr val="tx1"/>
                          </a:solidFill>
                          <a:latin typeface="+mn-lt"/>
                          <a:ea typeface="+mn-ea"/>
                        </a:rPr>
                        <a:t>RgnSrch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시군구까지</a:t>
                      </a:r>
                      <a:r>
                        <a:rPr lang="ko-KR" altLang="en-US" sz="800" kern="1200" dirty="0">
                          <a:solidFill>
                            <a:schemeClr val="tx1"/>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RgnSrch</a:t>
                      </a:r>
                      <a:r>
                        <a:rPr lang="en-US" altLang="ko-KR" sz="800" b="0" i="0" u="none" strike="noStrike" dirty="0" err="1">
                          <a:solidFill>
                            <a:schemeClr val="tx1"/>
                          </a:solidFill>
                          <a:effectLst/>
                          <a:latin typeface="+mn-lt"/>
                          <a:ea typeface="+mn-ea"/>
                        </a:rPr>
                        <a:t>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발주부서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기관</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날짜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DateInput</a:t>
                      </a:r>
                      <a:endParaRPr lang="en-US" altLang="ko-KR" sz="800" b="0" i="0" u="none" strike="noStrike" spc="0"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spc="0" dirty="0" err="1">
                          <a:solidFill>
                            <a:schemeClr val="tx1"/>
                          </a:solidFill>
                          <a:latin typeface="+mn-lt"/>
                          <a:ea typeface="+mn-ea"/>
                        </a:rPr>
                        <a:t>BidPbancDtlPage</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입찰공고 상세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spc="0" dirty="0" err="1">
                          <a:solidFill>
                            <a:schemeClr val="tx1"/>
                          </a:solidFill>
                          <a:latin typeface="+mn-lt"/>
                          <a:ea typeface="+mn-ea"/>
                        </a:rPr>
                        <a:t>BidPbancDtlPage</a:t>
                      </a:r>
                      <a:r>
                        <a:rPr lang="en-US" altLang="ko-KR" sz="800" dirty="0">
                          <a:solidFill>
                            <a:schemeClr val="tx1"/>
                          </a:solidFill>
                          <a:latin typeface="+mn-ea"/>
                          <a:ea typeface="+mn-ea"/>
                        </a:rPr>
                        <a:t>/</a:t>
                      </a:r>
                      <a:r>
                        <a:rPr lang="en-US" altLang="ko-KR" sz="800" spc="0" dirty="0" err="1">
                          <a:solidFill>
                            <a:schemeClr val="tx1"/>
                          </a:solidFill>
                          <a:latin typeface="+mn-lt"/>
                          <a:ea typeface="+mn-ea"/>
                        </a:rPr>
                        <a:t>BidPbancDtlPage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988231804"/>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목록</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검색 필터</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462485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410066"/>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35606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272710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74" name="직사각형 173">
            <a:extLst>
              <a:ext uri="{FF2B5EF4-FFF2-40B4-BE49-F238E27FC236}">
                <a16:creationId xmlns:a16="http://schemas.microsoft.com/office/drawing/2014/main" id="{F249990F-1DE5-C694-BDBD-2DE7009D57EA}"/>
              </a:ext>
            </a:extLst>
          </p:cNvPr>
          <p:cNvSpPr/>
          <p:nvPr/>
        </p:nvSpPr>
        <p:spPr>
          <a:xfrm>
            <a:off x="2816608" y="1261938"/>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검색 반영</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4500066"/>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944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a:off x="5097742" y="1772964"/>
            <a:ext cx="931134" cy="476"/>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사각형: 둥근 모서리 5">
            <a:extLst>
              <a:ext uri="{FF2B5EF4-FFF2-40B4-BE49-F238E27FC236}">
                <a16:creationId xmlns:a16="http://schemas.microsoft.com/office/drawing/2014/main" id="{410E5459-200D-7630-863C-88E5109259DF}"/>
              </a:ext>
            </a:extLst>
          </p:cNvPr>
          <p:cNvSpPr/>
          <p:nvPr/>
        </p:nvSpPr>
        <p:spPr>
          <a:xfrm>
            <a:off x="6028876" y="367153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날짜 설정</a:t>
            </a: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3"/>
            <a:endCxn id="30" idx="1"/>
          </p:cNvCxnSpPr>
          <p:nvPr/>
        </p:nvCxnSpPr>
        <p:spPr>
          <a:xfrm>
            <a:off x="5097742" y="1772964"/>
            <a:ext cx="931134" cy="204257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 상세</a:t>
            </a:r>
            <a:endParaRPr lang="en-US" altLang="ko-KR" sz="1050" dirty="0">
              <a:solidFill>
                <a:schemeClr val="tx1"/>
              </a:solidFill>
            </a:endParaRPr>
          </a:p>
          <a:p>
            <a:pPr algn="ctr"/>
            <a:r>
              <a:rPr lang="en-US" altLang="ko-KR" sz="1050" dirty="0" err="1">
                <a:solidFill>
                  <a:schemeClr val="tx1"/>
                </a:solidFill>
              </a:rPr>
              <a:t>BidPbancDtlPage.tsx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571260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날짜 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298544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공고 목록 표시</a:t>
            </a:r>
            <a:r>
              <a:rPr lang="en-US" altLang="ko-KR" dirty="0"/>
              <a:t/>
            </a:r>
            <a:br>
              <a:rPr lang="en-US" altLang="ko-KR" dirty="0"/>
            </a:br>
            <a:r>
              <a:rPr lang="en-US" altLang="ko-KR" dirty="0"/>
              <a:t>- </a:t>
            </a:r>
            <a:r>
              <a:rPr lang="ko-KR" altLang="en-US" dirty="0"/>
              <a:t>공고 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119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258319"/>
            <a:ext cx="2473257" cy="1098561"/>
            <a:chOff x="781461" y="2610063"/>
            <a:chExt cx="2473257" cy="1098561"/>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0057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57648"/>
            <a:ext cx="2476203" cy="1098561"/>
            <a:chOff x="778515" y="2610063"/>
            <a:chExt cx="2476203" cy="1098561"/>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4391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610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62420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grpSp>
        <p:nvGrpSpPr>
          <p:cNvPr id="178" name="그룹 177"/>
          <p:cNvGrpSpPr/>
          <p:nvPr/>
        </p:nvGrpSpPr>
        <p:grpSpPr>
          <a:xfrm>
            <a:off x="767702" y="2270279"/>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2" name="그룹 191"/>
          <p:cNvGrpSpPr/>
          <p:nvPr/>
        </p:nvGrpSpPr>
        <p:grpSpPr>
          <a:xfrm>
            <a:off x="3024315" y="3090999"/>
            <a:ext cx="776938" cy="1131139"/>
            <a:chOff x="3004764" y="2490533"/>
            <a:chExt cx="776938" cy="1131139"/>
          </a:xfrm>
        </p:grpSpPr>
        <p:sp>
          <p:nvSpPr>
            <p:cNvPr id="193" name="사각형: 둥근 모서리 222">
              <a:extLst>
                <a:ext uri="{FF2B5EF4-FFF2-40B4-BE49-F238E27FC236}">
                  <a16:creationId xmlns:a16="http://schemas.microsoft.com/office/drawing/2014/main" id="{8AF9D577-0373-21E1-F7E1-B17AE839E882}"/>
                </a:ext>
              </a:extLst>
            </p:cNvPr>
            <p:cNvSpPr/>
            <p:nvPr/>
          </p:nvSpPr>
          <p:spPr>
            <a:xfrm>
              <a:off x="3004764" y="2833887"/>
              <a:ext cx="776938" cy="787785"/>
            </a:xfrm>
            <a:prstGeom prst="roundRect">
              <a:avLst>
                <a:gd name="adj" fmla="val 389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auto" latinLnBrk="0" hangingPunct="1">
                <a:lnSpc>
                  <a:spcPct val="180000"/>
                </a:lnSpc>
                <a:spcBef>
                  <a:spcPts val="0"/>
                </a:spcBef>
                <a:spcAft>
                  <a:spcPts val="0"/>
                </a:spcAft>
                <a:buClrTx/>
                <a:buSzTx/>
                <a:buFontTx/>
                <a:buNone/>
                <a:tabLst/>
                <a:defRPr/>
              </a:pPr>
              <a:endParaRPr kumimoji="1" lang="en-US" altLang="ko-KR" sz="900" b="1" i="0" u="none" strike="noStrike" kern="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
          <p:nvSpPr>
            <p:cNvPr id="194" name="사각형: 둥근 모서리 224">
              <a:extLst>
                <a:ext uri="{FF2B5EF4-FFF2-40B4-BE49-F238E27FC236}">
                  <a16:creationId xmlns:a16="http://schemas.microsoft.com/office/drawing/2014/main" id="{3EFB2C27-9C6F-8886-4247-7900976F7BD2}"/>
                </a:ext>
              </a:extLst>
            </p:cNvPr>
            <p:cNvSpPr/>
            <p:nvPr/>
          </p:nvSpPr>
          <p:spPr>
            <a:xfrm>
              <a:off x="3004764" y="2490533"/>
              <a:ext cx="775390" cy="343356"/>
            </a:xfrm>
            <a:prstGeom prst="roundRect">
              <a:avLst/>
            </a:prstGeom>
            <a:solidFill>
              <a:sysClr val="window" lastClr="FFFFFF"/>
            </a:solidFill>
            <a:ln w="9525" cap="flat" cmpd="sng" algn="ctr">
              <a:solidFill>
                <a:sysClr val="windowText" lastClr="000000"/>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defRPr/>
              </a:pPr>
              <a:r>
                <a:rPr lang="en-US" altLang="ko-KR" sz="700" kern="0" dirty="0">
                  <a:solidFill>
                    <a:prstClr val="black"/>
                  </a:solidFill>
                </a:rPr>
                <a:t>10 </a:t>
              </a:r>
              <a:r>
                <a:rPr lang="ko-KR" altLang="en-US" sz="700" kern="0" dirty="0">
                  <a:solidFill>
                    <a:prstClr val="black"/>
                  </a:solidFill>
                </a:rPr>
                <a:t>개</a:t>
              </a:r>
            </a:p>
          </p:txBody>
        </p:sp>
        <p:sp>
          <p:nvSpPr>
            <p:cNvPr id="195" name="TextBox 226">
              <a:extLst>
                <a:ext uri="{FF2B5EF4-FFF2-40B4-BE49-F238E27FC236}">
                  <a16:creationId xmlns:a16="http://schemas.microsoft.com/office/drawing/2014/main" id="{2D0EB093-7669-C055-4901-B28C987E9EF9}"/>
                </a:ext>
              </a:extLst>
            </p:cNvPr>
            <p:cNvSpPr txBox="1"/>
            <p:nvPr/>
          </p:nvSpPr>
          <p:spPr>
            <a:xfrm>
              <a:off x="3063151" y="2833887"/>
              <a:ext cx="641770" cy="674031"/>
            </a:xfrm>
            <a:prstGeom prst="rect">
              <a:avLst/>
            </a:prstGeom>
            <a:noFill/>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lnSpc>
                  <a:spcPct val="180000"/>
                </a:lnSpc>
                <a:defRPr/>
              </a:pPr>
              <a:r>
                <a:rPr lang="en-US" altLang="ko-KR" sz="700" kern="0" dirty="0">
                  <a:solidFill>
                    <a:prstClr val="black"/>
                  </a:solidFill>
                </a:rPr>
                <a:t>10 </a:t>
              </a:r>
              <a:r>
                <a:rPr lang="ko-KR" altLang="en-US" sz="700" kern="0" dirty="0">
                  <a:solidFill>
                    <a:prstClr val="black"/>
                  </a:solidFill>
                </a:rPr>
                <a:t>개</a:t>
              </a:r>
              <a:endParaRPr lang="en-US" altLang="ko-KR" sz="700" kern="0" dirty="0">
                <a:solidFill>
                  <a:prstClr val="black"/>
                </a:solidFill>
              </a:endParaRPr>
            </a:p>
            <a:p>
              <a:pPr lvl="0" latinLnBrk="0">
                <a:lnSpc>
                  <a:spcPct val="180000"/>
                </a:lnSpc>
                <a:defRPr/>
              </a:pPr>
              <a:r>
                <a:rPr lang="en-US" altLang="ko-KR" sz="700" kern="0" dirty="0">
                  <a:solidFill>
                    <a:prstClr val="black"/>
                  </a:solidFill>
                </a:rPr>
                <a:t>30 </a:t>
              </a:r>
              <a:r>
                <a:rPr lang="ko-KR" altLang="en-US" sz="700" kern="0" dirty="0">
                  <a:solidFill>
                    <a:prstClr val="black"/>
                  </a:solidFill>
                </a:rPr>
                <a:t>개</a:t>
              </a:r>
              <a:endParaRPr lang="en-US" altLang="ko-KR" sz="700" kern="0" dirty="0">
                <a:solidFill>
                  <a:prstClr val="black"/>
                </a:solidFill>
              </a:endParaRPr>
            </a:p>
            <a:p>
              <a:pPr lvl="0" latinLnBrk="0">
                <a:lnSpc>
                  <a:spcPct val="180000"/>
                </a:lnSpc>
                <a:defRPr/>
              </a:pPr>
              <a:r>
                <a:rPr lang="en-US" altLang="ko-KR" sz="700" kern="0" dirty="0">
                  <a:solidFill>
                    <a:prstClr val="black"/>
                  </a:solidFill>
                </a:rPr>
                <a:t>50 </a:t>
              </a:r>
              <a:r>
                <a:rPr lang="ko-KR" altLang="en-US" sz="700" kern="0" dirty="0">
                  <a:solidFill>
                    <a:prstClr val="black"/>
                  </a:solidFill>
                </a:rPr>
                <a:t>개</a:t>
              </a:r>
            </a:p>
          </p:txBody>
        </p:sp>
        <p:grpSp>
          <p:nvGrpSpPr>
            <p:cNvPr id="196" name="그룹 195"/>
            <p:cNvGrpSpPr/>
            <p:nvPr/>
          </p:nvGrpSpPr>
          <p:grpSpPr>
            <a:xfrm flipV="1">
              <a:off x="3584851" y="2638708"/>
              <a:ext cx="94010" cy="47005"/>
              <a:chOff x="6615710" y="3297172"/>
              <a:chExt cx="94010" cy="47005"/>
            </a:xfrm>
          </p:grpSpPr>
          <p:cxnSp>
            <p:nvCxnSpPr>
              <p:cNvPr id="197" name="직선 연결선 196"/>
              <p:cNvCxnSpPr/>
              <p:nvPr/>
            </p:nvCxnSpPr>
            <p:spPr>
              <a:xfrm>
                <a:off x="661571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8" name="직선 연결선 197"/>
              <p:cNvCxnSpPr/>
              <p:nvPr/>
            </p:nvCxnSpPr>
            <p:spPr>
              <a:xfrm flipH="1">
                <a:off x="666271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99" name="TextBox 19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97249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7445734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871181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69502548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발주기관으로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87727533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지역명칭</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면허정보</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4601806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날짜 설정</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1-2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포인트가 5개인 별 199"/>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322077" y="2250612"/>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864447" y="2250612"/>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5503001" y="2250612"/>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09" name="그룹 208"/>
          <p:cNvGrpSpPr/>
          <p:nvPr/>
        </p:nvGrpSpPr>
        <p:grpSpPr>
          <a:xfrm>
            <a:off x="6027618" y="2212489"/>
            <a:ext cx="422853" cy="187961"/>
            <a:chOff x="3641308" y="2234886"/>
            <a:chExt cx="422853" cy="187961"/>
          </a:xfrm>
        </p:grpSpPr>
        <p:sp>
          <p:nvSpPr>
            <p:cNvPr id="210" name="타원 2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1" name="그룹 210"/>
            <p:cNvGrpSpPr/>
            <p:nvPr/>
          </p:nvGrpSpPr>
          <p:grpSpPr>
            <a:xfrm rot="5400000" flipH="1">
              <a:off x="3679895" y="2305364"/>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2" name="타원 2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3" name="그룹 212"/>
            <p:cNvGrpSpPr/>
            <p:nvPr/>
          </p:nvGrpSpPr>
          <p:grpSpPr>
            <a:xfrm rot="16200000">
              <a:off x="3931564" y="2305364"/>
              <a:ext cx="94010" cy="47005"/>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8" name="TextBox 217">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686881"/>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3884993" y="41787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237" name="그룹 236"/>
          <p:cNvGrpSpPr/>
          <p:nvPr/>
        </p:nvGrpSpPr>
        <p:grpSpPr>
          <a:xfrm flipV="1">
            <a:off x="6247080" y="4292122"/>
            <a:ext cx="94010" cy="47005"/>
            <a:chOff x="6812560" y="3297172"/>
            <a:chExt cx="94010" cy="47005"/>
          </a:xfrm>
        </p:grpSpPr>
        <p:cxnSp>
          <p:nvCxnSpPr>
            <p:cNvPr id="238" name="직선 연결선 2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9" name="직선 연결선 2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7" name="TextBox 256">
            <a:extLst>
              <a:ext uri="{FF2B5EF4-FFF2-40B4-BE49-F238E27FC236}">
                <a16:creationId xmlns:a16="http://schemas.microsoft.com/office/drawing/2014/main" id="{FFC49AEA-2A8F-250C-A86A-A7751D9706C3}"/>
              </a:ext>
            </a:extLst>
          </p:cNvPr>
          <p:cNvSpPr txBox="1"/>
          <p:nvPr/>
        </p:nvSpPr>
        <p:spPr>
          <a:xfrm>
            <a:off x="3884993" y="5148031"/>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258" name="그룹 257"/>
          <p:cNvGrpSpPr/>
          <p:nvPr/>
        </p:nvGrpSpPr>
        <p:grpSpPr>
          <a:xfrm flipV="1">
            <a:off x="6247080" y="5261362"/>
            <a:ext cx="94010" cy="47005"/>
            <a:chOff x="6812560" y="3297172"/>
            <a:chExt cx="94010" cy="47005"/>
          </a:xfrm>
        </p:grpSpPr>
        <p:cxnSp>
          <p:nvCxnSpPr>
            <p:cNvPr id="259" name="직선 연결선 2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0" name="직선 연결선 2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5068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 name="모서리가 둥근 직사각형 16"/>
          <p:cNvSpPr/>
          <p:nvPr/>
        </p:nvSpPr>
        <p:spPr>
          <a:xfrm>
            <a:off x="3824022" y="5456104"/>
            <a:ext cx="2652743" cy="776195"/>
          </a:xfrm>
          <a:prstGeom prst="round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13178" y="5554387"/>
            <a:ext cx="2475203" cy="538609"/>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p:txBody>
      </p:sp>
      <p:sp>
        <p:nvSpPr>
          <p:cNvPr id="271" name="타원 270">
            <a:extLst>
              <a:ext uri="{FF2B5EF4-FFF2-40B4-BE49-F238E27FC236}">
                <a16:creationId xmlns:a16="http://schemas.microsoft.com/office/drawing/2014/main" id="{37A7FF4F-0EAA-1463-560A-D5EC24416103}"/>
              </a:ext>
            </a:extLst>
          </p:cNvPr>
          <p:cNvSpPr/>
          <p:nvPr/>
        </p:nvSpPr>
        <p:spPr>
          <a:xfrm>
            <a:off x="571127" y="35776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95540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34520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타원 169"/>
          <p:cNvSpPr/>
          <p:nvPr/>
        </p:nvSpPr>
        <p:spPr>
          <a:xfrm>
            <a:off x="3898259" y="554473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flipV="1">
            <a:off x="6247080" y="559323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4" name="그룹 173"/>
          <p:cNvGrpSpPr/>
          <p:nvPr/>
        </p:nvGrpSpPr>
        <p:grpSpPr>
          <a:xfrm>
            <a:off x="3825376" y="4543347"/>
            <a:ext cx="2652743" cy="384278"/>
            <a:chOff x="715616" y="1792037"/>
            <a:chExt cx="2652743" cy="384278"/>
          </a:xfrm>
        </p:grpSpPr>
        <p:sp>
          <p:nvSpPr>
            <p:cNvPr id="175" name="모서리가 둥근 직사각형 17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sp>
          <p:nvSpPr>
            <p:cNvPr id="178" name="TextBox 177">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grpSp>
      <p:grpSp>
        <p:nvGrpSpPr>
          <p:cNvPr id="182" name="그룹 181"/>
          <p:cNvGrpSpPr/>
          <p:nvPr/>
        </p:nvGrpSpPr>
        <p:grpSpPr>
          <a:xfrm rot="16200000">
            <a:off x="1250697" y="3307709"/>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237230"/>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307709"/>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307709"/>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237230"/>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237230"/>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246" name="그룹 245"/>
          <p:cNvGrpSpPr/>
          <p:nvPr/>
        </p:nvGrpSpPr>
        <p:grpSpPr>
          <a:xfrm>
            <a:off x="2714860" y="3237230"/>
            <a:ext cx="603798" cy="187961"/>
            <a:chOff x="2714860" y="3237230"/>
            <a:chExt cx="603798" cy="187961"/>
          </a:xfrm>
        </p:grpSpPr>
        <p:grpSp>
          <p:nvGrpSpPr>
            <p:cNvPr id="247" name="그룹 246"/>
            <p:cNvGrpSpPr/>
            <p:nvPr/>
          </p:nvGrpSpPr>
          <p:grpSpPr>
            <a:xfrm>
              <a:off x="2714860" y="3237230"/>
              <a:ext cx="187961" cy="187961"/>
              <a:chOff x="2714860" y="3237230"/>
              <a:chExt cx="187961" cy="187961"/>
            </a:xfrm>
          </p:grpSpPr>
          <p:sp>
            <p:nvSpPr>
              <p:cNvPr id="249" name="타원 24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0" name="TextBox 24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248" name="TextBox 24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69" name="그룹 168"/>
          <p:cNvGrpSpPr/>
          <p:nvPr/>
        </p:nvGrpSpPr>
        <p:grpSpPr>
          <a:xfrm rot="5400000">
            <a:off x="3158978" y="3232595"/>
            <a:ext cx="187961" cy="187961"/>
            <a:chOff x="3876200" y="2234886"/>
            <a:chExt cx="187961" cy="187961"/>
          </a:xfrm>
        </p:grpSpPr>
        <p:sp>
          <p:nvSpPr>
            <p:cNvPr id="251" name="타원 2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2" name="그룹 251"/>
            <p:cNvGrpSpPr/>
            <p:nvPr/>
          </p:nvGrpSpPr>
          <p:grpSpPr>
            <a:xfrm rot="16200000">
              <a:off x="3931564" y="230536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5" name="직선 연결선 2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26785456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공고구분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20</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21</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2. </a:t>
            </a:r>
            <a:r>
              <a:rPr lang="ko-KR" altLang="en-US" dirty="0"/>
              <a:t>입찰공고상세</a:t>
            </a:r>
            <a:endParaRPr lang="en-US" altLang="ko-KR" dirty="0"/>
          </a:p>
          <a:p>
            <a:r>
              <a:rPr lang="en-US" altLang="ko-KR" dirty="0"/>
              <a:t>2.1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2055750277"/>
              </p:ext>
            </p:extLst>
          </p:nvPr>
        </p:nvGraphicFramePr>
        <p:xfrm>
          <a:off x="635474" y="1413419"/>
          <a:ext cx="8701200" cy="20908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t"/>
                      <a:r>
                        <a:rPr lang="en-US" altLang="ko-KR" sz="700" kern="1200" dirty="0">
                          <a:solidFill>
                            <a:schemeClr val="tx1"/>
                          </a:solidFill>
                          <a:latin typeface="+mn-ea"/>
                          <a:ea typeface="+mn-ea"/>
                          <a:cs typeface="+mn-cs"/>
                        </a:rPr>
                        <a:t>MUI-BD-01-M07</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rtl="0" fontAlgn="ctr"/>
                      <a:r>
                        <a:rPr lang="en-US" sz="800" b="0" i="0" u="none" strike="noStrike" dirty="0" err="1">
                          <a:solidFill>
                            <a:schemeClr val="tx1"/>
                          </a:solidFill>
                          <a:effectLst/>
                          <a:latin typeface="맑은 고딕" panose="020B0503020000020004" pitchFamily="50" charset="-127"/>
                          <a:ea typeface="맑은 고딕" panose="020B0503020000020004" pitchFamily="50" charset="-127"/>
                        </a:rPr>
                        <a:t>BidPbancDtl</a:t>
                      </a:r>
                      <a:endParaRPr 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공고 일반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BidPbancDtl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00" kern="1200" dirty="0">
                          <a:solidFill>
                            <a:schemeClr val="tx1"/>
                          </a:solidFill>
                          <a:latin typeface="+mn-ea"/>
                          <a:ea typeface="+mn-ea"/>
                          <a:cs typeface="+mn-cs"/>
                        </a:rPr>
                        <a:t>MUI-BD-01-M08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BidPbancDtl_</a:t>
                      </a:r>
                      <a:r>
                        <a:rPr lang="en-US" altLang="ko-KR" sz="800" dirty="0">
                          <a:solidFill>
                            <a:schemeClr val="tx1"/>
                          </a:solidFill>
                          <a:latin typeface="+mn-ea"/>
                          <a:ea typeface="+mn-ea"/>
                        </a:rPr>
                        <a:t>Tacpg02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기초예비가격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/Tacpg02.tsx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MUI-BD-01-M09</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품목명세서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BidPbancDtl_</a:t>
                      </a:r>
                      <a:r>
                        <a:rPr lang="en-US" altLang="ko-KR" sz="800" dirty="0">
                          <a:solidFill>
                            <a:schemeClr val="tx1"/>
                          </a:solidFill>
                          <a:latin typeface="+mn-ea"/>
                          <a:ea typeface="+mn-ea"/>
                        </a:rPr>
                        <a:t>Tacpg03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품목명세서</a:t>
                      </a:r>
                      <a:r>
                        <a:rPr lang="ko-KR" altLang="en-US" sz="800" kern="1200" dirty="0">
                          <a:solidFill>
                            <a:schemeClr val="tx1"/>
                          </a:solidFill>
                          <a:latin typeface="+mn-ea"/>
                          <a:ea typeface="+mn-ea"/>
                          <a:cs typeface="+mn-cs"/>
                        </a:rPr>
                        <a:t>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/Tacpg03.tsx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MUI-BD-01-M10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계약특수조건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BidPbancDtl_</a:t>
                      </a:r>
                      <a:r>
                        <a:rPr lang="en-US" altLang="ko-KR" sz="800" dirty="0">
                          <a:solidFill>
                            <a:schemeClr val="tx1"/>
                          </a:solidFill>
                          <a:latin typeface="+mn-ea"/>
                          <a:ea typeface="+mn-ea"/>
                        </a:rPr>
                        <a:t>Tacpg04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계약특수조건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/Tacpg04.tsx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altLang="ko-KR" sz="700" kern="1200" dirty="0">
                          <a:solidFill>
                            <a:schemeClr val="tx1"/>
                          </a:solidFill>
                          <a:latin typeface="+mn-ea"/>
                          <a:ea typeface="+mn-ea"/>
                          <a:cs typeface="+mn-cs"/>
                        </a:rPr>
                        <a:t>MUI-BD-01-M11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BidPbancDtl_</a:t>
                      </a:r>
                      <a:r>
                        <a:rPr lang="en-US" altLang="ko-KR" sz="800" dirty="0">
                          <a:solidFill>
                            <a:schemeClr val="tx1"/>
                          </a:solidFill>
                          <a:latin typeface="+mn-ea"/>
                          <a:ea typeface="+mn-ea"/>
                        </a:rPr>
                        <a:t>Tacpg06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공고문안</a:t>
                      </a:r>
                      <a:r>
                        <a:rPr lang="ko-KR" altLang="en-US" sz="800" kern="1200" dirty="0">
                          <a:solidFill>
                            <a:schemeClr val="tx1"/>
                          </a:solidFill>
                          <a:latin typeface="+mn-ea"/>
                          <a:ea typeface="+mn-ea"/>
                          <a:cs typeface="+mn-cs"/>
                        </a:rPr>
                        <a:t>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/Tacpg05.tsx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altLang="ko-KR" sz="700" kern="1200" dirty="0">
                          <a:solidFill>
                            <a:schemeClr val="tx1"/>
                          </a:solidFill>
                          <a:latin typeface="+mn-ea"/>
                          <a:ea typeface="+mn-ea"/>
                          <a:cs typeface="+mn-cs"/>
                        </a:rPr>
                        <a:t>MUI-BD-01-M12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입찰진행현황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BidPbancDtl_</a:t>
                      </a:r>
                      <a:r>
                        <a:rPr lang="en-US" altLang="ko-KR" sz="800" dirty="0">
                          <a:solidFill>
                            <a:schemeClr val="tx1"/>
                          </a:solidFill>
                          <a:latin typeface="+mn-ea"/>
                          <a:ea typeface="+mn-ea"/>
                        </a:rPr>
                        <a:t>Tacpg07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입찰진행현황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a:t>
                      </a:r>
                      <a:r>
                        <a:rPr lang="en-US" altLang="ko-KR" sz="800" b="0" i="0" u="none" strike="noStrike" dirty="0" err="1">
                          <a:solidFill>
                            <a:schemeClr val="tx1"/>
                          </a:solidFill>
                          <a:effectLst/>
                          <a:latin typeface="맑은 고딕" panose="020B0503020000020004" pitchFamily="50" charset="-127"/>
                          <a:ea typeface="+mn-ea"/>
                        </a:rPr>
                        <a:t>idPbancDtl</a:t>
                      </a:r>
                      <a:r>
                        <a:rPr lang="en-US" altLang="ko-KR" sz="800" dirty="0">
                          <a:solidFill>
                            <a:schemeClr val="tx1"/>
                          </a:solidFill>
                          <a:latin typeface="+mn-ea"/>
                          <a:ea typeface="+mn-ea"/>
                        </a:rPr>
                        <a:t>/Tacpg07.tsx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7685044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2.2. </a:t>
            </a:r>
            <a:r>
              <a:rPr lang="ko-KR" altLang="en-US" dirty="0"/>
              <a:t>화면 흐름도 </a:t>
            </a:r>
            <a:r>
              <a:rPr lang="en-US" altLang="ko-KR" dirty="0"/>
              <a:t>– </a:t>
            </a:r>
            <a:r>
              <a:rPr lang="ko-KR" altLang="en-US" dirty="0"/>
              <a:t>입찰 공고 상세 탭 이동</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77"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5993499"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공고문안</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59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품목명세서</a:t>
            </a:r>
            <a:endParaRPr lang="ko-KR" altLang="en-US" sz="800" dirty="0">
              <a:solidFill>
                <a:schemeClr val="tx1"/>
              </a:solidFill>
            </a:endParaRP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5993499" y="231396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계약특수조건</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7856934" y="43482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입찰진행현황</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2" idx="1"/>
          </p:cNvCxnSpPr>
          <p:nvPr/>
        </p:nvCxnSpPr>
        <p:spPr>
          <a:xfrm>
            <a:off x="5097742" y="1772964"/>
            <a:ext cx="895757" cy="0"/>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3" idx="1"/>
          </p:cNvCxnSpPr>
          <p:nvPr/>
        </p:nvCxnSpPr>
        <p:spPr>
          <a:xfrm>
            <a:off x="5097742" y="1772964"/>
            <a:ext cx="895757" cy="68500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35471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3671540"/>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43503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3959540"/>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418372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528206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50809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4638326"/>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77" idx="3"/>
            <a:endCxn id="72" idx="1"/>
          </p:cNvCxnSpPr>
          <p:nvPr/>
        </p:nvCxnSpPr>
        <p:spPr>
          <a:xfrm>
            <a:off x="5097742" y="1772964"/>
            <a:ext cx="895757" cy="20425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연결선: 꺾임 7">
            <a:extLst>
              <a:ext uri="{FF2B5EF4-FFF2-40B4-BE49-F238E27FC236}">
                <a16:creationId xmlns:a16="http://schemas.microsoft.com/office/drawing/2014/main" id="{89A2D828-4C18-4F90-6B31-722E89773AA8}"/>
              </a:ext>
            </a:extLst>
          </p:cNvPr>
          <p:cNvCxnSpPr>
            <a:cxnSpLocks/>
            <a:stCxn id="72" idx="3"/>
            <a:endCxn id="54" idx="1"/>
          </p:cNvCxnSpPr>
          <p:nvPr/>
        </p:nvCxnSpPr>
        <p:spPr>
          <a:xfrm>
            <a:off x="6893499" y="3815540"/>
            <a:ext cx="963435" cy="67672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8" name="사각형: 둥근 모서리 5">
            <a:extLst>
              <a:ext uri="{FF2B5EF4-FFF2-40B4-BE49-F238E27FC236}">
                <a16:creationId xmlns:a16="http://schemas.microsoft.com/office/drawing/2014/main" id="{410E5459-200D-7630-863C-88E5109259DF}"/>
              </a:ext>
            </a:extLst>
          </p:cNvPr>
          <p:cNvSpPr/>
          <p:nvPr/>
        </p:nvSpPr>
        <p:spPr>
          <a:xfrm>
            <a:off x="7856934"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기초예비가격</a:t>
            </a:r>
          </a:p>
        </p:txBody>
      </p:sp>
      <p:cxnSp>
        <p:nvCxnSpPr>
          <p:cNvPr id="107" name="연결선: 꺾임 7">
            <a:extLst>
              <a:ext uri="{FF2B5EF4-FFF2-40B4-BE49-F238E27FC236}">
                <a16:creationId xmlns:a16="http://schemas.microsoft.com/office/drawing/2014/main" id="{89A2D828-4C18-4F90-6B31-722E89773AA8}"/>
              </a:ext>
            </a:extLst>
          </p:cNvPr>
          <p:cNvCxnSpPr>
            <a:cxnSpLocks/>
            <a:stCxn id="72" idx="3"/>
            <a:endCxn id="98" idx="1"/>
          </p:cNvCxnSpPr>
          <p:nvPr/>
        </p:nvCxnSpPr>
        <p:spPr>
          <a:xfrm flipV="1">
            <a:off x="6893499" y="3136754"/>
            <a:ext cx="963435" cy="6787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2" name="직사각형 41">
            <a:extLst>
              <a:ext uri="{FF2B5EF4-FFF2-40B4-BE49-F238E27FC236}">
                <a16:creationId xmlns:a16="http://schemas.microsoft.com/office/drawing/2014/main" id="{F249990F-1DE5-C694-BDBD-2DE7009D57EA}"/>
              </a:ext>
            </a:extLst>
          </p:cNvPr>
          <p:cNvSpPr/>
          <p:nvPr/>
        </p:nvSpPr>
        <p:spPr>
          <a:xfrm>
            <a:off x="7856934" y="4099735"/>
            <a:ext cx="90890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 표시</a:t>
            </a:r>
            <a:endParaRPr lang="en-US" altLang="ko-KR" sz="800" dirty="0">
              <a:solidFill>
                <a:schemeClr val="tx1"/>
              </a:solidFill>
            </a:endParaRPr>
          </a:p>
          <a:p>
            <a:r>
              <a:rPr lang="ko-KR" altLang="en-US" sz="800" dirty="0" err="1">
                <a:solidFill>
                  <a:schemeClr val="tx1"/>
                </a:solidFill>
              </a:rPr>
              <a:t>개찰완료</a:t>
            </a:r>
            <a:r>
              <a:rPr lang="en-US" altLang="ko-KR" sz="800" dirty="0">
                <a:solidFill>
                  <a:schemeClr val="tx1"/>
                </a:solidFill>
              </a:rPr>
              <a:t>, </a:t>
            </a:r>
            <a:r>
              <a:rPr lang="ko-KR" altLang="en-US" sz="800" dirty="0">
                <a:solidFill>
                  <a:schemeClr val="tx1"/>
                </a:solidFill>
              </a:rPr>
              <a:t>유찰</a:t>
            </a:r>
          </a:p>
        </p:txBody>
      </p:sp>
      <p:sp>
        <p:nvSpPr>
          <p:cNvPr id="43" name="직사각형 42">
            <a:extLst>
              <a:ext uri="{FF2B5EF4-FFF2-40B4-BE49-F238E27FC236}">
                <a16:creationId xmlns:a16="http://schemas.microsoft.com/office/drawing/2014/main" id="{F249990F-1DE5-C694-BDBD-2DE7009D57EA}"/>
              </a:ext>
            </a:extLst>
          </p:cNvPr>
          <p:cNvSpPr/>
          <p:nvPr/>
        </p:nvSpPr>
        <p:spPr>
          <a:xfrm>
            <a:off x="7856934" y="286907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p>
        </p:txBody>
      </p:sp>
      <p:sp>
        <p:nvSpPr>
          <p:cNvPr id="44" name="직사각형 43">
            <a:extLst>
              <a:ext uri="{FF2B5EF4-FFF2-40B4-BE49-F238E27FC236}">
                <a16:creationId xmlns:a16="http://schemas.microsoft.com/office/drawing/2014/main" id="{F249990F-1DE5-C694-BDBD-2DE7009D57EA}"/>
              </a:ext>
            </a:extLst>
          </p:cNvPr>
          <p:cNvSpPr/>
          <p:nvPr/>
        </p:nvSpPr>
        <p:spPr>
          <a:xfrm>
            <a:off x="5993499" y="1505853"/>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p>
        </p:txBody>
      </p:sp>
      <p:sp>
        <p:nvSpPr>
          <p:cNvPr id="45" name="직사각형 44">
            <a:extLst>
              <a:ext uri="{FF2B5EF4-FFF2-40B4-BE49-F238E27FC236}">
                <a16:creationId xmlns:a16="http://schemas.microsoft.com/office/drawing/2014/main" id="{F249990F-1DE5-C694-BDBD-2DE7009D57EA}"/>
              </a:ext>
            </a:extLst>
          </p:cNvPr>
          <p:cNvSpPr/>
          <p:nvPr/>
        </p:nvSpPr>
        <p:spPr>
          <a:xfrm>
            <a:off x="5993499" y="2071552"/>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endParaRPr lang="en-US" altLang="ko-KR" sz="800" dirty="0">
              <a:solidFill>
                <a:schemeClr val="tx1"/>
              </a:solidFill>
            </a:endParaRPr>
          </a:p>
          <a:p>
            <a:r>
              <a:rPr lang="ko-KR" altLang="en-US" sz="800" dirty="0">
                <a:solidFill>
                  <a:schemeClr val="tx1"/>
                </a:solidFill>
              </a:rPr>
              <a:t>계약 </a:t>
            </a:r>
            <a:r>
              <a:rPr lang="ko-KR" altLang="en-US" sz="800" dirty="0" err="1">
                <a:solidFill>
                  <a:schemeClr val="tx1"/>
                </a:solidFill>
              </a:rPr>
              <a:t>특수조건</a:t>
            </a:r>
            <a:r>
              <a:rPr lang="ko-KR" altLang="en-US" sz="800" dirty="0">
                <a:solidFill>
                  <a:schemeClr val="tx1"/>
                </a:solidFill>
              </a:rPr>
              <a:t> 데이터</a:t>
            </a:r>
          </a:p>
        </p:txBody>
      </p:sp>
      <p:sp>
        <p:nvSpPr>
          <p:cNvPr id="46" name="직사각형 45">
            <a:extLst>
              <a:ext uri="{FF2B5EF4-FFF2-40B4-BE49-F238E27FC236}">
                <a16:creationId xmlns:a16="http://schemas.microsoft.com/office/drawing/2014/main" id="{F249990F-1DE5-C694-BDBD-2DE7009D57EA}"/>
              </a:ext>
            </a:extLst>
          </p:cNvPr>
          <p:cNvSpPr/>
          <p:nvPr/>
        </p:nvSpPr>
        <p:spPr>
          <a:xfrm>
            <a:off x="5993499" y="2745968"/>
            <a:ext cx="833562"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공고문안</a:t>
            </a:r>
            <a:r>
              <a:rPr lang="ko-KR" altLang="en-US" sz="800" dirty="0">
                <a:solidFill>
                  <a:schemeClr val="tx1"/>
                </a:solidFill>
              </a:rPr>
              <a:t> 내용</a:t>
            </a:r>
            <a:endParaRPr lang="en-US" altLang="ko-KR" sz="800" dirty="0">
              <a:solidFill>
                <a:schemeClr val="tx1"/>
              </a:solidFill>
            </a:endParaRPr>
          </a:p>
          <a:p>
            <a:r>
              <a:rPr lang="ko-KR" altLang="en-US" sz="800" dirty="0" err="1">
                <a:solidFill>
                  <a:schemeClr val="tx1"/>
                </a:solidFill>
              </a:rPr>
              <a:t>자료구분</a:t>
            </a:r>
            <a:r>
              <a:rPr lang="ko-KR" altLang="en-US" sz="800" dirty="0">
                <a:solidFill>
                  <a:schemeClr val="tx1"/>
                </a:solidFill>
              </a:rPr>
              <a:t> </a:t>
            </a:r>
            <a:r>
              <a:rPr lang="en-US" altLang="ko-KR" sz="800" dirty="0">
                <a:solidFill>
                  <a:schemeClr val="tx1"/>
                </a:solidFill>
              </a:rPr>
              <a:t>- </a:t>
            </a:r>
            <a:r>
              <a:rPr lang="ko-KR" altLang="en-US" sz="800" dirty="0" err="1">
                <a:solidFill>
                  <a:schemeClr val="tx1"/>
                </a:solidFill>
              </a:rPr>
              <a:t>구자료</a:t>
            </a:r>
            <a:endParaRPr lang="ko-KR" altLang="en-US" sz="800" dirty="0">
              <a:solidFill>
                <a:schemeClr val="tx1"/>
              </a:solidFill>
            </a:endParaRPr>
          </a:p>
        </p:txBody>
      </p:sp>
    </p:spTree>
    <p:extLst>
      <p:ext uri="{BB962C8B-B14F-4D97-AF65-F5344CB8AC3E}">
        <p14:creationId xmlns:p14="http://schemas.microsoft.com/office/powerpoint/2010/main" val="126064007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2.3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입찰공고상세</a:t>
            </a:r>
            <a:endParaRPr lang="en-US" altLang="ko-KR" sz="1050" dirty="0">
              <a:solidFill>
                <a:schemeClr val="tx1"/>
              </a:solidFill>
            </a:endParaRPr>
          </a:p>
          <a:p>
            <a:pPr algn="ctr"/>
            <a:r>
              <a:rPr lang="en-US" altLang="ko-KR" sz="1050" dirty="0">
                <a:solidFill>
                  <a:schemeClr val="tx1"/>
                </a:solidFill>
                <a:latin typeface="맑은 고딕" panose="020B0503020000020004" pitchFamily="50" charset="-127"/>
              </a:rPr>
              <a:t>BidPbancDtl</a:t>
            </a:r>
            <a:r>
              <a:rPr lang="en-US" altLang="ko-KR" sz="1050" dirty="0">
                <a:solidFill>
                  <a:schemeClr val="tx1"/>
                </a:solidFill>
                <a:latin typeface="+mn-ea"/>
              </a:rPr>
              <a: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508166"/>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일반정보</a:t>
            </a:r>
            <a:endParaRPr lang="en-US" altLang="ko-KR" sz="1050" dirty="0">
              <a:solidFill>
                <a:schemeClr val="tx1"/>
              </a:solidFill>
            </a:endParaRPr>
          </a:p>
          <a:p>
            <a:pPr algn="ctr"/>
            <a:r>
              <a:rPr lang="en-US" altLang="ko-KR" sz="1050" dirty="0">
                <a:solidFill>
                  <a:schemeClr val="tx1"/>
                </a:solidFill>
                <a:latin typeface="맑은 고딕" panose="020B0503020000020004" pitchFamily="50" charset="-127"/>
              </a:rPr>
              <a:t>BidPbancDtl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165639"/>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기초예비가격</a:t>
            </a:r>
            <a:endParaRPr lang="en-US" altLang="ko-KR" sz="1050" dirty="0">
              <a:solidFill>
                <a:schemeClr val="tx1"/>
              </a:solidFill>
            </a:endParaRPr>
          </a:p>
          <a:p>
            <a:pPr algn="ctr"/>
            <a:r>
              <a:rPr lang="en-US" altLang="ko-KR" sz="1050" dirty="0">
                <a:solidFill>
                  <a:schemeClr val="tx1"/>
                </a:solidFill>
                <a:latin typeface="+mn-ea"/>
              </a:rPr>
              <a:t>Tacpg02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96268"/>
            <a:ext cx="967509" cy="8939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753741"/>
            <a:ext cx="967509" cy="2364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42104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823112"/>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품목명세서</a:t>
            </a:r>
            <a:endParaRPr lang="en-US" altLang="ko-KR" sz="1050" dirty="0">
              <a:solidFill>
                <a:schemeClr val="tx1"/>
              </a:solidFill>
            </a:endParaRPr>
          </a:p>
          <a:p>
            <a:pPr algn="ctr"/>
            <a:r>
              <a:rPr lang="en-US" altLang="ko-KR" sz="1050" dirty="0">
                <a:solidFill>
                  <a:schemeClr val="tx1"/>
                </a:solidFill>
                <a:latin typeface="+mn-ea"/>
              </a:rPr>
              <a:t>Tacpg03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480585"/>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계약특수조건</a:t>
            </a:r>
            <a:endParaRPr lang="en-US" altLang="ko-KR" sz="1050" dirty="0">
              <a:solidFill>
                <a:schemeClr val="tx1"/>
              </a:solidFill>
            </a:endParaRPr>
          </a:p>
          <a:p>
            <a:pPr algn="ctr"/>
            <a:r>
              <a:rPr lang="en-US" altLang="ko-KR" sz="1050" dirty="0">
                <a:solidFill>
                  <a:schemeClr val="tx1"/>
                </a:solidFill>
                <a:latin typeface="+mn-ea"/>
              </a:rPr>
              <a:t>Tacpg04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5138058"/>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공고문안</a:t>
            </a:r>
            <a:endParaRPr lang="en-US" altLang="ko-KR" sz="1050" dirty="0">
              <a:solidFill>
                <a:schemeClr val="tx1"/>
              </a:solidFill>
            </a:endParaRPr>
          </a:p>
          <a:p>
            <a:pPr algn="ctr"/>
            <a:r>
              <a:rPr lang="en-US" altLang="ko-KR" sz="1050" dirty="0">
                <a:solidFill>
                  <a:schemeClr val="tx1"/>
                </a:solidFill>
                <a:latin typeface="+mn-ea"/>
              </a:rPr>
              <a:t>Tacpg06</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795534"/>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입찰진행현황</a:t>
            </a:r>
            <a:endParaRPr lang="en-US" altLang="ko-KR" sz="1050" dirty="0">
              <a:solidFill>
                <a:schemeClr val="tx1"/>
              </a:solidFill>
            </a:endParaRPr>
          </a:p>
          <a:p>
            <a:pPr algn="ctr"/>
            <a:r>
              <a:rPr lang="en-US" altLang="ko-KR" sz="1050" dirty="0">
                <a:solidFill>
                  <a:schemeClr val="tx1"/>
                </a:solidFill>
                <a:latin typeface="+mn-ea"/>
              </a:rPr>
              <a:t>Tacpg07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10785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7359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23934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30509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80507460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메뉴</a:t>
            </a:r>
            <a:r>
              <a:rPr lang="en-US" altLang="ko-KR" dirty="0"/>
              <a:t/>
            </a:r>
            <a:br>
              <a:rPr lang="en-US" altLang="ko-KR" dirty="0"/>
            </a:br>
            <a:r>
              <a:rPr lang="en-US" altLang="ko-KR" dirty="0"/>
              <a:t>- </a:t>
            </a:r>
            <a:r>
              <a:rPr lang="ko-KR" altLang="en-US" dirty="0"/>
              <a:t>일반정보 </a:t>
            </a:r>
            <a:r>
              <a:rPr lang="en-US" altLang="ko-KR" dirty="0"/>
              <a:t>Tab</a:t>
            </a:r>
            <a:r>
              <a:rPr lang="ko-KR" altLang="en-US" dirty="0"/>
              <a:t>은 고정 노출</a:t>
            </a:r>
            <a:r>
              <a:rPr lang="en-US" altLang="ko-KR" dirty="0"/>
              <a:t/>
            </a:r>
            <a:br>
              <a:rPr lang="en-US" altLang="ko-KR" dirty="0"/>
            </a:br>
            <a:r>
              <a:rPr lang="en-US" altLang="ko-KR" dirty="0"/>
              <a:t>- </a:t>
            </a:r>
            <a:r>
              <a:rPr lang="ko-KR" altLang="en-US" dirty="0" err="1"/>
              <a:t>품목명세서</a:t>
            </a:r>
            <a:r>
              <a:rPr lang="ko-KR" altLang="en-US" dirty="0"/>
              <a:t> </a:t>
            </a:r>
            <a:r>
              <a:rPr lang="en-US" altLang="ko-KR" dirty="0"/>
              <a:t>Tab</a:t>
            </a:r>
            <a:r>
              <a:rPr lang="ko-KR" altLang="en-US" dirty="0"/>
              <a:t>은 </a:t>
            </a:r>
            <a:r>
              <a:rPr lang="ko-KR" altLang="en-US" dirty="0" err="1"/>
              <a:t>업무구분이</a:t>
            </a:r>
            <a:r>
              <a:rPr lang="ko-KR" altLang="en-US" dirty="0"/>
              <a:t> </a:t>
            </a:r>
            <a:r>
              <a:rPr lang="en-US" altLang="ko-KR" dirty="0"/>
              <a:t>[</a:t>
            </a:r>
            <a:r>
              <a:rPr lang="ko-KR" altLang="en-US" dirty="0"/>
              <a:t>물품</a:t>
            </a:r>
            <a:r>
              <a:rPr lang="en-US" altLang="ko-KR" dirty="0"/>
              <a:t>] </a:t>
            </a:r>
            <a:r>
              <a:rPr lang="ko-KR" altLang="en-US" dirty="0"/>
              <a:t>일 경우만 노출</a:t>
            </a:r>
            <a:r>
              <a:rPr lang="en-US" altLang="ko-KR" dirty="0"/>
              <a:t/>
            </a:r>
            <a:br>
              <a:rPr lang="en-US" altLang="ko-KR" dirty="0"/>
            </a:br>
            <a:r>
              <a:rPr lang="en-US" altLang="ko-KR" dirty="0"/>
              <a:t>- [</a:t>
            </a:r>
            <a:r>
              <a:rPr lang="ko-KR" altLang="en-US" dirty="0"/>
              <a:t>입찰진행현황</a:t>
            </a:r>
            <a:r>
              <a:rPr lang="en-US" altLang="ko-KR" dirty="0"/>
              <a:t>] Tab</a:t>
            </a:r>
            <a:r>
              <a:rPr lang="ko-KR" altLang="en-US" dirty="0"/>
              <a:t>의 경우 </a:t>
            </a:r>
            <a:r>
              <a:rPr lang="ko-KR" altLang="en-US" dirty="0" err="1"/>
              <a:t>입찰진행</a:t>
            </a:r>
            <a:r>
              <a:rPr lang="ko-KR" altLang="en-US" dirty="0"/>
              <a:t> 전일 경우에는 노출되지 않음</a:t>
            </a:r>
            <a:r>
              <a:rPr lang="en-US" altLang="ko-KR" dirty="0"/>
              <a:t>.</a:t>
            </a:r>
            <a:br>
              <a:rPr lang="en-US" altLang="ko-KR" dirty="0"/>
            </a:br>
            <a:r>
              <a:rPr lang="en-US" altLang="ko-KR" dirty="0"/>
              <a:t>- </a:t>
            </a:r>
            <a:r>
              <a:rPr lang="ko-KR" altLang="en-US" dirty="0"/>
              <a:t>경쟁입찰 </a:t>
            </a:r>
            <a:r>
              <a:rPr lang="en-US" altLang="ko-KR" dirty="0"/>
              <a:t>: </a:t>
            </a:r>
            <a:r>
              <a:rPr lang="ko-KR" altLang="en-US" dirty="0"/>
              <a:t>기초예비가격</a:t>
            </a:r>
            <a:r>
              <a:rPr lang="en-US" altLang="ko-KR" dirty="0"/>
              <a:t>, </a:t>
            </a:r>
            <a:r>
              <a:rPr lang="ko-KR" altLang="en-US" dirty="0" err="1"/>
              <a:t>품목명세서</a:t>
            </a:r>
            <a:r>
              <a:rPr lang="en-US" altLang="ko-KR" dirty="0"/>
              <a:t>, </a:t>
            </a:r>
            <a:r>
              <a:rPr lang="ko-KR" altLang="en-US" dirty="0"/>
              <a:t>입찰진행현황</a:t>
            </a:r>
            <a:r>
              <a:rPr lang="en-US" altLang="ko-KR" dirty="0"/>
              <a:t/>
            </a:r>
            <a:br>
              <a:rPr lang="en-US" altLang="ko-KR" dirty="0"/>
            </a:br>
            <a:r>
              <a:rPr lang="en-US" altLang="ko-KR" dirty="0"/>
              <a:t>- </a:t>
            </a:r>
            <a:r>
              <a:rPr lang="ko-KR" altLang="en-US" dirty="0"/>
              <a:t>수의계약 </a:t>
            </a:r>
            <a:r>
              <a:rPr lang="en-US" altLang="ko-KR" dirty="0"/>
              <a:t>: </a:t>
            </a:r>
            <a:r>
              <a:rPr lang="ko-KR" altLang="en-US" dirty="0" err="1"/>
              <a:t>공고문안</a:t>
            </a:r>
            <a:r>
              <a:rPr lang="en-US" altLang="ko-KR" dirty="0"/>
              <a:t>, </a:t>
            </a:r>
            <a:r>
              <a:rPr lang="ko-KR" altLang="en-US" dirty="0"/>
              <a:t>입찰진행현황</a:t>
            </a:r>
            <a:endParaRPr lang="en-US" altLang="ko-KR" dirty="0"/>
          </a:p>
          <a:p>
            <a:pPr marL="88900" indent="-88900">
              <a:buFont typeface="+mj-lt"/>
              <a:buAutoNum type="arabicPeriod"/>
            </a:pPr>
            <a:r>
              <a:rPr lang="ko-KR" altLang="en-US" dirty="0" err="1"/>
              <a:t>일반정보에</a:t>
            </a:r>
            <a:r>
              <a:rPr lang="ko-KR" altLang="en-US" dirty="0"/>
              <a:t> 포함된 정보 표시</a:t>
            </a:r>
            <a:r>
              <a:rPr lang="en-US" altLang="ko-KR" dirty="0"/>
              <a:t/>
            </a:r>
            <a:br>
              <a:rPr lang="en-US" altLang="ko-KR" dirty="0"/>
            </a:br>
            <a:r>
              <a:rPr lang="en-US" altLang="ko-KR" dirty="0"/>
              <a:t>- </a:t>
            </a:r>
            <a:r>
              <a:rPr lang="ko-KR" altLang="en-US" dirty="0"/>
              <a:t>각 섹션마다 아코디언 기능 사용</a:t>
            </a:r>
            <a:r>
              <a:rPr lang="en-US" altLang="ko-KR" dirty="0"/>
              <a:t/>
            </a:r>
            <a:br>
              <a:rPr lang="en-US" altLang="ko-KR" dirty="0"/>
            </a:br>
            <a:r>
              <a:rPr lang="en-US" altLang="ko-KR" dirty="0"/>
              <a:t>- </a:t>
            </a:r>
            <a:r>
              <a:rPr lang="ko-KR" altLang="en-US" dirty="0"/>
              <a:t>섹션 도움말</a:t>
            </a:r>
            <a:r>
              <a:rPr lang="en-US" altLang="ko-KR" dirty="0"/>
              <a:t>(</a:t>
            </a:r>
            <a:r>
              <a:rPr lang="ko-KR" altLang="en-US" dirty="0" err="1"/>
              <a:t>업무도움</a:t>
            </a:r>
            <a:r>
              <a:rPr lang="en-US" altLang="ko-KR" dirty="0"/>
              <a:t>) </a:t>
            </a:r>
            <a:r>
              <a:rPr lang="ko-KR" altLang="en-US" dirty="0"/>
              <a:t>영역이 사용되는 경우 도움말 아코디언 기능</a:t>
            </a:r>
            <a:endParaRPr lang="en-US" altLang="ko-KR" dirty="0"/>
          </a:p>
          <a:p>
            <a:pPr marL="88900" indent="-88900">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84" name="모서리가 둥근 직사각형 183"/>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85" name="모서리가 둥근 직사각형 184"/>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포인트가 5개인 별 186"/>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22077" y="2250612"/>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864447" y="2250612"/>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503001" y="2250612"/>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686881"/>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84993" y="41787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286" name="그룹 285"/>
          <p:cNvGrpSpPr/>
          <p:nvPr/>
        </p:nvGrpSpPr>
        <p:grpSpPr>
          <a:xfrm flipV="1">
            <a:off x="6247080" y="4292122"/>
            <a:ext cx="94010" cy="47005"/>
            <a:chOff x="6812560" y="3297172"/>
            <a:chExt cx="94010" cy="47005"/>
          </a:xfrm>
        </p:grpSpPr>
        <p:cxnSp>
          <p:nvCxnSpPr>
            <p:cNvPr id="287" name="직선 연결선 2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1" name="직선 연결선 2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2" name="TextBox 321">
            <a:extLst>
              <a:ext uri="{FF2B5EF4-FFF2-40B4-BE49-F238E27FC236}">
                <a16:creationId xmlns:a16="http://schemas.microsoft.com/office/drawing/2014/main" id="{FFC49AEA-2A8F-250C-A86A-A7751D9706C3}"/>
              </a:ext>
            </a:extLst>
          </p:cNvPr>
          <p:cNvSpPr txBox="1"/>
          <p:nvPr/>
        </p:nvSpPr>
        <p:spPr>
          <a:xfrm>
            <a:off x="3884993" y="5148031"/>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326" name="그룹 325"/>
          <p:cNvGrpSpPr/>
          <p:nvPr/>
        </p:nvGrpSpPr>
        <p:grpSpPr>
          <a:xfrm flipV="1">
            <a:off x="6247080" y="5261362"/>
            <a:ext cx="94010" cy="47005"/>
            <a:chOff x="6812560" y="3297172"/>
            <a:chExt cx="94010" cy="47005"/>
          </a:xfrm>
        </p:grpSpPr>
        <p:cxnSp>
          <p:nvCxnSpPr>
            <p:cNvPr id="327" name="직선 연결선 3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8" name="직선 연결선 3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9" name="직선 연결선 328">
            <a:extLst>
              <a:ext uri="{FF2B5EF4-FFF2-40B4-BE49-F238E27FC236}">
                <a16:creationId xmlns:a16="http://schemas.microsoft.com/office/drawing/2014/main" id="{E9293055-D5CD-4B9E-7F64-64B2D2CA7A52}"/>
              </a:ext>
            </a:extLst>
          </p:cNvPr>
          <p:cNvCxnSpPr/>
          <p:nvPr/>
        </p:nvCxnSpPr>
        <p:spPr>
          <a:xfrm>
            <a:off x="3795734" y="5068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0" name="모서리가 둥근 직사각형 329"/>
          <p:cNvSpPr/>
          <p:nvPr/>
        </p:nvSpPr>
        <p:spPr>
          <a:xfrm>
            <a:off x="3824022" y="5456104"/>
            <a:ext cx="2652743" cy="776195"/>
          </a:xfrm>
          <a:prstGeom prst="round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1" name="TextBox 330">
            <a:extLst>
              <a:ext uri="{FF2B5EF4-FFF2-40B4-BE49-F238E27FC236}">
                <a16:creationId xmlns:a16="http://schemas.microsoft.com/office/drawing/2014/main" id="{FFC49AEA-2A8F-250C-A86A-A7751D9706C3}"/>
              </a:ext>
            </a:extLst>
          </p:cNvPr>
          <p:cNvSpPr txBox="1"/>
          <p:nvPr/>
        </p:nvSpPr>
        <p:spPr>
          <a:xfrm>
            <a:off x="3913178" y="5554387"/>
            <a:ext cx="2475203" cy="538609"/>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p:txBody>
      </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3" name="타원 332"/>
          <p:cNvSpPr/>
          <p:nvPr/>
        </p:nvSpPr>
        <p:spPr>
          <a:xfrm>
            <a:off x="3898259" y="554473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4" name="그룹 333"/>
          <p:cNvGrpSpPr/>
          <p:nvPr/>
        </p:nvGrpSpPr>
        <p:grpSpPr>
          <a:xfrm flipV="1">
            <a:off x="6247080" y="5593234"/>
            <a:ext cx="94010" cy="47005"/>
            <a:chOff x="6812560" y="3297172"/>
            <a:chExt cx="94010" cy="47005"/>
          </a:xfrm>
        </p:grpSpPr>
        <p:cxnSp>
          <p:nvCxnSpPr>
            <p:cNvPr id="335" name="직선 연결선 3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36" name="직선 연결선 3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3825376" y="4543347"/>
            <a:ext cx="2652743" cy="384278"/>
            <a:chOff x="715616" y="1792037"/>
            <a:chExt cx="2652743" cy="384278"/>
          </a:xfrm>
        </p:grpSpPr>
        <p:sp>
          <p:nvSpPr>
            <p:cNvPr id="338" name="모서리가 둥근 직사각형 337"/>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9" name="TextBox 338">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340" name="TextBox 339">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sp>
          <p:nvSpPr>
            <p:cNvPr id="341" name="TextBox 340">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342" name="TextBox 341">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343" name="TextBox 342">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344" name="TextBox 343">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gr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3068069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일반 정보 영역</a:t>
            </a:r>
            <a:endParaRPr lang="en-US" altLang="ko-KR" dirty="0"/>
          </a:p>
          <a:p>
            <a:pPr>
              <a:buFont typeface="+mj-lt"/>
              <a:buAutoNum type="arabicPeriod"/>
            </a:pPr>
            <a:r>
              <a:rPr lang="en-US" altLang="ko-KR" dirty="0"/>
              <a:t>‘</a:t>
            </a:r>
            <a:r>
              <a:rPr lang="ko-KR" altLang="en-US" dirty="0"/>
              <a:t>사전심사’</a:t>
            </a:r>
            <a:r>
              <a:rPr lang="en-US" altLang="ko-KR" dirty="0"/>
              <a:t>, ‘</a:t>
            </a:r>
            <a:r>
              <a:rPr lang="ko-KR" altLang="en-US" dirty="0" err="1"/>
              <a:t>사전심사마감일시＇항목은</a:t>
            </a:r>
            <a:r>
              <a:rPr lang="ko-KR" altLang="en-US" dirty="0"/>
              <a:t> </a:t>
            </a:r>
            <a:r>
              <a:rPr lang="ko-KR" altLang="en-US" dirty="0" err="1"/>
              <a:t>업무구분이</a:t>
            </a:r>
            <a:r>
              <a:rPr lang="ko-KR" altLang="en-US" dirty="0"/>
              <a:t> </a:t>
            </a:r>
            <a:r>
              <a:rPr lang="en-US" altLang="ko-KR" dirty="0"/>
              <a:t>[</a:t>
            </a:r>
            <a:r>
              <a:rPr lang="ko-KR" altLang="en-US" dirty="0"/>
              <a:t>공사</a:t>
            </a:r>
            <a:r>
              <a:rPr lang="en-US" altLang="ko-KR" dirty="0"/>
              <a:t>]</a:t>
            </a:r>
            <a:r>
              <a:rPr lang="ko-KR" altLang="en-US" dirty="0"/>
              <a:t>일 경우 노출</a:t>
            </a:r>
          </a:p>
          <a:p>
            <a:pPr>
              <a:buFont typeface="+mj-lt"/>
              <a:buAutoNum type="arabicPeriod"/>
            </a:pPr>
            <a:r>
              <a:rPr lang="ko-KR" altLang="en-US" dirty="0" err="1"/>
              <a:t>업무구분이</a:t>
            </a:r>
            <a:r>
              <a:rPr lang="ko-KR" altLang="en-US" dirty="0"/>
              <a:t> 공사일 경우</a:t>
            </a:r>
            <a:r>
              <a:rPr lang="en-US" altLang="ko-KR" dirty="0"/>
              <a:t/>
            </a:r>
            <a:br>
              <a:rPr lang="en-US" altLang="ko-KR" dirty="0"/>
            </a:br>
            <a:r>
              <a:rPr lang="en-US" altLang="ko-KR" dirty="0"/>
              <a:t>- </a:t>
            </a:r>
            <a:r>
              <a:rPr lang="ko-KR" altLang="en-US" dirty="0"/>
              <a:t>‘현장설명회장소’</a:t>
            </a:r>
            <a:r>
              <a:rPr lang="en-US" altLang="ko-KR" dirty="0"/>
              <a:t>, ‘</a:t>
            </a:r>
            <a:r>
              <a:rPr lang="ko-KR" altLang="en-US" dirty="0" err="1"/>
              <a:t>현장설명회일시’로</a:t>
            </a:r>
            <a:r>
              <a:rPr lang="ko-KR" altLang="en-US" dirty="0"/>
              <a:t> 항목 변경</a:t>
            </a:r>
            <a:endParaRPr lang="en-US" altLang="ko-KR" dirty="0"/>
          </a:p>
          <a:p>
            <a:pPr>
              <a:buFont typeface="+mj-lt"/>
              <a:buAutoNum type="arabicPeriod"/>
            </a:pPr>
            <a:r>
              <a:rPr lang="ko-KR" altLang="en-US" dirty="0" err="1"/>
              <a:t>계약방법이</a:t>
            </a:r>
            <a:r>
              <a:rPr lang="ko-KR" altLang="en-US" dirty="0"/>
              <a:t> “</a:t>
            </a:r>
            <a:r>
              <a:rPr lang="ko-KR" altLang="en-US" dirty="0" err="1"/>
              <a:t>수의계약”일때</a:t>
            </a:r>
            <a:r>
              <a:rPr lang="ko-KR" altLang="en-US" dirty="0"/>
              <a:t> </a:t>
            </a:r>
            <a:r>
              <a:rPr lang="en-US" altLang="ko-KR" dirty="0"/>
              <a:t>[</a:t>
            </a:r>
            <a:r>
              <a:rPr lang="ko-KR" altLang="en-US" dirty="0"/>
              <a:t>기초예비가격</a:t>
            </a:r>
            <a:r>
              <a:rPr lang="en-US" altLang="ko-KR" dirty="0"/>
              <a:t>] Tab</a:t>
            </a:r>
            <a:r>
              <a:rPr lang="ko-KR" altLang="en-US" dirty="0"/>
              <a:t>이 노출되지 않고 기초예비가격정보의 경우 공고일반영역의 항목으로 노출됨</a:t>
            </a:r>
            <a:r>
              <a:rPr lang="en-US" altLang="ko-KR" dirty="0"/>
              <a:t>.</a:t>
            </a:r>
            <a:br>
              <a:rPr lang="en-US" altLang="ko-KR" dirty="0"/>
            </a:br>
            <a:r>
              <a:rPr lang="en-US" altLang="ko-KR" dirty="0"/>
              <a:t>- </a:t>
            </a:r>
            <a:r>
              <a:rPr lang="ko-KR" altLang="en-US" dirty="0"/>
              <a:t>하한</a:t>
            </a:r>
            <a:r>
              <a:rPr lang="en-US" altLang="ko-KR" dirty="0"/>
              <a:t>, </a:t>
            </a:r>
            <a:r>
              <a:rPr lang="ko-KR" altLang="en-US" dirty="0"/>
              <a:t>상한</a:t>
            </a:r>
            <a:r>
              <a:rPr lang="en-US" altLang="ko-KR" dirty="0"/>
              <a:t>, </a:t>
            </a:r>
            <a:r>
              <a:rPr lang="ko-KR" altLang="en-US" dirty="0" err="1"/>
              <a:t>낙찰하한율</a:t>
            </a:r>
            <a:endParaRPr lang="en-US" altLang="ko-KR" dirty="0"/>
          </a:p>
          <a:p>
            <a:pPr>
              <a:buFont typeface="+mj-lt"/>
              <a:buAutoNum type="arabicPeriod"/>
            </a:pPr>
            <a:endParaRPr lang="ko-KR" altLang="en-US"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4305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4308872"/>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4308872"/>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a:latin typeface="+mn-ea"/>
              </a:rPr>
              <a:t>국방전자조달시스템</a:t>
            </a:r>
            <a:endParaRPr lang="en-US" altLang="ko-KR" sz="700" dirty="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47520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3690133" y="53965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582193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551498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3142294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28</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29</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현장설명회장소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30</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a:t>- </a:t>
            </a: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‘물품</a:t>
            </a:r>
            <a:r>
              <a:rPr lang="en-US" altLang="ko-KR" dirty="0"/>
              <a:t>/</a:t>
            </a:r>
            <a:r>
              <a:rPr lang="ko-KR" altLang="en-US" dirty="0" err="1"/>
              <a:t>용역’인</a:t>
            </a:r>
            <a:r>
              <a:rPr lang="ko-KR" altLang="en-US" dirty="0"/>
              <a:t> 경우 표시 화면</a:t>
            </a:r>
            <a:endParaRPr lang="en-US" altLang="ko-KR" dirty="0"/>
          </a:p>
          <a:p>
            <a:pPr>
              <a:buFont typeface="+mj-lt"/>
              <a:buAutoNum type="arabicPeriod"/>
            </a:pPr>
            <a:r>
              <a:rPr lang="ko-KR" altLang="en-US" dirty="0" err="1"/>
              <a:t>계약종류</a:t>
            </a:r>
            <a:r>
              <a:rPr lang="en-US" altLang="ko-KR" dirty="0"/>
              <a:t>(</a:t>
            </a:r>
            <a:r>
              <a:rPr lang="ko-KR" altLang="en-US" dirty="0"/>
              <a:t>방산물자</a:t>
            </a:r>
            <a:r>
              <a:rPr lang="en-US" altLang="ko-KR" dirty="0"/>
              <a:t>)</a:t>
            </a:r>
            <a:r>
              <a:rPr lang="ko-KR" altLang="en-US" dirty="0"/>
              <a:t>가 </a:t>
            </a:r>
            <a:r>
              <a:rPr lang="en-US" altLang="ko-KR" dirty="0"/>
              <a:t>‘G2(</a:t>
            </a:r>
            <a:r>
              <a:rPr lang="ko-KR" altLang="en-US" dirty="0"/>
              <a:t>특정비목불확정계약</a:t>
            </a:r>
            <a:r>
              <a:rPr lang="en-US" altLang="ko-KR" dirty="0"/>
              <a:t>)’</a:t>
            </a:r>
            <a:r>
              <a:rPr lang="ko-KR" altLang="en-US" dirty="0"/>
              <a:t>일 경우 </a:t>
            </a:r>
            <a:r>
              <a:rPr lang="en-US" altLang="ko-KR" dirty="0"/>
              <a:t>‘</a:t>
            </a:r>
            <a:r>
              <a:rPr lang="ko-KR" altLang="en-US" dirty="0"/>
              <a:t>확정비목비율</a:t>
            </a:r>
            <a:r>
              <a:rPr lang="en-US" altLang="ko-KR" dirty="0"/>
              <a:t>’,’</a:t>
            </a:r>
            <a:r>
              <a:rPr lang="ko-KR" altLang="en-US" dirty="0"/>
              <a:t>불확정비목비율</a:t>
            </a:r>
            <a:r>
              <a:rPr lang="en-US" altLang="ko-KR" dirty="0"/>
              <a:t>＇</a:t>
            </a:r>
            <a:r>
              <a:rPr lang="ko-KR" altLang="en-US" dirty="0"/>
              <a:t>항목이 노출</a:t>
            </a:r>
            <a:endParaRPr lang="en-US" altLang="ko-KR" dirty="0"/>
          </a:p>
          <a:p>
            <a:pPr>
              <a:buFont typeface="+mj-lt"/>
              <a:buAutoNum type="arabicPeriod"/>
            </a:pPr>
            <a:r>
              <a:rPr lang="ko-KR" altLang="en-US" dirty="0" err="1"/>
              <a:t>단가제</a:t>
            </a:r>
            <a:r>
              <a:rPr lang="ko-KR" altLang="en-US" dirty="0"/>
              <a:t> 화면</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7378689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화면</a:t>
            </a:r>
            <a:r>
              <a:rPr lang="en-US" altLang="ko-KR" dirty="0"/>
              <a:t/>
            </a:r>
            <a:br>
              <a:rPr lang="en-US" altLang="ko-KR" dirty="0"/>
            </a:b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화면</a:t>
            </a:r>
            <a:r>
              <a:rPr lang="en-US" altLang="ko-KR" dirty="0"/>
              <a:t/>
            </a:r>
            <a:br>
              <a:rPr lang="en-US" altLang="ko-KR" dirty="0"/>
            </a:br>
            <a:r>
              <a:rPr lang="en-US" altLang="ko-KR" dirty="0"/>
              <a:t>- </a:t>
            </a:r>
            <a:r>
              <a:rPr lang="ko-KR" altLang="en-US" dirty="0"/>
              <a:t>입찰참가자격이 ‘</a:t>
            </a:r>
            <a:r>
              <a:rPr lang="en-US" altLang="ko-KR" dirty="0"/>
              <a:t>Y’</a:t>
            </a:r>
            <a:r>
              <a:rPr lang="ko-KR" altLang="en-US" dirty="0"/>
              <a:t>일 경우 기초예비가격</a:t>
            </a:r>
            <a:r>
              <a:rPr lang="en-US" altLang="ko-KR" dirty="0"/>
              <a:t>Tab </a:t>
            </a:r>
            <a:r>
              <a:rPr lang="ko-KR" altLang="en-US" dirty="0"/>
              <a:t>노출</a:t>
            </a: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19331599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입찰방법 </a:t>
            </a:r>
            <a:r>
              <a:rPr lang="en-US" altLang="ko-KR" dirty="0"/>
              <a:t>- </a:t>
            </a:r>
            <a:r>
              <a:rPr lang="ko-KR" altLang="en-US" dirty="0" err="1"/>
              <a:t>총액제</a:t>
            </a:r>
            <a:r>
              <a:rPr lang="ko-KR" altLang="en-US" dirty="0"/>
              <a:t> 화면</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a:t>입찰방법 </a:t>
            </a:r>
            <a:r>
              <a:rPr lang="en-US" altLang="ko-KR" dirty="0"/>
              <a:t>- </a:t>
            </a:r>
            <a:r>
              <a:rPr lang="ko-KR" altLang="en-US" dirty="0" err="1"/>
              <a:t>단가제</a:t>
            </a:r>
            <a:r>
              <a:rPr lang="ko-KR" altLang="en-US" dirty="0"/>
              <a:t> 화면</a:t>
            </a:r>
            <a:r>
              <a:rPr lang="en-US" altLang="ko-KR" dirty="0"/>
              <a:t/>
            </a:r>
            <a:br>
              <a:rPr lang="en-US" altLang="ko-KR" dirty="0"/>
            </a:br>
            <a:r>
              <a:rPr lang="en-US" altLang="ko-KR" dirty="0"/>
              <a:t>- </a:t>
            </a:r>
            <a:r>
              <a:rPr lang="ko-KR" altLang="en-US" dirty="0"/>
              <a:t>다음 페이지에서 추가 설명</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err="1"/>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r>
              <a:rPr lang="ko-KR" altLang="en-US" dirty="0"/>
              <a:t>조달요구번호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dirty="0"/>
              <a:t>통합사업관리시스템</a:t>
            </a:r>
            <a:r>
              <a:rPr lang="en-US" altLang="ko-KR" dirty="0"/>
              <a:t>’</a:t>
            </a:r>
            <a:r>
              <a:rPr lang="ko-KR" altLang="en-US" dirty="0"/>
              <a:t>을 통해 인터페이스 수신 받은 공고일 경우 노출되는 상세 목록 그리드 </a:t>
            </a:r>
            <a:r>
              <a:rPr lang="en-US" altLang="ko-KR" dirty="0"/>
              <a:t>( </a:t>
            </a:r>
            <a:r>
              <a:rPr lang="ko-KR" altLang="en-US" dirty="0" err="1"/>
              <a:t>방위사업청</a:t>
            </a:r>
            <a:r>
              <a:rPr lang="en-US" altLang="ko-KR" dirty="0"/>
              <a:t>, </a:t>
            </a:r>
            <a:r>
              <a:rPr lang="ko-KR" altLang="en-US" dirty="0"/>
              <a:t>조달본부</a:t>
            </a:r>
            <a:r>
              <a:rPr lang="en-US" altLang="ko-KR" dirty="0"/>
              <a:t>)</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r>
              <a:rPr lang="en-US" altLang="ko-KR" dirty="0"/>
              <a:t/>
            </a:r>
            <a:br>
              <a:rPr lang="en-US" altLang="ko-KR" dirty="0"/>
            </a:br>
            <a:r>
              <a:rPr lang="en-US" altLang="ko-KR" dirty="0"/>
              <a:t>- </a:t>
            </a:r>
            <a:r>
              <a:rPr lang="ko-KR" altLang="en-US" dirty="0"/>
              <a:t>입찰방법</a:t>
            </a:r>
            <a:r>
              <a:rPr lang="en-US" altLang="ko-KR" dirty="0"/>
              <a:t>: </a:t>
            </a:r>
            <a:r>
              <a:rPr lang="ko-KR" altLang="en-US" dirty="0" err="1"/>
              <a:t>단가제인</a:t>
            </a:r>
            <a:r>
              <a:rPr lang="ko-KR" altLang="en-US" dirty="0"/>
              <a:t> 경우 상세 표시</a:t>
            </a:r>
            <a:endParaRPr lang="en-US" altLang="ko-KR" dirty="0"/>
          </a:p>
          <a:p>
            <a:pPr>
              <a:buFont typeface="+mj-lt"/>
              <a:buAutoNum type="arabicPeriod"/>
            </a:pPr>
            <a:r>
              <a:rPr lang="en-US" altLang="ko-KR" dirty="0"/>
              <a:t>‘</a:t>
            </a:r>
            <a:r>
              <a:rPr lang="ko-KR" altLang="en-US" dirty="0"/>
              <a:t>부대조달정보체계</a:t>
            </a:r>
            <a:r>
              <a:rPr lang="en-US" altLang="ko-KR" dirty="0"/>
              <a:t>＇</a:t>
            </a:r>
            <a:r>
              <a:rPr lang="ko-KR" altLang="en-US" dirty="0"/>
              <a:t>를 통해 인터페이스 수신 받은 공고일 경우 노출되는 상세 목록 그리드</a:t>
            </a:r>
            <a:endParaRPr lang="en-US" altLang="ko-KR" dirty="0"/>
          </a:p>
          <a:p>
            <a:pPr>
              <a:buFont typeface="+mj-lt"/>
              <a:buAutoNum type="arabicPeriod"/>
            </a:pPr>
            <a:r>
              <a:rPr lang="ko-KR" altLang="en-US" dirty="0" err="1"/>
              <a:t>품보형태</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3689399" y="20764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0895652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116049737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38</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217583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39</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517578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2734355705"/>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275347816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endParaRPr lang="en-US" altLang="ko-KR" dirty="0"/>
          </a:p>
          <a:p>
            <a:pPr marL="0" indent="0">
              <a:buNone/>
            </a:pPr>
            <a:r>
              <a:rPr lang="en-US" altLang="ko-KR" dirty="0"/>
              <a:t>2.</a:t>
            </a:r>
            <a:r>
              <a:rPr lang="ko-KR" altLang="en-US" dirty="0"/>
              <a:t>계약 특수 조건 입력 항목 표시</a:t>
            </a:r>
            <a:endParaRPr lang="en-US" altLang="ko-KR" dirty="0"/>
          </a:p>
          <a:p>
            <a:pPr marL="0" indent="0">
              <a:buNone/>
            </a:pPr>
            <a:r>
              <a:rPr lang="ko-KR" altLang="en-US" dirty="0"/>
              <a:t>전문 내용은 축약하지 않고 내용에 맞춰 확장하여 전체 스크롤 처리</a:t>
            </a:r>
            <a:endParaRPr lang="en-US" altLang="ko-KR" dirty="0"/>
          </a:p>
          <a:p>
            <a:pPr>
              <a:buFontTx/>
              <a:buChar char="-"/>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계약특수조건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4"/>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53268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413061349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공고문안</a:t>
            </a:r>
            <a:r>
              <a:rPr lang="ko-KR" altLang="en-US" dirty="0"/>
              <a:t> 항목 정보 표시</a:t>
            </a:r>
            <a:r>
              <a:rPr lang="en-US" altLang="ko-KR" dirty="0"/>
              <a:t/>
            </a:r>
            <a:br>
              <a:rPr lang="en-US" altLang="ko-KR" dirty="0"/>
            </a:br>
            <a:r>
              <a:rPr lang="en-US" altLang="ko-KR" dirty="0"/>
              <a:t>- </a:t>
            </a:r>
            <a:r>
              <a:rPr lang="ko-KR" altLang="en-US" dirty="0"/>
              <a:t>자료구분값이 </a:t>
            </a:r>
            <a:r>
              <a:rPr lang="ko-KR" altLang="en-US" dirty="0" err="1"/>
              <a:t>구자료</a:t>
            </a:r>
            <a:r>
              <a:rPr lang="en-US" altLang="ko-KR" dirty="0"/>
              <a:t>(‘N’)</a:t>
            </a:r>
            <a:r>
              <a:rPr lang="ko-KR" altLang="en-US" dirty="0"/>
              <a:t>일 경우 탭 표시</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 조회된다</a:t>
            </a:r>
            <a:r>
              <a:rPr lang="en-US" altLang="ko-KR" dirty="0"/>
              <a:t>.</a:t>
            </a:r>
          </a:p>
          <a:p>
            <a:pPr>
              <a:buFont typeface="+mj-lt"/>
              <a:buAutoNum type="arabicPeriod"/>
            </a:pPr>
            <a:r>
              <a:rPr lang="ko-KR" altLang="en-US" dirty="0" err="1"/>
              <a:t>공고문안</a:t>
            </a:r>
            <a:r>
              <a:rPr lang="ko-KR" altLang="en-US" dirty="0"/>
              <a:t> 입력 항목 표시</a:t>
            </a:r>
            <a:r>
              <a:rPr lang="en-US" altLang="ko-KR" dirty="0"/>
              <a:t/>
            </a:r>
            <a:br>
              <a:rPr lang="en-US" altLang="ko-KR" dirty="0"/>
            </a:br>
            <a:r>
              <a:rPr lang="en-US" altLang="ko-KR" dirty="0"/>
              <a:t>- </a:t>
            </a:r>
            <a:r>
              <a:rPr lang="ko-KR" altLang="en-US" dirty="0"/>
              <a:t>전문 내용은 축약하지 않고 내용에 맞춰 확장하여 전체 스크롤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1609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290218"/>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2697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1831489"/>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1929773"/>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192012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1968620"/>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33138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88132544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18577984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또는 </a:t>
            </a:r>
            <a:r>
              <a:rPr lang="ko-KR" altLang="en-US" dirty="0" err="1"/>
              <a:t>계약방법이</a:t>
            </a:r>
            <a:r>
              <a:rPr lang="ko-KR" altLang="en-US" dirty="0"/>
              <a:t> ‘</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화면이동</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비활성화</a:t>
            </a:r>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입찰진행현황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8105"/>
            <a:chOff x="3821510" y="1835481"/>
            <a:chExt cx="2630093" cy="1508105"/>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1.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8105"/>
            <a:chOff x="3821510" y="1835481"/>
            <a:chExt cx="2630093" cy="1508105"/>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2.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a:t>입찰공고 상세 기능 안내</a:t>
            </a:r>
            <a:endParaRPr lang="en-US" altLang="ko-KR" dirty="0"/>
          </a:p>
          <a:p>
            <a:r>
              <a:rPr lang="en-US" altLang="ko-KR" dirty="0"/>
              <a:t>3.1 </a:t>
            </a:r>
            <a:r>
              <a:rPr lang="ko-KR" altLang="en-US" dirty="0"/>
              <a:t>화면 목록</a:t>
            </a:r>
          </a:p>
        </p:txBody>
      </p:sp>
      <p:graphicFrame>
        <p:nvGraphicFramePr>
          <p:cNvPr id="5" name="표 4"/>
          <p:cNvGraphicFramePr>
            <a:graphicFrameLocks noGrp="1"/>
          </p:cNvGraphicFramePr>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t"/>
                      <a:r>
                        <a:rPr lang="en-US" altLang="ko-KR" sz="700" b="0" i="0" u="none" strike="noStrike" dirty="0">
                          <a:solidFill>
                            <a:srgbClr val="000000"/>
                          </a:solidFill>
                          <a:effectLst/>
                          <a:latin typeface="+mn-ea"/>
                          <a:ea typeface="+mn-ea"/>
                        </a:rPr>
                        <a:t>MUI-BD-01-M07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 </a:t>
                      </a:r>
                      <a:r>
                        <a:rPr lang="ko-KR" altLang="en-US" sz="800" dirty="0" err="1">
                          <a:latin typeface="+mn-ea"/>
                          <a:ea typeface="+mn-ea"/>
                        </a:rPr>
                        <a:t>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BidPbancDtl</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공고 일반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MUI-BD-01-P13</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관심공고</a:t>
                      </a:r>
                      <a:r>
                        <a:rPr lang="ko-KR" altLang="en-US" sz="800" kern="1200" dirty="0">
                          <a:solidFill>
                            <a:schemeClr val="tx1"/>
                          </a:solidFill>
                          <a:latin typeface="+mn-ea"/>
                          <a:ea typeface="+mn-ea"/>
                          <a:cs typeface="+mn-cs"/>
                        </a:rPr>
                        <a:t> 등록</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제외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mn-lt"/>
                          <a:ea typeface="+mn-ea"/>
                        </a:rPr>
                        <a:t>Toast</a:t>
                      </a:r>
                      <a:endParaRPr lang="en-US" sz="800" b="1"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MUI-BD-01-P14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서류 출력 확인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DcmntOtptIdnty</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OZ </a:t>
                      </a:r>
                      <a:r>
                        <a:rPr lang="ko-KR" altLang="en-US" sz="800" kern="1200" dirty="0">
                          <a:solidFill>
                            <a:schemeClr val="tx1"/>
                          </a:solidFill>
                          <a:latin typeface="+mn-ea"/>
                          <a:ea typeface="+mn-ea"/>
                          <a:cs typeface="+mn-cs"/>
                        </a:rPr>
                        <a:t>리포트 연계 전 사용자 확인 팝업</a:t>
                      </a:r>
                      <a:r>
                        <a:rPr lang="en-US" altLang="ko-KR" sz="800" kern="1200" dirty="0">
                          <a:solidFill>
                            <a:schemeClr val="tx1"/>
                          </a:solidFill>
                          <a:latin typeface="+mn-ea"/>
                          <a:ea typeface="+mn-ea"/>
                          <a:cs typeface="+mn-cs"/>
                        </a:rPr>
                        <a:t> </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DcmntOtptIdnty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00" b="0" i="0" u="none" strike="noStrike" kern="1200" dirty="0">
                          <a:solidFill>
                            <a:srgbClr val="000000"/>
                          </a:solidFill>
                          <a:effectLst/>
                          <a:latin typeface="+mn-ea"/>
                          <a:ea typeface="+mn-ea"/>
                          <a:cs typeface="+mn-cs"/>
                        </a:rPr>
                        <a:t>MUI-CM-03-P19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Calibri" panose="020F0502020204030204" pitchFamily="34" charset="0"/>
                        </a:rPr>
                        <a:t>로그인 필요 서비스 안내</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ea"/>
                          <a:ea typeface="+mn-ea"/>
                        </a:rPr>
                        <a:t>LgnSrvcInfo</a:t>
                      </a:r>
                      <a:endParaRPr lang="en-US" sz="800" b="0" i="0" u="none" strike="noStrike" dirty="0">
                        <a:solidFill>
                          <a:schemeClr val="tx1"/>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비로그인</a:t>
                      </a:r>
                      <a:r>
                        <a:rPr lang="ko-KR" altLang="en-US" sz="800" kern="1200" dirty="0">
                          <a:solidFill>
                            <a:schemeClr val="tx1"/>
                          </a:solidFill>
                          <a:latin typeface="+mn-ea"/>
                          <a:ea typeface="+mn-ea"/>
                          <a:cs typeface="+mn-cs"/>
                        </a:rPr>
                        <a:t> 상태에서 로그인 서비스 사용 시도 시 노출되는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LgnSrvcInfo</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713719"/>
                  </a:ext>
                </a:extLst>
              </a:tr>
              <a:tr h="180000">
                <a:tc>
                  <a:txBody>
                    <a:bodyPr/>
                    <a:lstStyle/>
                    <a:p>
                      <a:pPr algn="l" fontAlgn="ctr"/>
                      <a:r>
                        <a:rPr lang="en-US" altLang="ko-KR" sz="700" b="0" i="0" u="none" strike="noStrike" dirty="0">
                          <a:solidFill>
                            <a:srgbClr val="000000"/>
                          </a:solidFill>
                          <a:effectLst/>
                          <a:latin typeface="+mn-ea"/>
                          <a:ea typeface="+mn-ea"/>
                        </a:rPr>
                        <a:t>MUI-BD-01-R15</a:t>
                      </a:r>
                      <a:endParaRPr lang="en-US" altLang="ko-KR"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서류 출력 </a:t>
                      </a:r>
                      <a:r>
                        <a:rPr lang="en-US" altLang="ko-KR" sz="800" kern="1200" dirty="0">
                          <a:solidFill>
                            <a:schemeClr val="tx1"/>
                          </a:solidFill>
                          <a:latin typeface="+mn-ea"/>
                          <a:ea typeface="+mn-ea"/>
                          <a:cs typeface="+mn-cs"/>
                        </a:rPr>
                        <a:t>- OZ</a:t>
                      </a:r>
                      <a:r>
                        <a:rPr lang="ko-KR" altLang="en-US" sz="800" kern="1200" dirty="0">
                          <a:solidFill>
                            <a:schemeClr val="tx1"/>
                          </a:solidFill>
                          <a:latin typeface="+mn-ea"/>
                          <a:ea typeface="+mn-ea"/>
                          <a:cs typeface="+mn-cs"/>
                        </a:rPr>
                        <a:t>리포트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a:t>출력이 가능한 화면에서 </a:t>
                      </a:r>
                      <a:r>
                        <a:rPr lang="en-US" altLang="ko-KR" sz="800" dirty="0"/>
                        <a:t>OZ </a:t>
                      </a:r>
                      <a:r>
                        <a:rPr lang="ko-KR" altLang="en-US" sz="800" dirty="0"/>
                        <a:t>리포트 호출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189615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3.2. </a:t>
            </a:r>
            <a:r>
              <a:rPr lang="ko-KR" altLang="en-US" dirty="0"/>
              <a:t>화면 흐름도 </a:t>
            </a:r>
            <a:r>
              <a:rPr lang="en-US" altLang="ko-KR" dirty="0"/>
              <a:t>– </a:t>
            </a:r>
            <a:r>
              <a:rPr lang="ko-KR" altLang="en-US" dirty="0"/>
              <a:t>입찰 공고 상세 기능</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7860010"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관심공고</a:t>
            </a:r>
            <a:endParaRPr lang="en-US" altLang="ko-KR" sz="800" dirty="0">
              <a:solidFill>
                <a:schemeClr val="tx1"/>
              </a:solidFill>
            </a:endParaRPr>
          </a:p>
          <a:p>
            <a:pPr algn="ctr"/>
            <a:r>
              <a:rPr lang="ko-KR" altLang="en-US" sz="800" dirty="0">
                <a:solidFill>
                  <a:schemeClr val="tx1"/>
                </a:solidFill>
              </a:rPr>
              <a:t>등록</a:t>
            </a:r>
            <a:r>
              <a:rPr lang="en-US" altLang="ko-KR" sz="800" dirty="0">
                <a:solidFill>
                  <a:schemeClr val="tx1"/>
                </a:solidFill>
              </a:rPr>
              <a:t>/</a:t>
            </a:r>
            <a:r>
              <a:rPr lang="ko-KR" altLang="en-US" sz="800" dirty="0">
                <a:solidFill>
                  <a:schemeClr val="tx1"/>
                </a:solidFill>
              </a:rPr>
              <a:t>제외</a:t>
            </a:r>
            <a:r>
              <a:rPr lang="en-US" altLang="ko-KR" sz="800" dirty="0">
                <a:solidFill>
                  <a:schemeClr val="tx1"/>
                </a:solidFill>
              </a:rPr>
              <a:t> </a:t>
            </a:r>
            <a:r>
              <a:rPr lang="ko-KR" altLang="en-US" sz="800" dirty="0">
                <a:solidFill>
                  <a:schemeClr val="tx1"/>
                </a:solidFill>
              </a:rPr>
              <a:t>메시지</a:t>
            </a: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109" name="다이아몬드 108"/>
          <p:cNvSpPr/>
          <p:nvPr/>
        </p:nvSpPr>
        <p:spPr>
          <a:xfrm>
            <a:off x="6028876" y="1630678"/>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12" name="직사각형 111">
            <a:extLst>
              <a:ext uri="{FF2B5EF4-FFF2-40B4-BE49-F238E27FC236}">
                <a16:creationId xmlns:a16="http://schemas.microsoft.com/office/drawing/2014/main" id="{F249990F-1DE5-C694-BDBD-2DE7009D57EA}"/>
              </a:ext>
            </a:extLst>
          </p:cNvPr>
          <p:cNvSpPr/>
          <p:nvPr/>
        </p:nvSpPr>
        <p:spPr>
          <a:xfrm>
            <a:off x="6832448" y="1521745"/>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6028876" y="23094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114" name="직선 화살표 연결선 113">
            <a:extLst>
              <a:ext uri="{FF2B5EF4-FFF2-40B4-BE49-F238E27FC236}">
                <a16:creationId xmlns:a16="http://schemas.microsoft.com/office/drawing/2014/main" id="{9A519F08-B829-E35F-09D8-DFCD1F68B911}"/>
              </a:ext>
            </a:extLst>
          </p:cNvPr>
          <p:cNvCxnSpPr>
            <a:cxnSpLocks/>
            <a:stCxn id="109" idx="2"/>
            <a:endCxn id="113" idx="0"/>
          </p:cNvCxnSpPr>
          <p:nvPr/>
        </p:nvCxnSpPr>
        <p:spPr>
          <a:xfrm>
            <a:off x="6478876" y="1918678"/>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직사각형 114">
            <a:extLst>
              <a:ext uri="{FF2B5EF4-FFF2-40B4-BE49-F238E27FC236}">
                <a16:creationId xmlns:a16="http://schemas.microsoft.com/office/drawing/2014/main" id="{F249990F-1DE5-C694-BDBD-2DE7009D57EA}"/>
              </a:ext>
            </a:extLst>
          </p:cNvPr>
          <p:cNvSpPr/>
          <p:nvPr/>
        </p:nvSpPr>
        <p:spPr>
          <a:xfrm>
            <a:off x="6572315" y="2142861"/>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116" name="직사각형 115">
            <a:extLst>
              <a:ext uri="{FF2B5EF4-FFF2-40B4-BE49-F238E27FC236}">
                <a16:creationId xmlns:a16="http://schemas.microsoft.com/office/drawing/2014/main" id="{4FB9FCCA-B5F3-C0E2-F563-4F0CE0FC24CF}"/>
              </a:ext>
            </a:extLst>
          </p:cNvPr>
          <p:cNvSpPr/>
          <p:nvPr/>
        </p:nvSpPr>
        <p:spPr>
          <a:xfrm>
            <a:off x="8182005" y="255847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17" name="그룹 116">
            <a:extLst>
              <a:ext uri="{FF2B5EF4-FFF2-40B4-BE49-F238E27FC236}">
                <a16:creationId xmlns:a16="http://schemas.microsoft.com/office/drawing/2014/main" id="{E7279F6C-9434-7961-8F6B-B7AE44CE5FCD}"/>
              </a:ext>
            </a:extLst>
          </p:cNvPr>
          <p:cNvGrpSpPr/>
          <p:nvPr/>
        </p:nvGrpSpPr>
        <p:grpSpPr>
          <a:xfrm>
            <a:off x="8211002" y="2363464"/>
            <a:ext cx="180000" cy="180000"/>
            <a:chOff x="5058274" y="2498299"/>
            <a:chExt cx="180000" cy="180000"/>
          </a:xfrm>
        </p:grpSpPr>
        <p:sp>
          <p:nvSpPr>
            <p:cNvPr id="118" name="타원 11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20" name="직선 화살표 연결선 119">
            <a:extLst>
              <a:ext uri="{FF2B5EF4-FFF2-40B4-BE49-F238E27FC236}">
                <a16:creationId xmlns:a16="http://schemas.microsoft.com/office/drawing/2014/main" id="{9A519F08-B829-E35F-09D8-DFCD1F68B911}"/>
              </a:ext>
            </a:extLst>
          </p:cNvPr>
          <p:cNvCxnSpPr>
            <a:cxnSpLocks/>
            <a:stCxn id="113" idx="3"/>
            <a:endCxn id="118" idx="2"/>
          </p:cNvCxnSpPr>
          <p:nvPr/>
        </p:nvCxnSpPr>
        <p:spPr>
          <a:xfrm>
            <a:off x="6928876" y="2453464"/>
            <a:ext cx="1282126"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사각형: 둥근 모서리 5">
            <a:extLst>
              <a:ext uri="{FF2B5EF4-FFF2-40B4-BE49-F238E27FC236}">
                <a16:creationId xmlns:a16="http://schemas.microsoft.com/office/drawing/2014/main" id="{410E5459-200D-7630-863C-88E5109259DF}"/>
              </a:ext>
            </a:extLst>
          </p:cNvPr>
          <p:cNvSpPr/>
          <p:nvPr/>
        </p:nvSpPr>
        <p:spPr>
          <a:xfrm>
            <a:off x="4197742"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관심공고</a:t>
            </a:r>
            <a:endParaRPr lang="en-US" altLang="ko-KR" sz="800" dirty="0">
              <a:solidFill>
                <a:schemeClr val="tx1"/>
              </a:solidFill>
            </a:endParaRPr>
          </a:p>
          <a:p>
            <a:pPr algn="ctr"/>
            <a:r>
              <a:rPr lang="ko-KR" altLang="en-US" sz="800" dirty="0">
                <a:solidFill>
                  <a:schemeClr val="tx1"/>
                </a:solidFill>
              </a:rPr>
              <a:t>버튼 클릭</a:t>
            </a:r>
          </a:p>
        </p:txBody>
      </p:sp>
      <p:cxnSp>
        <p:nvCxnSpPr>
          <p:cNvPr id="151" name="직선 화살표 연결선 150">
            <a:extLst>
              <a:ext uri="{FF2B5EF4-FFF2-40B4-BE49-F238E27FC236}">
                <a16:creationId xmlns:a16="http://schemas.microsoft.com/office/drawing/2014/main" id="{9A519F08-B829-E35F-09D8-DFCD1F68B911}"/>
              </a:ext>
            </a:extLst>
          </p:cNvPr>
          <p:cNvCxnSpPr>
            <a:cxnSpLocks/>
            <a:stCxn id="109" idx="3"/>
            <a:endCxn id="22" idx="1"/>
          </p:cNvCxnSpPr>
          <p:nvPr/>
        </p:nvCxnSpPr>
        <p:spPr>
          <a:xfrm>
            <a:off x="6928876" y="1774678"/>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54" name="직선 화살표 연결선 53">
            <a:extLst>
              <a:ext uri="{FF2B5EF4-FFF2-40B4-BE49-F238E27FC236}">
                <a16:creationId xmlns:a16="http://schemas.microsoft.com/office/drawing/2014/main" id="{9A519F08-B829-E35F-09D8-DFCD1F68B911}"/>
              </a:ext>
            </a:extLst>
          </p:cNvPr>
          <p:cNvCxnSpPr>
            <a:cxnSpLocks/>
            <a:stCxn id="138" idx="3"/>
            <a:endCxn id="109" idx="1"/>
          </p:cNvCxnSpPr>
          <p:nvPr/>
        </p:nvCxnSpPr>
        <p:spPr>
          <a:xfrm>
            <a:off x="5097742" y="1774678"/>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연결선: 꺾임 7">
            <a:extLst>
              <a:ext uri="{FF2B5EF4-FFF2-40B4-BE49-F238E27FC236}">
                <a16:creationId xmlns:a16="http://schemas.microsoft.com/office/drawing/2014/main" id="{89A2D828-4C18-4F90-6B31-722E89773AA8}"/>
              </a:ext>
            </a:extLst>
          </p:cNvPr>
          <p:cNvCxnSpPr>
            <a:cxnSpLocks/>
            <a:stCxn id="22" idx="3"/>
            <a:endCxn id="118" idx="6"/>
          </p:cNvCxnSpPr>
          <p:nvPr/>
        </p:nvCxnSpPr>
        <p:spPr>
          <a:xfrm flipH="1">
            <a:off x="8391002" y="1774678"/>
            <a:ext cx="369008" cy="678786"/>
          </a:xfrm>
          <a:prstGeom prst="bentConnector3">
            <a:avLst>
              <a:gd name="adj1" fmla="val -6195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70" idx="3"/>
            <a:endCxn id="69" idx="1"/>
          </p:cNvCxnSpPr>
          <p:nvPr/>
        </p:nvCxnSpPr>
        <p:spPr>
          <a:xfrm>
            <a:off x="3266608" y="1772964"/>
            <a:ext cx="931134" cy="14523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8" name="사각형: 둥근 모서리 5">
            <a:extLst>
              <a:ext uri="{FF2B5EF4-FFF2-40B4-BE49-F238E27FC236}">
                <a16:creationId xmlns:a16="http://schemas.microsoft.com/office/drawing/2014/main" id="{410E5459-200D-7630-863C-88E5109259DF}"/>
              </a:ext>
            </a:extLst>
          </p:cNvPr>
          <p:cNvSpPr/>
          <p:nvPr/>
        </p:nvSpPr>
        <p:spPr>
          <a:xfrm>
            <a:off x="6028876" y="30782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서류 출력</a:t>
            </a:r>
            <a:endParaRPr lang="en-US" altLang="ko-KR" sz="800" dirty="0">
              <a:solidFill>
                <a:schemeClr val="tx1"/>
              </a:solidFill>
            </a:endParaRPr>
          </a:p>
          <a:p>
            <a:pPr algn="ctr"/>
            <a:r>
              <a:rPr lang="ko-KR" altLang="en-US" sz="800" dirty="0">
                <a:solidFill>
                  <a:schemeClr val="tx1"/>
                </a:solidFill>
              </a:rPr>
              <a:t>확인 팝업</a:t>
            </a: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30813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출력 클릭</a:t>
            </a:r>
          </a:p>
        </p:txBody>
      </p:sp>
      <p:cxnSp>
        <p:nvCxnSpPr>
          <p:cNvPr id="71" name="직선 화살표 연결선 70">
            <a:extLst>
              <a:ext uri="{FF2B5EF4-FFF2-40B4-BE49-F238E27FC236}">
                <a16:creationId xmlns:a16="http://schemas.microsoft.com/office/drawing/2014/main" id="{9A519F08-B829-E35F-09D8-DFCD1F68B911}"/>
              </a:ext>
            </a:extLst>
          </p:cNvPr>
          <p:cNvCxnSpPr>
            <a:cxnSpLocks/>
            <a:stCxn id="69" idx="3"/>
            <a:endCxn id="68" idx="1"/>
          </p:cNvCxnSpPr>
          <p:nvPr/>
        </p:nvCxnSpPr>
        <p:spPr>
          <a:xfrm flipV="1">
            <a:off x="5097742" y="3222249"/>
            <a:ext cx="931134" cy="3059"/>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79" idx="3"/>
            <a:endCxn id="118" idx="6"/>
          </p:cNvCxnSpPr>
          <p:nvPr/>
        </p:nvCxnSpPr>
        <p:spPr>
          <a:xfrm flipH="1" flipV="1">
            <a:off x="8391002" y="2453464"/>
            <a:ext cx="369008" cy="768785"/>
          </a:xfrm>
          <a:prstGeom prst="bentConnector3">
            <a:avLst>
              <a:gd name="adj1" fmla="val -6195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9" name="사각형: 둥근 모서리 5">
            <a:extLst>
              <a:ext uri="{FF2B5EF4-FFF2-40B4-BE49-F238E27FC236}">
                <a16:creationId xmlns:a16="http://schemas.microsoft.com/office/drawing/2014/main" id="{410E5459-200D-7630-863C-88E5109259DF}"/>
              </a:ext>
            </a:extLst>
          </p:cNvPr>
          <p:cNvSpPr/>
          <p:nvPr/>
        </p:nvSpPr>
        <p:spPr>
          <a:xfrm>
            <a:off x="7860010" y="30782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800" dirty="0">
                <a:solidFill>
                  <a:schemeClr val="tx1"/>
                </a:solidFill>
              </a:rPr>
              <a:t>OZ </a:t>
            </a:r>
            <a:r>
              <a:rPr lang="ko-KR" altLang="en-US" sz="800" dirty="0">
                <a:solidFill>
                  <a:schemeClr val="tx1"/>
                </a:solidFill>
              </a:rPr>
              <a:t>뷰어</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8" idx="3"/>
            <a:endCxn id="79" idx="1"/>
          </p:cNvCxnSpPr>
          <p:nvPr/>
        </p:nvCxnSpPr>
        <p:spPr>
          <a:xfrm>
            <a:off x="6928876" y="3222249"/>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467421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3.3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latin typeface="+mn-ea"/>
              </a:rPr>
              <a:t>입찰공고상세</a:t>
            </a:r>
            <a:endParaRPr lang="en-US" altLang="ko-KR" sz="1100" dirty="0">
              <a:solidFill>
                <a:schemeClr val="tx1"/>
              </a:solidFill>
            </a:endParaRPr>
          </a:p>
          <a:p>
            <a:pPr algn="ctr"/>
            <a:r>
              <a:rPr lang="en-US" altLang="ko-KR" sz="1100" dirty="0">
                <a:solidFill>
                  <a:schemeClr val="tx1"/>
                </a:solidFill>
              </a:rPr>
              <a:t>BidPbancDtl.tsx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68474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latin typeface="+mn-ea"/>
              </a:rPr>
              <a:t>관심공고</a:t>
            </a:r>
            <a:endParaRPr lang="en-US" altLang="ko-KR" sz="1100" dirty="0">
              <a:solidFill>
                <a:schemeClr val="tx1"/>
              </a:solidFill>
            </a:endParaRPr>
          </a:p>
          <a:p>
            <a:pPr algn="ctr"/>
            <a:r>
              <a:rPr lang="en-US" altLang="ko-KR" sz="1100" dirty="0">
                <a:solidFill>
                  <a:schemeClr val="tx1"/>
                </a:solidFill>
              </a:rPr>
              <a:t>Toast.tsx</a:t>
            </a:r>
            <a:r>
              <a:rPr lang="en-US" altLang="ko-KR" sz="1100" b="1" baseline="30000" dirty="0">
                <a:solidFill>
                  <a:schemeClr val="tx1"/>
                </a:solidFill>
                <a:latin typeface="+mn-ea"/>
              </a:rPr>
              <a:t>1)</a:t>
            </a:r>
            <a:endParaRPr lang="en-US" altLang="ko-KR" sz="11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518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latin typeface="+mn-ea"/>
              </a:rPr>
              <a:t>서류 출력 </a:t>
            </a:r>
            <a:r>
              <a:rPr lang="en-US" altLang="ko-KR" sz="1100" dirty="0">
                <a:solidFill>
                  <a:schemeClr val="tx1"/>
                </a:solidFill>
                <a:latin typeface="+mn-ea"/>
              </a:rPr>
              <a:t>- OZ</a:t>
            </a:r>
            <a:r>
              <a:rPr lang="ko-KR" altLang="en-US" sz="1100" dirty="0">
                <a:solidFill>
                  <a:schemeClr val="tx1"/>
                </a:solidFill>
                <a:latin typeface="+mn-ea"/>
              </a:rPr>
              <a:t>리포트</a:t>
            </a:r>
            <a:endParaRPr lang="en-US" altLang="ko-KR" sz="1100" dirty="0">
              <a:solidFill>
                <a:schemeClr val="tx1"/>
              </a:solidFill>
            </a:endParaRPr>
          </a:p>
          <a:p>
            <a:pPr algn="ctr"/>
            <a:r>
              <a:rPr lang="en-US" altLang="ko-KR" sz="1100" dirty="0">
                <a:solidFill>
                  <a:schemeClr val="tx1"/>
                </a:solidFill>
              </a:rPr>
              <a:t>DcmntOtpt.tsx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169077"/>
            <a:ext cx="967509" cy="82109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129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8469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9797141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관심공고</a:t>
            </a:r>
            <a:r>
              <a:rPr lang="ko-KR" altLang="en-US" dirty="0">
                <a:latin typeface="+mn-ea"/>
              </a:rPr>
              <a:t> 등록</a:t>
            </a:r>
            <a:r>
              <a:rPr lang="en-US" altLang="ko-KR" dirty="0">
                <a:latin typeface="+mn-ea"/>
              </a:rPr>
              <a:t>, </a:t>
            </a:r>
            <a:r>
              <a:rPr lang="ko-KR" altLang="en-US" dirty="0">
                <a:latin typeface="+mn-ea"/>
              </a:rPr>
              <a:t>제외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MUI-MS-03-P15</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329794" y="3972675"/>
            <a:ext cx="1177967"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안내</a:t>
            </a:r>
          </a:p>
        </p:txBody>
      </p:sp>
      <p:cxnSp>
        <p:nvCxnSpPr>
          <p:cNvPr id="23" name="직선 화살표 연결선 22"/>
          <p:cNvCxnSpPr>
            <a:endCxn id="230" idx="1"/>
          </p:cNvCxnSpPr>
          <p:nvPr/>
        </p:nvCxnSpPr>
        <p:spPr>
          <a:xfrm>
            <a:off x="2770852" y="2142212"/>
            <a:ext cx="1024882" cy="19458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버튼</a:t>
            </a:r>
            <a:r>
              <a:rPr lang="en-US" altLang="ko-KR" dirty="0"/>
              <a:t>,</a:t>
            </a:r>
            <a:r>
              <a:rPr lang="ko-KR" altLang="en-US" dirty="0"/>
              <a:t> 환율 정보</a:t>
            </a:r>
            <a:endParaRPr lang="en-US" altLang="ko-KR" dirty="0"/>
          </a:p>
          <a:p>
            <a:r>
              <a:rPr lang="en-US" altLang="ko-KR" dirty="0"/>
              <a:t>4.1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719212474"/>
              </p:ext>
            </p:extLst>
          </p:nvPr>
        </p:nvGraphicFramePr>
        <p:xfrm>
          <a:off x="635474" y="1413419"/>
          <a:ext cx="8701200" cy="82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7198843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a:t>플로팅</a:t>
            </a:r>
            <a:r>
              <a:rPr lang="ko-KR" altLang="en-US" dirty="0"/>
              <a:t> 버튼 클릭 시</a:t>
            </a:r>
            <a:r>
              <a:rPr lang="en-US" altLang="ko-KR" dirty="0"/>
              <a:t/>
            </a:r>
            <a:br>
              <a:rPr lang="en-US" altLang="ko-KR" dirty="0"/>
            </a:br>
            <a:r>
              <a:rPr lang="en-US" altLang="ko-KR" dirty="0"/>
              <a:t>- </a:t>
            </a:r>
            <a:r>
              <a:rPr lang="ko-KR" altLang="en-US" dirty="0"/>
              <a:t>조건에 맞는 버튼 표시</a:t>
            </a:r>
            <a:r>
              <a:rPr lang="en-US" altLang="ko-KR" dirty="0"/>
              <a:t/>
            </a:r>
            <a:br>
              <a:rPr lang="en-US" altLang="ko-KR" dirty="0"/>
            </a:br>
            <a:r>
              <a:rPr lang="en-US" altLang="ko-KR" dirty="0"/>
              <a:t>- </a:t>
            </a:r>
            <a:r>
              <a:rPr lang="ko-KR" altLang="en-US" dirty="0"/>
              <a:t>클릭 시 각각의 페이지 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963135" y="48520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사각형: 둥근 모서리 15">
            <a:extLst>
              <a:ext uri="{FF2B5EF4-FFF2-40B4-BE49-F238E27FC236}">
                <a16:creationId xmlns:a16="http://schemas.microsoft.com/office/drawing/2014/main" id="{E2B61CFB-AD16-68D0-8752-50D9C5E01971}"/>
              </a:ext>
            </a:extLst>
          </p:cNvPr>
          <p:cNvSpPr/>
          <p:nvPr/>
        </p:nvSpPr>
        <p:spPr>
          <a:xfrm>
            <a:off x="3885476" y="4546232"/>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5" name="타원 154">
            <a:extLst>
              <a:ext uri="{FF2B5EF4-FFF2-40B4-BE49-F238E27FC236}">
                <a16:creationId xmlns:a16="http://schemas.microsoft.com/office/drawing/2014/main" id="{37A7FF4F-0EAA-1463-560A-D5EC24416103}"/>
              </a:ext>
            </a:extLst>
          </p:cNvPr>
          <p:cNvSpPr/>
          <p:nvPr/>
        </p:nvSpPr>
        <p:spPr>
          <a:xfrm>
            <a:off x="3691528" y="28312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3885476" y="4879725"/>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46317"/>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84130"/>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1663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5215986"/>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237230"/>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232595"/>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12544375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95859184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240961406"/>
              </p:ext>
            </p:extLst>
          </p:nvPr>
        </p:nvGraphicFramePr>
        <p:xfrm>
          <a:off x="635474" y="1413419"/>
          <a:ext cx="8701200" cy="48934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입찰진행</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목록</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a:solidFill>
                            <a:schemeClr val="tx1"/>
                          </a:solidFill>
                          <a:effectLst/>
                          <a:latin typeface="Calibri" panose="020F0502020204030204" pitchFamily="34" charset="0"/>
                        </a:rPr>
                        <a:t> </a:t>
                      </a:r>
                      <a:r>
                        <a:rPr lang="en-US" sz="900" b="0" i="0" u="none" strike="noStrike" dirty="0" err="1">
                          <a:solidFill>
                            <a:schemeClr val="tx1"/>
                          </a:solidFill>
                          <a:effectLst/>
                          <a:latin typeface="Calibri" panose="020F0502020204030204" pitchFamily="34" charset="0"/>
                        </a:rPr>
                        <a:t>BidPrgrsListForBzentyPage</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bidPrgrsListForBzenty</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BidPrgrsListForBzentyPage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입찰진행</a:t>
                      </a:r>
                      <a:r>
                        <a:rPr lang="ko-KR" altLang="en-US" sz="800" kern="1200" dirty="0">
                          <a:solidFill>
                            <a:schemeClr val="tx1"/>
                          </a:solidFill>
                          <a:latin typeface="+mn-ea"/>
                          <a:ea typeface="+mn-ea"/>
                          <a:cs typeface="+mn-cs"/>
                        </a:rPr>
                        <a:t>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BidPrgsDtlInqPage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신청한 입찰 상세 내역 조회</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입찰포기신청서작성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BidAbndAperWrt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 후 입찰서 제출 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BidAbndAperWrt.tsx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입찰취소신청서작성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BidRtrcnAperInq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작성한 입찰서 취소 및 취소 신청서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입찰등록결과조회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a:t>
                      </a:r>
                      <a:r>
                        <a:rPr lang="en-US" altLang="ko-KR" sz="900" dirty="0">
                          <a:solidFill>
                            <a:schemeClr val="tx1"/>
                          </a:solidFill>
                          <a:latin typeface="+mn-ea"/>
                          <a:ea typeface="+mn-ea"/>
                        </a:rPr>
                        <a:t>/</a:t>
                      </a:r>
                      <a:r>
                        <a:rPr lang="en-US" altLang="ko-KR" sz="900" dirty="0" err="1">
                          <a:solidFill>
                            <a:schemeClr val="tx1"/>
                          </a:solidFill>
                          <a:latin typeface="+mn-ea"/>
                          <a:ea typeface="+mn-ea"/>
                        </a:rPr>
                        <a:t>BidRegRsltInqPage.tsx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사전심사</a:t>
                      </a:r>
                      <a:r>
                        <a:rPr lang="en-US" altLang="ko-KR" sz="800" b="0" i="0" u="none" strike="noStrike" kern="1200" dirty="0">
                          <a:solidFill>
                            <a:srgbClr val="000000"/>
                          </a:solidFill>
                          <a:effectLst/>
                          <a:latin typeface="맑은 고딕" panose="020B0503020000020004" pitchFamily="50" charset="-127"/>
                          <a:ea typeface="+mn-ea"/>
                          <a:cs typeface="+mn-cs"/>
                        </a:rPr>
                        <a:t>(PQ)</a:t>
                      </a:r>
                      <a:r>
                        <a:rPr lang="ko-KR" altLang="en-US" sz="800" b="0" i="0" u="none" strike="noStrike" kern="1200" dirty="0" err="1">
                          <a:solidFill>
                            <a:srgbClr val="000000"/>
                          </a:solidFill>
                          <a:effectLst/>
                          <a:latin typeface="맑은 고딕" panose="020B0503020000020004" pitchFamily="50" charset="-127"/>
                          <a:ea typeface="+mn-ea"/>
                          <a:cs typeface="+mn-cs"/>
                        </a:rPr>
                        <a:t>결과조회</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TechEvlRsltInq.tsx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a:t>
                      </a:r>
                      <a:r>
                        <a:rPr lang="ko-KR" altLang="en-US" sz="800" kern="1200" dirty="0">
                          <a:solidFill>
                            <a:schemeClr val="tx1"/>
                          </a:solidFill>
                          <a:latin typeface="+mn-ea"/>
                          <a:ea typeface="+mn-ea"/>
                          <a:cs typeface="+mn-cs"/>
                        </a:rPr>
                        <a:t>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BfhdSrngAplyPage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조달업체는</a:t>
                      </a:r>
                      <a:r>
                        <a:rPr lang="ko-KR" altLang="en-US" sz="800" kern="1200" dirty="0">
                          <a:solidFill>
                            <a:schemeClr val="tx1"/>
                          </a:solidFill>
                          <a:latin typeface="+mn-ea"/>
                          <a:ea typeface="+mn-ea"/>
                          <a:cs typeface="+mn-cs"/>
                        </a:rPr>
                        <a:t> 필요 서류를 첨부하여 사전심사신청서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035731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(2/4)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65041222"/>
              </p:ext>
            </p:extLst>
          </p:nvPr>
        </p:nvGraphicFramePr>
        <p:xfrm>
          <a:off x="635474" y="1413419"/>
          <a:ext cx="8701200" cy="4279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a:solidFill>
                            <a:schemeClr val="tx1"/>
                          </a:solidFill>
                          <a:latin typeface="+mn-ea"/>
                          <a:ea typeface="+mn-ea"/>
                          <a:cs typeface="+mn-cs"/>
                        </a:rPr>
                        <a:t>MUI-BD-04-M01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BidPrtcpAperWrtPage</a:t>
                      </a:r>
                      <a:endParaRPr lang="en-US" altLang="ko-KR"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작성 진입 시 서약서 항목으로 </a:t>
                      </a:r>
                      <a:r>
                        <a:rPr lang="ko-KR" altLang="en-US" sz="800" kern="1200" dirty="0" err="1">
                          <a:solidFill>
                            <a:schemeClr val="tx1"/>
                          </a:solidFill>
                          <a:latin typeface="+mn-ea"/>
                          <a:ea typeface="+mn-ea"/>
                          <a:cs typeface="+mn-cs"/>
                        </a:rPr>
                        <a:t>진입됨</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29136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048341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283805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578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62722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394024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99132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/stp3/Stp3.tsx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35124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61820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면제여부상세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01966"/>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BidPrtcpAperWrtPage_Stp5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/stp5/Stp5</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357194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736347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(3/4)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091183874"/>
              </p:ext>
            </p:extLst>
          </p:nvPr>
        </p:nvGraphicFramePr>
        <p:xfrm>
          <a:off x="635474" y="1413419"/>
          <a:ext cx="8701200" cy="49334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8205196"/>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018659"/>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CabinetLink</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클라우드</a:t>
                      </a:r>
                      <a:r>
                        <a:rPr lang="ko-KR" altLang="en-US" sz="8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CabinetLink.tsx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307835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문의 및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0615974"/>
                  </a:ext>
                </a:extLst>
              </a:tr>
              <a:tr h="180000">
                <a:tc>
                  <a:txBody>
                    <a:bodyPr/>
                    <a:lstStyle/>
                    <a:p>
                      <a:pPr algn="l" fontAlgn="ctr"/>
                      <a:r>
                        <a:rPr lang="en-US" altLang="ko-KR" sz="700" kern="1200" dirty="0">
                          <a:solidFill>
                            <a:schemeClr val="tx1"/>
                          </a:solidFill>
                          <a:latin typeface="+mn-ea"/>
                          <a:ea typeface="+mn-ea"/>
                          <a:cs typeface="+mn-cs"/>
                        </a:rPr>
                        <a:t>MUI-BD-04-P15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141331"/>
                  </a:ext>
                </a:extLst>
              </a:tr>
              <a:tr h="180000">
                <a:tc>
                  <a:txBody>
                    <a:bodyPr/>
                    <a:lstStyle/>
                    <a:p>
                      <a:pPr algn="l" fontAlgn="ctr"/>
                      <a:r>
                        <a:rPr lang="en-US" altLang="ko-KR" sz="700" kern="1200" dirty="0">
                          <a:solidFill>
                            <a:schemeClr val="tx1"/>
                          </a:solidFill>
                          <a:latin typeface="+mn-ea"/>
                          <a:ea typeface="+mn-ea"/>
                          <a:cs typeface="+mn-cs"/>
                        </a:rPr>
                        <a:t>MUI-BD-04-P16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3503506"/>
                  </a:ext>
                </a:extLst>
              </a:tr>
              <a:tr h="180000">
                <a:tc>
                  <a:txBody>
                    <a:bodyPr/>
                    <a:lstStyle/>
                    <a:p>
                      <a:pPr algn="l" fontAlgn="ctr"/>
                      <a:r>
                        <a:rPr lang="en-US" altLang="ko-KR" sz="700" kern="1200" dirty="0">
                          <a:solidFill>
                            <a:schemeClr val="tx1"/>
                          </a:solidFill>
                          <a:latin typeface="+mn-ea"/>
                          <a:ea typeface="+mn-ea"/>
                          <a:cs typeface="+mn-cs"/>
                        </a:rPr>
                        <a:t>MUI-BD-04-P17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3800375"/>
                  </a:ext>
                </a:extLst>
              </a:tr>
              <a:tr h="180000">
                <a:tc>
                  <a:txBody>
                    <a:bodyPr/>
                    <a:lstStyle/>
                    <a:p>
                      <a:pPr algn="l" fontAlgn="ctr"/>
                      <a:r>
                        <a:rPr lang="en-US" altLang="ko-KR" sz="700" kern="1200" dirty="0">
                          <a:solidFill>
                            <a:schemeClr val="tx1"/>
                          </a:solidFill>
                          <a:latin typeface="+mn-ea"/>
                          <a:ea typeface="+mn-ea"/>
                          <a:cs typeface="+mn-cs"/>
                        </a:rPr>
                        <a:t>MUI-BD-04-P18</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6987638"/>
                  </a:ext>
                </a:extLst>
              </a:tr>
              <a:tr h="180000">
                <a:tc>
                  <a:txBody>
                    <a:bodyPr/>
                    <a:lstStyle/>
                    <a:p>
                      <a:pPr algn="l" fontAlgn="ctr"/>
                      <a:r>
                        <a:rPr lang="en-US" altLang="ko-KR" sz="700" kern="1200" dirty="0">
                          <a:solidFill>
                            <a:schemeClr val="tx1"/>
                          </a:solidFill>
                          <a:latin typeface="+mn-ea"/>
                          <a:ea typeface="+mn-ea"/>
                          <a:cs typeface="+mn-cs"/>
                        </a:rPr>
                        <a:t>MUI-BD-04-P19</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5</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279451"/>
                  </a:ext>
                </a:extLst>
              </a:tr>
              <a:tr h="180000">
                <a:tc>
                  <a:txBody>
                    <a:bodyPr/>
                    <a:lstStyle/>
                    <a:p>
                      <a:pPr algn="l" fontAlgn="ctr"/>
                      <a:r>
                        <a:rPr lang="en-US" altLang="ko-KR" sz="700" kern="1200" dirty="0">
                          <a:solidFill>
                            <a:schemeClr val="tx1"/>
                          </a:solidFill>
                          <a:latin typeface="+mn-ea"/>
                          <a:ea typeface="+mn-ea"/>
                          <a:cs typeface="+mn-cs"/>
                        </a:rPr>
                        <a:t>MUI-BD-04-P20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6</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755354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MUI-BD-04-M21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Elsgn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 진행 화면</a:t>
                      </a:r>
                      <a:r>
                        <a:rPr lang="ko-KR" altLang="en-US" sz="800" kern="1200" baseline="0" dirty="0">
                          <a:solidFill>
                            <a:schemeClr val="tx1"/>
                          </a:solidFill>
                          <a:latin typeface="+mn-ea"/>
                          <a:ea typeface="+mn-ea"/>
                          <a:cs typeface="+mn-cs"/>
                        </a:rPr>
                        <a:t> 표시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Elsgn.tsx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1493139"/>
                  </a:ext>
                </a:extLst>
              </a:tr>
              <a:tr h="180000">
                <a:tc>
                  <a:txBody>
                    <a:bodyPr/>
                    <a:lstStyle/>
                    <a:p>
                      <a:pPr algn="ctr" fontAlgn="ctr"/>
                      <a:r>
                        <a:rPr lang="en-US" altLang="ko-KR" sz="700" kern="1200" dirty="0">
                          <a:solidFill>
                            <a:schemeClr val="tx1"/>
                          </a:solidFill>
                          <a:latin typeface="+mn-ea"/>
                          <a:ea typeface="+mn-ea"/>
                          <a:cs typeface="+mn-cs"/>
                        </a:rPr>
                        <a:t>MUI-BD-06-M01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견적서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TndrWrt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TndrWrt.tsx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585606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75069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3254699"/>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19764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32514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(4/4)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94892334"/>
              </p:ext>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약관동의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6861239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모서리가 둥근 직사각형 3"/>
          <p:cNvSpPr/>
          <p:nvPr/>
        </p:nvSpPr>
        <p:spPr>
          <a:xfrm>
            <a:off x="5850467" y="3621225"/>
            <a:ext cx="1236133" cy="2804975"/>
          </a:xfrm>
          <a:prstGeom prst="roundRect">
            <a:avLst>
              <a:gd name="adj" fmla="val 7763"/>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a:t>입찰서 작성</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a:t>
            </a:r>
          </a:p>
        </p:txBody>
      </p:sp>
      <p:sp>
        <p:nvSpPr>
          <p:cNvPr id="62" name="직사각형 61">
            <a:extLst>
              <a:ext uri="{FF2B5EF4-FFF2-40B4-BE49-F238E27FC236}">
                <a16:creationId xmlns:a16="http://schemas.microsoft.com/office/drawing/2014/main" id="{23C86455-E84C-0CEA-5C6B-05BE50ADCEF5}"/>
              </a:ext>
            </a:extLst>
          </p:cNvPr>
          <p:cNvSpPr/>
          <p:nvPr/>
        </p:nvSpPr>
        <p:spPr>
          <a:xfrm>
            <a:off x="1019263" y="1453298"/>
            <a:ext cx="65242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endParaRPr lang="en-US" altLang="ko-KR" sz="800" b="1" dirty="0">
              <a:solidFill>
                <a:schemeClr val="tx1"/>
              </a:solidFill>
            </a:endParaRPr>
          </a:p>
          <a:p>
            <a:pPr algn="ctr"/>
            <a:r>
              <a:rPr lang="en-US" altLang="ko-KR" sz="800" b="1" dirty="0">
                <a:solidFill>
                  <a:schemeClr val="tx1"/>
                </a:solidFill>
              </a:rPr>
              <a:t>(</a:t>
            </a:r>
            <a:r>
              <a:rPr lang="ko-KR" altLang="en-US" sz="800" b="1" dirty="0">
                <a:solidFill>
                  <a:schemeClr val="tx1"/>
                </a:solidFill>
              </a:rPr>
              <a:t>업체 담당자</a:t>
            </a:r>
            <a:r>
              <a:rPr lang="en-US" altLang="ko-KR" sz="800" b="1" dirty="0">
                <a:solidFill>
                  <a:schemeClr val="tx1"/>
                </a:solidFill>
              </a:rPr>
              <a:t>)</a:t>
            </a:r>
            <a:endParaRPr lang="ko-KR" altLang="en-US" sz="8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8120259" y="391741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8149256" y="37283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6028876"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cxnSp>
        <p:nvCxnSpPr>
          <p:cNvPr id="60" name="연결선: 꺾임 7">
            <a:extLst>
              <a:ext uri="{FF2B5EF4-FFF2-40B4-BE49-F238E27FC236}">
                <a16:creationId xmlns:a16="http://schemas.microsoft.com/office/drawing/2014/main" id="{89A2D828-4C18-4F90-6B31-722E89773AA8}"/>
              </a:ext>
            </a:extLst>
          </p:cNvPr>
          <p:cNvCxnSpPr>
            <a:cxnSpLocks/>
            <a:stCxn id="88" idx="3"/>
            <a:endCxn id="70" idx="1"/>
          </p:cNvCxnSpPr>
          <p:nvPr/>
        </p:nvCxnSpPr>
        <p:spPr>
          <a:xfrm flipV="1">
            <a:off x="1795474" y="1772964"/>
            <a:ext cx="57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직사각형 70">
            <a:extLst>
              <a:ext uri="{FF2B5EF4-FFF2-40B4-BE49-F238E27FC236}">
                <a16:creationId xmlns:a16="http://schemas.microsoft.com/office/drawing/2014/main" id="{F249990F-1DE5-C694-BDBD-2DE7009D57EA}"/>
              </a:ext>
            </a:extLst>
          </p:cNvPr>
          <p:cNvSpPr/>
          <p:nvPr/>
        </p:nvSpPr>
        <p:spPr>
          <a:xfrm>
            <a:off x="1439373" y="2875820"/>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88" name="다이아몬드 87"/>
          <p:cNvSpPr/>
          <p:nvPr/>
        </p:nvSpPr>
        <p:spPr>
          <a:xfrm>
            <a:off x="895474" y="2310859"/>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기신청</a:t>
            </a:r>
            <a:endParaRPr lang="ko-KR" altLang="en-US" sz="800" dirty="0">
              <a:solidFill>
                <a:schemeClr val="tx1"/>
              </a:solidFill>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1716926" y="2184639"/>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93" name="직선 화살표 연결선 92">
            <a:extLst>
              <a:ext uri="{FF2B5EF4-FFF2-40B4-BE49-F238E27FC236}">
                <a16:creationId xmlns:a16="http://schemas.microsoft.com/office/drawing/2014/main" id="{9A519F08-B829-E35F-09D8-DFCD1F68B911}"/>
              </a:ext>
            </a:extLst>
          </p:cNvPr>
          <p:cNvCxnSpPr>
            <a:cxnSpLocks/>
            <a:stCxn id="10" idx="2"/>
            <a:endCxn id="88" idx="0"/>
          </p:cNvCxnSpPr>
          <p:nvPr/>
        </p:nvCxnSpPr>
        <p:spPr>
          <a:xfrm flipH="1">
            <a:off x="1345474" y="1999947"/>
            <a:ext cx="2137" cy="31091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6028876" y="367431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생산능력</a:t>
            </a:r>
            <a:endParaRPr lang="en-US" altLang="ko-KR" sz="800" dirty="0">
              <a:solidFill>
                <a:schemeClr val="tx1"/>
              </a:solidFill>
            </a:endParaRPr>
          </a:p>
          <a:p>
            <a:pPr algn="ctr"/>
            <a:r>
              <a:rPr lang="ko-KR" altLang="en-US" sz="800" dirty="0">
                <a:solidFill>
                  <a:schemeClr val="tx1"/>
                </a:solidFill>
              </a:rPr>
              <a:t>서류제출</a:t>
            </a: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6028876" y="43124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기술평가</a:t>
            </a:r>
            <a:endParaRPr lang="en-US" altLang="ko-KR" sz="800" dirty="0">
              <a:solidFill>
                <a:schemeClr val="tx1"/>
              </a:solidFill>
            </a:endParaRPr>
          </a:p>
          <a:p>
            <a:pPr algn="ctr"/>
            <a:r>
              <a:rPr lang="ko-KR" altLang="en-US" sz="800" dirty="0" err="1">
                <a:solidFill>
                  <a:schemeClr val="tx1"/>
                </a:solidFill>
              </a:rPr>
              <a:t>결과조회</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6028876" y="495057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r>
              <a:rPr lang="en-US" altLang="ko-KR" sz="800" dirty="0">
                <a:solidFill>
                  <a:schemeClr val="tx1"/>
                </a:solidFill>
              </a:rPr>
              <a:t>/</a:t>
            </a:r>
            <a:r>
              <a:rPr lang="ko-KR" altLang="en-US" sz="800" dirty="0">
                <a:solidFill>
                  <a:schemeClr val="tx1"/>
                </a:solidFill>
              </a:rPr>
              <a:t>취소</a:t>
            </a:r>
            <a:endParaRPr lang="en-US" altLang="ko-KR" sz="800" dirty="0">
              <a:solidFill>
                <a:schemeClr val="tx1"/>
              </a:solidFill>
            </a:endParaRPr>
          </a:p>
          <a:p>
            <a:pPr algn="ctr"/>
            <a:r>
              <a:rPr lang="ko-KR" altLang="en-US" sz="800" dirty="0">
                <a:solidFill>
                  <a:schemeClr val="tx1"/>
                </a:solidFill>
              </a:rPr>
              <a:t>신청서</a:t>
            </a: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5097742"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602887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7789256"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보증금면제사유</a:t>
            </a:r>
            <a:endParaRPr lang="en-US" altLang="ko-KR" sz="800" dirty="0">
              <a:solidFill>
                <a:schemeClr val="tx1"/>
              </a:solidFill>
            </a:endParaRPr>
          </a:p>
          <a:p>
            <a:pPr algn="ctr"/>
            <a:r>
              <a:rPr lang="ko-KR" altLang="en-US" sz="800" dirty="0">
                <a:solidFill>
                  <a:schemeClr val="tx1"/>
                </a:solidFill>
              </a:rPr>
              <a:t>상세설명</a:t>
            </a:r>
          </a:p>
        </p:txBody>
      </p:sp>
      <p:sp>
        <p:nvSpPr>
          <p:cNvPr id="118" name="사각형: 둥근 모서리 5">
            <a:extLst>
              <a:ext uri="{FF2B5EF4-FFF2-40B4-BE49-F238E27FC236}">
                <a16:creationId xmlns:a16="http://schemas.microsoft.com/office/drawing/2014/main" id="{410E5459-200D-7630-863C-88E5109259DF}"/>
              </a:ext>
            </a:extLst>
          </p:cNvPr>
          <p:cNvSpPr/>
          <p:nvPr/>
        </p:nvSpPr>
        <p:spPr>
          <a:xfrm>
            <a:off x="6028876" y="558869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입찰참가등록반려 신청</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362365"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88" idx="3"/>
            <a:endCxn id="122" idx="1"/>
          </p:cNvCxnSpPr>
          <p:nvPr/>
        </p:nvCxnSpPr>
        <p:spPr>
          <a:xfrm>
            <a:off x="1795474" y="2454859"/>
            <a:ext cx="5668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사각형: 둥근 모서리 5">
            <a:extLst>
              <a:ext uri="{FF2B5EF4-FFF2-40B4-BE49-F238E27FC236}">
                <a16:creationId xmlns:a16="http://schemas.microsoft.com/office/drawing/2014/main" id="{410E5459-200D-7630-863C-88E5109259DF}"/>
              </a:ext>
            </a:extLst>
          </p:cNvPr>
          <p:cNvSpPr/>
          <p:nvPr/>
        </p:nvSpPr>
        <p:spPr>
          <a:xfrm>
            <a:off x="2362365"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endParaRPr lang="en-US" altLang="ko-KR" sz="800" dirty="0">
              <a:solidFill>
                <a:schemeClr val="tx1"/>
              </a:solidFill>
            </a:endParaRPr>
          </a:p>
          <a:p>
            <a:pPr algn="ctr"/>
            <a:r>
              <a:rPr lang="en-US" altLang="ko-KR" sz="800" dirty="0">
                <a:solidFill>
                  <a:schemeClr val="tx1"/>
                </a:solidFill>
              </a:rPr>
              <a:t>(</a:t>
            </a:r>
            <a:r>
              <a:rPr lang="ko-KR" altLang="en-US" sz="800" dirty="0" err="1">
                <a:solidFill>
                  <a:schemeClr val="tx1"/>
                </a:solidFill>
              </a:rPr>
              <a:t>조달업체</a:t>
            </a:r>
            <a:r>
              <a:rPr lang="en-US" altLang="ko-KR" sz="800" dirty="0">
                <a:solidFill>
                  <a:schemeClr val="tx1"/>
                </a:solidFill>
              </a:rPr>
              <a:t>)</a:t>
            </a:r>
            <a:endParaRPr lang="ko-KR" altLang="en-US" sz="800" dirty="0">
              <a:solidFill>
                <a:schemeClr val="tx1"/>
              </a:solidFill>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88" idx="2"/>
            <a:endCxn id="126" idx="1"/>
          </p:cNvCxnSpPr>
          <p:nvPr/>
        </p:nvCxnSpPr>
        <p:spPr>
          <a:xfrm rot="16200000" flipH="1">
            <a:off x="1244024" y="2700308"/>
            <a:ext cx="1219790" cy="101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262365" y="2454859"/>
            <a:ext cx="93537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6" idx="3"/>
            <a:endCxn id="149" idx="1"/>
          </p:cNvCxnSpPr>
          <p:nvPr/>
        </p:nvCxnSpPr>
        <p:spPr>
          <a:xfrm flipV="1">
            <a:off x="3262365" y="3818314"/>
            <a:ext cx="935377" cy="3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9" name="사각형: 둥근 모서리 5">
            <a:extLst>
              <a:ext uri="{FF2B5EF4-FFF2-40B4-BE49-F238E27FC236}">
                <a16:creationId xmlns:a16="http://schemas.microsoft.com/office/drawing/2014/main" id="{410E5459-200D-7630-863C-88E5109259DF}"/>
              </a:ext>
            </a:extLst>
          </p:cNvPr>
          <p:cNvSpPr/>
          <p:nvPr/>
        </p:nvSpPr>
        <p:spPr>
          <a:xfrm>
            <a:off x="4197742" y="367431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각 신청 상세</a:t>
            </a:r>
          </a:p>
        </p:txBody>
      </p:sp>
      <p:sp>
        <p:nvSpPr>
          <p:cNvPr id="153" name="직사각형 152">
            <a:extLst>
              <a:ext uri="{FF2B5EF4-FFF2-40B4-BE49-F238E27FC236}">
                <a16:creationId xmlns:a16="http://schemas.microsoft.com/office/drawing/2014/main" id="{F249990F-1DE5-C694-BDBD-2DE7009D57EA}"/>
              </a:ext>
            </a:extLst>
          </p:cNvPr>
          <p:cNvSpPr/>
          <p:nvPr/>
        </p:nvSpPr>
        <p:spPr>
          <a:xfrm>
            <a:off x="2362365" y="3551203"/>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신청 내역 표시</a:t>
            </a:r>
          </a:p>
        </p:txBody>
      </p:sp>
      <p:cxnSp>
        <p:nvCxnSpPr>
          <p:cNvPr id="154" name="직선 화살표 연결선 153">
            <a:extLst>
              <a:ext uri="{FF2B5EF4-FFF2-40B4-BE49-F238E27FC236}">
                <a16:creationId xmlns:a16="http://schemas.microsoft.com/office/drawing/2014/main" id="{9A519F08-B829-E35F-09D8-DFCD1F68B911}"/>
              </a:ext>
            </a:extLst>
          </p:cNvPr>
          <p:cNvCxnSpPr>
            <a:cxnSpLocks/>
            <a:stCxn id="149" idx="3"/>
            <a:endCxn id="97" idx="1"/>
          </p:cNvCxnSpPr>
          <p:nvPr/>
        </p:nvCxnSpPr>
        <p:spPr>
          <a:xfrm>
            <a:off x="5097742" y="381831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연결선: 꺾임 7">
            <a:extLst>
              <a:ext uri="{FF2B5EF4-FFF2-40B4-BE49-F238E27FC236}">
                <a16:creationId xmlns:a16="http://schemas.microsoft.com/office/drawing/2014/main" id="{89A2D828-4C18-4F90-6B31-722E89773AA8}"/>
              </a:ext>
            </a:extLst>
          </p:cNvPr>
          <p:cNvCxnSpPr>
            <a:cxnSpLocks/>
            <a:stCxn id="149" idx="3"/>
            <a:endCxn id="98" idx="1"/>
          </p:cNvCxnSpPr>
          <p:nvPr/>
        </p:nvCxnSpPr>
        <p:spPr>
          <a:xfrm>
            <a:off x="5097742" y="3818314"/>
            <a:ext cx="931134" cy="63812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49" idx="3"/>
            <a:endCxn id="99" idx="1"/>
          </p:cNvCxnSpPr>
          <p:nvPr/>
        </p:nvCxnSpPr>
        <p:spPr>
          <a:xfrm>
            <a:off x="5097742" y="3818314"/>
            <a:ext cx="931134" cy="127625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연결선: 꺾임 7">
            <a:extLst>
              <a:ext uri="{FF2B5EF4-FFF2-40B4-BE49-F238E27FC236}">
                <a16:creationId xmlns:a16="http://schemas.microsoft.com/office/drawing/2014/main" id="{89A2D828-4C18-4F90-6B31-722E89773AA8}"/>
              </a:ext>
            </a:extLst>
          </p:cNvPr>
          <p:cNvCxnSpPr>
            <a:cxnSpLocks/>
            <a:stCxn id="149" idx="3"/>
            <a:endCxn id="118" idx="1"/>
          </p:cNvCxnSpPr>
          <p:nvPr/>
        </p:nvCxnSpPr>
        <p:spPr>
          <a:xfrm>
            <a:off x="5097742" y="3818314"/>
            <a:ext cx="931134" cy="19143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0" name="직사각형 169">
            <a:extLst>
              <a:ext uri="{FF2B5EF4-FFF2-40B4-BE49-F238E27FC236}">
                <a16:creationId xmlns:a16="http://schemas.microsoft.com/office/drawing/2014/main" id="{F249990F-1DE5-C694-BDBD-2DE7009D57EA}"/>
              </a:ext>
            </a:extLst>
          </p:cNvPr>
          <p:cNvSpPr/>
          <p:nvPr/>
        </p:nvSpPr>
        <p:spPr>
          <a:xfrm>
            <a:off x="2362364" y="1510797"/>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a:solidFill>
                  <a:schemeClr val="tx1"/>
                </a:solidFill>
              </a:rPr>
              <a:t>공고에서 진입</a:t>
            </a:r>
            <a:endParaRPr lang="ko-KR" altLang="en-US" sz="800" dirty="0">
              <a:solidFill>
                <a:schemeClr val="tx1"/>
              </a:solidFill>
            </a:endParaRPr>
          </a:p>
        </p:txBody>
      </p:sp>
      <p:sp>
        <p:nvSpPr>
          <p:cNvPr id="171" name="직사각형 170">
            <a:extLst>
              <a:ext uri="{FF2B5EF4-FFF2-40B4-BE49-F238E27FC236}">
                <a16:creationId xmlns:a16="http://schemas.microsoft.com/office/drawing/2014/main" id="{F249990F-1DE5-C694-BDBD-2DE7009D57EA}"/>
              </a:ext>
            </a:extLst>
          </p:cNvPr>
          <p:cNvSpPr/>
          <p:nvPr/>
        </p:nvSpPr>
        <p:spPr>
          <a:xfrm>
            <a:off x="2362364" y="2182045"/>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a:solidFill>
                  <a:schemeClr val="tx1"/>
                </a:solidFill>
              </a:rPr>
              <a:t>공고에서 진입</a:t>
            </a:r>
            <a:endParaRPr lang="ko-KR" altLang="en-US" sz="800" dirty="0">
              <a:solidFill>
                <a:schemeClr val="tx1"/>
              </a:solidFill>
            </a:endParaRPr>
          </a:p>
        </p:txBody>
      </p:sp>
      <p:sp>
        <p:nvSpPr>
          <p:cNvPr id="174" name="사각형: 둥근 모서리 5">
            <a:extLst>
              <a:ext uri="{FF2B5EF4-FFF2-40B4-BE49-F238E27FC236}">
                <a16:creationId xmlns:a16="http://schemas.microsoft.com/office/drawing/2014/main" id="{410E5459-200D-7630-863C-88E5109259DF}"/>
              </a:ext>
            </a:extLst>
          </p:cNvPr>
          <p:cNvSpPr/>
          <p:nvPr/>
        </p:nvSpPr>
        <p:spPr>
          <a:xfrm>
            <a:off x="4197742"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cxnSp>
        <p:nvCxnSpPr>
          <p:cNvPr id="175" name="연결선: 꺾임 7">
            <a:extLst>
              <a:ext uri="{FF2B5EF4-FFF2-40B4-BE49-F238E27FC236}">
                <a16:creationId xmlns:a16="http://schemas.microsoft.com/office/drawing/2014/main" id="{89A2D828-4C18-4F90-6B31-722E89773AA8}"/>
              </a:ext>
            </a:extLst>
          </p:cNvPr>
          <p:cNvCxnSpPr>
            <a:cxnSpLocks/>
            <a:stCxn id="122" idx="3"/>
            <a:endCxn id="174" idx="1"/>
          </p:cNvCxnSpPr>
          <p:nvPr/>
        </p:nvCxnSpPr>
        <p:spPr>
          <a:xfrm>
            <a:off x="3262365" y="2454859"/>
            <a:ext cx="935377" cy="6880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직선 화살표 연결선 180">
            <a:extLst>
              <a:ext uri="{FF2B5EF4-FFF2-40B4-BE49-F238E27FC236}">
                <a16:creationId xmlns:a16="http://schemas.microsoft.com/office/drawing/2014/main" id="{9A519F08-B829-E35F-09D8-DFCD1F68B911}"/>
              </a:ext>
            </a:extLst>
          </p:cNvPr>
          <p:cNvCxnSpPr>
            <a:cxnSpLocks/>
            <a:stCxn id="40" idx="3"/>
            <a:endCxn id="108" idx="1"/>
          </p:cNvCxnSpPr>
          <p:nvPr/>
        </p:nvCxnSpPr>
        <p:spPr>
          <a:xfrm>
            <a:off x="6928876" y="2454859"/>
            <a:ext cx="86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직사각형 186">
            <a:extLst>
              <a:ext uri="{FF2B5EF4-FFF2-40B4-BE49-F238E27FC236}">
                <a16:creationId xmlns:a16="http://schemas.microsoft.com/office/drawing/2014/main" id="{F249990F-1DE5-C694-BDBD-2DE7009D57EA}"/>
              </a:ext>
            </a:extLst>
          </p:cNvPr>
          <p:cNvSpPr/>
          <p:nvPr/>
        </p:nvSpPr>
        <p:spPr>
          <a:xfrm>
            <a:off x="5177379" y="3504982"/>
            <a:ext cx="54983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조건에 따른</a:t>
            </a:r>
            <a:endParaRPr lang="en-US" altLang="ko-KR" sz="800" dirty="0">
              <a:solidFill>
                <a:schemeClr val="tx1"/>
              </a:solidFill>
            </a:endParaRPr>
          </a:p>
          <a:p>
            <a:r>
              <a:rPr lang="ko-KR" altLang="en-US" sz="800" dirty="0">
                <a:solidFill>
                  <a:schemeClr val="tx1"/>
                </a:solidFill>
              </a:rPr>
              <a:t>버튼 표시</a:t>
            </a:r>
          </a:p>
        </p:txBody>
      </p:sp>
      <p:cxnSp>
        <p:nvCxnSpPr>
          <p:cNvPr id="209" name="직선 화살표 연결선 208">
            <a:extLst>
              <a:ext uri="{FF2B5EF4-FFF2-40B4-BE49-F238E27FC236}">
                <a16:creationId xmlns:a16="http://schemas.microsoft.com/office/drawing/2014/main" id="{9A519F08-B829-E35F-09D8-DFCD1F68B911}"/>
              </a:ext>
            </a:extLst>
          </p:cNvPr>
          <p:cNvCxnSpPr>
            <a:cxnSpLocks/>
            <a:stCxn id="174" idx="3"/>
            <a:endCxn id="101" idx="1"/>
          </p:cNvCxnSpPr>
          <p:nvPr/>
        </p:nvCxnSpPr>
        <p:spPr>
          <a:xfrm>
            <a:off x="5097742" y="3142931"/>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6" name="연결선: 꺾임 7">
            <a:extLst>
              <a:ext uri="{FF2B5EF4-FFF2-40B4-BE49-F238E27FC236}">
                <a16:creationId xmlns:a16="http://schemas.microsoft.com/office/drawing/2014/main" id="{89A2D828-4C18-4F90-6B31-722E89773AA8}"/>
              </a:ext>
            </a:extLst>
          </p:cNvPr>
          <p:cNvCxnSpPr>
            <a:cxnSpLocks/>
            <a:stCxn id="126" idx="3"/>
            <a:endCxn id="122" idx="2"/>
          </p:cNvCxnSpPr>
          <p:nvPr/>
        </p:nvCxnSpPr>
        <p:spPr>
          <a:xfrm flipH="1" flipV="1">
            <a:off x="2812365" y="2598859"/>
            <a:ext cx="450000" cy="1219790"/>
          </a:xfrm>
          <a:prstGeom prst="bentConnector4">
            <a:avLst>
              <a:gd name="adj1" fmla="val -50800"/>
              <a:gd name="adj2" fmla="val 55903"/>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9" name="직사각형 218">
            <a:extLst>
              <a:ext uri="{FF2B5EF4-FFF2-40B4-BE49-F238E27FC236}">
                <a16:creationId xmlns:a16="http://schemas.microsoft.com/office/drawing/2014/main" id="{F249990F-1DE5-C694-BDBD-2DE7009D57EA}"/>
              </a:ext>
            </a:extLst>
          </p:cNvPr>
          <p:cNvSpPr/>
          <p:nvPr/>
        </p:nvSpPr>
        <p:spPr>
          <a:xfrm>
            <a:off x="2856028" y="2851872"/>
            <a:ext cx="82875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사전 심사 신청 후</a:t>
            </a:r>
            <a:endParaRPr lang="en-US" altLang="ko-KR" sz="800" dirty="0">
              <a:solidFill>
                <a:schemeClr val="tx1"/>
              </a:solidFill>
            </a:endParaRPr>
          </a:p>
          <a:p>
            <a:r>
              <a:rPr lang="ko-KR" altLang="en-US" sz="800" dirty="0">
                <a:solidFill>
                  <a:schemeClr val="tx1"/>
                </a:solidFill>
              </a:rPr>
              <a:t>본 입찰 신청</a:t>
            </a:r>
          </a:p>
        </p:txBody>
      </p:sp>
      <p:sp>
        <p:nvSpPr>
          <p:cNvPr id="220" name="직사각형 219">
            <a:extLst>
              <a:ext uri="{FF2B5EF4-FFF2-40B4-BE49-F238E27FC236}">
                <a16:creationId xmlns:a16="http://schemas.microsoft.com/office/drawing/2014/main" id="{F249990F-1DE5-C694-BDBD-2DE7009D57EA}"/>
              </a:ext>
            </a:extLst>
          </p:cNvPr>
          <p:cNvSpPr/>
          <p:nvPr/>
        </p:nvSpPr>
        <p:spPr>
          <a:xfrm>
            <a:off x="4197742" y="3959137"/>
            <a:ext cx="102989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사전심사</a:t>
            </a:r>
            <a:r>
              <a:rPr lang="en-US" altLang="ko-KR" sz="800" dirty="0">
                <a:solidFill>
                  <a:schemeClr val="tx1"/>
                </a:solidFill>
              </a:rPr>
              <a:t>(PQ)</a:t>
            </a:r>
            <a:r>
              <a:rPr lang="ko-KR" altLang="en-US" sz="800" dirty="0" err="1">
                <a:solidFill>
                  <a:schemeClr val="tx1"/>
                </a:solidFill>
              </a:rPr>
              <a:t>결과조회</a:t>
            </a:r>
            <a:endParaRPr lang="en-US" altLang="ko-KR" sz="800" dirty="0">
              <a:solidFill>
                <a:schemeClr val="tx1"/>
              </a:solidFill>
            </a:endParaRPr>
          </a:p>
          <a:p>
            <a:r>
              <a:rPr lang="ko-KR" altLang="en-US" sz="800" dirty="0">
                <a:solidFill>
                  <a:schemeClr val="tx1"/>
                </a:solidFill>
              </a:rPr>
              <a:t>입찰등록심사결과조회</a:t>
            </a:r>
          </a:p>
        </p:txBody>
      </p:sp>
      <p:cxnSp>
        <p:nvCxnSpPr>
          <p:cNvPr id="228" name="직선 화살표 연결선 227">
            <a:extLst>
              <a:ext uri="{FF2B5EF4-FFF2-40B4-BE49-F238E27FC236}">
                <a16:creationId xmlns:a16="http://schemas.microsoft.com/office/drawing/2014/main" id="{9A519F08-B829-E35F-09D8-DFCD1F68B911}"/>
              </a:ext>
            </a:extLst>
          </p:cNvPr>
          <p:cNvCxnSpPr>
            <a:cxnSpLocks/>
            <a:stCxn id="108" idx="2"/>
            <a:endCxn id="267" idx="0"/>
          </p:cNvCxnSpPr>
          <p:nvPr/>
        </p:nvCxnSpPr>
        <p:spPr>
          <a:xfrm>
            <a:off x="8239256"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1" name="직선 화살표 연결선 230">
            <a:extLst>
              <a:ext uri="{FF2B5EF4-FFF2-40B4-BE49-F238E27FC236}">
                <a16:creationId xmlns:a16="http://schemas.microsoft.com/office/drawing/2014/main" id="{9A519F08-B829-E35F-09D8-DFCD1F68B911}"/>
              </a:ext>
            </a:extLst>
          </p:cNvPr>
          <p:cNvCxnSpPr>
            <a:cxnSpLocks/>
            <a:stCxn id="97" idx="3"/>
            <a:endCxn id="80" idx="2"/>
          </p:cNvCxnSpPr>
          <p:nvPr/>
        </p:nvCxnSpPr>
        <p:spPr>
          <a:xfrm>
            <a:off x="6928876" y="3818314"/>
            <a:ext cx="122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4" name="연결선: 꺾임 7">
            <a:extLst>
              <a:ext uri="{FF2B5EF4-FFF2-40B4-BE49-F238E27FC236}">
                <a16:creationId xmlns:a16="http://schemas.microsoft.com/office/drawing/2014/main" id="{89A2D828-4C18-4F90-6B31-722E89773AA8}"/>
              </a:ext>
            </a:extLst>
          </p:cNvPr>
          <p:cNvCxnSpPr>
            <a:cxnSpLocks/>
            <a:stCxn id="98" idx="3"/>
            <a:endCxn id="80" idx="2"/>
          </p:cNvCxnSpPr>
          <p:nvPr/>
        </p:nvCxnSpPr>
        <p:spPr>
          <a:xfrm flipV="1">
            <a:off x="6928876" y="3818314"/>
            <a:ext cx="1220380" cy="63812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7" name="연결선: 꺾임 7">
            <a:extLst>
              <a:ext uri="{FF2B5EF4-FFF2-40B4-BE49-F238E27FC236}">
                <a16:creationId xmlns:a16="http://schemas.microsoft.com/office/drawing/2014/main" id="{89A2D828-4C18-4F90-6B31-722E89773AA8}"/>
              </a:ext>
            </a:extLst>
          </p:cNvPr>
          <p:cNvCxnSpPr>
            <a:cxnSpLocks/>
            <a:stCxn id="99" idx="3"/>
            <a:endCxn id="80" idx="2"/>
          </p:cNvCxnSpPr>
          <p:nvPr/>
        </p:nvCxnSpPr>
        <p:spPr>
          <a:xfrm flipV="1">
            <a:off x="6928876" y="3818314"/>
            <a:ext cx="1220380" cy="127625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0" name="연결선: 꺾임 7">
            <a:extLst>
              <a:ext uri="{FF2B5EF4-FFF2-40B4-BE49-F238E27FC236}">
                <a16:creationId xmlns:a16="http://schemas.microsoft.com/office/drawing/2014/main" id="{89A2D828-4C18-4F90-6B31-722E89773AA8}"/>
              </a:ext>
            </a:extLst>
          </p:cNvPr>
          <p:cNvCxnSpPr>
            <a:cxnSpLocks/>
            <a:stCxn id="118" idx="3"/>
            <a:endCxn id="80" idx="2"/>
          </p:cNvCxnSpPr>
          <p:nvPr/>
        </p:nvCxnSpPr>
        <p:spPr>
          <a:xfrm flipV="1">
            <a:off x="6928876" y="3818314"/>
            <a:ext cx="1220380" cy="19143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3" name="그룹 242">
            <a:extLst>
              <a:ext uri="{FF2B5EF4-FFF2-40B4-BE49-F238E27FC236}">
                <a16:creationId xmlns:a16="http://schemas.microsoft.com/office/drawing/2014/main" id="{22BC05EE-C648-7CA2-4CCC-6E1C1A7E9BDA}"/>
              </a:ext>
            </a:extLst>
          </p:cNvPr>
          <p:cNvGrpSpPr/>
          <p:nvPr/>
        </p:nvGrpSpPr>
        <p:grpSpPr>
          <a:xfrm>
            <a:off x="6440444" y="6018859"/>
            <a:ext cx="76863" cy="292489"/>
            <a:chOff x="3750067" y="4683795"/>
            <a:chExt cx="76863" cy="292489"/>
          </a:xfrm>
        </p:grpSpPr>
        <p:sp>
          <p:nvSpPr>
            <p:cNvPr id="244" name="타원 24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6" name="타원 24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251" name="직사각형 250">
            <a:extLst>
              <a:ext uri="{FF2B5EF4-FFF2-40B4-BE49-F238E27FC236}">
                <a16:creationId xmlns:a16="http://schemas.microsoft.com/office/drawing/2014/main" id="{4FB9FCCA-B5F3-C0E2-F563-4F0CE0FC24CF}"/>
              </a:ext>
            </a:extLst>
          </p:cNvPr>
          <p:cNvSpPr/>
          <p:nvPr/>
        </p:nvSpPr>
        <p:spPr>
          <a:xfrm>
            <a:off x="6359879" y="188861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252" name="그룹 251">
            <a:extLst>
              <a:ext uri="{FF2B5EF4-FFF2-40B4-BE49-F238E27FC236}">
                <a16:creationId xmlns:a16="http://schemas.microsoft.com/office/drawing/2014/main" id="{E7279F6C-9434-7961-8F6B-B7AE44CE5FCD}"/>
              </a:ext>
            </a:extLst>
          </p:cNvPr>
          <p:cNvGrpSpPr/>
          <p:nvPr/>
        </p:nvGrpSpPr>
        <p:grpSpPr>
          <a:xfrm>
            <a:off x="6388876" y="1682964"/>
            <a:ext cx="180000" cy="180000"/>
            <a:chOff x="5058274" y="2498299"/>
            <a:chExt cx="180000" cy="180000"/>
          </a:xfrm>
        </p:grpSpPr>
        <p:sp>
          <p:nvSpPr>
            <p:cNvPr id="253" name="타원 252">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타원 25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255" name="직선 화살표 연결선 254">
            <a:extLst>
              <a:ext uri="{FF2B5EF4-FFF2-40B4-BE49-F238E27FC236}">
                <a16:creationId xmlns:a16="http://schemas.microsoft.com/office/drawing/2014/main" id="{9A519F08-B829-E35F-09D8-DFCD1F68B911}"/>
              </a:ext>
            </a:extLst>
          </p:cNvPr>
          <p:cNvCxnSpPr>
            <a:cxnSpLocks/>
            <a:stCxn id="70" idx="3"/>
            <a:endCxn id="260" idx="1"/>
          </p:cNvCxnSpPr>
          <p:nvPr/>
        </p:nvCxnSpPr>
        <p:spPr>
          <a:xfrm>
            <a:off x="3266608"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0"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신청 완료</a:t>
            </a:r>
          </a:p>
        </p:txBody>
      </p:sp>
      <p:cxnSp>
        <p:nvCxnSpPr>
          <p:cNvPr id="262" name="직선 화살표 연결선 261">
            <a:extLst>
              <a:ext uri="{FF2B5EF4-FFF2-40B4-BE49-F238E27FC236}">
                <a16:creationId xmlns:a16="http://schemas.microsoft.com/office/drawing/2014/main" id="{9A519F08-B829-E35F-09D8-DFCD1F68B911}"/>
              </a:ext>
            </a:extLst>
          </p:cNvPr>
          <p:cNvCxnSpPr>
            <a:cxnSpLocks/>
            <a:stCxn id="260" idx="3"/>
            <a:endCxn id="253" idx="2"/>
          </p:cNvCxnSpPr>
          <p:nvPr/>
        </p:nvCxnSpPr>
        <p:spPr>
          <a:xfrm>
            <a:off x="5097742" y="1772964"/>
            <a:ext cx="129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78925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전자 서명 및</a:t>
            </a:r>
            <a:endParaRPr lang="en-US" altLang="ko-KR" sz="800" dirty="0">
              <a:solidFill>
                <a:schemeClr val="tx1"/>
              </a:solidFill>
            </a:endParaRPr>
          </a:p>
          <a:p>
            <a:pPr algn="ctr"/>
            <a:r>
              <a:rPr lang="ko-KR" altLang="en-US" sz="800" dirty="0">
                <a:solidFill>
                  <a:schemeClr val="tx1"/>
                </a:solidFill>
              </a:rPr>
              <a:t>신청 완료</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101" idx="3"/>
            <a:endCxn id="267" idx="1"/>
          </p:cNvCxnSpPr>
          <p:nvPr/>
        </p:nvCxnSpPr>
        <p:spPr>
          <a:xfrm>
            <a:off x="6928876" y="3142931"/>
            <a:ext cx="86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267" idx="2"/>
            <a:endCxn id="80" idx="0"/>
          </p:cNvCxnSpPr>
          <p:nvPr/>
        </p:nvCxnSpPr>
        <p:spPr>
          <a:xfrm>
            <a:off x="8239256" y="3286931"/>
            <a:ext cx="0" cy="441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직사각형 71">
            <a:extLst>
              <a:ext uri="{FF2B5EF4-FFF2-40B4-BE49-F238E27FC236}">
                <a16:creationId xmlns:a16="http://schemas.microsoft.com/office/drawing/2014/main" id="{F249990F-1DE5-C694-BDBD-2DE7009D57EA}"/>
              </a:ext>
            </a:extLst>
          </p:cNvPr>
          <p:cNvSpPr/>
          <p:nvPr/>
        </p:nvSpPr>
        <p:spPr>
          <a:xfrm>
            <a:off x="6033667" y="3551203"/>
            <a:ext cx="791883" cy="123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 영역</a:t>
            </a:r>
          </a:p>
        </p:txBody>
      </p:sp>
    </p:spTree>
    <p:extLst>
      <p:ext uri="{BB962C8B-B14F-4D97-AF65-F5344CB8AC3E}">
        <p14:creationId xmlns:p14="http://schemas.microsoft.com/office/powerpoint/2010/main" val="173518364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a:solidFill>
                  <a:schemeClr val="tx1"/>
                </a:solidFill>
                <a:latin typeface="+mn-ea"/>
              </a:rPr>
              <a:t>Stp1~7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Tree>
    <p:extLst>
      <p:ext uri="{BB962C8B-B14F-4D97-AF65-F5344CB8AC3E}">
        <p14:creationId xmlns:p14="http://schemas.microsoft.com/office/powerpoint/2010/main" val="247774048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표시</a:t>
            </a:r>
            <a:endParaRPr lang="en-US" altLang="ko-KR" dirty="0"/>
          </a:p>
          <a:p>
            <a:pPr marL="228600" indent="-228600">
              <a:buFont typeface="+mj-lt"/>
              <a:buAutoNum type="arabicPeriod"/>
            </a:pPr>
            <a:r>
              <a:rPr lang="ko-KR" altLang="en-US" dirty="0" err="1"/>
              <a:t>조달업체가</a:t>
            </a:r>
            <a:r>
              <a:rPr lang="ko-KR" altLang="en-US" dirty="0"/>
              <a:t> 신청한 목록 </a:t>
            </a:r>
            <a:r>
              <a:rPr lang="ko-KR" altLang="en-US" dirty="0" smtClean="0"/>
              <a:t>표시</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64</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a:t>
            </a:r>
            <a:r>
              <a:rPr lang="en-US" altLang="ko-KR" dirty="0">
                <a:latin typeface="+mn-ea"/>
              </a:rPr>
              <a:t>(</a:t>
            </a:r>
            <a:r>
              <a:rPr lang="ko-KR" altLang="en-US" dirty="0">
                <a:latin typeface="+mn-ea"/>
              </a:rPr>
              <a:t>목록</a:t>
            </a:r>
            <a:r>
              <a:rPr lang="en-US" altLang="ko-KR" dirty="0">
                <a:latin typeface="+mn-ea"/>
              </a:rPr>
              <a:t>)</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endParaRPr lang="ko-KR" altLang="en-US" sz="800" dirty="0">
              <a:latin typeface="+mn-ea"/>
            </a:endParaRPr>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그룹 19"/>
          <p:cNvGrpSpPr/>
          <p:nvPr/>
        </p:nvGrpSpPr>
        <p:grpSpPr>
          <a:xfrm rot="5400000">
            <a:off x="755013" y="1640499"/>
            <a:ext cx="94010" cy="47005"/>
            <a:chOff x="6812560" y="3297172"/>
            <a:chExt cx="94010" cy="47005"/>
          </a:xfrm>
        </p:grpSpPr>
        <p:cxnSp>
          <p:nvCxnSpPr>
            <p:cNvPr id="21" name="직선 연결선 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 name="타원 22"/>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284809"/>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4615327"/>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49680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1602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2101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190267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016004"/>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36506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2972491"/>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270279"/>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516451"/>
            <a:ext cx="274434" cy="200055"/>
          </a:xfrm>
          <a:prstGeom prst="rect">
            <a:avLst/>
          </a:prstGeom>
          <a:noFill/>
        </p:spPr>
        <p:txBody>
          <a:bodyPr wrap="none" rtlCol="0">
            <a:spAutoFit/>
          </a:bodyPr>
          <a:lstStyle/>
          <a:p>
            <a:r>
              <a:rPr lang="ko-KR" altLang="en-US" sz="700" dirty="0"/>
              <a:t>🔎</a:t>
            </a:r>
          </a:p>
        </p:txBody>
      </p:sp>
    </p:spTree>
    <p:extLst>
      <p:ext uri="{BB962C8B-B14F-4D97-AF65-F5344CB8AC3E}">
        <p14:creationId xmlns:p14="http://schemas.microsoft.com/office/powerpoint/2010/main" val="370112058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상세정보 화면</a:t>
            </a:r>
            <a:r>
              <a:rPr lang="en-US" altLang="ko-KR" dirty="0"/>
              <a:t> – </a:t>
            </a:r>
            <a:r>
              <a:rPr lang="ko-KR" altLang="en-US" dirty="0"/>
              <a:t>세부 내역 표시</a:t>
            </a:r>
            <a:r>
              <a:rPr lang="en-US" altLang="ko-KR" dirty="0"/>
              <a:t/>
            </a:r>
            <a:br>
              <a:rPr lang="en-US" altLang="ko-KR" dirty="0"/>
            </a:br>
            <a:r>
              <a:rPr lang="en-US" altLang="ko-KR" dirty="0"/>
              <a:t>- </a:t>
            </a:r>
            <a:r>
              <a:rPr lang="ko-KR" altLang="en-US" dirty="0"/>
              <a:t>표시 내역이 없는 항목은 숨김</a:t>
            </a:r>
            <a:endParaRPr lang="en-US" altLang="ko-KR" dirty="0"/>
          </a:p>
          <a:p>
            <a:pPr marL="228600" indent="-228600">
              <a:buFont typeface="+mj-lt"/>
              <a:buAutoNum type="arabicPeriod"/>
            </a:pPr>
            <a:r>
              <a:rPr lang="ko-KR" altLang="en-US" dirty="0"/>
              <a:t>버튼 노출 및 클릭 시 해당 내역 표시</a:t>
            </a:r>
            <a:endParaRPr lang="en-US" altLang="ko-KR" dirty="0"/>
          </a:p>
          <a:p>
            <a:pPr marL="228600" indent="-228600">
              <a:buFont typeface="+mj-lt"/>
              <a:buAutoNum type="arabicPeriod"/>
            </a:pPr>
            <a:r>
              <a:rPr lang="ko-KR" altLang="en-US" dirty="0"/>
              <a:t>작성</a:t>
            </a:r>
            <a:r>
              <a:rPr lang="en-US" altLang="ko-KR" dirty="0"/>
              <a:t>, </a:t>
            </a:r>
            <a:r>
              <a:rPr lang="ko-KR" altLang="en-US" dirty="0"/>
              <a:t>내역 및 결과 보기 페이지 이동</a:t>
            </a:r>
            <a:r>
              <a:rPr lang="en-US" altLang="ko-KR" dirty="0"/>
              <a:t/>
            </a:r>
            <a:br>
              <a:rPr lang="en-US" altLang="ko-KR" dirty="0"/>
            </a:br>
            <a:r>
              <a:rPr lang="en-US" altLang="ko-KR" dirty="0"/>
              <a:t>- </a:t>
            </a:r>
            <a:r>
              <a:rPr lang="ko-KR" altLang="en-US" dirty="0"/>
              <a:t>사전심사</a:t>
            </a:r>
            <a:r>
              <a:rPr lang="en-US" altLang="ko-KR" dirty="0"/>
              <a:t>(PQ), </a:t>
            </a:r>
            <a:r>
              <a:rPr lang="ko-KR" altLang="en-US" dirty="0" err="1"/>
              <a:t>입찰참가서</a:t>
            </a:r>
            <a:r>
              <a:rPr lang="en-US" altLang="ko-KR" dirty="0"/>
              <a:t>, </a:t>
            </a:r>
            <a:r>
              <a:rPr lang="ko-KR" altLang="en-US" dirty="0"/>
              <a:t>견적서 등 작성한 화면을 </a:t>
            </a:r>
            <a:r>
              <a:rPr lang="ko-KR" altLang="en-US" dirty="0" err="1"/>
              <a:t>읽기모드로</a:t>
            </a:r>
            <a:r>
              <a:rPr lang="ko-KR" altLang="en-US" dirty="0"/>
              <a:t> 연계하여 표시</a:t>
            </a:r>
            <a:r>
              <a:rPr lang="en-US" altLang="ko-KR" dirty="0"/>
              <a:t>.</a:t>
            </a:r>
            <a:br>
              <a:rPr lang="en-US" altLang="ko-KR" dirty="0"/>
            </a:br>
            <a:r>
              <a:rPr lang="ko-KR" altLang="en-US" dirty="0" err="1"/>
              <a:t>공동협정이</a:t>
            </a:r>
            <a:r>
              <a:rPr lang="ko-KR" altLang="en-US" dirty="0"/>
              <a:t> 필요한 업체는 내용 보기 중 </a:t>
            </a:r>
            <a:r>
              <a:rPr lang="ko-KR" altLang="en-US" dirty="0" err="1"/>
              <a:t>플로팅</a:t>
            </a:r>
            <a:r>
              <a:rPr lang="ko-KR" altLang="en-US" dirty="0"/>
              <a:t> 버튼으로 </a:t>
            </a:r>
            <a:r>
              <a:rPr lang="ko-KR" altLang="en-US" dirty="0" err="1"/>
              <a:t>반려등의</a:t>
            </a:r>
            <a:r>
              <a:rPr lang="ko-KR" altLang="en-US" dirty="0"/>
              <a:t> 추가 버튼 표시</a:t>
            </a:r>
            <a:endParaRPr lang="en-US" altLang="ko-KR" dirty="0"/>
          </a:p>
          <a:p>
            <a:pPr marL="228600" indent="-228600">
              <a:buFont typeface="+mj-lt"/>
              <a:buAutoNum type="arabicPeriod"/>
            </a:pPr>
            <a:r>
              <a:rPr lang="ko-KR" altLang="en-US" dirty="0" err="1"/>
              <a:t>플로팅</a:t>
            </a:r>
            <a:r>
              <a:rPr lang="ko-KR" altLang="en-US" dirty="0"/>
              <a:t> 버튼을 통해 버튼 표시</a:t>
            </a:r>
            <a:r>
              <a:rPr lang="en-US" altLang="ko-KR" dirty="0"/>
              <a:t/>
            </a:r>
            <a:br>
              <a:rPr lang="en-US" altLang="ko-KR" dirty="0"/>
            </a:br>
            <a:r>
              <a:rPr lang="en-US" altLang="ko-KR" dirty="0"/>
              <a:t>- </a:t>
            </a:r>
            <a:r>
              <a:rPr lang="ko-KR" altLang="en-US" dirty="0"/>
              <a:t>진행 상태</a:t>
            </a:r>
            <a:r>
              <a:rPr lang="en-US" altLang="ko-KR" dirty="0"/>
              <a:t>, </a:t>
            </a:r>
            <a:r>
              <a:rPr lang="ko-KR" altLang="en-US" dirty="0"/>
              <a:t>조건에 맞는 버튼 표시</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65</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상세</a:t>
            </a:r>
          </a:p>
        </p:txBody>
      </p:sp>
      <p:sp>
        <p:nvSpPr>
          <p:cNvPr id="6" name="텍스트 개체 틀 5"/>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a:t>
            </a:r>
            <a:r>
              <a:rPr lang="en-US" altLang="ko-KR" dirty="0"/>
              <a:t>, </a:t>
            </a:r>
            <a:r>
              <a:rPr lang="ko-KR" altLang="en-US" dirty="0"/>
              <a:t>사전심사를 진행한 상세 정보 표시</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1" name="그룹 60"/>
          <p:cNvGrpSpPr/>
          <p:nvPr/>
        </p:nvGrpSpPr>
        <p:grpSpPr>
          <a:xfrm rot="5400000">
            <a:off x="755013" y="1640499"/>
            <a:ext cx="94010" cy="47005"/>
            <a:chOff x="6812560" y="3297172"/>
            <a:chExt cx="94010" cy="47005"/>
          </a:xfrm>
        </p:grpSpPr>
        <p:cxnSp>
          <p:nvCxnSpPr>
            <p:cNvPr id="62" name="직선 연결선 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3" name="직선 연결선 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4" name="타원 6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56565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56565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2771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278248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278248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0135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2273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44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3654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3868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082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295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509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493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151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36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55790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25315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18377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17752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39162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0025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8" name="타원 87">
            <a:extLst>
              <a:ext uri="{FF2B5EF4-FFF2-40B4-BE49-F238E27FC236}">
                <a16:creationId xmlns:a16="http://schemas.microsoft.com/office/drawing/2014/main" id="{37A7FF4F-0EAA-1463-560A-D5EC24416103}"/>
              </a:ext>
            </a:extLst>
          </p:cNvPr>
          <p:cNvSpPr/>
          <p:nvPr/>
        </p:nvSpPr>
        <p:spPr>
          <a:xfrm>
            <a:off x="3327015" y="502094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9" name="그룹 88"/>
          <p:cNvGrpSpPr/>
          <p:nvPr/>
        </p:nvGrpSpPr>
        <p:grpSpPr>
          <a:xfrm>
            <a:off x="677935" y="195370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845896"/>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845896"/>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2077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2290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504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7181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9318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31455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359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5729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210680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232091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53783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74686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95765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6433894" y="19502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15" name="TextBox 114">
            <a:extLst>
              <a:ext uri="{FF2B5EF4-FFF2-40B4-BE49-F238E27FC236}">
                <a16:creationId xmlns:a16="http://schemas.microsoft.com/office/drawing/2014/main" id="{FFC49AEA-2A8F-250C-A86A-A7751D9706C3}"/>
              </a:ext>
            </a:extLst>
          </p:cNvPr>
          <p:cNvSpPr txBox="1"/>
          <p:nvPr/>
        </p:nvSpPr>
        <p:spPr>
          <a:xfrm>
            <a:off x="4054353"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rot="5400000">
            <a:off x="3873294" y="1640499"/>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616281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1" name="양쪽 모서리가 둥근 사각형 130"/>
          <p:cNvSpPr/>
          <p:nvPr/>
        </p:nvSpPr>
        <p:spPr>
          <a:xfrm>
            <a:off x="3798851" y="3708738"/>
            <a:ext cx="2712027" cy="252356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32" name="모서리가 둥근 직사각형 131"/>
          <p:cNvSpPr/>
          <p:nvPr/>
        </p:nvSpPr>
        <p:spPr>
          <a:xfrm>
            <a:off x="4884864" y="37453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3" name="그룹 132"/>
          <p:cNvGrpSpPr/>
          <p:nvPr/>
        </p:nvGrpSpPr>
        <p:grpSpPr>
          <a:xfrm>
            <a:off x="6287790" y="3879781"/>
            <a:ext cx="94010" cy="94010"/>
            <a:chOff x="6812560" y="3297172"/>
            <a:chExt cx="94010" cy="94010"/>
          </a:xfrm>
        </p:grpSpPr>
        <p:cxnSp>
          <p:nvCxnSpPr>
            <p:cNvPr id="134" name="직선 연결선 13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8851" y="4121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사각형: 둥근 모서리 15">
            <a:extLst>
              <a:ext uri="{FF2B5EF4-FFF2-40B4-BE49-F238E27FC236}">
                <a16:creationId xmlns:a16="http://schemas.microsoft.com/office/drawing/2014/main" id="{E2B61CFB-AD16-68D0-8752-50D9C5E01971}"/>
              </a:ext>
            </a:extLst>
          </p:cNvPr>
          <p:cNvSpPr/>
          <p:nvPr/>
        </p:nvSpPr>
        <p:spPr>
          <a:xfrm>
            <a:off x="3891154" y="4903764"/>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39" name="사각형: 둥근 모서리 15">
            <a:extLst>
              <a:ext uri="{FF2B5EF4-FFF2-40B4-BE49-F238E27FC236}">
                <a16:creationId xmlns:a16="http://schemas.microsoft.com/office/drawing/2014/main" id="{E2B61CFB-AD16-68D0-8752-50D9C5E01971}"/>
              </a:ext>
            </a:extLst>
          </p:cNvPr>
          <p:cNvSpPr/>
          <p:nvPr/>
        </p:nvSpPr>
        <p:spPr>
          <a:xfrm>
            <a:off x="3891154" y="5237257"/>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41" name="모서리가 둥근 직사각형 40">
            <a:extLst>
              <a:ext uri="{FF2B5EF4-FFF2-40B4-BE49-F238E27FC236}">
                <a16:creationId xmlns:a16="http://schemas.microsoft.com/office/drawing/2014/main" id="{3BE5C28A-F0C3-8BA2-3AC1-EFA405ADE137}"/>
              </a:ext>
            </a:extLst>
          </p:cNvPr>
          <p:cNvSpPr/>
          <p:nvPr/>
        </p:nvSpPr>
        <p:spPr bwMode="auto">
          <a:xfrm>
            <a:off x="3891154" y="4241662"/>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2" name="모서리가 둥근 직사각형 40">
            <a:extLst>
              <a:ext uri="{FF2B5EF4-FFF2-40B4-BE49-F238E27FC236}">
                <a16:creationId xmlns:a16="http://schemas.microsoft.com/office/drawing/2014/main" id="{3BE5C28A-F0C3-8BA2-3AC1-EFA405ADE137}"/>
              </a:ext>
            </a:extLst>
          </p:cNvPr>
          <p:cNvSpPr/>
          <p:nvPr/>
        </p:nvSpPr>
        <p:spPr bwMode="auto">
          <a:xfrm>
            <a:off x="3891154" y="457416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3891154" y="5573518"/>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44" name="그룹 143">
            <a:extLst>
              <a:ext uri="{FF2B5EF4-FFF2-40B4-BE49-F238E27FC236}">
                <a16:creationId xmlns:a16="http://schemas.microsoft.com/office/drawing/2014/main" id="{22BC05EE-C648-7CA2-4CCC-6E1C1A7E9BDA}"/>
              </a:ext>
            </a:extLst>
          </p:cNvPr>
          <p:cNvGrpSpPr/>
          <p:nvPr/>
        </p:nvGrpSpPr>
        <p:grpSpPr>
          <a:xfrm>
            <a:off x="5135740" y="5892823"/>
            <a:ext cx="76863" cy="292489"/>
            <a:chOff x="3750067" y="4683795"/>
            <a:chExt cx="76863" cy="292489"/>
          </a:xfrm>
        </p:grpSpPr>
        <p:sp>
          <p:nvSpPr>
            <p:cNvPr id="145" name="타원 14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6" name="타원 145">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7" name="타원 146">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9" name="타원 148">
            <a:extLst>
              <a:ext uri="{FF2B5EF4-FFF2-40B4-BE49-F238E27FC236}">
                <a16:creationId xmlns:a16="http://schemas.microsoft.com/office/drawing/2014/main" id="{37A7FF4F-0EAA-1463-560A-D5EC24416103}"/>
              </a:ext>
            </a:extLst>
          </p:cNvPr>
          <p:cNvSpPr/>
          <p:nvPr/>
        </p:nvSpPr>
        <p:spPr>
          <a:xfrm>
            <a:off x="6433894" y="55643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011963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67</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r>
              <a:rPr lang="en-US" altLang="ko-KR" dirty="0"/>
              <a:t> – </a:t>
            </a:r>
            <a:r>
              <a:rPr lang="ko-KR" altLang="en-US" dirty="0"/>
              <a:t>세부 내역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Tree>
    <p:extLst>
      <p:ext uri="{BB962C8B-B14F-4D97-AF65-F5344CB8AC3E}">
        <p14:creationId xmlns:p14="http://schemas.microsoft.com/office/powerpoint/2010/main" val="281698148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00391417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r>
              <a:rPr lang="en-US" altLang="ko-KR" dirty="0"/>
              <a:t> – </a:t>
            </a:r>
            <a:r>
              <a:rPr lang="ko-KR" altLang="en-US" dirty="0"/>
              <a:t>세부 내역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Tree>
    <p:extLst>
      <p:ext uri="{BB962C8B-B14F-4D97-AF65-F5344CB8AC3E}">
        <p14:creationId xmlns:p14="http://schemas.microsoft.com/office/powerpoint/2010/main" val="248449783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1905945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2086048"/>
            <a:ext cx="2630093" cy="1815590"/>
            <a:chOff x="3844632" y="3774686"/>
            <a:chExt cx="2630093" cy="1815590"/>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985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21147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4057596"/>
            <a:ext cx="2630093" cy="1182047"/>
            <a:chOff x="3844632" y="3774686"/>
            <a:chExt cx="2630093" cy="1182047"/>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215" name="직사각형 214"/>
            <p:cNvSpPr/>
            <p:nvPr/>
          </p:nvSpPr>
          <p:spPr>
            <a:xfrm>
              <a:off x="3846725" y="4082171"/>
              <a:ext cx="792000" cy="874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a:latin typeface="+mn-ea"/>
                </a:rPr>
                <a:t>보증금납부방법</a:t>
              </a:r>
              <a:endParaRPr lang="en-US" altLang="ko-KR" sz="700" dirty="0">
                <a:latin typeface="+mn-ea"/>
              </a:endParaRPr>
            </a:p>
            <a:p>
              <a:pPr>
                <a:lnSpc>
                  <a:spcPct val="200000"/>
                </a:lnSpc>
              </a:pPr>
              <a:r>
                <a:rPr lang="ko-KR" altLang="en-US" sz="700" dirty="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40958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24" name="그룹 223"/>
          <p:cNvGrpSpPr/>
          <p:nvPr/>
        </p:nvGrpSpPr>
        <p:grpSpPr>
          <a:xfrm>
            <a:off x="3797156" y="1572247"/>
            <a:ext cx="2712027" cy="508898"/>
            <a:chOff x="697390" y="2606886"/>
            <a:chExt cx="2712027" cy="508898"/>
          </a:xfrm>
        </p:grpSpPr>
        <p:sp>
          <p:nvSpPr>
            <p:cNvPr id="225"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26" name="모서리가 둥근 직사각형 225"/>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27" name="모서리가 둥근 직사각형 226"/>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모서리가 둥근 직사각형 230"/>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232" name="모서리가 둥근 직사각형 231"/>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234" name="직선 연결선 233">
            <a:extLst>
              <a:ext uri="{FF2B5EF4-FFF2-40B4-BE49-F238E27FC236}">
                <a16:creationId xmlns:a16="http://schemas.microsoft.com/office/drawing/2014/main" id="{E9293055-D5CD-4B9E-7F64-64B2D2CA7A52}"/>
              </a:ext>
            </a:extLst>
          </p:cNvPr>
          <p:cNvCxnSpPr/>
          <p:nvPr/>
        </p:nvCxnSpPr>
        <p:spPr>
          <a:xfrm>
            <a:off x="3795734" y="53473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87303437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2120250"/>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25186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5931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647018"/>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9253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9998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305370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23835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23835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2383518"/>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33882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타원 196">
            <a:extLst>
              <a:ext uri="{FF2B5EF4-FFF2-40B4-BE49-F238E27FC236}">
                <a16:creationId xmlns:a16="http://schemas.microsoft.com/office/drawing/2014/main" id="{37A7FF4F-0EAA-1463-560A-D5EC24416103}"/>
              </a:ext>
            </a:extLst>
          </p:cNvPr>
          <p:cNvSpPr/>
          <p:nvPr/>
        </p:nvSpPr>
        <p:spPr>
          <a:xfrm>
            <a:off x="598795" y="21657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99" name="그룹 198"/>
          <p:cNvGrpSpPr/>
          <p:nvPr/>
        </p:nvGrpSpPr>
        <p:grpSpPr>
          <a:xfrm>
            <a:off x="732336" y="3460539"/>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등록확정여부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12027"/>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타원 207">
            <a:extLst>
              <a:ext uri="{FF2B5EF4-FFF2-40B4-BE49-F238E27FC236}">
                <a16:creationId xmlns:a16="http://schemas.microsoft.com/office/drawing/2014/main" id="{37A7FF4F-0EAA-1463-560A-D5EC24416103}"/>
              </a:ext>
            </a:extLst>
          </p:cNvPr>
          <p:cNvSpPr/>
          <p:nvPr/>
        </p:nvSpPr>
        <p:spPr>
          <a:xfrm>
            <a:off x="598795" y="350385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11" name="그룹 210"/>
          <p:cNvGrpSpPr/>
          <p:nvPr/>
        </p:nvGrpSpPr>
        <p:grpSpPr>
          <a:xfrm>
            <a:off x="684860" y="1572247"/>
            <a:ext cx="2712027" cy="508898"/>
            <a:chOff x="697390" y="2606886"/>
            <a:chExt cx="2712027" cy="508898"/>
          </a:xfrm>
        </p:grpSpPr>
        <p:sp>
          <p:nvSpPr>
            <p:cNvPr id="212"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3" name="모서리가 둥근 직사각형 212"/>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14" name="모서리가 둥근 직사각형 213"/>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모서리가 둥근 직사각형 217"/>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219" name="모서리가 둥근 직사각형 218"/>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220" name="TextBox 219">
            <a:extLst>
              <a:ext uri="{FF2B5EF4-FFF2-40B4-BE49-F238E27FC236}">
                <a16:creationId xmlns:a16="http://schemas.microsoft.com/office/drawing/2014/main" id="{FFC49AEA-2A8F-250C-A86A-A7751D9706C3}"/>
              </a:ext>
            </a:extLst>
          </p:cNvPr>
          <p:cNvSpPr txBox="1"/>
          <p:nvPr/>
        </p:nvSpPr>
        <p:spPr>
          <a:xfrm>
            <a:off x="2984263" y="26470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304970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spTree>
    <p:extLst>
      <p:ext uri="{BB962C8B-B14F-4D97-AF65-F5344CB8AC3E}">
        <p14:creationId xmlns:p14="http://schemas.microsoft.com/office/powerpoint/2010/main" val="388062317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76</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MUI-BD-02-M02</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81195"/>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379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454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507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44898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786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860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914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8965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244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4244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244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2086048"/>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524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21147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40266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9630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5321484"/>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596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7156" y="1572247"/>
            <a:ext cx="2712027" cy="508898"/>
            <a:chOff x="697390" y="2606886"/>
            <a:chExt cx="2712027" cy="508898"/>
          </a:xfrm>
        </p:grpSpPr>
        <p:sp>
          <p:nvSpPr>
            <p:cNvPr id="11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18" name="모서리가 둥근 직사각형 117"/>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28" name="모서리가 둥근 직사각형 127"/>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모서리가 둥근 직사각형 133"/>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38" name="모서리가 둥근 직사각형 137"/>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Tree>
    <p:extLst>
      <p:ext uri="{BB962C8B-B14F-4D97-AF65-F5344CB8AC3E}">
        <p14:creationId xmlns:p14="http://schemas.microsoft.com/office/powerpoint/2010/main" val="206136542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40312482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66161598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80</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3554915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1923567"/>
            <a:chOff x="701175" y="1835481"/>
            <a:chExt cx="2630093" cy="1923567"/>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639202"/>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10353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42214" y="2567366"/>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9276" y="2567366"/>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86126" y="2567366"/>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45" name="그룹 144"/>
          <p:cNvGrpSpPr/>
          <p:nvPr/>
        </p:nvGrpSpPr>
        <p:grpSpPr>
          <a:xfrm>
            <a:off x="3840121" y="2567366"/>
            <a:ext cx="2630093" cy="1923567"/>
            <a:chOff x="701175" y="1835481"/>
            <a:chExt cx="2630093" cy="1923567"/>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62469535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생산능력서류 제출</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7764969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85</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latin typeface="+mn-ea"/>
              </a:rPr>
              <a:t>입찰참가등록반려</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latin typeface="+mn-ea"/>
              </a:rPr>
              <a:t>입찰참가등록반려</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1766805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5712522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신청</a:t>
            </a: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69698323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90</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354724"/>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739997"/>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82092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3820923"/>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382277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126577"/>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236022"/>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174467"/>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237877"/>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91229677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95</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공종</a:t>
            </a:r>
            <a:r>
              <a:rPr lang="ko-KR" altLang="en-US" dirty="0"/>
              <a:t> 및 면허 </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a:t>공종정보</a:t>
            </a:r>
            <a:r>
              <a:rPr lang="ko-KR" altLang="en-US" dirty="0"/>
              <a:t> 있는 경우 표시</a:t>
            </a:r>
            <a:r>
              <a:rPr lang="en-US" altLang="ko-KR" dirty="0"/>
              <a:t>)</a:t>
            </a:r>
            <a:br>
              <a:rPr lang="en-US" altLang="ko-KR" dirty="0"/>
            </a:br>
            <a:r>
              <a:rPr lang="en-US" altLang="ko-KR" dirty="0"/>
              <a:t>4- </a:t>
            </a:r>
            <a:r>
              <a:rPr lang="ko-KR" altLang="en-US" dirty="0"/>
              <a:t>입찰보증금 </a:t>
            </a:r>
            <a:r>
              <a:rPr lang="en-US" altLang="ko-KR" dirty="0"/>
              <a:t>(</a:t>
            </a:r>
            <a:r>
              <a:rPr lang="ko-KR" altLang="en-US" dirty="0" err="1"/>
              <a:t>분담이행</a:t>
            </a:r>
            <a:r>
              <a:rPr lang="ko-KR" altLang="en-US" dirty="0"/>
              <a:t> 방식인 경우 표시</a:t>
            </a:r>
            <a:r>
              <a:rPr lang="en-US" altLang="ko-KR" dirty="0"/>
              <a:t>)</a:t>
            </a:r>
            <a:br>
              <a:rPr lang="en-US" altLang="ko-KR" dirty="0"/>
            </a:br>
            <a:r>
              <a:rPr lang="en-US" altLang="ko-KR" dirty="0"/>
              <a:t>5- </a:t>
            </a:r>
            <a:r>
              <a:rPr lang="ko-KR" altLang="en-US" dirty="0"/>
              <a:t>공동수급업체 </a:t>
            </a:r>
            <a:r>
              <a:rPr lang="en-US" altLang="ko-KR" dirty="0"/>
              <a:t>(</a:t>
            </a:r>
            <a:r>
              <a:rPr lang="ko-KR" altLang="en-US" dirty="0"/>
              <a:t>단독인 경우 숨김</a:t>
            </a:r>
            <a:r>
              <a:rPr lang="en-US" altLang="ko-KR" dirty="0"/>
              <a:t>)</a:t>
            </a:r>
            <a:br>
              <a:rPr lang="en-US" altLang="ko-KR" dirty="0"/>
            </a:br>
            <a:r>
              <a:rPr lang="en-US" altLang="ko-KR" dirty="0"/>
              <a:t>6- </a:t>
            </a:r>
            <a:r>
              <a:rPr lang="ko-KR" altLang="en-US" dirty="0"/>
              <a:t>파일첨부</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6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339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41462"/>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41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41462"/>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41462"/>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872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086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299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513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727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941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2869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07038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07038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07038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070384"/>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28699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3226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64234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67369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75567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9498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1361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2" name="직사각형 281"/>
          <p:cNvSpPr/>
          <p:nvPr/>
        </p:nvSpPr>
        <p:spPr>
          <a:xfrm>
            <a:off x="3840473" y="2427792"/>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7736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2353497"/>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2353497"/>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3004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32184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34322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6459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7277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559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36869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0287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25577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38997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8343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4545761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728046" y="3952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28028970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51520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9686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9686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9686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9686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79100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7720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7152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674736"/>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98222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98222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98222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982221"/>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801557"/>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2534410"/>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963467"/>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963466"/>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963466"/>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963466"/>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보증금납부방법 선택 후 입찰보증금을 입력하면 </a:t>
            </a:r>
            <a:r>
              <a:rPr lang="ko-KR" altLang="en-US" dirty="0" err="1"/>
              <a:t>투찰가능금액이</a:t>
            </a:r>
            <a:r>
              <a:rPr lang="ko-KR" altLang="en-US" dirty="0"/>
              <a:t> 계산 됨</a:t>
            </a:r>
            <a:r>
              <a:rPr lang="en-US" altLang="ko-KR" dirty="0"/>
              <a:t/>
            </a:r>
            <a:br>
              <a:rPr lang="en-US" altLang="ko-KR" dirty="0"/>
            </a:br>
            <a:r>
              <a:rPr lang="en-US" altLang="ko-KR" dirty="0"/>
              <a:t>- </a:t>
            </a:r>
            <a:r>
              <a:rPr lang="ko-KR" altLang="en-US" dirty="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가능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개인 경우 </a:t>
            </a:r>
            <a:r>
              <a:rPr lang="ko-KR" altLang="en-US" dirty="0" err="1"/>
              <a:t>증권번호</a:t>
            </a:r>
            <a:r>
              <a:rPr lang="ko-KR" altLang="en-US" dirty="0"/>
              <a:t> 자동 입력</a:t>
            </a:r>
            <a:r>
              <a:rPr lang="en-US" altLang="ko-KR" dirty="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선택</a:t>
            </a:r>
            <a:r>
              <a:rPr lang="en-US" altLang="ko-KR" dirty="0"/>
              <a:t>, </a:t>
            </a:r>
            <a:r>
              <a:rPr lang="ko-KR" altLang="en-US" dirty="0"/>
              <a:t>없는 경우 직접 입력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46497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2201247"/>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2417854"/>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609303"/>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916789"/>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916788"/>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916788"/>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916788"/>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2534410"/>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484625"/>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48462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484624"/>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2484624"/>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9478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5005371"/>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51600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5217507"/>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252029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2577789"/>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724258"/>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898646"/>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93431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31490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892701"/>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2201247"/>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2417854"/>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2163124"/>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9272812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보증금면제사유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102</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a:t>)</a:t>
            </a:r>
            <a:br>
              <a:rPr lang="en-US" altLang="ko-KR" dirty="0"/>
            </a:b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458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2201247"/>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2201247"/>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2417854"/>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418371"/>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725857"/>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725856"/>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725856"/>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725856"/>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2534410"/>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9690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68361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97807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69918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6157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547466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2488668"/>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2488667"/>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2488667"/>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2488667"/>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73188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444642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7408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337852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4237480"/>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2201247"/>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2201247"/>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2417854"/>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2163124"/>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60577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2201247"/>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2201247"/>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2534410"/>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882245"/>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6071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68163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7354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50137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508832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51421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416462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44719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44719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91311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44719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51186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7119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캐비닛 연결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76161"/>
            <a:ext cx="2712027" cy="155613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직업 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5157914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문의 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9389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967085"/>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4076886"/>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4015331"/>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4078741"/>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400604"/>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48153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4481530"/>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448338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4080584"/>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787184"/>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89662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835074"/>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89848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587672"/>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685956"/>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67630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724803"/>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5851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2201247"/>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2201247"/>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2417854"/>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247686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864853"/>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738120"/>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6335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681098"/>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5215950"/>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530199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530199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530385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597195"/>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68324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683240"/>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68509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97965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60657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606570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60675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904731"/>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738120"/>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904731"/>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grpSp>
        <p:nvGrpSpPr>
          <p:cNvPr id="218" name="그룹 217"/>
          <p:cNvGrpSpPr/>
          <p:nvPr/>
        </p:nvGrpSpPr>
        <p:grpSpPr>
          <a:xfrm>
            <a:off x="3798618" y="1578465"/>
            <a:ext cx="2712027" cy="508898"/>
            <a:chOff x="3795734" y="1602341"/>
            <a:chExt cx="2712027" cy="508898"/>
          </a:xfrm>
        </p:grpSpPr>
        <p:sp>
          <p:nvSpPr>
            <p:cNvPr id="219"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20" name="모서리가 둥근 직사각형 219"/>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21" name="모서리가 둥근 직사각형 22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2201247"/>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2201247"/>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2417854"/>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2163124"/>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717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8551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3243152"/>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3283030"/>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3283030"/>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spTree>
    <p:extLst>
      <p:ext uri="{BB962C8B-B14F-4D97-AF65-F5344CB8AC3E}">
        <p14:creationId xmlns:p14="http://schemas.microsoft.com/office/powerpoint/2010/main" val="399379259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MUI-BD-04-P17</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6</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118</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119</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510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56622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873706"/>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87370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873706"/>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873706"/>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04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18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532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4745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49596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1733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192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02628"/>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302628"/>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30262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30262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1923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264505"/>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7923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287458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29059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2987920"/>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182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3683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2" name="직사각형 281"/>
          <p:cNvSpPr/>
          <p:nvPr/>
        </p:nvSpPr>
        <p:spPr>
          <a:xfrm>
            <a:off x="3840473" y="242779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7736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235349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235349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83318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414066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414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4140668"/>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4140668"/>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4371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585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799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5012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5226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5440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7861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6353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4843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156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5976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2791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29191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2610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25577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36222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8535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558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57950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0087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2037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32201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3004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642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220791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216979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3006586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51520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46" name="직사각형 345"/>
          <p:cNvSpPr/>
          <p:nvPr/>
        </p:nvSpPr>
        <p:spPr>
          <a:xfrm>
            <a:off x="3834318" y="29686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9686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9686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9686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79100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7720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2169793"/>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a:t>사용자 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69980" y="363459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69980" y="32178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69980" y="444329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69980" y="402650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696380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spTree>
    <p:extLst>
      <p:ext uri="{BB962C8B-B14F-4D97-AF65-F5344CB8AC3E}">
        <p14:creationId xmlns:p14="http://schemas.microsoft.com/office/powerpoint/2010/main" val="297172387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130</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화면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전자서명</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변경</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2837775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599772964"/>
              </p:ext>
            </p:extLst>
          </p:nvPr>
        </p:nvGraphicFramePr>
        <p:xfrm>
          <a:off x="635474" y="1420619"/>
          <a:ext cx="8701200" cy="4926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err="1">
                          <a:solidFill>
                            <a:schemeClr val="tx1"/>
                          </a:solidFill>
                          <a:effectLst/>
                          <a:latin typeface="Calibri" panose="020F0502020204030204" pitchFamily="34" charset="0"/>
                        </a:rPr>
                        <a:t>BdopnListPage</a:t>
                      </a:r>
                      <a:endParaRPr lang="en-US" sz="900" b="0" i="0" u="none" strike="noStrike" dirty="0">
                        <a:solidFill>
                          <a:schemeClr val="tx1"/>
                        </a:solidFill>
                        <a:effectLst/>
                        <a:latin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BdopnListPage</a:t>
                      </a:r>
                      <a:r>
                        <a:rPr lang="en-US" altLang="ko-KR" sz="900" dirty="0" err="1">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MUI-BD-09-M01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BidRsltDtl</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경쟁입찰</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수의계약 건에 대해 개찰 및 낙찰 처리 후 입찰결과를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a:t>
                      </a:r>
                      <a:r>
                        <a:rPr lang="en-US" altLang="ko-KR" sz="900" dirty="0" err="1">
                          <a:solidFill>
                            <a:schemeClr val="tx1"/>
                          </a:solidFill>
                          <a:latin typeface="+mn-ea"/>
                          <a:ea typeface="+mn-ea"/>
                        </a:rPr>
                        <a:t>.tsx</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ctr" fontAlgn="ctr"/>
                      <a:r>
                        <a:rPr lang="en-US" sz="700" kern="1200" dirty="0">
                          <a:solidFill>
                            <a:schemeClr val="tx1"/>
                          </a:solidFill>
                          <a:latin typeface="+mn-ea"/>
                          <a:ea typeface="+mn-ea"/>
                          <a:cs typeface="+mn-cs"/>
                        </a:rPr>
                        <a:t>MUI-BD-09-M02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BidRsltDtlList</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r>
                        <a:rPr lang="en-US" altLang="ko-KR" sz="900" b="0" i="0" u="none" strike="noStrike" dirty="0" err="1">
                          <a:solidFill>
                            <a:schemeClr val="tx1"/>
                          </a:solidFill>
                          <a:effectLst/>
                          <a:latin typeface="Calibri" panose="020F0502020204030204" pitchFamily="34" charset="0"/>
                        </a:rPr>
                        <a:t>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ctr" fontAlgn="ctr"/>
                      <a:r>
                        <a:rPr lang="en-US" sz="700" kern="1200">
                          <a:solidFill>
                            <a:schemeClr val="tx1"/>
                          </a:solidFill>
                          <a:latin typeface="+mn-ea"/>
                          <a:ea typeface="+mn-ea"/>
                          <a:cs typeface="+mn-cs"/>
                        </a:rPr>
                        <a:t>MUI-BD-09-M03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ctr" fontAlgn="ctr"/>
                      <a:r>
                        <a:rPr lang="en-US" sz="700" kern="1200" dirty="0">
                          <a:solidFill>
                            <a:schemeClr val="tx1"/>
                          </a:solidFill>
                          <a:latin typeface="+mn-ea"/>
                          <a:ea typeface="+mn-ea"/>
                          <a:cs typeface="+mn-cs"/>
                        </a:rPr>
                        <a:t>MUI-BD-09-M04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협상결과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/BidRsltDtl2.tsx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ctr" fontAlgn="ctr"/>
                      <a:r>
                        <a:rPr lang="en-US" sz="700" kern="1200" dirty="0">
                          <a:solidFill>
                            <a:schemeClr val="tx1"/>
                          </a:solidFill>
                          <a:latin typeface="+mn-ea"/>
                          <a:ea typeface="+mn-ea"/>
                          <a:cs typeface="+mn-cs"/>
                        </a:rPr>
                        <a:t>MUI-BD-10-M01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1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Implt1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ctr" fontAlgn="ctr"/>
                      <a:r>
                        <a:rPr lang="en-US" sz="700" kern="1200" dirty="0">
                          <a:solidFill>
                            <a:schemeClr val="tx1"/>
                          </a:solidFill>
                          <a:latin typeface="+mn-ea"/>
                          <a:ea typeface="+mn-ea"/>
                          <a:cs typeface="+mn-cs"/>
                        </a:rPr>
                        <a:t>MUI-BD-10-M02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2 </a:t>
                      </a:r>
                      <a:r>
                        <a:rPr lang="ko-KR" altLang="en-US" sz="800" kern="1200" dirty="0">
                          <a:solidFill>
                            <a:schemeClr val="tx1"/>
                          </a:solidFill>
                          <a:latin typeface="+mn-ea"/>
                          <a:ea typeface="+mn-ea"/>
                          <a:cs typeface="+mn-cs"/>
                        </a:rPr>
                        <a:t>입찰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반려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ctr" fontAlgn="ctr"/>
                      <a:r>
                        <a:rPr lang="en-US" sz="700" kern="1200" dirty="0">
                          <a:solidFill>
                            <a:schemeClr val="tx1"/>
                          </a:solidFill>
                          <a:latin typeface="+mn-ea"/>
                          <a:ea typeface="+mn-ea"/>
                          <a:cs typeface="+mn-cs"/>
                        </a:rPr>
                        <a:t>MUI-BD-10-M03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3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altLang="ko-KR" sz="700" kern="1200" dirty="0">
                          <a:solidFill>
                            <a:schemeClr val="tx1"/>
                          </a:solidFill>
                          <a:latin typeface="+mn-ea"/>
                          <a:ea typeface="+mn-ea"/>
                          <a:cs typeface="+mn-cs"/>
                        </a:rPr>
                        <a:t>MUI-BD-10-M04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적격심사결과상세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Implt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lt"/>
                          <a:ea typeface="+mn-ea"/>
                        </a:rPr>
                        <a:t>아래 이행 적격심사 </a:t>
                      </a:r>
                      <a:r>
                        <a:rPr lang="ko-KR" altLang="en-US" sz="800" dirty="0" err="1">
                          <a:latin typeface="+mn-lt"/>
                          <a:ea typeface="+mn-ea"/>
                        </a:rPr>
                        <a:t>조건별</a:t>
                      </a:r>
                      <a:r>
                        <a:rPr lang="ko-KR" altLang="en-US" sz="800" dirty="0">
                          <a:latin typeface="+mn-lt"/>
                          <a:ea typeface="+mn-ea"/>
                        </a:rPr>
                        <a:t> 결과가 표시되는 구분 항목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ctr" fontAlgn="ctr"/>
                      <a:r>
                        <a:rPr lang="en-US" sz="700" kern="1200" dirty="0">
                          <a:solidFill>
                            <a:schemeClr val="tx1"/>
                          </a:solidFill>
                          <a:latin typeface="+mn-ea"/>
                          <a:ea typeface="+mn-ea"/>
                          <a:cs typeface="+mn-cs"/>
                        </a:rPr>
                        <a:t>MUI-BD-10-M04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Cmdty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Cmdty.tsx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ctr" fontAlgn="ctr"/>
                      <a:r>
                        <a:rPr lang="en-US" sz="700" kern="1200" dirty="0">
                          <a:solidFill>
                            <a:schemeClr val="tx1"/>
                          </a:solidFill>
                          <a:latin typeface="+mn-ea"/>
                          <a:ea typeface="+mn-ea"/>
                          <a:cs typeface="+mn-cs"/>
                        </a:rPr>
                        <a:t>MUI-BD-10-M05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Lbsvc</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r h="180000">
                <a:tc>
                  <a:txBody>
                    <a:bodyPr/>
                    <a:lstStyle/>
                    <a:p>
                      <a:pPr algn="ctr" fontAlgn="ctr"/>
                      <a:r>
                        <a:rPr lang="en-US" sz="700" kern="1200" dirty="0">
                          <a:solidFill>
                            <a:schemeClr val="tx1"/>
                          </a:solidFill>
                          <a:latin typeface="+mn-ea"/>
                          <a:ea typeface="+mn-ea"/>
                          <a:cs typeface="+mn-cs"/>
                        </a:rPr>
                        <a:t>MUI-BD-10-M06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5217970"/>
                  </a:ext>
                </a:extLst>
              </a:tr>
              <a:tr h="180000">
                <a:tc>
                  <a:txBody>
                    <a:bodyPr/>
                    <a:lstStyle/>
                    <a:p>
                      <a:pPr algn="ctr" fontAlgn="ctr"/>
                      <a:r>
                        <a:rPr lang="en-US" sz="700" kern="1200" dirty="0">
                          <a:solidFill>
                            <a:schemeClr val="tx1"/>
                          </a:solidFill>
                          <a:latin typeface="+mn-ea"/>
                          <a:ea typeface="+mn-ea"/>
                          <a:cs typeface="+mn-cs"/>
                        </a:rPr>
                        <a:t>MUI-BD-10-M07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ManufacturingofItemsUnderKrw1B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/ManufacturingofItemsUnderKrw1B.tsx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606456915"/>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705912316"/>
              </p:ext>
            </p:extLst>
          </p:nvPr>
        </p:nvGraphicFramePr>
        <p:xfrm>
          <a:off x="635474" y="1413419"/>
          <a:ext cx="8701200" cy="4839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b="0" kern="1200" dirty="0">
                          <a:solidFill>
                            <a:schemeClr val="tx1"/>
                          </a:solidFill>
                          <a:latin typeface="+mn-ea"/>
                          <a:ea typeface="+mn-ea"/>
                          <a:cs typeface="+mn-cs"/>
                        </a:rPr>
                        <a:t>MUI-BD-10-M08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ManufacturingofItemsUnderKrw1B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ctr" fontAlgn="ctr"/>
                      <a:r>
                        <a:rPr lang="en-US" sz="700" kern="1200" dirty="0">
                          <a:solidFill>
                            <a:schemeClr val="tx1"/>
                          </a:solidFill>
                          <a:latin typeface="+mn-ea"/>
                          <a:ea typeface="+mn-ea"/>
                          <a:cs typeface="+mn-cs"/>
                        </a:rPr>
                        <a:t>MUI-BD-10-M09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ctr" fontAlgn="ctr"/>
                      <a:r>
                        <a:rPr lang="en-US" sz="700" kern="1200" dirty="0">
                          <a:solidFill>
                            <a:schemeClr val="tx1"/>
                          </a:solidFill>
                          <a:latin typeface="+mn-ea"/>
                          <a:ea typeface="+mn-ea"/>
                          <a:cs typeface="+mn-cs"/>
                        </a:rPr>
                        <a:t>MUI-BD-10-M10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ctr" fontAlgn="ctr"/>
                      <a:r>
                        <a:rPr lang="en-US" sz="700" kern="1200" dirty="0">
                          <a:solidFill>
                            <a:schemeClr val="tx1"/>
                          </a:solidFill>
                          <a:latin typeface="+mn-ea"/>
                          <a:ea typeface="+mn-ea"/>
                          <a:cs typeface="+mn-cs"/>
                        </a:rPr>
                        <a:t>MUI-BD-10-M11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2018</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ctr" fontAlgn="ctr"/>
                      <a:r>
                        <a:rPr lang="en-US" sz="700" kern="1200" dirty="0">
                          <a:solidFill>
                            <a:schemeClr val="tx1"/>
                          </a:solidFill>
                          <a:latin typeface="+mn-ea"/>
                          <a:ea typeface="+mn-ea"/>
                          <a:cs typeface="+mn-cs"/>
                        </a:rPr>
                        <a:t>MUI-BD-10-M12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- 10</a:t>
                      </a:r>
                      <a:r>
                        <a:rPr lang="ko-KR" altLang="en-US" sz="800" kern="1200">
                          <a:solidFill>
                            <a:schemeClr val="tx1"/>
                          </a:solidFill>
                          <a:latin typeface="+mn-ea"/>
                          <a:ea typeface="+mn-ea"/>
                          <a:cs typeface="+mn-cs"/>
                        </a:rPr>
                        <a:t>억원미만물품구매</a:t>
                      </a:r>
                      <a:r>
                        <a:rPr lang="en-US" altLang="ko-KR" sz="800" kern="1200">
                          <a:solidFill>
                            <a:schemeClr val="tx1"/>
                          </a:solidFill>
                          <a:latin typeface="+mn-ea"/>
                          <a:ea typeface="+mn-ea"/>
                          <a:cs typeface="+mn-cs"/>
                        </a:rPr>
                        <a:t>2018</a:t>
                      </a:r>
                      <a:r>
                        <a:rPr lang="ko-KR" altLang="en-US" sz="800" kern="120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ctr" fontAlgn="ctr"/>
                      <a:r>
                        <a:rPr lang="en-US" sz="700" kern="1200" dirty="0">
                          <a:solidFill>
                            <a:schemeClr val="tx1"/>
                          </a:solidFill>
                          <a:latin typeface="+mn-ea"/>
                          <a:ea typeface="+mn-ea"/>
                          <a:cs typeface="+mn-cs"/>
                        </a:rPr>
                        <a:t>MUI-BD-10-M13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ctr" fontAlgn="ctr"/>
                      <a:r>
                        <a:rPr lang="en-US" sz="700" kern="1200" dirty="0">
                          <a:solidFill>
                            <a:schemeClr val="tx1"/>
                          </a:solidFill>
                          <a:latin typeface="+mn-ea"/>
                          <a:ea typeface="+mn-ea"/>
                          <a:cs typeface="+mn-cs"/>
                        </a:rPr>
                        <a:t>MUI-BD-10-M14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고시금액이상</a:t>
                      </a:r>
                      <a:r>
                        <a:rPr lang="en-US" altLang="ko-KR" sz="800" kern="1200" dirty="0">
                          <a:solidFill>
                            <a:schemeClr val="tx1"/>
                          </a:solidFill>
                          <a:latin typeface="+mn-ea"/>
                          <a:ea typeface="+mn-ea"/>
                          <a:cs typeface="+mn-cs"/>
                        </a:rPr>
                        <a:t>10</a:t>
                      </a:r>
                      <a:r>
                        <a:rPr lang="ko-KR" altLang="en-US" sz="800" kern="1200" dirty="0" err="1">
                          <a:solidFill>
                            <a:schemeClr val="tx1"/>
                          </a:solidFill>
                          <a:latin typeface="+mn-ea"/>
                          <a:ea typeface="+mn-ea"/>
                          <a:cs typeface="+mn-cs"/>
                        </a:rPr>
                        <a:t>억원미만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ThresholdKrw1B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ctr" fontAlgn="ctr"/>
                      <a:r>
                        <a:rPr lang="en-US" sz="700" kern="1200" dirty="0">
                          <a:solidFill>
                            <a:schemeClr val="tx1"/>
                          </a:solidFill>
                          <a:latin typeface="+mn-ea"/>
                          <a:ea typeface="+mn-ea"/>
                          <a:cs typeface="+mn-cs"/>
                        </a:rPr>
                        <a:t>MUI-BD-10-M15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err="1">
                          <a:solidFill>
                            <a:schemeClr val="tx1"/>
                          </a:solidFill>
                          <a:latin typeface="+mn-ea"/>
                          <a:ea typeface="+mn-ea"/>
                          <a:cs typeface="+mn-cs"/>
                        </a:rPr>
                        <a:t>억원이상</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OverKrw1B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r h="180000">
                <a:tc>
                  <a:txBody>
                    <a:bodyPr/>
                    <a:lstStyle/>
                    <a:p>
                      <a:pPr algn="ctr" fontAlgn="ctr"/>
                      <a:r>
                        <a:rPr lang="en-US" sz="700" kern="1200" dirty="0">
                          <a:solidFill>
                            <a:schemeClr val="tx1"/>
                          </a:solidFill>
                          <a:latin typeface="+mn-ea"/>
                          <a:ea typeface="+mn-ea"/>
                          <a:cs typeface="+mn-cs"/>
                        </a:rPr>
                        <a:t>MUI-BD-10-M16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공사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Cstrn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MUI-BD-10-M17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기술용역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TechLbsvc</a:t>
                      </a:r>
                      <a:endParaRPr lang="en-US" altLang="ko-KR" sz="800" b="0" i="0" u="none" strike="noStrike" dirty="0">
                        <a:solidFill>
                          <a:schemeClr val="tx1"/>
                        </a:solidFill>
                        <a:effectLst/>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MUI-BD-10-M18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MUI-BD-10-M19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962214442"/>
              </p:ext>
            </p:extLst>
          </p:nvPr>
        </p:nvGraphicFramePr>
        <p:xfrm>
          <a:off x="635474" y="1413419"/>
          <a:ext cx="8701200" cy="1071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BelowThresholdDspLbsvc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BelowThresholdDspLbsvc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ImpltElgbSrngAbndAply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앱에서는 업체가 신청한 대상 공고의 개찰 항목만 표시합니다</a:t>
            </a:r>
            <a:r>
              <a:rPr lang="en-US" altLang="ko-KR" sz="800" kern="0" dirty="0">
                <a:solidFill>
                  <a:srgbClr val="0000FF"/>
                </a:solidFill>
                <a:latin typeface="+mn-ea"/>
              </a:rPr>
              <a:t>. (</a:t>
            </a:r>
            <a:r>
              <a:rPr lang="ko-KR" altLang="en-US" sz="800" kern="0" dirty="0" err="1">
                <a:solidFill>
                  <a:srgbClr val="0000FF"/>
                </a:solidFill>
                <a:latin typeface="+mn-ea"/>
              </a:rPr>
              <a:t>계약관이</a:t>
            </a:r>
            <a:r>
              <a:rPr lang="ko-KR" altLang="en-US" sz="800" kern="0" dirty="0">
                <a:solidFill>
                  <a:srgbClr val="0000FF"/>
                </a:solidFill>
                <a:latin typeface="+mn-ea"/>
              </a:rPr>
              <a:t> 앱에 로그인하더라도 조회 정보가 없으며</a:t>
            </a:r>
            <a:r>
              <a:rPr lang="en-US" altLang="ko-KR" sz="800" kern="0" dirty="0">
                <a:solidFill>
                  <a:srgbClr val="0000FF"/>
                </a:solidFill>
                <a:latin typeface="+mn-ea"/>
              </a:rPr>
              <a:t>,</a:t>
            </a:r>
            <a:r>
              <a:rPr lang="ko-KR" altLang="en-US" sz="800" kern="0" dirty="0">
                <a:solidFill>
                  <a:srgbClr val="0000FF"/>
                </a:solidFill>
                <a:latin typeface="+mn-ea"/>
              </a:rPr>
              <a:t> </a:t>
            </a:r>
            <a:r>
              <a:rPr lang="en-US" altLang="ko-KR" sz="800" kern="0" dirty="0">
                <a:solidFill>
                  <a:srgbClr val="0000FF"/>
                </a:solidFill>
                <a:latin typeface="+mn-ea"/>
              </a:rPr>
              <a:t>PC</a:t>
            </a:r>
            <a:r>
              <a:rPr lang="ko-KR" altLang="en-US" sz="800" kern="0" dirty="0">
                <a:solidFill>
                  <a:srgbClr val="0000FF"/>
                </a:solidFill>
                <a:latin typeface="+mn-ea"/>
              </a:rPr>
              <a:t>에서 업무를 처리해야 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입찰결과상세와 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1318C69C-3BF9-3FF8-F913-DA1CC0300DED}"/>
              </a:ext>
            </a:extLst>
          </p:cNvPr>
          <p:cNvSpPr/>
          <p:nvPr/>
        </p:nvSpPr>
        <p:spPr>
          <a:xfrm>
            <a:off x="4193651" y="1391743"/>
            <a:ext cx="4540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입찰결과</a:t>
            </a:r>
            <a:endParaRPr lang="en-US" altLang="ko-KR" sz="800" dirty="0">
              <a:solidFill>
                <a:schemeClr val="tx1"/>
              </a:solidFill>
            </a:endParaRPr>
          </a:p>
          <a:p>
            <a:r>
              <a:rPr lang="ko-KR" altLang="en-US" sz="800" dirty="0">
                <a:solidFill>
                  <a:schemeClr val="tx1"/>
                </a:solidFill>
              </a:rPr>
              <a:t>협상결과</a:t>
            </a:r>
          </a:p>
        </p:txBody>
      </p:sp>
      <p:sp>
        <p:nvSpPr>
          <p:cNvPr id="64" name="직사각형 63">
            <a:extLst>
              <a:ext uri="{FF2B5EF4-FFF2-40B4-BE49-F238E27FC236}">
                <a16:creationId xmlns:a16="http://schemas.microsoft.com/office/drawing/2014/main" id="{1318C69C-3BF9-3FF8-F913-DA1CC0300DED}"/>
              </a:ext>
            </a:extLst>
          </p:cNvPr>
          <p:cNvSpPr/>
          <p:nvPr/>
        </p:nvSpPr>
        <p:spPr>
          <a:xfrm>
            <a:off x="2371683" y="1391743"/>
            <a:ext cx="54983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신청건</a:t>
            </a:r>
            <a:r>
              <a:rPr lang="ko-KR" altLang="en-US" sz="800" dirty="0">
                <a:solidFill>
                  <a:schemeClr val="tx1"/>
                </a:solidFill>
              </a:rPr>
              <a:t> 보유</a:t>
            </a:r>
            <a:endParaRPr lang="en-US" altLang="ko-KR" sz="800" dirty="0">
              <a:solidFill>
                <a:schemeClr val="tx1"/>
              </a:solidFill>
            </a:endParaRPr>
          </a:p>
          <a:p>
            <a:r>
              <a:rPr lang="ko-KR" altLang="en-US" sz="800" dirty="0" err="1">
                <a:solidFill>
                  <a:schemeClr val="tx1"/>
                </a:solidFill>
              </a:rPr>
              <a:t>개찰건</a:t>
            </a:r>
            <a:r>
              <a:rPr lang="ko-KR" altLang="en-US" sz="800" dirty="0">
                <a:solidFill>
                  <a:schemeClr val="tx1"/>
                </a:solidFill>
              </a:rPr>
              <a:t> 보유</a:t>
            </a:r>
          </a:p>
        </p:txBody>
      </p: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170157"/>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73422"/>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a:t>BidRsltController</a:t>
            </a:r>
            <a:r>
              <a:rPr lang="en-US" altLang="ko-KR" sz="1100" b="1" baseline="30000" dirty="0">
                <a:latin typeface="+mn-ea"/>
              </a:rPr>
              <a:t>1)</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488541"/>
            <a:ext cx="967508" cy="5016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8" cy="5016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780075" y="2624138"/>
            <a:ext cx="1133343"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80075" y="2990174"/>
            <a:ext cx="1133343" cy="27982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6183335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a:solidFill>
                  <a:schemeClr val="tx1"/>
                </a:solidFill>
                <a:latin typeface="+mn-ea"/>
              </a:rPr>
              <a:t>Implt1</a:t>
            </a:r>
            <a:r>
              <a:rPr lang="en-US" altLang="ko-KR" sz="900" dirty="0">
                <a:solidFill>
                  <a:schemeClr val="tx1"/>
                </a:solidFill>
              </a:rPr>
              <a:t>~3.tsx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a:solidFill>
                  <a:schemeClr val="tx1"/>
                </a:solidFill>
                <a:latin typeface="+mn-ea"/>
              </a:rPr>
              <a:t>Lbsvc.tsx</a:t>
            </a:r>
            <a:r>
              <a:rPr lang="ko-KR" altLang="en-US" sz="900" dirty="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latin typeface="+mn-ea"/>
              </a:rPr>
              <a:t>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a:solidFill>
                  <a:schemeClr val="tx1"/>
                </a:solidFill>
                <a:latin typeface="+mn-ea"/>
              </a:rPr>
              <a:t>ManufacturingofItemsUnderKrw1B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a:solidFill>
                  <a:schemeClr val="tx1"/>
                </a:solidFill>
              </a:rPr>
              <a:t>BelowThreshold</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ThresholdKrw1B.tsx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2" name="직사각형 31">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5" name="직선 연결선 34">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110051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3371696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개찰목록</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33825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353530"/>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39076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16123"/>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3206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767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71941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4794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2972491"/>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270279"/>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1891478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55034520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147</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635192454"/>
              </p:ext>
            </p:extLst>
          </p:nvPr>
        </p:nvGraphicFramePr>
        <p:xfrm>
          <a:off x="452999" y="1014316"/>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9277518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3215158284"/>
              </p:ext>
            </p:extLst>
          </p:nvPr>
        </p:nvGraphicFramePr>
        <p:xfrm>
          <a:off x="455204" y="1014316"/>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(UI-BD-09-M71)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839002"/>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9605050"/>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33493"/>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334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33493"/>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33493"/>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5645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778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9920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05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19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33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846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33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r>
              <a:rPr lang="ko-KR" altLang="en-US" dirty="0"/>
              <a:t>신청 업체의 입찰 결과 정보를 표시</a:t>
            </a:r>
            <a:endParaRPr lang="en-US" altLang="ko-KR" dirty="0"/>
          </a:p>
          <a:p>
            <a:pPr marL="0" indent="0">
              <a:buNone/>
            </a:pPr>
            <a:endParaRPr lang="en-US" altLang="ko-KR" dirty="0"/>
          </a:p>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입찰결과 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240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52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25777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2891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37111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96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03070"/>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3703070"/>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3703070"/>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3703070"/>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9677"/>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2600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13933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포인트가 5개인 별 199"/>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686881"/>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8912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666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0566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1000" dirty="0"/>
              <a:t>1-1</a:t>
            </a:r>
            <a:endParaRPr lang="ko-KR" altLang="en-US" sz="1000"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28663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019171"/>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2948692"/>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019171"/>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019171"/>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2948692"/>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2948692"/>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4166423"/>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4279754"/>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4564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63933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693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971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504601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5099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442969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442969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67505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44333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508173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3703070"/>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366494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24598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224325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2243259"/>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2243259"/>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2243259"/>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245986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2243259"/>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2205136"/>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7715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83890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2951256"/>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2946621"/>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103451272"/>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4327898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Tree>
    <p:extLst>
      <p:ext uri="{BB962C8B-B14F-4D97-AF65-F5344CB8AC3E}">
        <p14:creationId xmlns:p14="http://schemas.microsoft.com/office/powerpoint/2010/main" val="287675686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02332485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124081381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15536464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160</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3975903"/>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975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975903"/>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975903"/>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20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420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634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848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061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275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4892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5675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이행</a:t>
            </a:r>
            <a:r>
              <a:rPr lang="en-US" altLang="ko-KR" sz="800" dirty="0"/>
              <a:t>/</a:t>
            </a:r>
            <a:r>
              <a:rPr lang="ko-KR" altLang="en-US" sz="800" dirty="0"/>
              <a:t>적격심사</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286644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2076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90018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9315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01352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5620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345480"/>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345480"/>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345480"/>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562087"/>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366841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78174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2563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29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30927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369907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630796"/>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74412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0291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31037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31575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34358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35103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35642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89406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89406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31394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89767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35461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30735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4640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8972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084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246565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2249045"/>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2249045"/>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2249045"/>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2465652"/>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2210922"/>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4" name="그룹 213"/>
          <p:cNvGrpSpPr/>
          <p:nvPr/>
        </p:nvGrpSpPr>
        <p:grpSpPr>
          <a:xfrm>
            <a:off x="3795734" y="5614711"/>
            <a:ext cx="2712027" cy="617588"/>
            <a:chOff x="675399" y="5614711"/>
            <a:chExt cx="2712027" cy="617588"/>
          </a:xfrm>
        </p:grpSpPr>
        <p:sp>
          <p:nvSpPr>
            <p:cNvPr id="215" name="직사각형 21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36" name="모서리가 둥근 직사각형 235"/>
          <p:cNvSpPr/>
          <p:nvPr/>
        </p:nvSpPr>
        <p:spPr>
          <a:xfrm>
            <a:off x="3831550" y="38466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975044"/>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9750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95690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45438013"/>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6452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795734" y="5614711"/>
            <a:ext cx="2712027" cy="617588"/>
            <a:chOff x="675399" y="5614711"/>
            <a:chExt cx="2712027" cy="617588"/>
          </a:xfrm>
        </p:grpSpPr>
        <p:sp>
          <p:nvSpPr>
            <p:cNvPr id="114" name="직사각형 11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a:off x="675399" y="5614711"/>
            <a:ext cx="2712027" cy="617588"/>
            <a:chOff x="675399" y="5614711"/>
            <a:chExt cx="2712027" cy="617588"/>
          </a:xfrm>
        </p:grpSpPr>
        <p:sp>
          <p:nvSpPr>
            <p:cNvPr id="86" name="직사각형 8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07699749"/>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등록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675399" y="5614711"/>
            <a:ext cx="2712027" cy="617588"/>
            <a:chOff x="675399" y="5614711"/>
            <a:chExt cx="2712027" cy="617588"/>
          </a:xfrm>
        </p:grpSpPr>
        <p:sp>
          <p:nvSpPr>
            <p:cNvPr id="93" name="직사각형 9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55048917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167</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178</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179</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187</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196</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202</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209</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218</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225</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233</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245</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257</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268</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273</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281</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332824402"/>
              </p:ext>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a:t>
                      </a:r>
                      <a:endParaRPr lang="en-US" altLang="ko-KR" sz="800" dirty="0">
                        <a:latin typeface="+mn-ea"/>
                        <a:ea typeface="+mn-ea"/>
                      </a:endParaRPr>
                    </a:p>
                    <a:p>
                      <a:pPr latinLnBrk="1"/>
                      <a:r>
                        <a:rPr lang="ko-KR" altLang="en-US" sz="800" dirty="0" err="1">
                          <a:latin typeface="+mn-ea"/>
                          <a:ea typeface="+mn-ea"/>
                        </a:rPr>
                        <a:t>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AnlBfhdSpcfctDtlPage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a:solidFill>
                            <a:schemeClr val="tx1"/>
                          </a:solidFill>
                          <a:latin typeface="+mn-ea"/>
                          <a:ea typeface="+mn-ea"/>
                          <a:cs typeface="+mn-cs"/>
                        </a:rPr>
                        <a:t>MUI-BD-01-M71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OvsBidPbancDtlPage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입찰공고를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MUI-BD-01-M72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kern="1200" dirty="0">
                          <a:solidFill>
                            <a:schemeClr val="tx1"/>
                          </a:solidFill>
                          <a:latin typeface="+mn-ea"/>
                          <a:ea typeface="+mn-ea"/>
                          <a:cs typeface="+mn-cs"/>
                        </a:rPr>
                        <a:t>품목 목록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rPr>
                        <a:t>OvsBidPbancDtl</a:t>
                      </a:r>
                      <a:endParaRPr lang="en-US" altLang="ko-KR" sz="800" b="0" i="0" u="none" strike="noStrike" dirty="0">
                        <a:solidFill>
                          <a:schemeClr val="tx1"/>
                        </a:solidFill>
                        <a:effectLst/>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ctr" defTabSz="914400" rtl="0" eaLnBrk="1" fontAlgn="t"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MUI-BD-01-M73</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OvsBidPbancDtl2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MUI-BD-01-M74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OvsExchrtListPage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altLang="ko-KR" sz="700" kern="1200" dirty="0">
                          <a:solidFill>
                            <a:schemeClr val="tx1"/>
                          </a:solidFill>
                          <a:latin typeface="+mn-ea"/>
                          <a:ea typeface="+mn-ea"/>
                          <a:cs typeface="+mn-cs"/>
                        </a:rPr>
                        <a:t>MUI-BD-01-M75</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OvsGoalPrcRlsItemListPage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altLang="ko-KR" sz="700" kern="1200" dirty="0">
                          <a:solidFill>
                            <a:schemeClr val="tx1"/>
                          </a:solidFill>
                          <a:latin typeface="+mn-ea"/>
                          <a:ea typeface="+mn-ea"/>
                          <a:cs typeface="+mn-cs"/>
                        </a:rPr>
                        <a:t>MUI-CM-01-M71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보관함 목록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OvsLockerPbanListPage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altLang="ko-KR" sz="700" kern="1200" dirty="0">
                          <a:solidFill>
                            <a:schemeClr val="tx1"/>
                          </a:solidFill>
                          <a:latin typeface="+mn-ea"/>
                          <a:ea typeface="+mn-ea"/>
                          <a:cs typeface="+mn-cs"/>
                        </a:rPr>
                        <a:t>MUI-CM-01-M72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보관함 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OvsLockerPbanDtlPage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추가한 공고 상세 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ovsLockerPbanDtl</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ctr" fontAlgn="ctr"/>
                      <a:r>
                        <a:rPr lang="en-US" altLang="ko-KR" sz="700" kern="1200" dirty="0">
                          <a:solidFill>
                            <a:schemeClr val="tx1"/>
                          </a:solidFill>
                          <a:latin typeface="+mn-ea"/>
                          <a:ea typeface="+mn-ea"/>
                          <a:cs typeface="+mn-cs"/>
                        </a:rPr>
                        <a:t>MUI-CM-01-M73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OvsLockerItemRegPage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altLang="ko-KR" sz="700" kern="1200" dirty="0">
                          <a:solidFill>
                            <a:schemeClr val="tx1"/>
                          </a:solidFill>
                          <a:latin typeface="+mn-ea"/>
                          <a:ea typeface="+mn-ea"/>
                          <a:cs typeface="+mn-cs"/>
                        </a:rPr>
                        <a:t>MUI-BD-01-M76</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OvsTmprBidCnRegPage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MUI-BD-01-M77</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06213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288073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spTree>
    <p:extLst>
      <p:ext uri="{BB962C8B-B14F-4D97-AF65-F5344CB8AC3E}">
        <p14:creationId xmlns:p14="http://schemas.microsoft.com/office/powerpoint/2010/main" val="70439165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62700509"/>
              </p:ext>
            </p:extLst>
          </p:nvPr>
        </p:nvGraphicFramePr>
        <p:xfrm>
          <a:off x="635474" y="1413419"/>
          <a:ext cx="8701200" cy="1071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08330238"/>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Tree>
    <p:extLst>
      <p:ext uri="{BB962C8B-B14F-4D97-AF65-F5344CB8AC3E}">
        <p14:creationId xmlns:p14="http://schemas.microsoft.com/office/powerpoint/2010/main" val="123551714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5782147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9160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3991608"/>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err="1">
                <a:solidFill>
                  <a:prstClr val="black"/>
                </a:solidFill>
              </a:rPr>
              <a:t>정상공고</a:t>
            </a:r>
            <a:r>
              <a:rPr lang="ko-KR" altLang="en-US" sz="700" dirty="0">
                <a:solidFill>
                  <a:prstClr val="black"/>
                </a:solidFill>
              </a:rPr>
              <a:t> </a:t>
            </a:r>
            <a:r>
              <a:rPr lang="en-US" altLang="ko-KR" sz="700" dirty="0">
                <a:solidFill>
                  <a:prstClr val="black"/>
                </a:solidFill>
              </a:rPr>
              <a:t>EFD0007-2</a:t>
            </a:r>
          </a:p>
          <a:p>
            <a:pPr lvl="0"/>
            <a:r>
              <a:rPr lang="en-US" altLang="ko-KR" sz="900" b="1" dirty="0">
                <a:solidFill>
                  <a:prstClr val="black"/>
                </a:solidFill>
              </a:rPr>
              <a:t>500MD</a:t>
            </a:r>
            <a:r>
              <a:rPr lang="ko-KR" altLang="en-US" sz="900" b="1" dirty="0">
                <a:solidFill>
                  <a:prstClr val="black"/>
                </a:solidFill>
              </a:rPr>
              <a:t>부품</a:t>
            </a:r>
          </a:p>
        </p:txBody>
      </p:sp>
      <p:sp>
        <p:nvSpPr>
          <p:cNvPr id="184" name="모서리가 둥근 직사각형 183"/>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85" name="모서리가 둥근 직사각형 184"/>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포인트가 5개인 별 186"/>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2250612"/>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686881"/>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6" name="모서리가 둥근 직사각형 175"/>
          <p:cNvSpPr/>
          <p:nvPr/>
        </p:nvSpPr>
        <p:spPr>
          <a:xfrm>
            <a:off x="1514584" y="1974079"/>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77" name="모서리가 둥근 직사각형 176"/>
          <p:cNvSpPr/>
          <p:nvPr/>
        </p:nvSpPr>
        <p:spPr>
          <a:xfrm>
            <a:off x="4618116" y="1602341"/>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Tree>
    <p:extLst>
      <p:ext uri="{BB962C8B-B14F-4D97-AF65-F5344CB8AC3E}">
        <p14:creationId xmlns:p14="http://schemas.microsoft.com/office/powerpoint/2010/main" val="369750798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116373981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a:p>
            <a:pPr>
              <a:buFont typeface="+mj-lt"/>
              <a:buAutoNum type="arabicPeriod"/>
            </a:pPr>
            <a:r>
              <a:rPr lang="ko-KR" altLang="en-US" dirty="0" err="1"/>
              <a:t>첨부문서</a:t>
            </a:r>
            <a:r>
              <a:rPr lang="ko-KR" altLang="en-US" dirty="0"/>
              <a:t> 클릭 이벤트</a:t>
            </a:r>
            <a:endParaRPr lang="en-US" altLang="ko-KR" dirty="0"/>
          </a:p>
          <a:p>
            <a:pPr>
              <a:buFont typeface="+mj-lt"/>
              <a:buAutoNum type="arabicPeriod"/>
            </a:pPr>
            <a:r>
              <a:rPr lang="ko-KR" altLang="en-US" dirty="0" err="1"/>
              <a:t>재고번호</a:t>
            </a:r>
            <a:r>
              <a:rPr lang="ko-KR" altLang="en-US" dirty="0"/>
              <a:t> 클릭 이벤트</a:t>
            </a:r>
            <a:endParaRPr lang="en-US" altLang="ko-KR" dirty="0"/>
          </a:p>
          <a:p>
            <a:pPr>
              <a:buFont typeface="+mj-lt"/>
              <a:buAutoNum type="arabicPeriod"/>
            </a:pPr>
            <a:r>
              <a:rPr lang="ko-KR" altLang="en-US" dirty="0"/>
              <a:t>보관함 여부 추가</a:t>
            </a:r>
            <a:r>
              <a:rPr lang="en-US" altLang="ko-KR" dirty="0"/>
              <a:t>, </a:t>
            </a:r>
            <a:r>
              <a:rPr lang="ko-KR" altLang="en-US" dirty="0"/>
              <a:t>삭제 클릭 이벤트</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40346129"/>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첨부서류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174263111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8027053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293</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430855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9452783"/>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3188155397"/>
              </p:ext>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입찰품목목록조회</a:t>
                      </a:r>
                      <a:r>
                        <a:rPr lang="en-US" altLang="ko-KR" sz="800">
                          <a:latin typeface="+mn-ea"/>
                          <a:ea typeface="+mn-ea"/>
                        </a:rPr>
                        <a:t>, </a:t>
                      </a:r>
                      <a:r>
                        <a:rPr lang="ko-KR" altLang="en-US" sz="800">
                          <a:latin typeface="+mn-ea"/>
                          <a:ea typeface="+mn-ea"/>
                        </a:rPr>
                        <a:t>공지사항조회</a:t>
                      </a:r>
                      <a:r>
                        <a:rPr lang="en-US" altLang="ko-KR" sz="800">
                          <a:latin typeface="+mn-ea"/>
                          <a:ea typeface="+mn-ea"/>
                        </a:rPr>
                        <a:t>, </a:t>
                      </a:r>
                      <a:r>
                        <a:rPr lang="ko-KR" altLang="en-US" sz="80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파일다운로드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a:solidFill>
                            <a:schemeClr val="tx1"/>
                          </a:solidFill>
                          <a:latin typeface="+mn-lt"/>
                          <a:ea typeface="+mn-ea"/>
                          <a:cs typeface="+mn-cs"/>
                        </a:rPr>
                        <a:t>업체담당자인 경우 버튼 노출</a:t>
                      </a:r>
                      <a:endParaRPr lang="en-US" altLang="ko-KR" sz="800" strike="noStrike">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a:solidFill>
                            <a:srgbClr val="000000"/>
                          </a:solidFill>
                          <a:effectLst/>
                          <a:latin typeface="맑은 고딕" panose="020B0503020000020004" pitchFamily="50" charset="-127"/>
                          <a:ea typeface="+mn-ea"/>
                        </a:rPr>
                        <a:t>UI-BD-01-M75</a:t>
                      </a:r>
                      <a:r>
                        <a:rPr lang="ko-KR" altLang="en-US" sz="800" strike="noStrike">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이전공고입찰내역등록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a:solidFill>
                            <a:srgbClr val="000000"/>
                          </a:solidFill>
                          <a:effectLst/>
                          <a:latin typeface="맑은 고딕" panose="020B0503020000020004" pitchFamily="50" charset="-127"/>
                          <a:ea typeface="+mn-ea"/>
                        </a:rPr>
                        <a:t>UI-BD-01-P78</a:t>
                      </a:r>
                      <a:r>
                        <a:rPr lang="ko-KR" altLang="en-US" sz="800" b="0" i="0" u="none" strike="noStrike">
                          <a:solidFill>
                            <a:schemeClr val="tx1"/>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보관함추가</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보관함제거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0403288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39203255"/>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832260921"/>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62867207"/>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a:latin typeface="+mn-ea"/>
              </a:rPr>
              <a:t>목표가공개품목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08447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192157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140814"/>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1858613"/>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1858613"/>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1948259"/>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917236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486263"/>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보관된 공고 목록 표시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28684"/>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2059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613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a:latin typeface="+mn-ea"/>
              </a:rPr>
              <a:t>가격제</a:t>
            </a: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1905667"/>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총액제</a:t>
            </a:r>
            <a:endParaRPr lang="ko-KR" altLang="en-US" sz="600" dirty="0"/>
          </a:p>
        </p:txBody>
      </p:sp>
      <p:grpSp>
        <p:nvGrpSpPr>
          <p:cNvPr id="3" name="그룹 2"/>
          <p:cNvGrpSpPr/>
          <p:nvPr/>
        </p:nvGrpSpPr>
        <p:grpSpPr>
          <a:xfrm>
            <a:off x="777000" y="2893707"/>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4307013"/>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5613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Tree>
    <p:extLst>
      <p:ext uri="{BB962C8B-B14F-4D97-AF65-F5344CB8AC3E}">
        <p14:creationId xmlns:p14="http://schemas.microsoft.com/office/powerpoint/2010/main" val="100748304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468226865"/>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478086"/>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1974079"/>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spTree>
    <p:extLst>
      <p:ext uri="{BB962C8B-B14F-4D97-AF65-F5344CB8AC3E}">
        <p14:creationId xmlns:p14="http://schemas.microsoft.com/office/powerpoint/2010/main" val="2639726249"/>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399974977"/>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spTree>
    <p:extLst>
      <p:ext uri="{BB962C8B-B14F-4D97-AF65-F5344CB8AC3E}">
        <p14:creationId xmlns:p14="http://schemas.microsoft.com/office/powerpoint/2010/main" val="212726026"/>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434767134"/>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306</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306</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부정당내역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0472824"/>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a:t>비활성</a:t>
            </a:r>
            <a:endParaRPr lang="en-US" altLang="ko-KR" dirty="0"/>
          </a:p>
          <a:p>
            <a:pPr marL="228600" indent="-228600">
              <a:buFont typeface="+mj-lt"/>
              <a:buAutoNum type="arabicPeriod"/>
            </a:pPr>
            <a:r>
              <a:rPr lang="ko-KR" altLang="en-US" dirty="0"/>
              <a:t>선택이 발생한 경우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보관함 품목 관리</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830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729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1905667"/>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089592"/>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1" name="모서리가 둥근 직사각형 80"/>
          <p:cNvSpPr/>
          <p:nvPr/>
        </p:nvSpPr>
        <p:spPr>
          <a:xfrm>
            <a:off x="792650" y="2895992"/>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선택</a:t>
            </a:r>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51404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rgbClr val="0070C0"/>
                  </a:solidFill>
                </a:rPr>
                <a:t>선택</a:t>
              </a: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일괄 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일괄 삭제</a:t>
              </a:r>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695984813"/>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2732752658"/>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0914836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284587390"/>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입찰내역</a:t>
            </a:r>
            <a:r>
              <a:rPr lang="ko-KR" altLang="en-US" sz="800" dirty="0">
                <a:latin typeface="+mn-ea"/>
              </a:rPr>
              <a:t> 작성</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478086"/>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9824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336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12023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120234"/>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33684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08211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0880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53636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5" name="모서리가 둥근 직사각형 154"/>
          <p:cNvSpPr/>
          <p:nvPr/>
        </p:nvSpPr>
        <p:spPr>
          <a:xfrm>
            <a:off x="4308907" y="1599113"/>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3865216" y="159911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2596493"/>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464186"/>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Tree>
    <p:extLst>
      <p:ext uri="{BB962C8B-B14F-4D97-AF65-F5344CB8AC3E}">
        <p14:creationId xmlns:p14="http://schemas.microsoft.com/office/powerpoint/2010/main" val="2343915003"/>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824520727"/>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2184143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55024113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3690165064"/>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684057"/>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1465410404"/>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318</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ext uri="{D42A27DB-BD31-4B8C-83A1-F6EECF244321}">
                <p14:modId xmlns:p14="http://schemas.microsoft.com/office/powerpoint/2010/main" val="1905426355"/>
              </p:ext>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a:t>
                      </a:r>
                      <a:r>
                        <a:rPr lang="en-US" altLang="ko-KR" sz="800">
                          <a:latin typeface="+mn-ea"/>
                          <a:ea typeface="+mn-ea"/>
                        </a:rPr>
                        <a:t>, </a:t>
                      </a:r>
                      <a:r>
                        <a:rPr lang="ko-KR" altLang="en-US" sz="800">
                          <a:latin typeface="+mn-ea"/>
                          <a:ea typeface="+mn-ea"/>
                        </a:rPr>
                        <a:t>입찰업체목록조회</a:t>
                      </a:r>
                      <a:r>
                        <a:rPr lang="en-US" altLang="ko-KR" sz="800">
                          <a:latin typeface="+mn-ea"/>
                          <a:ea typeface="+mn-ea"/>
                        </a:rPr>
                        <a:t>, </a:t>
                      </a:r>
                      <a:r>
                        <a:rPr lang="ko-KR" altLang="en-US" sz="800">
                          <a:latin typeface="+mn-ea"/>
                          <a:ea typeface="+mn-ea"/>
                        </a:rPr>
                        <a:t>화폐단위조회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315267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863831872"/>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불러오기</a:t>
            </a:r>
            <a:r>
              <a:rPr lang="en-US" altLang="ko-KR" dirty="0"/>
              <a:t>,</a:t>
            </a:r>
            <a:r>
              <a:rPr lang="ko-KR" altLang="en-US" dirty="0"/>
              <a:t> 취소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Tree>
    <p:extLst>
      <p:ext uri="{BB962C8B-B14F-4D97-AF65-F5344CB8AC3E}">
        <p14:creationId xmlns:p14="http://schemas.microsoft.com/office/powerpoint/2010/main" val="3243963399"/>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79531736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322</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70753799"/>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085226507"/>
              </p:ext>
            </p:extLst>
          </p:nvPr>
        </p:nvGraphicFramePr>
        <p:xfrm>
          <a:off x="635474" y="1413419"/>
          <a:ext cx="8701200" cy="4789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MUI-BD-03-M01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입찰진행</a:t>
                      </a:r>
                      <a:r>
                        <a:rPr lang="ko-KR" altLang="en-US" sz="800" dirty="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rPr>
                        <a:t>BidPrgrsListForBzentyPage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입찰진행</a:t>
                      </a:r>
                      <a:r>
                        <a:rPr lang="ko-KR" altLang="en-US" sz="800" dirty="0">
                          <a:latin typeface="+mn-ea"/>
                          <a:ea typeface="+mn-ea"/>
                        </a:rPr>
                        <a:t>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UC-BD-07-01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UC-BD-09-01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a:solidFill>
                            <a:schemeClr val="tx1"/>
                          </a:solidFill>
                          <a:latin typeface="+mn-ea"/>
                          <a:ea typeface="+mn-ea"/>
                          <a:cs typeface="+mn-cs"/>
                        </a:rPr>
                        <a:t>MUI-BD-04-M71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입찰참가신청서작성</a:t>
                      </a:r>
                      <a:endParaRPr lang="en-US" altLang="ko-KR" sz="800" dirty="0">
                        <a:latin typeface="+mn-ea"/>
                        <a:ea typeface="+mn-ea"/>
                      </a:endParaRPr>
                    </a:p>
                    <a:p>
                      <a:pPr latinLnBrk="1"/>
                      <a:r>
                        <a:rPr lang="en-US" altLang="ko-KR" sz="800" dirty="0">
                          <a:latin typeface="+mn-ea"/>
                          <a:ea typeface="+mn-ea"/>
                        </a:rPr>
                        <a:t>- </a:t>
                      </a:r>
                      <a:r>
                        <a:rPr lang="ko-KR" altLang="en-US" sz="800" dirty="0" err="1">
                          <a:latin typeface="+mn-ea"/>
                          <a:ea typeface="+mn-ea"/>
                        </a:rPr>
                        <a:t>서약서동의</a:t>
                      </a:r>
                      <a:r>
                        <a:rPr lang="ko-KR" altLang="en-US" sz="800" dirty="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OvsBidPrtcpAplyPage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입찰참여 전</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청렴계약이행서약서를 확인하고 동의여부를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ovsBidPrtcpAplyPage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305003">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MUI-BD-04-P03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서약서 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OvsProbWrotAgre</a:t>
                      </a:r>
                      <a:endParaRPr lang="en-US" altLang="ko-KR" sz="800" b="0" i="0" u="none" strike="noStrike"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청렴계약이행서약서</a:t>
                      </a:r>
                      <a:endParaRPr lang="en-US" altLang="ko-KR" sz="800" dirty="0">
                        <a:latin typeface="+mn-ea"/>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ovsProbWrotAgre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MUI-BD-04-M72</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Stp1</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업체담당자가 입찰에 참가하기 위해</a:t>
                      </a:r>
                      <a:r>
                        <a:rPr lang="en-US" altLang="ko-KR" sz="800" b="0" i="0" u="none" strike="noStrike" dirty="0">
                          <a:solidFill>
                            <a:srgbClr val="000000"/>
                          </a:solidFill>
                          <a:effectLst/>
                          <a:latin typeface="+mn-ea"/>
                          <a:ea typeface="+mn-ea"/>
                        </a:rPr>
                        <a:t>, </a:t>
                      </a:r>
                      <a:r>
                        <a:rPr lang="ko-KR" altLang="en-US" sz="800" b="0" i="0" u="none" strike="noStrike" dirty="0" err="1">
                          <a:solidFill>
                            <a:srgbClr val="000000"/>
                          </a:solidFill>
                          <a:effectLst/>
                          <a:latin typeface="+mn-ea"/>
                          <a:ea typeface="+mn-ea"/>
                        </a:rPr>
                        <a:t>참여품목</a:t>
                      </a:r>
                      <a:r>
                        <a:rPr lang="ko-KR" altLang="en-US" sz="800" b="0" i="0" u="none" strike="noStrike" dirty="0">
                          <a:solidFill>
                            <a:srgbClr val="000000"/>
                          </a:solidFill>
                          <a:effectLst/>
                          <a:latin typeface="+mn-ea"/>
                          <a:ea typeface="+mn-ea"/>
                        </a:rPr>
                        <a:t> 및 보증서 </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Stp1</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업체정보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 및 보증서 </a:t>
                      </a:r>
                      <a:endPar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MUI-BD-04-M74</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입찰 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Stp3</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MUI-BD-04-P75</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입찰보증서선택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OvsBidWtgrInq</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전자입찰보증서를 조회하고 입찰에 사용할 보증서를 선택</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OvsBidWtgrDtl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입찰보증서의 계약자</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채권자</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발행일자등의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b="0" i="0" u="none" strike="noStrike" dirty="0" err="1">
                          <a:solidFill>
                            <a:schemeClr val="tx1"/>
                          </a:solidFill>
                          <a:effectLst/>
                          <a:latin typeface="+mn-lt"/>
                          <a:ea typeface="+mn-ea"/>
                        </a:rPr>
                        <a:t>OvsBidPrtcpAplyPage_</a:t>
                      </a:r>
                      <a:r>
                        <a:rPr lang="en-US" sz="900" b="0" i="0" u="none" strike="noStrike" dirty="0" err="1">
                          <a:solidFill>
                            <a:schemeClr val="tx1"/>
                          </a:solidFill>
                          <a:effectLst/>
                          <a:latin typeface="Calibri" panose="020F0502020204030204" pitchFamily="34" charset="0"/>
                        </a:rPr>
                        <a:t>AtchDocReg</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업체담당자가 입찰에 참가하기 위해</a:t>
                      </a:r>
                      <a:r>
                        <a:rPr lang="en-US" altLang="ko-KR" sz="800" b="0" i="0" u="none" strike="noStrike" dirty="0">
                          <a:solidFill>
                            <a:srgbClr val="000000"/>
                          </a:solidFill>
                          <a:effectLst/>
                          <a:latin typeface="+mn-ea"/>
                          <a:ea typeface="+mn-ea"/>
                        </a:rPr>
                        <a:t>, </a:t>
                      </a:r>
                      <a:r>
                        <a:rPr lang="ko-KR" altLang="en-US" sz="800" b="0" i="0" u="none" strike="noStrike" dirty="0" err="1">
                          <a:solidFill>
                            <a:srgbClr val="000000"/>
                          </a:solidFill>
                          <a:effectLst/>
                          <a:latin typeface="+mn-ea"/>
                          <a:ea typeface="+mn-ea"/>
                        </a:rPr>
                        <a:t>참여품목</a:t>
                      </a:r>
                      <a:r>
                        <a:rPr lang="ko-KR" altLang="en-US" sz="800" b="0" i="0" u="none" strike="noStrike" dirty="0">
                          <a:solidFill>
                            <a:srgbClr val="000000"/>
                          </a:solidFill>
                          <a:effectLst/>
                          <a:latin typeface="+mn-ea"/>
                          <a:ea typeface="+mn-ea"/>
                        </a:rPr>
                        <a:t> 및 보증서 </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Calibri" panose="020F0502020204030204" pitchFamily="34" charset="0"/>
                          <a:ea typeface="+mn-ea"/>
                        </a:rPr>
                        <a:t>A</a:t>
                      </a:r>
                      <a:r>
                        <a:rPr lang="en-US" altLang="ko-KR" sz="800" b="0" i="0" u="none" strike="noStrike" dirty="0" err="1">
                          <a:solidFill>
                            <a:schemeClr val="tx1"/>
                          </a:solidFill>
                          <a:effectLst/>
                          <a:latin typeface="Calibri" panose="020F0502020204030204" pitchFamily="34" charset="0"/>
                        </a:rPr>
                        <a:t>tchDocReg</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a:solidFill>
                            <a:srgbClr val="000000"/>
                          </a:solidFill>
                          <a:effectLst/>
                          <a:latin typeface="맑은 고딕" panose="020B0503020000020004" pitchFamily="50" charset="-127"/>
                          <a:ea typeface="+mn-ea"/>
                        </a:rPr>
                        <a:t>UC-BD-02-01</a:t>
                      </a:r>
                    </a:p>
                    <a:p>
                      <a:pPr algn="ctr"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OvsBidPrtcpAplyPage_</a:t>
                      </a:r>
                      <a:r>
                        <a:rPr lang="en-US" altLang="ko-KR" sz="800" dirty="0" err="1">
                          <a:solidFill>
                            <a:schemeClr val="tx1"/>
                          </a:solidFill>
                          <a:latin typeface="+mn-lt"/>
                          <a:ea typeface="+mn-ea"/>
                        </a:rPr>
                        <a:t>AplyCmptn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작성 완료</a:t>
                      </a:r>
                      <a:endParaRPr lang="en-US" altLang="ko-KR" sz="800" dirty="0">
                        <a:latin typeface="+mn-ea"/>
                        <a:ea typeface="+mn-ea"/>
                      </a:endParaRPr>
                    </a:p>
                    <a:p>
                      <a:pPr algn="l" fontAlgn="ctr"/>
                      <a:r>
                        <a:rPr lang="ko-KR" altLang="en-US" sz="800" dirty="0">
                          <a:latin typeface="+mn-ea"/>
                          <a:ea typeface="+mn-ea"/>
                        </a:rPr>
                        <a:t>국내 화면과 동일함</a:t>
                      </a:r>
                      <a:r>
                        <a:rPr lang="en-US" altLang="ko-KR" sz="800" dirty="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err="1">
                          <a:solidFill>
                            <a:schemeClr val="tx1"/>
                          </a:solidFill>
                          <a:latin typeface="+mn-lt"/>
                          <a:ea typeface="+mn-ea"/>
                        </a:rPr>
                        <a:t>AplyCmptn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상세</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OvsBidPrtcpApfrDtlPage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OvsBidPrtcpApfrDtlPage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업체정보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입찰 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Tab3</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910140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9224688"/>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53176291"/>
              </p:ext>
            </p:extLst>
          </p:nvPr>
        </p:nvGraphicFramePr>
        <p:xfrm>
          <a:off x="635474" y="1413419"/>
          <a:ext cx="8701200" cy="34540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MUI-BD-04-M81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Tab4</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MUI-BD-06-M71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입찰참여품목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입찰참여품목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_Stp3.tsx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OvsTndrSbmsnPage_</a:t>
                      </a:r>
                      <a:r>
                        <a:rPr lang="en-US" altLang="ko-KR" sz="800" dirty="0" err="1">
                          <a:solidFill>
                            <a:schemeClr val="tx1"/>
                          </a:solidFill>
                          <a:latin typeface="+mn-lt"/>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작성 완료</a:t>
                      </a:r>
                      <a:endParaRPr lang="en-US" altLang="ko-KR" sz="800" dirty="0">
                        <a:latin typeface="+mn-ea"/>
                        <a:ea typeface="+mn-ea"/>
                      </a:endParaRPr>
                    </a:p>
                    <a:p>
                      <a:pPr algn="l" fontAlgn="ctr"/>
                      <a:r>
                        <a:rPr lang="ko-KR" altLang="en-US" sz="800" dirty="0">
                          <a:latin typeface="+mn-ea"/>
                          <a:ea typeface="+mn-ea"/>
                        </a:rPr>
                        <a:t>국내 화면과 동일함</a:t>
                      </a:r>
                      <a:r>
                        <a:rPr lang="en-US" altLang="ko-KR" sz="800" dirty="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err="1">
                          <a:solidFill>
                            <a:schemeClr val="tx1"/>
                          </a:solidFill>
                          <a:latin typeface="+mn-lt"/>
                          <a:ea typeface="+mn-ea"/>
                        </a:rPr>
                        <a:t>AplyCmptn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8104791"/>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494951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831533312"/>
              </p:ext>
            </p:extLst>
          </p:nvPr>
        </p:nvGraphicFramePr>
        <p:xfrm>
          <a:off x="635474" y="1413419"/>
          <a:ext cx="8701200" cy="2722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MUI-BD-06-M75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 상세</a:t>
                      </a:r>
                      <a:endParaRPr lang="en-US" altLang="ko-KR" sz="800" dirty="0">
                        <a:latin typeface="+mn-ea"/>
                        <a:ea typeface="+mn-ea"/>
                      </a:endParaRPr>
                    </a:p>
                    <a:p>
                      <a:pPr latinLnBrk="1"/>
                      <a:r>
                        <a:rPr lang="ko-KR" altLang="en-US" sz="800" dirty="0">
                          <a:latin typeface="+mn-ea"/>
                          <a:ea typeface="+mn-ea"/>
                        </a:rPr>
                        <a:t>탭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 상세</a:t>
                      </a:r>
                      <a:endParaRPr lang="en-US" altLang="ko-KR" sz="800" dirty="0">
                        <a:latin typeface="+mn-ea"/>
                        <a:ea typeface="+mn-ea"/>
                      </a:endParaRPr>
                    </a:p>
                    <a:p>
                      <a:pPr latinLnBrk="1"/>
                      <a:r>
                        <a:rPr lang="ko-KR" altLang="en-US" sz="800" dirty="0">
                          <a:latin typeface="+mn-ea"/>
                          <a:ea typeface="+mn-ea"/>
                        </a:rPr>
                        <a:t>탭 </a:t>
                      </a:r>
                      <a:r>
                        <a:rPr lang="en-US" altLang="ko-KR" sz="800" dirty="0">
                          <a:latin typeface="+mn-ea"/>
                          <a:ea typeface="+mn-ea"/>
                        </a:rPr>
                        <a:t>2 - </a:t>
                      </a:r>
                      <a:r>
                        <a:rPr lang="ko-KR" altLang="en-US" sz="800" dirty="0">
                          <a:latin typeface="+mn-ea"/>
                          <a:ea typeface="+mn-ea"/>
                        </a:rPr>
                        <a:t>업체정보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MUI-BD-06-M78</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endParaRPr>
                    </a:p>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MUI-BD-06-M79</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OvsBidRegRslt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a:solidFill>
                            <a:srgbClr val="000000"/>
                          </a:solidFill>
                          <a:effectLst/>
                          <a:latin typeface="맑은 고딕" panose="020B0503020000020004" pitchFamily="50" charset="-127"/>
                          <a:ea typeface="+mn-ea"/>
                        </a:rPr>
                        <a:t>UC-BD-04-01</a:t>
                      </a:r>
                    </a:p>
                    <a:p>
                      <a:pPr algn="ctr"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OvsTechEvlRslt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35527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854788"/>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err="1">
                <a:solidFill>
                  <a:schemeClr val="tx1"/>
                </a:solidFill>
                <a:latin typeface="+mn-ea"/>
              </a:rPr>
              <a:t>서약서동의</a:t>
            </a:r>
            <a:r>
              <a:rPr lang="ko-KR" altLang="en-US" sz="1050" dirty="0">
                <a:solidFill>
                  <a:schemeClr val="tx1"/>
                </a:solidFill>
                <a:latin typeface="+mn-ea"/>
              </a:rPr>
              <a:t> 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Stp1.tsx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Stp2.tsx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Stp3.tsx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Tab4.tsx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Tab2.tsx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Tab3.tsx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41682594"/>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Stp3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a:t>Tab3.tsx</a:t>
            </a:r>
            <a:r>
              <a:rPr lang="en-US" altLang="ko-KR" sz="1050" b="1" baseline="30000" dirty="0">
                <a:latin typeface="+mn-ea"/>
              </a:rPr>
              <a:t>1)</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OvsTechEvlRslt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9930484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4162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5914195"/>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120967467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925080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394204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49534"/>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495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49533"/>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49533"/>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480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6943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080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895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67845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678455"/>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511658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0121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2485990"/>
            <a:ext cx="2630093" cy="2031034"/>
            <a:chOff x="3791188" y="2611009"/>
            <a:chExt cx="2630093" cy="2031034"/>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4589293"/>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spTree>
    <p:extLst>
      <p:ext uri="{BB962C8B-B14F-4D97-AF65-F5344CB8AC3E}">
        <p14:creationId xmlns:p14="http://schemas.microsoft.com/office/powerpoint/2010/main" val="3492131042"/>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9118022"/>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영역</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34717678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err="1"/>
              <a:t>보증서선택</a:t>
            </a:r>
            <a:r>
              <a:rPr lang="ko-KR" altLang="en-US" dirty="0"/>
              <a:t> 클릭 이벤트</a:t>
            </a:r>
            <a:r>
              <a:rPr lang="en-US" altLang="ko-KR" dirty="0"/>
              <a:t/>
            </a:r>
            <a:br>
              <a:rPr lang="en-US" altLang="ko-KR" dirty="0"/>
            </a:br>
            <a:r>
              <a:rPr lang="en-US" altLang="ko-KR" dirty="0"/>
              <a:t>- </a:t>
            </a:r>
            <a:r>
              <a:rPr lang="ko-KR" altLang="en-US" dirty="0"/>
              <a:t>전자보증서인 경우 팝업 호출</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490272142"/>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414206569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nvGraphicFramePr>
        <p:xfrm>
          <a:off x="452999" y="2356556"/>
          <a:ext cx="8994883" cy="174528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0588187"/>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5914839"/>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85443341"/>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380169404"/>
              </p:ext>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8521752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319715582"/>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34378874"/>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596702"/>
            <a:chOff x="701175" y="4672224"/>
            <a:chExt cx="2630093" cy="1596702"/>
          </a:xfrm>
        </p:grpSpPr>
        <p:sp>
          <p:nvSpPr>
            <p:cNvPr id="109" name="직사각형 108"/>
            <p:cNvSpPr/>
            <p:nvPr/>
          </p:nvSpPr>
          <p:spPr>
            <a:xfrm>
              <a:off x="703268" y="497626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a:p>
              <a:pPr>
                <a:lnSpc>
                  <a:spcPct val="200000"/>
                </a:lnSpc>
              </a:pPr>
              <a:endParaRPr lang="ko-KR" altLang="en-US" sz="700" dirty="0" err="1">
                <a:latin typeface="+mn-ea"/>
              </a:endParaRPr>
            </a:p>
          </p:txBody>
        </p:sp>
        <p:grpSp>
          <p:nvGrpSpPr>
            <p:cNvPr id="111" name="그룹 110"/>
            <p:cNvGrpSpPr/>
            <p:nvPr/>
          </p:nvGrpSpPr>
          <p:grpSpPr>
            <a:xfrm>
              <a:off x="701175" y="4976264"/>
              <a:ext cx="2630093" cy="1288440"/>
              <a:chOff x="701175" y="1835481"/>
              <a:chExt cx="2630093" cy="128844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999999-9999999</a:t>
              </a:r>
            </a:p>
            <a:p>
              <a:pPr>
                <a:lnSpc>
                  <a:spcPct val="200000"/>
                </a:lnSpc>
              </a:pPr>
              <a:r>
                <a:rPr lang="ko-KR" altLang="en-US" sz="700" dirty="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999999-9999999</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834898"/>
              <a:ext cx="725552" cy="430887"/>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a:latin typeface="+mn-ea"/>
                </a:rPr>
                <a:t>대표자</a:t>
              </a:r>
            </a:p>
            <a:p>
              <a:r>
                <a:rPr lang="ko-KR" altLang="en-US" sz="700" dirty="0">
                  <a:latin typeface="+mn-ea"/>
                </a:rPr>
                <a:t>보증 채권자</a:t>
              </a:r>
              <a:endParaRPr lang="en-US" altLang="ko-KR" sz="700" dirty="0">
                <a:latin typeface="+mn-ea"/>
              </a:endParaRPr>
            </a:p>
            <a:p>
              <a:r>
                <a:rPr lang="ko-KR" altLang="en-US" sz="700" dirty="0">
                  <a:latin typeface="+mn-ea"/>
                </a:rPr>
                <a:t>주민등록번호</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430887"/>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a:latin typeface="+mn-ea"/>
                </a:rPr>
                <a:t>대표자</a:t>
              </a:r>
            </a:p>
            <a:p>
              <a:r>
                <a:rPr lang="ko-KR" altLang="en-US" sz="700" dirty="0">
                  <a:latin typeface="+mn-ea"/>
                </a:rPr>
                <a:t>보증 계약자</a:t>
              </a:r>
              <a:endParaRPr lang="en-US" altLang="ko-KR" sz="700" dirty="0">
                <a:latin typeface="+mn-ea"/>
              </a:endParaRPr>
            </a:p>
            <a:p>
              <a:r>
                <a:rPr lang="ko-KR" altLang="en-US" sz="700" dirty="0">
                  <a:latin typeface="+mn-ea"/>
                </a:rPr>
                <a:t>주민등록번호</a:t>
              </a: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148823416"/>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596936666"/>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52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17067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5930559"/>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347</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ext uri="{D42A27DB-BD31-4B8C-83A1-F6EECF244321}">
                <p14:modId xmlns:p14="http://schemas.microsoft.com/office/powerpoint/2010/main" val="2015478564"/>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38210891"/>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상세</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22064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528131"/>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528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528130"/>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528130"/>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375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39729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186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1736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2957052"/>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2957052"/>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2957052"/>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295705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173659"/>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2918929"/>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838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511658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53068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6202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401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54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6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2907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2485990"/>
            <a:ext cx="2630093" cy="2031034"/>
            <a:chOff x="3791188" y="2611009"/>
            <a:chExt cx="2630093" cy="2031034"/>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4589293"/>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spTree>
    <p:extLst>
      <p:ext uri="{BB962C8B-B14F-4D97-AF65-F5344CB8AC3E}">
        <p14:creationId xmlns:p14="http://schemas.microsoft.com/office/powerpoint/2010/main" val="3272982520"/>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95289058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개별 건 입찰참가 취소</a:t>
            </a:r>
            <a:r>
              <a:rPr lang="en-US" altLang="ko-KR" dirty="0"/>
              <a:t/>
            </a:r>
            <a:br>
              <a:rPr lang="en-US" altLang="ko-KR" dirty="0"/>
            </a:br>
            <a:r>
              <a:rPr lang="en-US" altLang="ko-KR" dirty="0"/>
              <a:t>- </a:t>
            </a:r>
            <a:r>
              <a:rPr lang="ko-KR" altLang="en-US" dirty="0"/>
              <a:t>입찰참가 취소 팝업 호출</a:t>
            </a:r>
            <a:r>
              <a:rPr lang="en-US" altLang="ko-KR" dirty="0"/>
              <a:t/>
            </a:r>
            <a:br>
              <a:rPr lang="en-US" altLang="ko-KR" dirty="0"/>
            </a:br>
            <a:r>
              <a:rPr lang="en-US" altLang="ko-KR" dirty="0"/>
              <a:t>- </a:t>
            </a:r>
            <a:r>
              <a:rPr lang="ko-KR" altLang="en-US" dirty="0" err="1"/>
              <a:t>플로팅</a:t>
            </a:r>
            <a:r>
              <a:rPr lang="ko-KR" altLang="en-US" dirty="0"/>
              <a:t> 버튼으로 전체 입찰참가 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666363545"/>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개별 건 입찰참가 취소</a:t>
            </a:r>
            <a:r>
              <a:rPr lang="en-US" altLang="ko-KR" dirty="0"/>
              <a:t/>
            </a:r>
            <a:br>
              <a:rPr lang="en-US" altLang="ko-KR" dirty="0"/>
            </a:br>
            <a:r>
              <a:rPr lang="en-US" altLang="ko-KR" dirty="0"/>
              <a:t>- </a:t>
            </a:r>
            <a:r>
              <a:rPr lang="ko-KR" altLang="en-US" dirty="0"/>
              <a:t>입찰참가 취소 팝업 호출</a:t>
            </a:r>
            <a:r>
              <a:rPr lang="en-US" altLang="ko-KR" dirty="0"/>
              <a:t/>
            </a:r>
            <a:br>
              <a:rPr lang="en-US" altLang="ko-KR" dirty="0"/>
            </a:br>
            <a:r>
              <a:rPr lang="en-US" altLang="ko-KR" dirty="0"/>
              <a:t>- </a:t>
            </a:r>
            <a:r>
              <a:rPr lang="ko-KR" altLang="en-US" dirty="0" err="1"/>
              <a:t>플로팅</a:t>
            </a:r>
            <a:r>
              <a:rPr lang="ko-KR" altLang="en-US" dirty="0"/>
              <a:t> 버튼으로 전체 입찰참가 취소</a:t>
            </a:r>
            <a:endParaRPr lang="en-US" altLang="ko-KR" dirty="0"/>
          </a:p>
          <a:p>
            <a:pPr marL="228600" indent="-228600">
              <a:buFont typeface="+mj-lt"/>
              <a:buAutoNum type="arabicPeriod"/>
            </a:pPr>
            <a:r>
              <a:rPr lang="ko-KR" altLang="en-US" dirty="0" err="1"/>
              <a:t>보증서선택</a:t>
            </a:r>
            <a:r>
              <a:rPr lang="ko-KR" altLang="en-US" dirty="0"/>
              <a:t> 클릭 이벤트</a:t>
            </a:r>
            <a:r>
              <a:rPr lang="en-US" altLang="ko-KR" dirty="0"/>
              <a:t/>
            </a:r>
            <a:br>
              <a:rPr lang="en-US" altLang="ko-KR" dirty="0"/>
            </a:br>
            <a:r>
              <a:rPr lang="en-US" altLang="ko-KR" dirty="0"/>
              <a:t>- </a:t>
            </a:r>
            <a:r>
              <a:rPr lang="ko-KR" altLang="en-US" dirty="0"/>
              <a:t>전자보증서인 경우 팝업 호출</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622342707"/>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4012334900"/>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353</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nvGraphicFramePr>
        <p:xfrm>
          <a:off x="452999" y="2356556"/>
          <a:ext cx="8994883" cy="174528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27137252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354</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8751539"/>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355</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88902494"/>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ext uri="{D42A27DB-BD31-4B8C-83A1-F6EECF244321}">
                <p14:modId xmlns:p14="http://schemas.microsoft.com/office/powerpoint/2010/main" val="2602571522"/>
              </p:ext>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5567566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58147274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3863401"/>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ext uri="{D42A27DB-BD31-4B8C-83A1-F6EECF244321}">
                <p14:modId xmlns:p14="http://schemas.microsoft.com/office/powerpoint/2010/main" val="2870822284"/>
              </p:ext>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810221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2031034"/>
            <a:chOff x="3791188" y="2611009"/>
            <a:chExt cx="2630093" cy="2031034"/>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641022599"/>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154422078"/>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nvGraphicFramePr>
        <p:xfrm>
          <a:off x="452999" y="2184935"/>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주민등록번호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a:solidFill>
                            <a:srgbClr val="000000"/>
                          </a:solidFill>
                          <a:effectLst/>
                          <a:latin typeface="+mn-ea"/>
                          <a:ea typeface="+mn-ea"/>
                        </a:rPr>
                        <a:t>전화번호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4066951428"/>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86615949"/>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364</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ext uri="{D42A27DB-BD31-4B8C-83A1-F6EECF244321}">
                <p14:modId xmlns:p14="http://schemas.microsoft.com/office/powerpoint/2010/main" val="1736466087"/>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152559"/>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937904"/>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2083489"/>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587890787"/>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475844041"/>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57442551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111592852"/>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16774423"/>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4708923"/>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371</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2495120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51591761"/>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373</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8183563"/>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16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27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212643"/>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2832640"/>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13730010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853457978"/>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152719787"/>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339382755"/>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1632013487"/>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4468295"/>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138053"/>
                  </a:ext>
                </a:extLst>
              </a:tr>
              <a:tr h="0">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5704475"/>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37878096"/>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627174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382</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322025474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0641184"/>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384</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ext uri="{D42A27DB-BD31-4B8C-83A1-F6EECF244321}">
                <p14:modId xmlns:p14="http://schemas.microsoft.com/office/powerpoint/2010/main" val="1372084293"/>
              </p:ext>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입찰서조회</a:t>
                      </a:r>
                      <a:r>
                        <a:rPr lang="en-US" altLang="ko-KR" sz="800">
                          <a:latin typeface="+mn-ea"/>
                          <a:ea typeface="+mn-ea"/>
                        </a:rPr>
                        <a:t>, </a:t>
                      </a:r>
                      <a:r>
                        <a:rPr lang="ko-KR" altLang="en-US" sz="800">
                          <a:latin typeface="+mn-ea"/>
                          <a:ea typeface="+mn-ea"/>
                        </a:rPr>
                        <a:t>입찰서품목조회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69225790"/>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2031034"/>
            <a:chOff x="3791188" y="2611009"/>
            <a:chExt cx="2630093" cy="2031034"/>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70448322"/>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nvGraphicFramePr>
        <p:xfrm>
          <a:off x="452999" y="3175535"/>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주민등록번호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a:solidFill>
                            <a:srgbClr val="000000"/>
                          </a:solidFill>
                          <a:effectLst/>
                          <a:latin typeface="+mn-ea"/>
                          <a:ea typeface="+mn-ea"/>
                        </a:rPr>
                        <a:t>전화번호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77872807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387</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2909502784"/>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388</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38071195"/>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416132184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919413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2868235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2031034"/>
            <a:chOff x="3791188" y="2611009"/>
            <a:chExt cx="2630093" cy="2031034"/>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557149967"/>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nvGraphicFramePr>
        <p:xfrm>
          <a:off x="452999" y="3567110"/>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1861566"/>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24016744"/>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2943033968"/>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395</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1273379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25935295"/>
              </p:ext>
            </p:extLst>
          </p:nvPr>
        </p:nvGraphicFramePr>
        <p:xfrm>
          <a:off x="635474" y="1413419"/>
          <a:ext cx="8701200" cy="462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bdopnList</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BdopnListPage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UC-BD-11-02</a:t>
                      </a:r>
                    </a:p>
                    <a:p>
                      <a:pPr algn="ctr" latinLnBrk="1">
                        <a:defRPr/>
                      </a:pPr>
                      <a:r>
                        <a:rPr lang="en-US" altLang="ko-KR" sz="800" dirty="0">
                          <a:latin typeface="+mn-ea"/>
                          <a:ea typeface="+mn-ea"/>
                        </a:rPr>
                        <a:t>UC-BD-12-01</a:t>
                      </a:r>
                    </a:p>
                    <a:p>
                      <a:pPr algn="ctr" latinLnBrk="1">
                        <a:defRPr/>
                      </a:pPr>
                      <a:r>
                        <a:rPr lang="en-US" altLang="ko-KR" sz="800" dirty="0">
                          <a:latin typeface="+mn-ea"/>
                          <a:ea typeface="+mn-ea"/>
                        </a:rPr>
                        <a:t>UC-BD-12-02</a:t>
                      </a:r>
                    </a:p>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p>
                      <a:pPr algn="ctr" latinLnBrk="1">
                        <a:defRPr/>
                      </a:pPr>
                      <a:r>
                        <a:rPr lang="en-US" altLang="ko-KR" sz="800" dirty="0">
                          <a:latin typeface="+mn-ea"/>
                          <a:ea typeface="+mn-ea"/>
                        </a:rPr>
                        <a:t>UC-BD-15-01</a:t>
                      </a:r>
                    </a:p>
                    <a:p>
                      <a:pPr algn="ctr" latinLnBrk="1">
                        <a:defRPr/>
                      </a:pPr>
                      <a:r>
                        <a:rPr lang="en-US" altLang="ko-KR" sz="800" dirty="0">
                          <a:latin typeface="+mn-ea"/>
                          <a:ea typeface="+mn-ea"/>
                        </a:rPr>
                        <a:t>UC-BD-15-02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a:solidFill>
                            <a:schemeClr val="tx1"/>
                          </a:solidFill>
                          <a:latin typeface="+mn-ea"/>
                          <a:ea typeface="+mn-ea"/>
                          <a:cs typeface="+mn-cs"/>
                        </a:rPr>
                        <a:t>MUI-BD-09-M71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OvsBidRsltDtlPage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a:solidFill>
                            <a:schemeClr val="tx1"/>
                          </a:solidFill>
                          <a:latin typeface="+mn-ea"/>
                          <a:ea typeface="+mn-ea"/>
                          <a:cs typeface="+mn-cs"/>
                        </a:rPr>
                        <a:t>MUI-BD-09-M72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단가제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a:solidFill>
                            <a:schemeClr val="tx1"/>
                          </a:solidFill>
                          <a:latin typeface="+mn-ea"/>
                          <a:ea typeface="+mn-ea"/>
                          <a:cs typeface="+mn-cs"/>
                        </a:rPr>
                        <a:t>MUI-BD-09-M73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총액제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a:solidFill>
                            <a:schemeClr val="tx1"/>
                          </a:solidFill>
                          <a:latin typeface="+mn-ea"/>
                          <a:ea typeface="+mn-ea"/>
                          <a:cs typeface="+mn-cs"/>
                        </a:rPr>
                        <a:t>MUI-BD-12-M71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a:solidFill>
                            <a:schemeClr val="tx1"/>
                          </a:solidFill>
                          <a:latin typeface="+mn-ea"/>
                          <a:ea typeface="+mn-ea"/>
                          <a:cs typeface="+mn-cs"/>
                        </a:rPr>
                        <a:t>MUI-BD-12-M72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err="1">
                          <a:latin typeface="+mn-ea"/>
                          <a:ea typeface="+mn-ea"/>
                        </a:rPr>
                        <a:t>품목정보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a:solidFill>
                            <a:schemeClr val="tx1"/>
                          </a:solidFill>
                          <a:latin typeface="+mn-ea"/>
                          <a:ea typeface="+mn-ea"/>
                          <a:cs typeface="+mn-cs"/>
                        </a:rPr>
                        <a:t>MUI-BD-12-M73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첨부서류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ctr" fontAlgn="ctr"/>
                      <a:r>
                        <a:rPr lang="en-US" altLang="ko-KR" sz="700" kern="1200" dirty="0">
                          <a:solidFill>
                            <a:schemeClr val="tx1"/>
                          </a:solidFill>
                          <a:latin typeface="+mn-ea"/>
                          <a:ea typeface="+mn-ea"/>
                          <a:cs typeface="+mn-cs"/>
                        </a:rPr>
                        <a:t>MUI-BD-12-M74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공개수의협상견적서제출</a:t>
                      </a:r>
                      <a:r>
                        <a:rPr lang="ko-KR" altLang="en-US" sz="800" dirty="0">
                          <a:latin typeface="+mn-ea"/>
                          <a:ea typeface="+mn-ea"/>
                        </a:rPr>
                        <a:t> </a:t>
                      </a:r>
                      <a:r>
                        <a:rPr lang="en-US" altLang="ko-KR" sz="800" dirty="0">
                          <a:latin typeface="+mn-ea"/>
                          <a:ea typeface="+mn-ea"/>
                        </a:rPr>
                        <a:t>- </a:t>
                      </a:r>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159705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41383540"/>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63757379"/>
              </p:ext>
            </p:extLst>
          </p:nvPr>
        </p:nvGraphicFramePr>
        <p:xfrm>
          <a:off x="635474" y="1413419"/>
          <a:ext cx="8701200" cy="3697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MUI-BD-12-M76</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4 -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공개수의협상견적서상세</a:t>
                      </a:r>
                      <a:r>
                        <a:rPr lang="en-US" altLang="ko-KR" sz="800" dirty="0">
                          <a:latin typeface="+mn-ea"/>
                          <a:ea typeface="+mn-ea"/>
                        </a:rPr>
                        <a:t>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OvsRlsVltrnsNgtnEtdcDtlPage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OvsRlsVltrnsNgtnEtdcDtlPage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MUI-BD-12-M79</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MUI-BD-12-M80</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공개수의협상견적서취소신청서작성</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OvsRlsVltrnsNgtnEtdcRtrcnApfrWrt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dirty="0" err="1">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공개수의협상결과조회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71262410"/>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1830245"/>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latin typeface="+mn-ea"/>
              </a:rPr>
              <a:t>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66805851"/>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034299871"/>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 결과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478086"/>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945040965"/>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4241865396"/>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4</a:t>
              </a: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935968375"/>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12505873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37137667"/>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406</a:t>
            </a:fld>
            <a:endParaRPr lang="ko-KR" altLang="en-US"/>
          </a:p>
        </p:txBody>
      </p:sp>
    </p:spTree>
    <p:extLst>
      <p:ext uri="{BB962C8B-B14F-4D97-AF65-F5344CB8AC3E}">
        <p14:creationId xmlns:p14="http://schemas.microsoft.com/office/powerpoint/2010/main" val="1235907532"/>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38764864"/>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408</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164553969"/>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409</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ext uri="{D42A27DB-BD31-4B8C-83A1-F6EECF244321}">
                <p14:modId xmlns:p14="http://schemas.microsoft.com/office/powerpoint/2010/main" val="4276549034"/>
              </p:ext>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0822741"/>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공개 </a:t>
            </a:r>
            <a:r>
              <a:rPr lang="ko-KR" altLang="en-US" sz="800" dirty="0" err="1"/>
              <a:t>수의협상</a:t>
            </a:r>
            <a:r>
              <a:rPr lang="ko-KR" altLang="en-US" sz="800" dirty="0"/>
              <a:t> </a:t>
            </a:r>
            <a:r>
              <a:rPr lang="ko-KR" altLang="en-US" sz="800" dirty="0" err="1"/>
              <a:t>계획상세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3631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907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7412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74123"/>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9073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3600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4191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9706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274123"/>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Tree>
    <p:extLst>
      <p:ext uri="{BB962C8B-B14F-4D97-AF65-F5344CB8AC3E}">
        <p14:creationId xmlns:p14="http://schemas.microsoft.com/office/powerpoint/2010/main" val="2002005615"/>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82671818"/>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377169756"/>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80172291"/>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6896225"/>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016667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416</a:t>
            </a:fld>
            <a:endParaRPr lang="ko-KR" altLang="en-US"/>
          </a:p>
        </p:txBody>
      </p:sp>
    </p:spTree>
    <p:extLst>
      <p:ext uri="{BB962C8B-B14F-4D97-AF65-F5344CB8AC3E}">
        <p14:creationId xmlns:p14="http://schemas.microsoft.com/office/powerpoint/2010/main" val="602362016"/>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233380498"/>
              </p:ext>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62076146"/>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957212"/>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217141693"/>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9554536"/>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900171360"/>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Tree>
    <p:extLst>
      <p:ext uri="{BB962C8B-B14F-4D97-AF65-F5344CB8AC3E}">
        <p14:creationId xmlns:p14="http://schemas.microsoft.com/office/powerpoint/2010/main" val="1674491053"/>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932764804"/>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nvGraphicFramePr>
        <p:xfrm>
          <a:off x="452999" y="4657311"/>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848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42974516"/>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3770085522"/>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63979119"/>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41700916"/>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427</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ext uri="{D42A27DB-BD31-4B8C-83A1-F6EECF244321}">
                <p14:modId xmlns:p14="http://schemas.microsoft.com/office/powerpoint/2010/main" val="1157832990"/>
              </p:ext>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02149899"/>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2834874"/>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7766"/>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231951"/>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10542257"/>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473946049"/>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spTree>
    <p:extLst>
      <p:ext uri="{BB962C8B-B14F-4D97-AF65-F5344CB8AC3E}">
        <p14:creationId xmlns:p14="http://schemas.microsoft.com/office/powerpoint/2010/main" val="684699783"/>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6397264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874499488"/>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nvGraphicFramePr>
        <p:xfrm>
          <a:off x="452999" y="4657311"/>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848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143779121"/>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367380875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783542547"/>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436</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ext uri="{D42A27DB-BD31-4B8C-83A1-F6EECF244321}">
                <p14:modId xmlns:p14="http://schemas.microsoft.com/office/powerpoint/2010/main" val="67635232"/>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14366898"/>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2872347855"/>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2779410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439</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ext uri="{D42A27DB-BD31-4B8C-83A1-F6EECF244321}">
                <p14:modId xmlns:p14="http://schemas.microsoft.com/office/powerpoint/2010/main" val="781280203"/>
              </p:ext>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844698885"/>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공개수의협상 결과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478086"/>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230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774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6081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6081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7742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2269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28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8375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02338459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62945648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4123150148"/>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374094"/>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599753"/>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445</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ext uri="{D42A27DB-BD31-4B8C-83A1-F6EECF244321}">
                <p14:modId xmlns:p14="http://schemas.microsoft.com/office/powerpoint/2010/main" val="2258419260"/>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07228848"/>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18762</TotalTime>
  <Words>74132</Words>
  <Application>Microsoft Office PowerPoint</Application>
  <PresentationFormat>A4 용지(210x297mm)</PresentationFormat>
  <Paragraphs>30192</Paragraphs>
  <Slides>446</Slides>
  <Notes>10</Notes>
  <HiddenSlides>0</HiddenSlides>
  <MMClips>0</MMClips>
  <ScaleCrop>false</ScaleCrop>
  <HeadingPairs>
    <vt:vector size="6" baseType="variant">
      <vt:variant>
        <vt:lpstr>사용한 글꼴</vt:lpstr>
      </vt:variant>
      <vt:variant>
        <vt:i4>11</vt:i4>
      </vt:variant>
      <vt:variant>
        <vt:lpstr>테마</vt:lpstr>
      </vt:variant>
      <vt:variant>
        <vt:i4>1</vt:i4>
      </vt:variant>
      <vt:variant>
        <vt:lpstr>슬라이드 제목</vt:lpstr>
      </vt:variant>
      <vt:variant>
        <vt:i4>446</vt:i4>
      </vt:variant>
    </vt:vector>
  </HeadingPairs>
  <TitlesOfParts>
    <vt:vector size="458" baseType="lpstr">
      <vt:lpstr>Pretendard Medium</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User</cp:lastModifiedBy>
  <cp:revision>926</cp:revision>
  <cp:lastPrinted>2016-10-27T08:57:39Z</cp:lastPrinted>
  <dcterms:created xsi:type="dcterms:W3CDTF">2016-10-27T07:41:55Z</dcterms:created>
  <dcterms:modified xsi:type="dcterms:W3CDTF">2026-06-22T06:24:08Z</dcterms:modified>
  <cp:category>서브시스템/업무명</cp:category>
  <cp:contentStatus>0.1</cp:contentStatus>
</cp:coreProperties>
</file>