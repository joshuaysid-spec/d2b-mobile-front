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77"/>
  </p:notesMasterIdLst>
  <p:handoutMasterIdLst>
    <p:handoutMasterId r:id="rId78"/>
  </p:handoutMasterIdLst>
  <p:sldIdLst>
    <p:sldId id="256" r:id="rId2"/>
    <p:sldId id="841" r:id="rId3"/>
    <p:sldId id="764" r:id="rId4"/>
    <p:sldId id="356" r:id="rId5"/>
    <p:sldId id="260" r:id="rId6"/>
    <p:sldId id="842" r:id="rId7"/>
    <p:sldId id="843" r:id="rId8"/>
    <p:sldId id="844" r:id="rId9"/>
    <p:sldId id="845" r:id="rId10"/>
    <p:sldId id="670" r:id="rId11"/>
    <p:sldId id="292" r:id="rId12"/>
    <p:sldId id="802" r:id="rId13"/>
    <p:sldId id="630" r:id="rId14"/>
    <p:sldId id="633" r:id="rId15"/>
    <p:sldId id="805" r:id="rId16"/>
    <p:sldId id="744" r:id="rId17"/>
    <p:sldId id="745" r:id="rId18"/>
    <p:sldId id="806" r:id="rId19"/>
    <p:sldId id="807" r:id="rId20"/>
    <p:sldId id="808" r:id="rId21"/>
    <p:sldId id="749" r:id="rId22"/>
    <p:sldId id="809" r:id="rId23"/>
    <p:sldId id="810" r:id="rId24"/>
    <p:sldId id="753" r:id="rId25"/>
    <p:sldId id="836" r:id="rId26"/>
    <p:sldId id="754" r:id="rId27"/>
    <p:sldId id="811" r:id="rId28"/>
    <p:sldId id="756" r:id="rId29"/>
    <p:sldId id="814" r:id="rId30"/>
    <p:sldId id="758" r:id="rId31"/>
    <p:sldId id="759" r:id="rId32"/>
    <p:sldId id="763" r:id="rId33"/>
    <p:sldId id="815" r:id="rId34"/>
    <p:sldId id="816" r:id="rId35"/>
    <p:sldId id="817" r:id="rId36"/>
    <p:sldId id="765" r:id="rId37"/>
    <p:sldId id="766" r:id="rId38"/>
    <p:sldId id="767" r:id="rId39"/>
    <p:sldId id="768" r:id="rId40"/>
    <p:sldId id="776" r:id="rId41"/>
    <p:sldId id="818" r:id="rId42"/>
    <p:sldId id="769" r:id="rId43"/>
    <p:sldId id="770" r:id="rId44"/>
    <p:sldId id="820" r:id="rId45"/>
    <p:sldId id="821" r:id="rId46"/>
    <p:sldId id="777" r:id="rId47"/>
    <p:sldId id="837" r:id="rId48"/>
    <p:sldId id="822" r:id="rId49"/>
    <p:sldId id="823" r:id="rId50"/>
    <p:sldId id="779" r:id="rId51"/>
    <p:sldId id="780" r:id="rId52"/>
    <p:sldId id="824" r:id="rId53"/>
    <p:sldId id="825" r:id="rId54"/>
    <p:sldId id="826" r:id="rId55"/>
    <p:sldId id="786" r:id="rId56"/>
    <p:sldId id="838" r:id="rId57"/>
    <p:sldId id="787" r:id="rId58"/>
    <p:sldId id="827" r:id="rId59"/>
    <p:sldId id="788" r:id="rId60"/>
    <p:sldId id="789" r:id="rId61"/>
    <p:sldId id="828" r:id="rId62"/>
    <p:sldId id="829" r:id="rId63"/>
    <p:sldId id="830" r:id="rId64"/>
    <p:sldId id="794" r:id="rId65"/>
    <p:sldId id="839" r:id="rId66"/>
    <p:sldId id="831" r:id="rId67"/>
    <p:sldId id="832" r:id="rId68"/>
    <p:sldId id="795" r:id="rId69"/>
    <p:sldId id="796" r:id="rId70"/>
    <p:sldId id="833" r:id="rId71"/>
    <p:sldId id="834" r:id="rId72"/>
    <p:sldId id="835" r:id="rId73"/>
    <p:sldId id="771" r:id="rId74"/>
    <p:sldId id="840" r:id="rId75"/>
    <p:sldId id="819" r:id="rId7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841"/>
            <p14:sldId id="764"/>
            <p14:sldId id="356"/>
            <p14:sldId id="260"/>
          </p14:sldIdLst>
        </p14:section>
        <p14:section name="목록" id="{A88D8C4A-42D5-488C-851B-9A15CEB54A60}">
          <p14:sldIdLst>
            <p14:sldId id="842"/>
            <p14:sldId id="843"/>
            <p14:sldId id="844"/>
          </p14:sldIdLst>
        </p14:section>
        <p14:section name="1.이행" id="{BB5718C8-07C1-4018-9189-79486BE9C0C5}">
          <p14:sldIdLst>
            <p14:sldId id="845"/>
            <p14:sldId id="670"/>
            <p14:sldId id="292"/>
            <p14:sldId id="802"/>
            <p14:sldId id="630"/>
            <p14:sldId id="633"/>
            <p14:sldId id="805"/>
            <p14:sldId id="744"/>
            <p14:sldId id="745"/>
            <p14:sldId id="806"/>
            <p14:sldId id="807"/>
            <p14:sldId id="808"/>
            <p14:sldId id="749"/>
            <p14:sldId id="809"/>
            <p14:sldId id="810"/>
            <p14:sldId id="753"/>
            <p14:sldId id="836"/>
            <p14:sldId id="754"/>
            <p14:sldId id="811"/>
            <p14:sldId id="756"/>
            <p14:sldId id="814"/>
            <p14:sldId id="758"/>
            <p14:sldId id="759"/>
            <p14:sldId id="763"/>
            <p14:sldId id="815"/>
            <p14:sldId id="816"/>
            <p14:sldId id="817"/>
          </p14:sldIdLst>
        </p14:section>
        <p14:section name="[국외] 한도액계약 &amp; 선적내역" id="{435CC6E4-0D47-4966-8A17-65080AAA2FB5}">
          <p14:sldIdLst>
            <p14:sldId id="765"/>
            <p14:sldId id="766"/>
            <p14:sldId id="767"/>
            <p14:sldId id="768"/>
            <p14:sldId id="776"/>
            <p14:sldId id="818"/>
            <p14:sldId id="769"/>
            <p14:sldId id="770"/>
            <p14:sldId id="820"/>
            <p14:sldId id="821"/>
            <p14:sldId id="777"/>
            <p14:sldId id="837"/>
            <p14:sldId id="822"/>
            <p14:sldId id="823"/>
            <p14:sldId id="779"/>
            <p14:sldId id="780"/>
            <p14:sldId id="824"/>
            <p14:sldId id="825"/>
            <p14:sldId id="826"/>
            <p14:sldId id="786"/>
            <p14:sldId id="838"/>
            <p14:sldId id="787"/>
            <p14:sldId id="827"/>
            <p14:sldId id="788"/>
            <p14:sldId id="789"/>
            <p14:sldId id="828"/>
            <p14:sldId id="829"/>
            <p14:sldId id="830"/>
            <p14:sldId id="794"/>
            <p14:sldId id="839"/>
            <p14:sldId id="831"/>
            <p14:sldId id="832"/>
            <p14:sldId id="795"/>
            <p14:sldId id="796"/>
            <p14:sldId id="833"/>
            <p14:sldId id="834"/>
            <p14:sldId id="835"/>
            <p14:sldId id="771"/>
            <p14:sldId id="840"/>
            <p14:sldId id="8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88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2026-07-08 (Wednesday)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2026-07-08 (Wednesday)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04.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이행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04.</a:t>
            </a:r>
            <a:r>
              <a:rPr lang="ko-KR" altLang="en-US" dirty="0"/>
              <a:t>이행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37212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362632"/>
              </p:ext>
            </p:extLst>
          </p:nvPr>
        </p:nvGraphicFramePr>
        <p:xfrm>
          <a:off x="652374" y="1286787"/>
          <a:ext cx="8782571" cy="3980190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.9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2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3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98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3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17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37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14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26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AD5474A3-B992-4B2C-42CB-59514F09A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30591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305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이행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 err="1">
                          <a:latin typeface="+mn-ea"/>
                        </a:rPr>
                        <a:t>한도액계약</a:t>
                      </a:r>
                      <a:r>
                        <a:rPr lang="ko-KR" altLang="en-US" sz="1200" dirty="0">
                          <a:latin typeface="+mn-ea"/>
                        </a:rPr>
                        <a:t> </a:t>
                      </a:r>
                      <a:r>
                        <a:rPr lang="ko-KR" altLang="en-US" sz="1200" dirty="0"/>
                        <a:t>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이행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5474" y="1413419"/>
          <a:ext cx="8701200" cy="36784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MUI-EX-01-M01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InspIntgListInqPage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 및 준공검사 대상 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MUI-EX-01-P08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InspIntgListInq_SrchFilter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InspDlvdocDtlPage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MUI-EX-01-T01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InspDlvdocDtl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2478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MUI-EX-01-T02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InspDlvdocDtl_CmdtyList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589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MUI-EX-01-M03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InspDlvdocDtlSbsdPrcmPage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InspDlvdocDtlSbsdPrcmDtl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4318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InspDlvdocDtlSbsdPrcmDtl_CmdtyList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0774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MUI-EX-01-M04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기성및준공검사상세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PxcndCmcnInspDtlPage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pxcndCmcnInspDtlPage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PxcndCmcnInspDtl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590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이행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5474" y="1413419"/>
          <a:ext cx="8701200" cy="2456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검사및납품조서현황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현황 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628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조서발행번호정보조회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RecrdPblcnNoInfoInqPage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조서발행번호 조회 팝업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0054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MUI-EX-01-M07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검사및납품조서결과상세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검사및납품조서결과상세를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9155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DlvdocRsltDtl_CmdtyList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95350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126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검사통합목록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</a:t>
            </a:r>
            <a:r>
              <a:rPr lang="ko-KR" altLang="en-US" sz="800" dirty="0" smtClean="0">
                <a:solidFill>
                  <a:schemeClr val="tx1"/>
                </a:solidFill>
              </a:rPr>
              <a:t>필터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검사통합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45000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8507956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8536953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62" idx="1"/>
          </p:cNvCxnSpPr>
          <p:nvPr/>
        </p:nvCxnSpPr>
        <p:spPr>
          <a:xfrm rot="16200000" flipH="1">
            <a:off x="2997822" y="1735750"/>
            <a:ext cx="537573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491608" y="953964"/>
            <a:ext cx="12700" cy="135000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356149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기성및준공검사상세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34" idx="1"/>
          </p:cNvCxnSpPr>
          <p:nvPr/>
        </p:nvCxnSpPr>
        <p:spPr>
          <a:xfrm rot="16200000" flipH="1">
            <a:off x="2372343" y="2361229"/>
            <a:ext cx="1788531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158" idx="2"/>
          </p:cNvCxnSpPr>
          <p:nvPr/>
        </p:nvCxnSpPr>
        <p:spPr>
          <a:xfrm flipV="1">
            <a:off x="4616608" y="3083939"/>
            <a:ext cx="3920345" cy="621556"/>
          </a:xfrm>
          <a:prstGeom prst="bentConnector3">
            <a:avLst>
              <a:gd name="adj1" fmla="val 853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720468" y="218913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720468" y="3441630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공사 계약 선택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67" idx="1"/>
          </p:cNvCxnSpPr>
          <p:nvPr/>
        </p:nvCxnSpPr>
        <p:spPr>
          <a:xfrm flipV="1">
            <a:off x="4616608" y="2318132"/>
            <a:ext cx="534770" cy="1364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42388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검사및납품조서현황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491238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조서발행번호정보조회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2" idx="1"/>
          </p:cNvCxnSpPr>
          <p:nvPr/>
        </p:nvCxnSpPr>
        <p:spPr>
          <a:xfrm>
            <a:off x="1435474" y="1772964"/>
            <a:ext cx="931134" cy="26098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55877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 및 </a:t>
            </a:r>
            <a:r>
              <a:rPr lang="ko-KR" altLang="en-US" sz="800" dirty="0" err="1">
                <a:solidFill>
                  <a:schemeClr val="tx1"/>
                </a:solidFill>
              </a:rPr>
              <a:t>납품조서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결과상세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423698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</a:t>
            </a:r>
            <a:r>
              <a:rPr lang="ko-KR" altLang="en-US" sz="800" dirty="0" smtClean="0">
                <a:solidFill>
                  <a:schemeClr val="tx1"/>
                </a:solidFill>
              </a:rPr>
              <a:t>필터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 flipV="1">
            <a:off x="3266608" y="4380989"/>
            <a:ext cx="450000" cy="18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2" idx="2"/>
            <a:endCxn id="74" idx="1"/>
          </p:cNvCxnSpPr>
          <p:nvPr/>
        </p:nvCxnSpPr>
        <p:spPr>
          <a:xfrm rot="16200000" flipH="1">
            <a:off x="2664141" y="4679315"/>
            <a:ext cx="1204935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0"/>
            <a:endCxn id="62" idx="0"/>
          </p:cNvCxnSpPr>
          <p:nvPr/>
        </p:nvCxnSpPr>
        <p:spPr>
          <a:xfrm rot="16200000" flipH="1" flipV="1">
            <a:off x="3490678" y="3562918"/>
            <a:ext cx="1859" cy="1350000"/>
          </a:xfrm>
          <a:prstGeom prst="bentConnector3">
            <a:avLst>
              <a:gd name="adj1" fmla="val -122969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23" idx="1"/>
          </p:cNvCxnSpPr>
          <p:nvPr/>
        </p:nvCxnSpPr>
        <p:spPr>
          <a:xfrm rot="16200000" flipH="1">
            <a:off x="2683121" y="2050451"/>
            <a:ext cx="1166975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720468" y="282454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2"/>
            <a:endCxn id="71" idx="0"/>
          </p:cNvCxnSpPr>
          <p:nvPr/>
        </p:nvCxnSpPr>
        <p:spPr>
          <a:xfrm>
            <a:off x="4166608" y="4524989"/>
            <a:ext cx="0" cy="3873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1" idx="3"/>
            <a:endCxn id="76" idx="3"/>
          </p:cNvCxnSpPr>
          <p:nvPr/>
        </p:nvCxnSpPr>
        <p:spPr>
          <a:xfrm flipV="1">
            <a:off x="4616608" y="4380989"/>
            <a:ext cx="12700" cy="6753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51378" y="1996184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b="1" dirty="0">
                <a:solidFill>
                  <a:schemeClr val="tx1"/>
                </a:solidFill>
              </a:rPr>
              <a:t> 상세 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275037" y="22569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7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369634" y="22569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1" name="그룹 80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89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51378" y="2844435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b="1" dirty="0">
                <a:solidFill>
                  <a:schemeClr val="tx1"/>
                </a:solidFill>
              </a:rPr>
              <a:t> 상세 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9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275037" y="310516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9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369634" y="310516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93" idx="1"/>
          </p:cNvCxnSpPr>
          <p:nvPr/>
        </p:nvCxnSpPr>
        <p:spPr>
          <a:xfrm>
            <a:off x="4616608" y="3083939"/>
            <a:ext cx="534770" cy="824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51378" y="5347199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검사 및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납품조서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결과상세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275037" y="560792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0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369634" y="560792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97" idx="1"/>
          </p:cNvCxnSpPr>
          <p:nvPr/>
        </p:nvCxnSpPr>
        <p:spPr>
          <a:xfrm flipV="1">
            <a:off x="4616608" y="5669147"/>
            <a:ext cx="534770" cy="626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7" idx="3"/>
            <a:endCxn id="158" idx="2"/>
          </p:cNvCxnSpPr>
          <p:nvPr/>
        </p:nvCxnSpPr>
        <p:spPr>
          <a:xfrm flipV="1">
            <a:off x="7384870" y="3083939"/>
            <a:ext cx="1152083" cy="258520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3" idx="3"/>
            <a:endCxn id="158" idx="2"/>
          </p:cNvCxnSpPr>
          <p:nvPr/>
        </p:nvCxnSpPr>
        <p:spPr>
          <a:xfrm flipV="1">
            <a:off x="7384870" y="3083939"/>
            <a:ext cx="1152083" cy="824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7" idx="3"/>
            <a:endCxn id="158" idx="2"/>
          </p:cNvCxnSpPr>
          <p:nvPr/>
        </p:nvCxnSpPr>
        <p:spPr>
          <a:xfrm>
            <a:off x="7384870" y="2318132"/>
            <a:ext cx="1152083" cy="7658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0885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검사통합목록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0885" y="216638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</a:rPr>
              <a:t>검사통합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InspIntgListInq_SrchFilter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268863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중앙조달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45167" y="2747194"/>
            <a:ext cx="226370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검사및납품조서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>
                <a:solidFill>
                  <a:schemeClr val="tx1"/>
                </a:solidFill>
              </a:rPr>
              <a:t>inspDlvdoc</a:t>
            </a:r>
            <a:r>
              <a:rPr lang="en-US" altLang="ko-KR" sz="1100" dirty="0" err="1"/>
              <a:t>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48085" y="1865266"/>
            <a:ext cx="1212006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48085" y="2387512"/>
            <a:ext cx="1212006" cy="60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748085" y="2909758"/>
            <a:ext cx="1212006" cy="8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578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21087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73312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25536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77761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48085" y="2990174"/>
            <a:ext cx="1212006" cy="441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48085" y="2990174"/>
            <a:ext cx="1212006" cy="96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48085" y="2990174"/>
            <a:ext cx="1212006" cy="148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48085" y="2990174"/>
            <a:ext cx="1212006" cy="2008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299862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48085" y="2990174"/>
            <a:ext cx="1212006" cy="2530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기성및준공검사상세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PxcndCmcnInspDtlPage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3"/>
            <a:endCxn id="9" idx="1"/>
          </p:cNvCxnSpPr>
          <p:nvPr/>
        </p:nvCxnSpPr>
        <p:spPr>
          <a:xfrm flipV="1">
            <a:off x="2748085" y="2990174"/>
            <a:ext cx="1212006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4" idx="0"/>
            <a:endCxn id="9" idx="2"/>
          </p:cNvCxnSpPr>
          <p:nvPr/>
        </p:nvCxnSpPr>
        <p:spPr>
          <a:xfrm flipV="1">
            <a:off x="3659208" y="3810190"/>
            <a:ext cx="1164483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5" idx="0"/>
            <a:endCxn id="9" idx="2"/>
          </p:cNvCxnSpPr>
          <p:nvPr/>
        </p:nvCxnSpPr>
        <p:spPr>
          <a:xfrm flipH="1" flipV="1">
            <a:off x="4823691" y="3810190"/>
            <a:ext cx="437321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4" idx="0"/>
            <a:endCxn id="9" idx="2"/>
          </p:cNvCxnSpPr>
          <p:nvPr/>
        </p:nvCxnSpPr>
        <p:spPr>
          <a:xfrm flipH="1" flipV="1">
            <a:off x="4823691" y="3810190"/>
            <a:ext cx="437321" cy="148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3" idx="0"/>
            <a:endCxn id="9" idx="2"/>
          </p:cNvCxnSpPr>
          <p:nvPr/>
        </p:nvCxnSpPr>
        <p:spPr>
          <a:xfrm flipH="1" flipV="1">
            <a:off x="4823691" y="3810190"/>
            <a:ext cx="437321" cy="967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3" idx="0"/>
            <a:endCxn id="9" idx="2"/>
          </p:cNvCxnSpPr>
          <p:nvPr/>
        </p:nvCxnSpPr>
        <p:spPr>
          <a:xfrm flipV="1">
            <a:off x="3659208" y="3810190"/>
            <a:ext cx="1164483" cy="148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2" idx="0"/>
            <a:endCxn id="9" idx="2"/>
          </p:cNvCxnSpPr>
          <p:nvPr/>
        </p:nvCxnSpPr>
        <p:spPr>
          <a:xfrm flipV="1">
            <a:off x="3659208" y="3810190"/>
            <a:ext cx="1164483" cy="967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4777615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검사및납품조서현황목록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5299862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InspDlvdocPrst_SrchFilter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5846371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조서발행번호정보조회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RecrdPblcnNoInfoInqPage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4777615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검사및납품조서결과상세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5299862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검사및납품조서결과상세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5846371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검사및납품조서결과상세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검사 </a:t>
            </a:r>
            <a:r>
              <a:rPr lang="ko-KR" altLang="en-US" dirty="0" err="1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기성 및 준공검사 대상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0775" y="3858386"/>
            <a:ext cx="4744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202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0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55825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검사의뢰완료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939870" y="355648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검사반려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399093" y="3556484"/>
            <a:ext cx="24753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711660" y="3556484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2407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379425"/>
            <a:ext cx="2473257" cy="821562"/>
            <a:chOff x="781461" y="3087955"/>
            <a:chExt cx="2473257" cy="82156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880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모서리가 둥근 직사각형 165"/>
          <p:cNvSpPr/>
          <p:nvPr/>
        </p:nvSpPr>
        <p:spPr>
          <a:xfrm>
            <a:off x="1372190" y="437428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검사완료</a:t>
            </a:r>
            <a:endParaRPr lang="ko-KR" altLang="en-US" sz="6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4318634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검사저장</a:t>
            </a:r>
            <a:endParaRPr lang="ko-KR" altLang="en-US" sz="600" dirty="0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782098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검사완료</a:t>
            </a:r>
            <a:endParaRPr lang="ko-KR" altLang="en-US" sz="600" dirty="0"/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5245543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출납완료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711660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조달접수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6176377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조달반려</a:t>
            </a:r>
            <a:endParaRPr lang="ko-KR" altLang="en-US" sz="600" dirty="0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322406" y="3891192"/>
            <a:ext cx="554484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납품조서반려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4920116" y="3893838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청구저장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99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항목 참고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>
                <a:latin typeface="+mn-ea"/>
              </a:rPr>
              <a:t>검색 필터 </a:t>
            </a:r>
            <a:r>
              <a:rPr lang="en-US" altLang="ko-KR" sz="700" dirty="0" smtClean="0">
                <a:latin typeface="+mn-ea"/>
              </a:rPr>
              <a:t>– </a:t>
            </a:r>
            <a:r>
              <a:rPr lang="ko-KR" altLang="en-US" sz="700" dirty="0" smtClean="0">
                <a:latin typeface="+mn-ea"/>
              </a:rPr>
              <a:t>계약 페이지 참고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상세 페이지 이동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3-1]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ko-KR" sz="700" dirty="0" smtClean="0"/>
              <a:t>- </a:t>
            </a: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예산구분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전년국채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본조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당년국채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납지구분</a:t>
            </a:r>
            <a:r>
              <a:rPr lang="ko-KR" altLang="en-US" sz="700" dirty="0" smtClean="0"/>
              <a:t> 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납지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진행상태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검사의뢰완료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검사반려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저장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대금청구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검사저장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검사완료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출납완료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조달접수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조달반려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납품조서반려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청구저장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수정계약요청수신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수정계약사유 항목 확인 불가</a:t>
            </a:r>
            <a:r>
              <a:rPr lang="en-US" altLang="ko-KR" sz="700" dirty="0" smtClean="0"/>
              <a:t>.</a:t>
            </a:r>
            <a:r>
              <a:rPr lang="ko-KR" altLang="en-US" sz="700" dirty="0" smtClean="0"/>
              <a:t> 항목명과 코드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전달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4-4]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4-5]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3384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4706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4-4</a:t>
            </a:r>
            <a:endParaRPr lang="ko-KR" altLang="en-US" sz="600" b="1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48521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4-5</a:t>
            </a:r>
            <a:endParaRPr lang="ko-KR" altLang="en-US" sz="6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7061" y="33960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7065497" y="5939649"/>
            <a:ext cx="2325632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</a:p>
          <a:p>
            <a:r>
              <a:rPr lang="ko-KR" altLang="en-US" sz="500" dirty="0" smtClean="0"/>
              <a:t>계약시작일자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종료일자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기성준공구분코드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검사일자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기성차수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납부기성금액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누락</a:t>
            </a:r>
            <a:r>
              <a:rPr lang="en-US" altLang="ko-KR" sz="500" dirty="0" smtClean="0"/>
              <a:t> 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867434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61471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공사검사구분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903622" y="1956581"/>
            <a:ext cx="2519558" cy="1590537"/>
            <a:chOff x="778515" y="4388257"/>
            <a:chExt cx="2519558" cy="159053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모서리가 둥근 직사각형 98"/>
            <p:cNvSpPr/>
            <p:nvPr/>
          </p:nvSpPr>
          <p:spPr>
            <a:xfrm>
              <a:off x="1449284" y="579159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납지를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예산구분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 예산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당년국채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736927"/>
              <a:chOff x="772169" y="2297325"/>
              <a:chExt cx="107950" cy="736927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772169" y="2926302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모서리가 둥근 직사각형 99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5" name="그룹 104"/>
          <p:cNvGrpSpPr/>
          <p:nvPr/>
        </p:nvGrpSpPr>
        <p:grpSpPr>
          <a:xfrm rot="16200000">
            <a:off x="6261284" y="2754410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507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6145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49066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49066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  <a:endParaRPr lang="ko-KR" altLang="en-US" sz="5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61392" y="15199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070821" y="15232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517378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  <a:endParaRPr lang="ko-KR" altLang="en-US" sz="500" b="1" dirty="0"/>
          </a:p>
        </p:txBody>
      </p:sp>
      <p:sp>
        <p:nvSpPr>
          <p:cNvPr id="141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페이지 타이틀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1-1] </a:t>
            </a:r>
            <a:r>
              <a:rPr lang="ko-KR" altLang="en-US" sz="700" dirty="0" smtClean="0"/>
              <a:t>초기화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1-2] </a:t>
            </a:r>
            <a:r>
              <a:rPr lang="ko-KR" altLang="en-US" sz="700" dirty="0" smtClean="0"/>
              <a:t>창 닫기 버튼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ko-KR" altLang="en-US" sz="700" dirty="0" smtClean="0"/>
              <a:t>각 </a:t>
            </a:r>
            <a:r>
              <a:rPr lang="ko-KR" altLang="en-US" sz="700" dirty="0" err="1"/>
              <a:t>섹션명</a:t>
            </a:r>
            <a:r>
              <a:rPr lang="ko-KR" altLang="en-US" sz="700" dirty="0"/>
              <a:t> 클릭 시 아코디언 </a:t>
            </a:r>
            <a:r>
              <a:rPr lang="ko-KR" altLang="en-US" sz="700" dirty="0" smtClean="0"/>
              <a:t>동작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검색유형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항목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전체 계약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계약진행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계약수정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계약확정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전체계약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업무 구분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전체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검색 설정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서류요청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수신일자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/ </a:t>
            </a:r>
            <a:r>
              <a:rPr lang="ko-KR" altLang="en-US" sz="700" dirty="0" err="1" smtClean="0"/>
              <a:t>계약일자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당일 포함 과거 </a:t>
            </a:r>
            <a:r>
              <a:rPr lang="en-US" altLang="ko-KR" sz="700" dirty="0" smtClean="0"/>
              <a:t>7</a:t>
            </a:r>
            <a:r>
              <a:rPr lang="ko-KR" altLang="en-US" sz="700" dirty="0" smtClean="0"/>
              <a:t>일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>
                <a:sym typeface="Wingdings" panose="05000000000000000000" pitchFamily="2" charset="2"/>
              </a:rPr>
              <a:t>선택 날짜 즉시 </a:t>
            </a:r>
            <a:r>
              <a:rPr lang="ko-KR" altLang="en-US" sz="700" dirty="0" smtClean="0">
                <a:sym typeface="Wingdings" panose="05000000000000000000" pitchFamily="2" charset="2"/>
              </a:rPr>
              <a:t>업데이트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- 4-1)</a:t>
            </a:r>
            <a:r>
              <a:rPr lang="ko-KR" altLang="en-US" sz="700" dirty="0" smtClean="0"/>
              <a:t>직접 입력 가능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/>
              <a:t>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과거 우</a:t>
            </a:r>
            <a:r>
              <a:rPr lang="en-US" altLang="ko-KR" sz="700" dirty="0" smtClean="0"/>
              <a:t>)</a:t>
            </a:r>
            <a:r>
              <a:rPr lang="ko-KR" altLang="en-US" sz="700" dirty="0" err="1" smtClean="0"/>
              <a:t>현재로한다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 값은 미래를 선택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입력 할 </a:t>
            </a:r>
            <a:r>
              <a:rPr lang="ko-KR" altLang="en-US" sz="700" dirty="0" err="1" smtClean="0"/>
              <a:t>수없다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 </a:t>
            </a:r>
            <a:r>
              <a:rPr lang="ko-KR" altLang="en-US" sz="700" dirty="0" smtClean="0"/>
              <a:t>값이 미래를 입력한 경우 오늘로 자동 변경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당일 기준 최대 </a:t>
            </a:r>
            <a:r>
              <a:rPr lang="en-US" altLang="ko-KR" sz="700" dirty="0"/>
              <a:t>1</a:t>
            </a:r>
            <a:r>
              <a:rPr lang="ko-KR" altLang="en-US" sz="700" dirty="0" smtClean="0"/>
              <a:t>년</a:t>
            </a:r>
            <a:r>
              <a:rPr lang="en-US" altLang="ko-KR" sz="700" dirty="0" smtClean="0"/>
              <a:t>(365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까지 조회 가능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- 4-2) </a:t>
            </a:r>
            <a:r>
              <a:rPr lang="ko-KR" altLang="en-US" sz="700" dirty="0" smtClean="0"/>
              <a:t>아이콘 </a:t>
            </a:r>
            <a:r>
              <a:rPr lang="en-US" altLang="ko-KR" sz="700" dirty="0" smtClean="0">
                <a:sym typeface="Wingdings" panose="05000000000000000000" pitchFamily="2" charset="2"/>
              </a:rPr>
              <a:t> </a:t>
            </a:r>
            <a:r>
              <a:rPr lang="ko-KR" altLang="en-US" sz="700" dirty="0" smtClean="0">
                <a:sym typeface="Wingdings" panose="05000000000000000000" pitchFamily="2" charset="2"/>
              </a:rPr>
              <a:t>데이트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sz="700" dirty="0" smtClean="0">
                <a:sym typeface="Wingdings" panose="05000000000000000000" pitchFamily="2" charset="2"/>
              </a:rPr>
              <a:t> 호출</a:t>
            </a:r>
            <a:r>
              <a:rPr lang="en-US" altLang="ko-KR" sz="700" dirty="0" smtClean="0">
                <a:sym typeface="Wingdings" panose="05000000000000000000" pitchFamily="2" charset="2"/>
              </a:rPr>
              <a:t>(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미래불가</a:t>
            </a:r>
            <a:r>
              <a:rPr lang="en-US" altLang="ko-KR" sz="700" dirty="0" smtClean="0">
                <a:sym typeface="Wingdings" panose="05000000000000000000" pitchFamily="2" charset="2"/>
              </a:rPr>
              <a:t>)</a:t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- 4-3) </a:t>
            </a:r>
            <a:r>
              <a:rPr lang="ko-KR" altLang="en-US" sz="700" dirty="0" smtClean="0">
                <a:sym typeface="Wingdings" panose="05000000000000000000" pitchFamily="2" charset="2"/>
              </a:rPr>
              <a:t>최근</a:t>
            </a:r>
            <a:r>
              <a:rPr lang="en-US" altLang="ko-KR" sz="700" dirty="0" smtClean="0">
                <a:sym typeface="Wingdings" panose="05000000000000000000" pitchFamily="2" charset="2"/>
              </a:rPr>
              <a:t>1,3,6</a:t>
            </a:r>
            <a:r>
              <a:rPr lang="ko-KR" altLang="en-US" sz="700" dirty="0" smtClean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700" dirty="0" smtClean="0">
                <a:sym typeface="Wingdings" panose="05000000000000000000" pitchFamily="2" charset="2"/>
              </a:rPr>
              <a:t>30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 90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,180</a:t>
            </a:r>
            <a:r>
              <a:rPr lang="ko-KR" altLang="en-US" sz="700" dirty="0" smtClean="0">
                <a:sym typeface="Wingdings" panose="05000000000000000000" pitchFamily="2" charset="2"/>
              </a:rPr>
              <a:t>일 이전 값을 표시</a:t>
            </a:r>
            <a:r>
              <a:rPr lang="en-US" altLang="ko-KR" sz="700" dirty="0" smtClean="0">
                <a:sym typeface="Wingdings" panose="05000000000000000000" pitchFamily="2" charset="2"/>
              </a:rPr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ko-KR" altLang="en-US" sz="700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sz="700" dirty="0" smtClean="0">
                <a:sym typeface="Wingdings" panose="05000000000000000000" pitchFamily="2" charset="2"/>
              </a:rPr>
              <a:t> 영역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700" dirty="0">
                <a:sym typeface="Wingdings" panose="05000000000000000000" pitchFamily="2" charset="2"/>
              </a:rPr>
              <a:t/>
            </a:r>
            <a:br>
              <a:rPr lang="en-US" altLang="ko-KR" sz="700" dirty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글자검색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숫자검색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(UI-EX-01-M02)</a:t>
            </a:r>
            <a:r>
              <a:rPr lang="ko-KR" altLang="en-US" sz="700" dirty="0" err="1" smtClean="0">
                <a:latin typeface="+mn-ea"/>
              </a:rPr>
              <a:t>검사및납품조서</a:t>
            </a:r>
            <a:endParaRPr lang="ko-KR" altLang="en-US" sz="7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구분 설정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드롭 다운으로 각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구분값</a:t>
            </a:r>
            <a:r>
              <a:rPr lang="ko-KR" altLang="en-US" sz="700" dirty="0" smtClean="0">
                <a:sym typeface="Wingdings" panose="05000000000000000000" pitchFamily="2" charset="2"/>
              </a:rPr>
              <a:t> 설정</a:t>
            </a:r>
            <a:r>
              <a:rPr lang="en-US" altLang="ko-KR" sz="700" dirty="0">
                <a:sym typeface="Wingdings" panose="05000000000000000000" pitchFamily="2" charset="2"/>
              </a:rPr>
              <a:t/>
            </a:r>
            <a:br>
              <a:rPr lang="en-US" altLang="ko-KR" sz="700" dirty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>
                <a:solidFill>
                  <a:prstClr val="black"/>
                </a:solidFill>
              </a:rPr>
              <a:t>항목 설명 </a:t>
            </a:r>
            <a:r>
              <a:rPr lang="ko-KR" altLang="en-US" sz="700" dirty="0" smtClean="0">
                <a:solidFill>
                  <a:prstClr val="black"/>
                </a:solidFill>
              </a:rPr>
              <a:t>페이지 참고</a:t>
            </a: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700" dirty="0" smtClean="0">
                <a:sym typeface="Wingdings" panose="05000000000000000000" pitchFamily="2" charset="2"/>
              </a:rPr>
              <a:t> 처리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endParaRPr lang="en-US" altLang="ko-KR" sz="700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/>
          </a:p>
        </p:txBody>
      </p: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98215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dml_InspIntgListSrchCnd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45FD0-B8C5-4B98-203E-A36908FB8DD4}"/>
              </a:ext>
            </a:extLst>
          </p:cNvPr>
          <p:cNvSpPr txBox="1"/>
          <p:nvPr/>
        </p:nvSpPr>
        <p:spPr>
          <a:xfrm>
            <a:off x="458117" y="48820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449404"/>
            <a:ext cx="26230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dlt_InspIntgList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78792"/>
              </p:ext>
            </p:extLst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ctrtBgngYmd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ctrtEndYmd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taskSecd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40859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587020"/>
              </p:ext>
            </p:extLst>
          </p:nvPr>
        </p:nvGraphicFramePr>
        <p:xfrm>
          <a:off x="453000" y="516018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17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2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Scwin.grd_srchRsltList_onclick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(UI-EX-01-M02)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(UI-EX-01-M05)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검사통합목록을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9184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025090"/>
              </p:ext>
            </p:extLst>
          </p:nvPr>
        </p:nvGraphicFramePr>
        <p:xfrm>
          <a:off x="452999" y="268833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lt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ctrtNo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기성차수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pxcndCycl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6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공사업무의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69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ctrtBzentyNm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91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납품기성금액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dlvgdsPxcndAmt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검수기성금액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조회결과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305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75457464-9D76-7948-2B1A-9B65EC2CD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980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</a:t>
            </a:r>
            <a:r>
              <a:rPr lang="ko-KR" altLang="en-US" dirty="0" smtClean="0">
                <a:latin typeface="+mn-ea"/>
              </a:rPr>
              <a:t>화면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 smtClean="0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중앙조달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8"/>
            <a:ext cx="792000" cy="1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납품요구일시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1" name="그룹 180"/>
          <p:cNvGrpSpPr/>
          <p:nvPr/>
        </p:nvGrpSpPr>
        <p:grpSpPr>
          <a:xfrm>
            <a:off x="3792723" y="2501699"/>
            <a:ext cx="2712026" cy="2185367"/>
            <a:chOff x="696358" y="1533275"/>
            <a:chExt cx="2712026" cy="21853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703" y="1533275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비고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3140790" y="1646606"/>
              <a:ext cx="94010" cy="47005"/>
              <a:chOff x="6812560" y="3297172"/>
              <a:chExt cx="94010" cy="47005"/>
            </a:xfrm>
          </p:grpSpPr>
          <p:cxnSp>
            <p:nvCxnSpPr>
              <p:cNvPr id="219" name="직선 연결선 21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96358" y="3718642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19291" y="1847909"/>
              <a:ext cx="25326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 내용 표시 영역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49450" y="182741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4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144" name="직사각형 143"/>
          <p:cNvSpPr/>
          <p:nvPr/>
        </p:nvSpPr>
        <p:spPr>
          <a:xfrm>
            <a:off x="7063882" y="5893849"/>
            <a:ext cx="2314808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납품완료수량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작성수량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조서발행번호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예산구분코드명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62843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7478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0694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87906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예산구분코드명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7166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누적 작성수량 조회결과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D996EE-2D40-91AC-7780-FEBC0CF4B2E0}"/>
              </a:ext>
            </a:extLst>
          </p:cNvPr>
          <p:cNvSpPr txBox="1"/>
          <p:nvPr/>
        </p:nvSpPr>
        <p:spPr>
          <a:xfrm>
            <a:off x="458117" y="42278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2333D1-7A13-5322-9835-A414405A42F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11567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84101F97-8F9F-076F-8AE7-28B5FE06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28EA37-76BE-6350-49C9-C7023D579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69258"/>
              </p:ext>
            </p:extLst>
          </p:nvPr>
        </p:nvGraphicFramePr>
        <p:xfrm>
          <a:off x="453000" y="5221270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490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94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2D3E0ED-2BEB-8A79-9CF2-85650746C923}"/>
              </a:ext>
            </a:extLst>
          </p:cNvPr>
          <p:cNvSpPr txBox="1"/>
          <p:nvPr/>
        </p:nvSpPr>
        <p:spPr>
          <a:xfrm>
            <a:off x="458117" y="498821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</p:spTree>
    <p:extLst>
      <p:ext uri="{BB962C8B-B14F-4D97-AF65-F5344CB8AC3E}">
        <p14:creationId xmlns:p14="http://schemas.microsoft.com/office/powerpoint/2010/main" val="2048331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5934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검사희망일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3734347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62843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07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18" name="직사각형 217"/>
          <p:cNvSpPr/>
          <p:nvPr/>
        </p:nvSpPr>
        <p:spPr>
          <a:xfrm>
            <a:off x="7062318" y="5883956"/>
            <a:ext cx="2341251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납품조서번호 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품목명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48169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78453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64496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81761"/>
              </p:ext>
            </p:extLst>
          </p:nvPr>
        </p:nvGraphicFramePr>
        <p:xfrm>
          <a:off x="452999" y="101431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예산구분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납품조서번호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납품조서번호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75713"/>
              </p:ext>
            </p:extLst>
          </p:nvPr>
        </p:nvGraphicFramePr>
        <p:xfrm>
          <a:off x="452999" y="292871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028133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55249"/>
              </p:ext>
            </p:extLst>
          </p:nvPr>
        </p:nvGraphicFramePr>
        <p:xfrm>
          <a:off x="452999" y="4311887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46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igiYmd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rcpmNo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techInspInstNm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물량검사관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64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615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32451"/>
              </p:ext>
            </p:extLst>
          </p:nvPr>
        </p:nvGraphicFramePr>
        <p:xfrm>
          <a:off x="453000" y="1058554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73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(UI-EX-01-R13)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517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932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2466081"/>
            <a:ext cx="2630093" cy="1514947"/>
            <a:chOff x="3801854" y="3663145"/>
            <a:chExt cx="2630093" cy="1514947"/>
          </a:xfrm>
        </p:grpSpPr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15149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착공일자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실 </a:t>
              </a:r>
              <a:r>
                <a:rPr lang="ko-KR" altLang="en-US" sz="700" dirty="0" err="1">
                  <a:latin typeface="+mn-ea"/>
                </a:rPr>
                <a:t>준공일자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준공기한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제출일자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준공내용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000 000000000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기성 및 준공검사의 상세내역을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기성 및 준공검사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계약금액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기성차수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명칭 </a:t>
            </a:r>
            <a:r>
              <a:rPr lang="ko-KR" altLang="en-US" sz="700" dirty="0" err="1">
                <a:latin typeface="+mn-ea"/>
              </a:rPr>
              <a:t>표시영역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5" name="모서리가 둥근 직사각형 234"/>
          <p:cNvSpPr/>
          <p:nvPr/>
        </p:nvSpPr>
        <p:spPr>
          <a:xfrm rot="5400000">
            <a:off x="6098765" y="370304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796091" y="4045927"/>
            <a:ext cx="2712027" cy="830059"/>
            <a:chOff x="3796091" y="4337014"/>
            <a:chExt cx="2712027" cy="830059"/>
          </a:xfrm>
        </p:grpSpPr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검사관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00" name="직선 연결선 19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29" name="그룹 228"/>
          <p:cNvGrpSpPr/>
          <p:nvPr/>
        </p:nvGrpSpPr>
        <p:grpSpPr>
          <a:xfrm>
            <a:off x="3796091" y="4975619"/>
            <a:ext cx="2712027" cy="921016"/>
            <a:chOff x="3796091" y="4337014"/>
            <a:chExt cx="2712027" cy="921016"/>
          </a:xfrm>
        </p:grpSpPr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감독관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232" name="그룹 231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8" name="모서리가 둥근 직사각형 237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52580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4237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1676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6692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6218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83392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2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24" name="직사각형 223"/>
          <p:cNvSpPr/>
          <p:nvPr/>
        </p:nvSpPr>
        <p:spPr>
          <a:xfrm>
            <a:off x="7063881" y="6147648"/>
            <a:ext cx="2314807" cy="1788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err="1" smtClean="0"/>
              <a:t>기성및준공검사상세</a:t>
            </a:r>
            <a:r>
              <a:rPr lang="en-US" altLang="ko-KR" sz="500" dirty="0"/>
              <a:t>-</a:t>
            </a:r>
            <a:r>
              <a:rPr lang="ko-KR" altLang="en-US" sz="500" dirty="0" err="1" smtClean="0"/>
              <a:t>공사현황</a:t>
            </a:r>
            <a:r>
              <a:rPr lang="ko-KR" altLang="en-US" sz="500" dirty="0" smtClean="0"/>
              <a:t> 에서 </a:t>
            </a:r>
            <a:r>
              <a:rPr lang="en-US" altLang="ko-KR" sz="500" dirty="0" smtClean="0"/>
              <a:t>UI</a:t>
            </a:r>
            <a:r>
              <a:rPr lang="ko-KR" altLang="en-US" sz="500" dirty="0" smtClean="0"/>
              <a:t>명 변경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개요내용변경 </a:t>
            </a:r>
            <a:endParaRPr lang="en-US" altLang="ko-KR" sz="500" dirty="0" smtClean="0"/>
          </a:p>
        </p:txBody>
      </p:sp>
      <p:sp>
        <p:nvSpPr>
          <p:cNvPr id="225" name="직사각형 224"/>
          <p:cNvSpPr/>
          <p:nvPr/>
        </p:nvSpPr>
        <p:spPr>
          <a:xfrm>
            <a:off x="7079460" y="5896635"/>
            <a:ext cx="2299229" cy="236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계약금액</a:t>
            </a:r>
            <a:r>
              <a:rPr lang="en-US" altLang="ko-KR" sz="500" dirty="0" smtClean="0"/>
              <a:t>(</a:t>
            </a:r>
            <a:r>
              <a:rPr lang="ko-KR" altLang="en-US" sz="500" dirty="0" smtClean="0"/>
              <a:t>원</a:t>
            </a:r>
            <a:r>
              <a:rPr lang="en-US" altLang="ko-KR" sz="500" dirty="0" smtClean="0"/>
              <a:t>), </a:t>
            </a:r>
            <a:r>
              <a:rPr lang="ko-KR" altLang="en-US" sz="500" dirty="0" err="1" smtClean="0"/>
              <a:t>기성비율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104248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3811914"/>
            <a:ext cx="198829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dmt_Insptr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93522"/>
              </p:ext>
            </p:extLst>
          </p:nvPr>
        </p:nvGraphicFramePr>
        <p:xfrm>
          <a:off x="452999" y="1014316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10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44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계약금액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21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pxcndCycl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80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검사일자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80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기성금액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51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기성비율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기성비율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9,4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착공일자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착공일자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실준공일자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rlccYmd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실준공일자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준공기한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cmcnTermYmd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준공기한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준공계제출일자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cmdocSbmsnYmd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준공계제출일자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준공내용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9566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검사관소속명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검사관계급명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insptrEchlnNm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05C0EB-275D-E506-3616-3581C05850A1}"/>
              </a:ext>
            </a:extLst>
          </p:cNvPr>
          <p:cNvSpPr txBox="1"/>
          <p:nvPr/>
        </p:nvSpPr>
        <p:spPr>
          <a:xfrm>
            <a:off x="458117" y="4954066"/>
            <a:ext cx="191295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감독관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dmt_Sprv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6A7BFD-8C3C-42C1-9F9A-3ACB3788261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23782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감독관소속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감독관계급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sprvEchlnNm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F09CEF94-E7CA-DC88-306B-AB018690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3633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092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634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88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검사관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정보를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66CFCB-C363-5412-5544-0340E25C273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5DBF2411-506C-6DFD-5BA7-B35E2C37F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5890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목록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현황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현황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2378" y="3858386"/>
            <a:ext cx="4728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02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3979" y="232565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95821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79049"/>
            <a:ext cx="2473257" cy="1083172"/>
            <a:chOff x="781461" y="3087955"/>
            <a:chExt cx="2473257" cy="108317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합격일자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2026-04-10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2026-08-15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물품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167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98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항목 참고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>
                <a:latin typeface="+mn-ea"/>
              </a:rPr>
              <a:t>검색 필터 </a:t>
            </a:r>
            <a:endParaRPr lang="en-US" altLang="ko-KR" sz="7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상세 페이지 이동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3-1]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예산구분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전년국채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본조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당년국채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납지구분</a:t>
            </a:r>
            <a:r>
              <a:rPr lang="ko-KR" altLang="en-US" sz="700" dirty="0" smtClean="0"/>
              <a:t> 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납지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진행상태 </a:t>
            </a:r>
            <a:r>
              <a:rPr lang="en-US" altLang="ko-KR" sz="700" dirty="0" smtClean="0"/>
              <a:t>: </a:t>
            </a:r>
            <a:r>
              <a:rPr lang="en-US" altLang="ko-KR" sz="7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4-3]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이벤트 호출 </a:t>
            </a:r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3384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4706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48521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7061" y="33960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7065496" y="6120986"/>
            <a:ext cx="2305455" cy="222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err="1" smtClean="0"/>
              <a:t>업무구분명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en-US" altLang="ko-KR" sz="500" dirty="0" smtClean="0"/>
              <a:t> , 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 , </a:t>
            </a:r>
            <a:r>
              <a:rPr lang="ko-KR" altLang="en-US" sz="500" dirty="0" err="1" smtClean="0"/>
              <a:t>납품조서진행상태코드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  <p:sp>
        <p:nvSpPr>
          <p:cNvPr id="113" name="타원 112"/>
          <p:cNvSpPr/>
          <p:nvPr/>
        </p:nvSpPr>
        <p:spPr>
          <a:xfrm>
            <a:off x="3511035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5" name="그룹 114"/>
          <p:cNvGrpSpPr/>
          <p:nvPr/>
        </p:nvGrpSpPr>
        <p:grpSpPr>
          <a:xfrm>
            <a:off x="3640502" y="5769705"/>
            <a:ext cx="124144" cy="124144"/>
            <a:chOff x="162544" y="5299917"/>
            <a:chExt cx="124144" cy="124144"/>
          </a:xfrm>
        </p:grpSpPr>
        <p:cxnSp>
          <p:nvCxnSpPr>
            <p:cNvPr id="118" name="직선 연결선 11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직선 연결선 11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250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 </a:t>
            </a:r>
            <a:endParaRPr lang="ko-KR" altLang="en-US" sz="900" dirty="0">
              <a:latin typeface="+mn-ea"/>
            </a:endParaRP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28" y="283124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502209" y="56005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2764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목록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현황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현황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2378" y="3858386"/>
            <a:ext cx="4728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02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" name="모서리가 둥근 직사각형 111"/>
          <p:cNvSpPr/>
          <p:nvPr/>
        </p:nvSpPr>
        <p:spPr>
          <a:xfrm>
            <a:off x="4318634" y="3553817"/>
            <a:ext cx="95821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79049"/>
            <a:ext cx="2473257" cy="1083172"/>
            <a:chOff x="781461" y="3087955"/>
            <a:chExt cx="2473257" cy="108317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합격일자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2026-04-10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2026-08-15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물품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167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8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이벤트 호출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- (UI-EX-01-M14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700" dirty="0">
                <a:latin typeface="+mn-ea"/>
              </a:rPr>
              <a:t> 납품조서결과상세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- (UI-EX-01-M04)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검사및납품조서상세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부대조달</a:t>
            </a:r>
            <a:r>
              <a:rPr lang="en-US" altLang="ko-KR" sz="700" dirty="0">
                <a:latin typeface="+mn-ea"/>
              </a:rPr>
              <a:t>)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- (UI-EX-01-M05)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기성및준공검사상세</a:t>
            </a:r>
            <a:endParaRPr lang="en-US" altLang="ko-KR" sz="700" dirty="0"/>
          </a:p>
        </p:txBody>
      </p:sp>
      <p:sp>
        <p:nvSpPr>
          <p:cNvPr id="113" name="타원 112"/>
          <p:cNvSpPr/>
          <p:nvPr/>
        </p:nvSpPr>
        <p:spPr>
          <a:xfrm>
            <a:off x="3511035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5" name="그룹 114"/>
          <p:cNvGrpSpPr/>
          <p:nvPr/>
        </p:nvGrpSpPr>
        <p:grpSpPr>
          <a:xfrm>
            <a:off x="3640502" y="5769705"/>
            <a:ext cx="124144" cy="124144"/>
            <a:chOff x="162544" y="5299917"/>
            <a:chExt cx="124144" cy="124144"/>
          </a:xfrm>
        </p:grpSpPr>
        <p:cxnSp>
          <p:nvCxnSpPr>
            <p:cNvPr id="118" name="직선 연결선 11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직선 연결선 11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둥근 사각형 123"/>
          <p:cNvSpPr/>
          <p:nvPr/>
        </p:nvSpPr>
        <p:spPr>
          <a:xfrm>
            <a:off x="3793173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4879186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430891" y="55541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33" name="그룹 132"/>
          <p:cNvGrpSpPr/>
          <p:nvPr/>
        </p:nvGrpSpPr>
        <p:grpSpPr>
          <a:xfrm>
            <a:off x="6282112" y="3182696"/>
            <a:ext cx="94010" cy="94010"/>
            <a:chOff x="6812560" y="3297172"/>
            <a:chExt cx="94010" cy="94010"/>
          </a:xfrm>
        </p:grpSpPr>
        <p:cxnSp>
          <p:nvCxnSpPr>
            <p:cNvPr id="137" name="직선 연결선 136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직선 연결선 137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173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3546317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납품조서결과상세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3884130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검사및납품조서상세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부대조달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4216636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/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기성및준공검사상세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30062" y="5693123"/>
            <a:ext cx="76863" cy="292489"/>
            <a:chOff x="3750067" y="4683795"/>
            <a:chExt cx="76863" cy="292489"/>
          </a:xfrm>
        </p:grpSpPr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52672" y="29172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623662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이행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17838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9558" cy="1495349"/>
            <a:chOff x="778515" y="4388257"/>
            <a:chExt cx="2519558" cy="1495349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2583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예산구분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 예산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당년국채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736927"/>
              <a:chOff x="772169" y="2297325"/>
              <a:chExt cx="107950" cy="736927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772169" y="2926302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5560953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합격일자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5588584"/>
            <a:ext cx="859319" cy="188244"/>
            <a:chOff x="5613534" y="2854836"/>
            <a:chExt cx="804671" cy="188244"/>
          </a:xfrm>
        </p:grpSpPr>
        <p:sp>
          <p:nvSpPr>
            <p:cNvPr id="102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05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608531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1464781" y="5819253"/>
            <a:ext cx="1845146" cy="188135"/>
            <a:chOff x="1430277" y="4057651"/>
            <a:chExt cx="1845146" cy="188135"/>
          </a:xfrm>
        </p:grpSpPr>
        <p:sp>
          <p:nvSpPr>
            <p:cNvPr id="107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09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5588584"/>
            <a:ext cx="859319" cy="188244"/>
            <a:chOff x="5613534" y="2854836"/>
            <a:chExt cx="804671" cy="188244"/>
          </a:xfrm>
        </p:grpSpPr>
        <p:sp>
          <p:nvSpPr>
            <p:cNvPr id="11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113" name="그룹 112"/>
          <p:cNvGrpSpPr/>
          <p:nvPr/>
        </p:nvGrpSpPr>
        <p:grpSpPr>
          <a:xfrm rot="16200000">
            <a:off x="6261284" y="2754410"/>
            <a:ext cx="91438" cy="45719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124" name="그룹 123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125" name="직선 연결선 12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모서리가 둥근 직사각형 140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공사검사구분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모서리가 둥근 직사각형 147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49" name="그룹 148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50" name="직선 연결선 1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2" name="모서리가 둥근 직사각형 151"/>
          <p:cNvSpPr/>
          <p:nvPr/>
        </p:nvSpPr>
        <p:spPr>
          <a:xfrm>
            <a:off x="4574391" y="335991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납지를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17446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2201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38584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47669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8040" y="48736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72122" y="48736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  <a:endParaRPr lang="ko-KR" altLang="en-US" sz="5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513792" y="16723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223221" y="1675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8040" y="51804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  <a:endParaRPr lang="ko-KR" altLang="en-US" sz="500" b="1" dirty="0"/>
          </a:p>
        </p:txBody>
      </p:sp>
      <p:sp>
        <p:nvSpPr>
          <p:cNvPr id="186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90845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페이지 타이틀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1-1] </a:t>
            </a:r>
            <a:r>
              <a:rPr lang="ko-KR" altLang="en-US" sz="700" dirty="0" smtClean="0"/>
              <a:t>초기화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1-2] </a:t>
            </a:r>
            <a:r>
              <a:rPr lang="ko-KR" altLang="en-US" sz="700" dirty="0" smtClean="0"/>
              <a:t>창 닫기 버튼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각 </a:t>
            </a:r>
            <a:r>
              <a:rPr lang="ko-KR" altLang="en-US" sz="700" dirty="0" err="1" smtClean="0"/>
              <a:t>섹션명</a:t>
            </a:r>
            <a:r>
              <a:rPr lang="ko-KR" altLang="en-US" sz="700" dirty="0" smtClean="0"/>
              <a:t> 클릭 시 아코디언 동작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업무 구분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전체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예산구분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err="1" smtClean="0"/>
              <a:t>전체예산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전년국채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본조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당년국채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(default) </a:t>
            </a:r>
            <a:r>
              <a:rPr lang="ko-KR" altLang="en-US" sz="700" dirty="0" err="1" smtClean="0"/>
              <a:t>전체예산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검색 설정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서류요청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수신일자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/ </a:t>
            </a:r>
            <a:r>
              <a:rPr lang="ko-KR" altLang="en-US" sz="700" dirty="0" err="1" smtClean="0"/>
              <a:t>계약일자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당일 포함 과거 </a:t>
            </a:r>
            <a:r>
              <a:rPr lang="en-US" altLang="ko-KR" sz="700" dirty="0" smtClean="0"/>
              <a:t>7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- 4-1)</a:t>
            </a:r>
            <a:r>
              <a:rPr lang="ko-KR" altLang="en-US" sz="700" dirty="0" smtClean="0"/>
              <a:t>직접 입력 가능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과거 우</a:t>
            </a:r>
            <a:r>
              <a:rPr lang="en-US" altLang="ko-KR" sz="700" dirty="0" smtClean="0"/>
              <a:t>)</a:t>
            </a:r>
            <a:r>
              <a:rPr lang="ko-KR" altLang="en-US" sz="700" dirty="0" err="1" smtClean="0"/>
              <a:t>현재로한다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 값은 미래를 선택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입력 할 </a:t>
            </a:r>
            <a:r>
              <a:rPr lang="ko-KR" altLang="en-US" sz="700" dirty="0" err="1" smtClean="0"/>
              <a:t>수없다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 </a:t>
            </a:r>
            <a:r>
              <a:rPr lang="ko-KR" altLang="en-US" sz="700" dirty="0" smtClean="0"/>
              <a:t>값이 미래를 입력한 경우 오늘로 자동 변경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당일 기준 최대 </a:t>
            </a:r>
            <a:r>
              <a:rPr lang="en-US" altLang="ko-KR" sz="700" dirty="0" smtClean="0"/>
              <a:t>1</a:t>
            </a:r>
            <a:r>
              <a:rPr lang="ko-KR" altLang="en-US" sz="700" dirty="0" smtClean="0"/>
              <a:t>년</a:t>
            </a:r>
            <a:r>
              <a:rPr lang="en-US" altLang="ko-KR" sz="700" dirty="0" smtClean="0"/>
              <a:t>(365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까지 조회 가능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- 4-2) </a:t>
            </a:r>
            <a:r>
              <a:rPr lang="ko-KR" altLang="en-US" sz="700" dirty="0" smtClean="0"/>
              <a:t>아이콘 </a:t>
            </a:r>
            <a:r>
              <a:rPr lang="en-US" altLang="ko-KR" sz="700" dirty="0" smtClean="0">
                <a:sym typeface="Wingdings" panose="05000000000000000000" pitchFamily="2" charset="2"/>
              </a:rPr>
              <a:t> </a:t>
            </a:r>
            <a:r>
              <a:rPr lang="ko-KR" altLang="en-US" sz="700" dirty="0" smtClean="0">
                <a:sym typeface="Wingdings" panose="05000000000000000000" pitchFamily="2" charset="2"/>
              </a:rPr>
              <a:t>데이트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sz="700" dirty="0" smtClean="0">
                <a:sym typeface="Wingdings" panose="05000000000000000000" pitchFamily="2" charset="2"/>
              </a:rPr>
              <a:t> 호출</a:t>
            </a:r>
            <a:r>
              <a:rPr lang="en-US" altLang="ko-KR" sz="700" dirty="0" smtClean="0">
                <a:sym typeface="Wingdings" panose="05000000000000000000" pitchFamily="2" charset="2"/>
              </a:rPr>
              <a:t>(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미래불가</a:t>
            </a:r>
            <a:r>
              <a:rPr lang="en-US" altLang="ko-KR" sz="700" dirty="0" smtClean="0">
                <a:sym typeface="Wingdings" panose="05000000000000000000" pitchFamily="2" charset="2"/>
              </a:rPr>
              <a:t>)</a:t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- 4-3) </a:t>
            </a:r>
            <a:r>
              <a:rPr lang="ko-KR" altLang="en-US" sz="700" dirty="0" smtClean="0">
                <a:sym typeface="Wingdings" panose="05000000000000000000" pitchFamily="2" charset="2"/>
              </a:rPr>
              <a:t>최근</a:t>
            </a:r>
            <a:r>
              <a:rPr lang="en-US" altLang="ko-KR" sz="700" dirty="0" smtClean="0">
                <a:sym typeface="Wingdings" panose="05000000000000000000" pitchFamily="2" charset="2"/>
              </a:rPr>
              <a:t>1,3,6</a:t>
            </a:r>
            <a:r>
              <a:rPr lang="ko-KR" altLang="en-US" sz="700" dirty="0" smtClean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700" dirty="0" smtClean="0">
                <a:sym typeface="Wingdings" panose="05000000000000000000" pitchFamily="2" charset="2"/>
              </a:rPr>
              <a:t>30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 90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,180</a:t>
            </a:r>
            <a:r>
              <a:rPr lang="ko-KR" altLang="en-US" sz="700" dirty="0" smtClean="0">
                <a:sym typeface="Wingdings" panose="05000000000000000000" pitchFamily="2" charset="2"/>
              </a:rPr>
              <a:t>일 이전 값을 표시</a:t>
            </a:r>
            <a:r>
              <a:rPr lang="en-US" altLang="ko-KR" sz="700" dirty="0" smtClean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sz="700" dirty="0" smtClean="0">
                <a:sym typeface="Wingdings" panose="05000000000000000000" pitchFamily="2" charset="2"/>
              </a:rPr>
              <a:t> 영역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글자검색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숫자검색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(UI-EX-01-M02)</a:t>
            </a:r>
            <a:r>
              <a:rPr lang="ko-KR" altLang="en-US" sz="700" dirty="0" err="1" smtClean="0">
                <a:latin typeface="+mn-ea"/>
              </a:rPr>
              <a:t>검사및납품조서</a:t>
            </a: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구분 설정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드롭 다운으로 각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구분값</a:t>
            </a:r>
            <a:r>
              <a:rPr lang="ko-KR" altLang="en-US" sz="700" dirty="0" smtClean="0">
                <a:sym typeface="Wingdings" panose="05000000000000000000" pitchFamily="2" charset="2"/>
              </a:rPr>
              <a:t> 설정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olidFill>
                  <a:prstClr val="black"/>
                </a:solidFill>
              </a:rPr>
              <a:t>항목 설명 페이지 참고</a:t>
            </a: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700" dirty="0" smtClean="0">
                <a:sym typeface="Wingdings" panose="05000000000000000000" pitchFamily="2" charset="2"/>
              </a:rPr>
              <a:t> 처리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endParaRPr lang="en-US" altLang="ko-KR" sz="700" dirty="0" smtClean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507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04237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5111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dml_InspDlvdocPrstSrchCnd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29464"/>
            <a:ext cx="315207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839879"/>
              </p:ext>
            </p:extLst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44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106273"/>
              </p:ext>
            </p:extLst>
          </p:nvPr>
        </p:nvGraphicFramePr>
        <p:xfrm>
          <a:off x="452999" y="2552258"/>
          <a:ext cx="8994883" cy="249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납지명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납품조서진행상태코드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dlvdocPrgrsStcd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상태조회결과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'E':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'EY':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'A':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'R':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조달접수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조달반려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청구저장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4F9ADD0A-13A1-5C33-A250-66B3A46D9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6E373-50AF-BDFB-07C6-76A91AE9B53A}"/>
              </a:ext>
            </a:extLst>
          </p:cNvPr>
          <p:cNvSpPr txBox="1"/>
          <p:nvPr/>
        </p:nvSpPr>
        <p:spPr>
          <a:xfrm>
            <a:off x="458117" y="508790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348E565-F813-3E47-DD9B-2CC3378DF5EC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34933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검사기간을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계약번호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Scwin.grd_inspDlvdocList_onclick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검사 및 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(UI-EX-01-M14)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납품조서결과상세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(UI-EX-01-M05)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284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조서발행번호 검색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영역 하단 검색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조서발행번호정보조회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조서발행번호에 대한 정보를 조회하는 </a:t>
            </a:r>
            <a:r>
              <a:rPr lang="ko-KR" altLang="en-US" dirty="0" err="1">
                <a:latin typeface="+mn-ea"/>
              </a:rPr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MUI-EX-01-P06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조서발행번호정보조회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1465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0010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836701" y="2528179"/>
            <a:ext cx="2630093" cy="1976511"/>
            <a:chOff x="3836701" y="3418175"/>
            <a:chExt cx="2630093" cy="1976511"/>
          </a:xfrm>
        </p:grpSpPr>
        <p:sp>
          <p:nvSpPr>
            <p:cNvPr id="166" name="직사각형 165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0977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검색결과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69283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000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3836701" y="4559523"/>
            <a:ext cx="2630093" cy="1723550"/>
            <a:chOff x="3836701" y="3671136"/>
            <a:chExt cx="2630093" cy="1723550"/>
          </a:xfrm>
        </p:grpSpPr>
        <p:sp>
          <p:nvSpPr>
            <p:cNvPr id="203" name="직사각형 202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6892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18" name="그룹 117"/>
          <p:cNvGrpSpPr/>
          <p:nvPr/>
        </p:nvGrpSpPr>
        <p:grpSpPr>
          <a:xfrm>
            <a:off x="675399" y="3011653"/>
            <a:ext cx="2712027" cy="3215510"/>
            <a:chOff x="675399" y="3435608"/>
            <a:chExt cx="2712027" cy="3215510"/>
          </a:xfrm>
        </p:grpSpPr>
        <p:sp>
          <p:nvSpPr>
            <p:cNvPr id="119" name="양쪽 모서리가 둥근 사각형 118"/>
            <p:cNvSpPr/>
            <p:nvPr/>
          </p:nvSpPr>
          <p:spPr>
            <a:xfrm>
              <a:off x="675399" y="3435608"/>
              <a:ext cx="2712027" cy="3215510"/>
            </a:xfrm>
            <a:prstGeom prst="round2SameRect">
              <a:avLst>
                <a:gd name="adj1" fmla="val 4887"/>
                <a:gd name="adj2" fmla="val 0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1761412" y="3472235"/>
              <a:ext cx="540000" cy="457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3164338" y="3606651"/>
              <a:ext cx="94010" cy="94010"/>
              <a:chOff x="6812560" y="3297172"/>
              <a:chExt cx="94010" cy="94010"/>
            </a:xfrm>
          </p:grpSpPr>
          <p:cxnSp>
            <p:nvCxnSpPr>
              <p:cNvPr id="133" name="직선 연결선 13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3587330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조서발행번호정보조회</a:t>
              </a:r>
              <a:endParaRPr lang="ko-KR" altLang="en-US" sz="900" dirty="0">
                <a:latin typeface="+mn-ea"/>
              </a:endParaRPr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8487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6" name="모서리가 둥근 직사각형 125"/>
            <p:cNvSpPr/>
            <p:nvPr/>
          </p:nvSpPr>
          <p:spPr>
            <a:xfrm>
              <a:off x="1443878" y="3987279"/>
              <a:ext cx="1845838" cy="244348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</a:t>
              </a:r>
              <a:r>
                <a:rPr lang="ko-KR" altLang="en-US" sz="700" dirty="0">
                  <a:solidFill>
                    <a:schemeClr val="tx1"/>
                  </a:solidFill>
                </a:rPr>
                <a:t>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입력해주세요</a:t>
              </a:r>
              <a:r>
                <a:rPr lang="en-US" altLang="ko-KR" sz="700" dirty="0">
                  <a:solidFill>
                    <a:schemeClr val="tx1"/>
                  </a:solidFill>
                </a:rPr>
                <a:t>.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4055592"/>
              <a:ext cx="6707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4320994"/>
              <a:ext cx="2522014" cy="24435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9" name="타원 128"/>
            <p:cNvSpPr/>
            <p:nvPr/>
          </p:nvSpPr>
          <p:spPr>
            <a:xfrm>
              <a:off x="3112794" y="4025565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/>
            <p:cNvGrpSpPr/>
            <p:nvPr/>
          </p:nvGrpSpPr>
          <p:grpSpPr>
            <a:xfrm>
              <a:off x="3156699" y="4069469"/>
              <a:ext cx="58075" cy="58074"/>
              <a:chOff x="6812560" y="3297172"/>
              <a:chExt cx="94010" cy="94010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7062319" y="6036456"/>
            <a:ext cx="2328810" cy="190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00" dirty="0" smtClean="0">
                <a:latin typeface="+mn-ea"/>
              </a:rPr>
              <a:t/>
            </a:r>
            <a:br>
              <a:rPr lang="en-US" altLang="ko-KR" sz="400" dirty="0" smtClean="0">
                <a:latin typeface="+mn-ea"/>
              </a:rPr>
            </a:br>
            <a:r>
              <a:rPr lang="en-US" altLang="ko-KR" sz="400" dirty="0" smtClean="0">
                <a:latin typeface="+mn-ea"/>
              </a:rPr>
              <a:t>0629 </a:t>
            </a:r>
            <a:r>
              <a:rPr lang="ko-KR" altLang="en-US" sz="400" dirty="0" smtClean="0">
                <a:latin typeface="+mn-ea"/>
              </a:rPr>
              <a:t>개요내용변경</a:t>
            </a:r>
            <a:r>
              <a:rPr lang="en-US" altLang="ko-KR" sz="400" dirty="0" smtClean="0">
                <a:latin typeface="+mn-ea"/>
              </a:rPr>
              <a:t>]</a:t>
            </a:r>
            <a:br>
              <a:rPr lang="en-US" altLang="ko-KR" sz="400" dirty="0" smtClean="0">
                <a:latin typeface="+mn-ea"/>
              </a:rPr>
            </a:br>
            <a:r>
              <a:rPr lang="ko-KR" altLang="en-US" sz="400" dirty="0" err="1" smtClean="0">
                <a:latin typeface="+mn-ea"/>
              </a:rPr>
              <a:t>부대조달</a:t>
            </a:r>
            <a:r>
              <a:rPr lang="ko-KR" altLang="en-US" sz="400" dirty="0" smtClean="0">
                <a:latin typeface="+mn-ea"/>
              </a:rPr>
              <a:t> </a:t>
            </a:r>
            <a:r>
              <a:rPr lang="ko-KR" altLang="en-US" sz="400" dirty="0" err="1">
                <a:latin typeface="+mn-ea"/>
              </a:rPr>
              <a:t>검사및납품조서</a:t>
            </a:r>
            <a:r>
              <a:rPr lang="ko-KR" altLang="en-US" sz="400" dirty="0">
                <a:latin typeface="+mn-ea"/>
              </a:rPr>
              <a:t> 조서발행번호 조회 팝업 </a:t>
            </a:r>
            <a:r>
              <a:rPr lang="ko-KR" altLang="en-US" sz="400" dirty="0" smtClean="0">
                <a:latin typeface="+mn-ea"/>
              </a:rPr>
              <a:t>화면 </a:t>
            </a:r>
            <a:r>
              <a:rPr lang="en-US" altLang="ko-KR" sz="400" dirty="0" smtClean="0">
                <a:latin typeface="+mn-ea"/>
              </a:rPr>
              <a:t>&gt; </a:t>
            </a:r>
            <a:r>
              <a:rPr lang="ko-KR" altLang="en-US" sz="400" dirty="0" smtClean="0">
                <a:latin typeface="+mn-ea"/>
              </a:rPr>
              <a:t>조서발행번호에 </a:t>
            </a:r>
            <a:r>
              <a:rPr lang="ko-KR" altLang="en-US" sz="400" dirty="0">
                <a:latin typeface="+mn-ea"/>
              </a:rPr>
              <a:t>대한 정보를 조회하는 </a:t>
            </a:r>
            <a:r>
              <a:rPr lang="ko-KR" altLang="en-US" sz="400" dirty="0" err="1">
                <a:latin typeface="+mn-ea"/>
              </a:rPr>
              <a:t>팝업화면</a:t>
            </a:r>
            <a:endParaRPr lang="ko-KR" altLang="en-US" sz="400" dirty="0"/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400" dirty="0" smtClean="0">
                <a:latin typeface="+mn-ea"/>
              </a:rPr>
              <a:t> </a:t>
            </a:r>
            <a:endParaRPr lang="ko-KR" altLang="en-US" sz="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3471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79139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dmt_RecrdPblcnNo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550946"/>
            <a:ext cx="36906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조서발행번호품목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dlt_RecrdPblcnNoItemInfo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9660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dlvgdsCmptnQty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06C419-581B-B071-DD01-2B3425C31AA5}"/>
              </a:ext>
            </a:extLst>
          </p:cNvPr>
          <p:cNvSpPr txBox="1"/>
          <p:nvPr/>
        </p:nvSpPr>
        <p:spPr>
          <a:xfrm>
            <a:off x="458117" y="36993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71646BA9-ABFF-1794-8AE4-F502103D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9D83A4-5828-98C4-8ECD-BF7B6AF8ED16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013019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815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latin typeface="+mn-ea"/>
              </a:rPr>
              <a:t>납품조서결과를 </a:t>
            </a:r>
            <a:r>
              <a:rPr lang="ko-KR" altLang="en-US" dirty="0">
                <a:latin typeface="+mn-ea"/>
              </a:rPr>
              <a:t>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801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213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1389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452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2722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5918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5918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2106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82121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69545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889606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896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88960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납품장소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납품기일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조서발행번호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88960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07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44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481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18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755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92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24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75284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44924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75284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75284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44924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04805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04805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967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5103480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80" name="그룹 179"/>
          <p:cNvGrpSpPr/>
          <p:nvPr/>
        </p:nvGrpSpPr>
        <p:grpSpPr>
          <a:xfrm>
            <a:off x="3836701" y="3819909"/>
            <a:ext cx="2630093" cy="1186690"/>
            <a:chOff x="3801854" y="3355661"/>
            <a:chExt cx="2630093" cy="1186690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230" name="직선 연결선 22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7" name="직사각형 18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5048445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06386" y="2075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25722" y="5252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2189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686459" y="24829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2394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46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1237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</a:t>
            </a:r>
            <a:r>
              <a:rPr lang="ko-KR" altLang="en-US" sz="800" dirty="0"/>
              <a:t>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47" name="직사각형 246"/>
          <p:cNvSpPr/>
          <p:nvPr/>
        </p:nvSpPr>
        <p:spPr>
          <a:xfrm>
            <a:off x="7071236" y="5893850"/>
            <a:ext cx="2332333" cy="389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 </a:t>
            </a:r>
            <a:r>
              <a:rPr lang="ko-KR" altLang="en-US" sz="500" dirty="0" err="1" smtClean="0"/>
              <a:t>항목설명과</a:t>
            </a:r>
            <a:r>
              <a:rPr lang="ko-KR" altLang="en-US" sz="500" dirty="0" smtClean="0"/>
              <a:t> 이름이 </a:t>
            </a:r>
            <a:r>
              <a:rPr lang="ko-KR" altLang="en-US" sz="500" dirty="0" err="1" smtClean="0"/>
              <a:t>다른것도</a:t>
            </a:r>
            <a:r>
              <a:rPr lang="ko-KR" altLang="en-US" sz="500" dirty="0" smtClean="0"/>
              <a:t> 함께 표기</a:t>
            </a:r>
            <a:r>
              <a:rPr lang="en-US" altLang="ko-KR" sz="500" dirty="0" smtClean="0"/>
              <a:t/>
            </a:r>
            <a:br>
              <a:rPr lang="en-US" altLang="ko-KR" sz="500" dirty="0" smtClean="0"/>
            </a:br>
            <a:r>
              <a:rPr lang="ko-KR" altLang="en-US" sz="500" dirty="0" err="1" smtClean="0"/>
              <a:t>예산구분명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납품장소명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납품기한일자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대표자명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출고일자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기술검사기관명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기술검사관명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출납관소속명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물량검사관명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출납관명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출납관전화번호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3962501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계약자 정보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정비조회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이행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/>
          <p:cNvGrpSpPr/>
          <p:nvPr/>
        </p:nvGrpSpPr>
        <p:grpSpPr>
          <a:xfrm>
            <a:off x="720490" y="1527996"/>
            <a:ext cx="2630093" cy="1815590"/>
            <a:chOff x="720490" y="4582121"/>
            <a:chExt cx="2630093" cy="18155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58212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상세정보</a:t>
              </a:r>
            </a:p>
          </p:txBody>
        </p:sp>
        <p:grpSp>
          <p:nvGrpSpPr>
            <p:cNvPr id="80" name="그룹 79"/>
            <p:cNvGrpSpPr/>
            <p:nvPr/>
          </p:nvGrpSpPr>
          <p:grpSpPr>
            <a:xfrm flipV="1">
              <a:off x="3143548" y="4695452"/>
              <a:ext cx="94010" cy="47005"/>
              <a:chOff x="681256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1" name="직사각형 80"/>
            <p:cNvSpPr/>
            <p:nvPr/>
          </p:nvSpPr>
          <p:spPr>
            <a:xfrm>
              <a:off x="722583" y="4889606"/>
              <a:ext cx="792000" cy="1506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88960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88960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납품장소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납품기일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889606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(01)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12345 6789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2025-12-30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8385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2026-10-15 08:00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207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344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4812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6183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755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18924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3967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4" name="그룹 93"/>
          <p:cNvGrpSpPr/>
          <p:nvPr/>
        </p:nvGrpSpPr>
        <p:grpSpPr>
          <a:xfrm>
            <a:off x="720490" y="3443397"/>
            <a:ext cx="2630093" cy="1186690"/>
            <a:chOff x="3801854" y="3355661"/>
            <a:chExt cx="2630093" cy="1186690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96" name="그룹 9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05" name="직선 연결선 1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직사각형 9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468428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3396876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836701" y="1527996"/>
            <a:ext cx="2630093" cy="1186690"/>
            <a:chOff x="3801854" y="3355661"/>
            <a:chExt cx="2630093" cy="1186690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12" name="그룹 111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4" name="직사각형 113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4" name="그룹 123"/>
          <p:cNvGrpSpPr/>
          <p:nvPr/>
        </p:nvGrpSpPr>
        <p:grpSpPr>
          <a:xfrm>
            <a:off x="3836701" y="2806727"/>
            <a:ext cx="2630093" cy="2892808"/>
            <a:chOff x="3801854" y="3355661"/>
            <a:chExt cx="2630093" cy="2892808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26" name="그룹 12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8" name="직선 연결선 14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7" name="직사각형 126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2762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574697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748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15737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284103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30476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49352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8370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25021"/>
              </p:ext>
            </p:extLst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예산구분명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당년국채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납품장소명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dlvgdsPlcNm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납품장소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납품기한일자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dlvtrmYmd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납품기한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조서발행번호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266585"/>
              </p:ext>
            </p:extLst>
          </p:nvPr>
        </p:nvGraphicFramePr>
        <p:xfrm>
          <a:off x="452999" y="260649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대표자명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768369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63677"/>
              </p:ext>
            </p:extLst>
          </p:nvPr>
        </p:nvGraphicFramePr>
        <p:xfrm>
          <a:off x="452999" y="4982451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unitCd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tctrtQty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C3E33B-D53C-1740-F6B2-DB73DC3B4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91713"/>
              </p:ext>
            </p:extLst>
          </p:nvPr>
        </p:nvGraphicFramePr>
        <p:xfrm>
          <a:off x="452999" y="3783839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0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20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ctrtMtncDayCnt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실정비일수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rlmtDayCnt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정비지시일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wrhsYmd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mtncDrctnYmd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정비지시일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출고일자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spmtYmd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출고일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72445F-640E-7784-6FB3-49FCBBD8F128}"/>
              </a:ext>
            </a:extLst>
          </p:cNvPr>
          <p:cNvSpPr txBox="1"/>
          <p:nvPr/>
        </p:nvSpPr>
        <p:spPr>
          <a:xfrm>
            <a:off x="458117" y="358717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정비조회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dmt_MtncInq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59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3DB9D-A2D3-D9FE-1EFB-369BD6199734}"/>
              </a:ext>
            </a:extLst>
          </p:cNvPr>
          <p:cNvSpPr txBox="1"/>
          <p:nvPr/>
        </p:nvSpPr>
        <p:spPr>
          <a:xfrm>
            <a:off x="458117" y="1465604"/>
            <a:ext cx="260063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납품조서결과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dmt_DlvdocRslt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480574-8FDA-09E2-1AEF-7B0B06DAC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765327"/>
              </p:ext>
            </p:extLst>
          </p:nvPr>
        </p:nvGraphicFramePr>
        <p:xfrm>
          <a:off x="452999" y="1676807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igiYmd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passYmd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Ogdp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IdfrNm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확인자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전화번호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906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15940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779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2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858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14993"/>
              </p:ext>
            </p:extLst>
          </p:nvPr>
        </p:nvGraphicFramePr>
        <p:xfrm>
          <a:off x="635474" y="1413419"/>
          <a:ext cx="8701200" cy="42575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MUI-EX-02-M71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한도액계약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견적의뢰서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OvsEstmtRqdcListPage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OvsEstmtRqdcDtlPage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8851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MUI-EX-02-M73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vsEstmtNtdcListPage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견적통보서목록을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OvsEstmtNtdcListPage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874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MUI-EX-02-M74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vsEstmtNtdcDtl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428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MUI-EX-02-M75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vsOrderRqdcList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573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MUI-EX-02-M76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vsOrderRqdcDtl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7002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MUI-EX-02-M77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vsOrderNtdcList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4763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MUI-EX-02-M78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vsOrderNtdcDtl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5102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MUI-EX-02-P79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계약번호조회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vsCtrtNoInq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계약년도와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계약정보목록을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37040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3616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한도액계약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19879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48876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38128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158" idx="2"/>
          </p:cNvCxnSpPr>
          <p:nvPr/>
        </p:nvCxnSpPr>
        <p:spPr>
          <a:xfrm flipV="1">
            <a:off x="6926739" y="3083939"/>
            <a:ext cx="722137" cy="312347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4" idx="3"/>
            <a:endCxn id="158" idx="2"/>
          </p:cNvCxnSpPr>
          <p:nvPr/>
        </p:nvCxnSpPr>
        <p:spPr>
          <a:xfrm flipV="1">
            <a:off x="6926739" y="3083939"/>
            <a:ext cx="72213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266608" y="1772964"/>
            <a:ext cx="931134" cy="25619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2583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356934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0" idx="3"/>
            <a:endCxn id="158" idx="2"/>
          </p:cNvCxnSpPr>
          <p:nvPr/>
        </p:nvCxnSpPr>
        <p:spPr>
          <a:xfrm>
            <a:off x="6928876" y="2402366"/>
            <a:ext cx="720000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41" idx="1"/>
          </p:cNvCxnSpPr>
          <p:nvPr/>
        </p:nvCxnSpPr>
        <p:spPr>
          <a:xfrm>
            <a:off x="5097742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43" idx="1"/>
          </p:cNvCxnSpPr>
          <p:nvPr/>
        </p:nvCxnSpPr>
        <p:spPr>
          <a:xfrm>
            <a:off x="5097742" y="3083939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45" idx="1"/>
          </p:cNvCxnSpPr>
          <p:nvPr/>
        </p:nvCxnSpPr>
        <p:spPr>
          <a:xfrm>
            <a:off x="5097742" y="4334897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4" idx="3"/>
            <a:endCxn id="73" idx="1"/>
          </p:cNvCxnSpPr>
          <p:nvPr/>
        </p:nvCxnSpPr>
        <p:spPr>
          <a:xfrm>
            <a:off x="5097742" y="5585854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3"/>
            <a:endCxn id="40" idx="1"/>
          </p:cNvCxnSpPr>
          <p:nvPr/>
        </p:nvCxnSpPr>
        <p:spPr>
          <a:xfrm>
            <a:off x="5097742" y="1772964"/>
            <a:ext cx="931134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1" idx="0"/>
            <a:endCxn id="69" idx="0"/>
          </p:cNvCxnSpPr>
          <p:nvPr/>
        </p:nvCxnSpPr>
        <p:spPr>
          <a:xfrm rot="16200000" flipV="1">
            <a:off x="5563309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8124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7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60634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44" idx="1"/>
          </p:cNvCxnSpPr>
          <p:nvPr/>
        </p:nvCxnSpPr>
        <p:spPr>
          <a:xfrm>
            <a:off x="5097742" y="3083939"/>
            <a:ext cx="92899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71" idx="1"/>
          </p:cNvCxnSpPr>
          <p:nvPr/>
        </p:nvCxnSpPr>
        <p:spPr>
          <a:xfrm>
            <a:off x="5097742" y="4334897"/>
            <a:ext cx="928997" cy="6215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74" idx="1"/>
          </p:cNvCxnSpPr>
          <p:nvPr/>
        </p:nvCxnSpPr>
        <p:spPr>
          <a:xfrm>
            <a:off x="5097742" y="5585854"/>
            <a:ext cx="92899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1" idx="3"/>
            <a:endCxn id="158" idx="2"/>
          </p:cNvCxnSpPr>
          <p:nvPr/>
        </p:nvCxnSpPr>
        <p:spPr>
          <a:xfrm flipV="1">
            <a:off x="6926739" y="3083939"/>
            <a:ext cx="722137" cy="18725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3" idx="0"/>
            <a:endCxn id="162" idx="0"/>
          </p:cNvCxnSpPr>
          <p:nvPr/>
        </p:nvCxnSpPr>
        <p:spPr>
          <a:xfrm rot="16200000" flipV="1">
            <a:off x="5562241" y="2025440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5" idx="0"/>
            <a:endCxn id="23" idx="0"/>
          </p:cNvCxnSpPr>
          <p:nvPr/>
        </p:nvCxnSpPr>
        <p:spPr>
          <a:xfrm rot="16200000" flipV="1">
            <a:off x="5562241" y="3276398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3" idx="0"/>
            <a:endCxn id="34" idx="0"/>
          </p:cNvCxnSpPr>
          <p:nvPr/>
        </p:nvCxnSpPr>
        <p:spPr>
          <a:xfrm rot="16200000" flipV="1">
            <a:off x="5562241" y="4527355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277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27750" y="2747194"/>
            <a:ext cx="2298536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한도액계약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OvsLmtamtCtrtController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04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50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상세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3229064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계약번호조회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OvsCtrtNoInqPage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1" idx="0"/>
            <a:endCxn id="9" idx="2"/>
          </p:cNvCxnSpPr>
          <p:nvPr/>
        </p:nvCxnSpPr>
        <p:spPr>
          <a:xfrm flipV="1">
            <a:off x="4092664" y="3810190"/>
            <a:ext cx="731027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064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견적번호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504921" y="226200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53529" y="208381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805846" y="2262009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00394" y="226200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53529" y="226784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무역대리점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작성일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73235" y="5982789"/>
            <a:ext cx="2317894" cy="24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수신일</a:t>
            </a:r>
            <a:r>
              <a:rPr lang="en-US" altLang="ko-KR" sz="500" dirty="0"/>
              <a:t> </a:t>
            </a:r>
            <a:r>
              <a:rPr lang="en-US" altLang="ko-KR" sz="500" dirty="0" smtClean="0"/>
              <a:t>from, </a:t>
            </a:r>
            <a:r>
              <a:rPr lang="ko-KR" altLang="en-US" sz="500" dirty="0" smtClean="0"/>
              <a:t>수신일 </a:t>
            </a:r>
            <a:r>
              <a:rPr lang="en-US" altLang="ko-KR" sz="500" dirty="0" smtClean="0"/>
              <a:t>to, </a:t>
            </a:r>
            <a:r>
              <a:rPr lang="ko-KR" altLang="ko-KR" sz="500" dirty="0" err="1" smtClean="0"/>
              <a:t>견적번호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항목수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무역대리점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사업명</a:t>
            </a:r>
            <a:endParaRPr lang="ko-KR" altLang="ko-KR" sz="500" dirty="0"/>
          </a:p>
          <a:p>
            <a:endParaRPr lang="en-US" altLang="ko-KR" sz="500" dirty="0" smtClean="0"/>
          </a:p>
        </p:txBody>
      </p:sp>
      <p:sp>
        <p:nvSpPr>
          <p:cNvPr id="7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8406" y="149558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 err="1" smtClean="0"/>
              <a:t>업무도움은</a:t>
            </a:r>
            <a:r>
              <a:rPr lang="ko-KR" altLang="en-US" sz="800" dirty="0" smtClean="0"/>
              <a:t> 기본 값으로 접힘 상태로 정보 제공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사용자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> &gt; </a:t>
            </a:r>
            <a:r>
              <a:rPr lang="ko-KR" altLang="en-US" sz="800" dirty="0" smtClean="0"/>
              <a:t>내역이 있는 경우 표시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내역이 없으면 항목을 표시하지 않음</a:t>
            </a:r>
            <a:r>
              <a:rPr lang="en-US" altLang="ko-KR" sz="800" dirty="0" smtClean="0"/>
              <a:t>.</a:t>
            </a:r>
            <a:br>
              <a:rPr lang="en-US" altLang="ko-KR" sz="800" dirty="0" smtClean="0"/>
            </a:b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검색필터</a:t>
            </a:r>
            <a:r>
              <a:rPr lang="ko-KR" altLang="en-US" sz="800" dirty="0" smtClean="0"/>
              <a:t> 항목 참고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>
                <a:latin typeface="+mn-ea"/>
              </a:rPr>
              <a:t>검색 필터 </a:t>
            </a:r>
            <a:endParaRPr lang="en-US" altLang="ko-KR" sz="8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표시 개수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총 개수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표시 개수 </a:t>
            </a:r>
            <a:r>
              <a:rPr lang="en-US" altLang="ko-KR" sz="800" dirty="0" smtClean="0"/>
              <a:t>(</a:t>
            </a:r>
            <a:r>
              <a:rPr lang="ko-KR" altLang="en-US" sz="800" dirty="0" smtClean="0"/>
              <a:t>선택한 건수 만큼 보여주고 </a:t>
            </a:r>
            <a:r>
              <a:rPr lang="ko-KR" altLang="en-US" sz="800" dirty="0" err="1" smtClean="0"/>
              <a:t>더보기시</a:t>
            </a:r>
            <a:r>
              <a:rPr lang="ko-KR" altLang="en-US" sz="800" dirty="0" smtClean="0"/>
              <a:t> 추가로 불러옴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ko-KR" altLang="en-US" sz="800" dirty="0" smtClean="0"/>
              <a:t>목록 카드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카드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상세 페이지 이동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3-1] </a:t>
            </a:r>
            <a:r>
              <a:rPr lang="ko-KR" altLang="en-US" sz="800" dirty="0" err="1" smtClean="0"/>
              <a:t>견적번호</a:t>
            </a:r>
            <a:r>
              <a:rPr lang="ko-KR" altLang="en-US" sz="800" dirty="0" smtClean="0"/>
              <a:t>  </a:t>
            </a:r>
            <a:r>
              <a:rPr lang="en-US" altLang="ko-KR" sz="800" dirty="0" smtClean="0"/>
              <a:t>+</a:t>
            </a:r>
            <a:r>
              <a:rPr lang="ko-KR" altLang="en-US" sz="800" dirty="0"/>
              <a:t> </a:t>
            </a:r>
            <a:r>
              <a:rPr lang="ko-KR" altLang="en-US" sz="800" dirty="0" smtClean="0"/>
              <a:t>차수 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레이블이 화면을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4-1] </a:t>
            </a:r>
            <a:r>
              <a:rPr lang="ko-KR" altLang="en-US" sz="800" dirty="0" err="1" smtClean="0"/>
              <a:t>표시레이블</a:t>
            </a:r>
            <a:r>
              <a:rPr lang="ko-KR" altLang="en-US" sz="800" dirty="0" smtClean="0"/>
              <a:t> 영역 항목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통보서 상태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작성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미작성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송신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4-2] </a:t>
            </a:r>
            <a:r>
              <a:rPr lang="ko-KR" altLang="en-US" sz="800" dirty="0" smtClean="0"/>
              <a:t>문서 정보 영역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: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+</a:t>
            </a:r>
            <a:r>
              <a:rPr lang="ko-KR" altLang="en-US" sz="800" dirty="0" smtClean="0"/>
              <a:t>계약번호차수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기능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- 3</a:t>
            </a:r>
            <a:r>
              <a:rPr lang="ko-KR" altLang="en-US" sz="800" dirty="0" err="1" smtClean="0"/>
              <a:t>번항목</a:t>
            </a:r>
            <a:r>
              <a:rPr lang="ko-KR" altLang="en-US" sz="800" dirty="0" smtClean="0"/>
              <a:t> 표시 개수 영역에서 선택한 개수로 증가</a:t>
            </a:r>
            <a:r>
              <a:rPr lang="en-US" altLang="ko-KR" sz="800" dirty="0" smtClean="0"/>
              <a:t>.</a:t>
            </a:r>
            <a:br>
              <a:rPr lang="en-US" altLang="ko-KR" sz="800" dirty="0" smtClean="0"/>
            </a:br>
            <a:r>
              <a:rPr lang="ko-KR" altLang="en-US" sz="800" dirty="0" smtClean="0"/>
              <a:t>예</a:t>
            </a:r>
            <a:r>
              <a:rPr lang="en-US" altLang="ko-KR" sz="800" dirty="0" smtClean="0"/>
              <a:t>) 10</a:t>
            </a:r>
            <a:r>
              <a:rPr lang="ko-KR" altLang="en-US" sz="800" dirty="0" smtClean="0"/>
              <a:t>개 노출 이후 </a:t>
            </a: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버튼 클릭으로 </a:t>
            </a:r>
            <a:r>
              <a:rPr lang="en-US" altLang="ko-KR" sz="800" dirty="0" smtClean="0"/>
              <a:t>10</a:t>
            </a:r>
            <a:r>
              <a:rPr lang="ko-KR" altLang="en-US" sz="800" dirty="0" smtClean="0"/>
              <a:t>개씩 추가 로드</a:t>
            </a:r>
            <a:r>
              <a:rPr lang="en-US" altLang="ko-KR" sz="8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8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3384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4706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48521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8278" y="3382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</a:p>
        </p:txBody>
      </p:sp>
    </p:spTree>
    <p:extLst>
      <p:ext uri="{BB962C8B-B14F-4D97-AF65-F5344CB8AC3E}">
        <p14:creationId xmlns:p14="http://schemas.microsoft.com/office/powerpoint/2010/main" val="619605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검색 설정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서류요청</a:t>
            </a:r>
            <a:r>
              <a:rPr lang="ko-KR" altLang="en-US" sz="800" dirty="0"/>
              <a:t> </a:t>
            </a:r>
            <a:r>
              <a:rPr lang="ko-KR" altLang="en-US" sz="800" dirty="0" err="1"/>
              <a:t>수신일자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계약일자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당일 포함 과거 </a:t>
            </a:r>
            <a:r>
              <a:rPr lang="en-US" altLang="ko-KR" sz="800" dirty="0"/>
              <a:t>7</a:t>
            </a:r>
            <a:r>
              <a:rPr lang="ko-KR" altLang="en-US" sz="800" dirty="0"/>
              <a:t>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1-1</a:t>
            </a:r>
            <a:r>
              <a:rPr lang="en-US" altLang="ko-KR" sz="800" dirty="0"/>
              <a:t>)</a:t>
            </a:r>
            <a:r>
              <a:rPr lang="ko-KR" altLang="en-US" sz="800" dirty="0"/>
              <a:t>직접 입력 가능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좌</a:t>
            </a:r>
            <a:r>
              <a:rPr lang="en-US" altLang="ko-KR" sz="800" dirty="0"/>
              <a:t>)</a:t>
            </a:r>
            <a:r>
              <a:rPr lang="ko-KR" altLang="en-US" sz="800" dirty="0"/>
              <a:t>과거 우</a:t>
            </a:r>
            <a:r>
              <a:rPr lang="en-US" altLang="ko-KR" sz="800" dirty="0"/>
              <a:t>)</a:t>
            </a:r>
            <a:r>
              <a:rPr lang="ko-KR" altLang="en-US" sz="800" dirty="0" err="1"/>
              <a:t>현재로한다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</a:t>
            </a:r>
            <a:r>
              <a:rPr lang="ko-KR" altLang="en-US" sz="800" dirty="0"/>
              <a:t> 값은 미래를 선택</a:t>
            </a:r>
            <a:r>
              <a:rPr lang="en-US" altLang="ko-KR" sz="800" dirty="0"/>
              <a:t>,</a:t>
            </a:r>
            <a:r>
              <a:rPr lang="ko-KR" altLang="en-US" sz="800" dirty="0"/>
              <a:t>입력 할 </a:t>
            </a:r>
            <a:r>
              <a:rPr lang="ko-KR" altLang="en-US" sz="800" dirty="0" err="1"/>
              <a:t>수없다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 </a:t>
            </a:r>
            <a:r>
              <a:rPr lang="ko-KR" altLang="en-US" sz="800" dirty="0"/>
              <a:t>값이 미래를 입력한 경우 오늘로 자동 변경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당일 기준 최대 </a:t>
            </a:r>
            <a:r>
              <a:rPr lang="en-US" altLang="ko-KR" sz="800" dirty="0"/>
              <a:t>1</a:t>
            </a:r>
            <a:r>
              <a:rPr lang="ko-KR" altLang="en-US" sz="800" dirty="0"/>
              <a:t>년</a:t>
            </a:r>
            <a:r>
              <a:rPr lang="en-US" altLang="ko-KR" sz="800" dirty="0"/>
              <a:t>(365</a:t>
            </a:r>
            <a:r>
              <a:rPr lang="ko-KR" altLang="en-US" sz="800" dirty="0"/>
              <a:t>일</a:t>
            </a:r>
            <a:r>
              <a:rPr lang="en-US" altLang="ko-KR" sz="800" dirty="0"/>
              <a:t>)</a:t>
            </a:r>
            <a:r>
              <a:rPr lang="ko-KR" altLang="en-US" sz="800" dirty="0"/>
              <a:t>까지 조회 가능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1-2</a:t>
            </a:r>
            <a:r>
              <a:rPr lang="en-US" altLang="ko-KR" sz="800" dirty="0"/>
              <a:t>) </a:t>
            </a:r>
            <a:r>
              <a:rPr lang="ko-KR" altLang="en-US" sz="800" dirty="0"/>
              <a:t>아이콘 </a:t>
            </a:r>
            <a:r>
              <a:rPr lang="en-US" altLang="ko-KR" sz="800" dirty="0">
                <a:sym typeface="Wingdings" panose="05000000000000000000" pitchFamily="2" charset="2"/>
              </a:rPr>
              <a:t> </a:t>
            </a:r>
            <a:r>
              <a:rPr lang="ko-KR" altLang="en-US" sz="800" dirty="0">
                <a:sym typeface="Wingdings" panose="05000000000000000000" pitchFamily="2" charset="2"/>
              </a:rPr>
              <a:t>데이트 </a:t>
            </a:r>
            <a:r>
              <a:rPr lang="ko-KR" altLang="en-US" sz="800" dirty="0" err="1">
                <a:sym typeface="Wingdings" panose="05000000000000000000" pitchFamily="2" charset="2"/>
              </a:rPr>
              <a:t>피커</a:t>
            </a:r>
            <a:r>
              <a:rPr lang="ko-KR" altLang="en-US" sz="800" dirty="0">
                <a:sym typeface="Wingdings" panose="05000000000000000000" pitchFamily="2" charset="2"/>
              </a:rPr>
              <a:t> 호출</a:t>
            </a:r>
            <a:r>
              <a:rPr lang="en-US" altLang="ko-KR" sz="800" dirty="0">
                <a:sym typeface="Wingdings" panose="05000000000000000000" pitchFamily="2" charset="2"/>
              </a:rPr>
              <a:t>( </a:t>
            </a:r>
            <a:r>
              <a:rPr lang="ko-KR" altLang="en-US" sz="800" dirty="0" err="1">
                <a:sym typeface="Wingdings" panose="05000000000000000000" pitchFamily="2" charset="2"/>
              </a:rPr>
              <a:t>미래불가</a:t>
            </a:r>
            <a:r>
              <a:rPr lang="en-US" altLang="ko-KR" sz="800" dirty="0">
                <a:sym typeface="Wingdings" panose="05000000000000000000" pitchFamily="2" charset="2"/>
              </a:rPr>
              <a:t>)</a:t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en-US" altLang="ko-KR" sz="800" dirty="0" smtClean="0">
                <a:sym typeface="Wingdings" panose="05000000000000000000" pitchFamily="2" charset="2"/>
              </a:rPr>
              <a:t>1-3</a:t>
            </a:r>
            <a:r>
              <a:rPr lang="en-US" altLang="ko-KR" sz="800" dirty="0"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sym typeface="Wingdings" panose="05000000000000000000" pitchFamily="2" charset="2"/>
              </a:rPr>
              <a:t>최근</a:t>
            </a:r>
            <a:r>
              <a:rPr lang="en-US" altLang="ko-KR" sz="800" dirty="0">
                <a:sym typeface="Wingdings" panose="05000000000000000000" pitchFamily="2" charset="2"/>
              </a:rPr>
              <a:t>1,3,6</a:t>
            </a:r>
            <a:r>
              <a:rPr lang="ko-KR" altLang="en-US" sz="800" dirty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800" dirty="0">
                <a:sym typeface="Wingdings" panose="05000000000000000000" pitchFamily="2" charset="2"/>
              </a:rPr>
              <a:t>30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 90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,180</a:t>
            </a:r>
            <a:r>
              <a:rPr lang="ko-KR" altLang="en-US" sz="800" dirty="0">
                <a:sym typeface="Wingdings" panose="05000000000000000000" pitchFamily="2" charset="2"/>
              </a:rPr>
              <a:t>일 이전 값을 표시</a:t>
            </a:r>
            <a:r>
              <a:rPr lang="en-US" altLang="ko-KR" sz="800" dirty="0" smtClean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800" dirty="0" smtClean="0">
                <a:sym typeface="Wingdings" panose="05000000000000000000" pitchFamily="2" charset="2"/>
              </a:rPr>
              <a:t> 영역 검색기능 제공 </a:t>
            </a:r>
            <a:endParaRPr lang="en-US" altLang="ko-KR" sz="800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한도액계약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0300" y="20389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52186" y="21456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06268" y="21456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52186" y="24524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</p:spTree>
    <p:extLst>
      <p:ext uri="{BB962C8B-B14F-4D97-AF65-F5344CB8AC3E}">
        <p14:creationId xmlns:p14="http://schemas.microsoft.com/office/powerpoint/2010/main" val="21702751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C3181-74F9-5FAE-8260-B8C585F42331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77216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57601"/>
              </p:ext>
            </p:extLst>
          </p:nvPr>
        </p:nvGraphicFramePr>
        <p:xfrm>
          <a:off x="452999" y="1024357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1841203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0406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75921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07187"/>
              </p:ext>
            </p:extLst>
          </p:nvPr>
        </p:nvGraphicFramePr>
        <p:xfrm>
          <a:off x="452291" y="398749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277400484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견적의뢰서상세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26166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8291"/>
            <a:ext cx="26839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069867"/>
              </p:ext>
            </p:extLst>
          </p:nvPr>
        </p:nvGraphicFramePr>
        <p:xfrm>
          <a:off x="455558" y="21394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94791476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12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</a:t>
                      </a:r>
                      <a:r>
                        <a:rPr lang="ko-KR" altLang="en-US" sz="800" dirty="0" err="1">
                          <a:latin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무역대리점 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납기일자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작성일자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ntdcStts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3921AF14-0A7A-7CF4-2518-3705EA0C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8860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5662"/>
            <a:ext cx="2630093" cy="1551341"/>
            <a:chOff x="3839894" y="2802481"/>
            <a:chExt cx="2630093" cy="1551341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2481"/>
              <a:ext cx="792000" cy="15513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15636" y="5252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6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1237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247645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r>
              <a:rPr lang="ko-KR" altLang="en-US" dirty="0">
                <a:solidFill>
                  <a:prstClr val="black"/>
                </a:solidFill>
              </a:rPr>
              <a:t>견적의뢰서품목 데이터 영역 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en-US" altLang="ko-KR" dirty="0" err="1">
                <a:solidFill>
                  <a:prstClr val="black"/>
                </a:solidFill>
              </a:rPr>
              <a:t>dl_estmtRqdcItem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2369881"/>
            <a:chOff x="3865118" y="2946203"/>
            <a:chExt cx="2630093" cy="236988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69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38526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3578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799261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10464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1464054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24675"/>
            <a:ext cx="293406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41289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4316845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trnsMthdCd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dlvgdsRqtYmd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납품요구일자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1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4805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6F95F2-604A-CD71-A157-16ADC3AFA5D2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E2B1C658-9190-4D02-673B-5B3242230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4776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B9AF66-64E6-DF62-3BAF-E5063782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7857E-A467-2211-5885-613C98FA5232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A43DC5-460A-FFCD-4D6F-A07499D3F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71437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15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견적의뢰서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견적의뢰서출력물</a:t>
                      </a:r>
                      <a:r>
                        <a:rPr lang="ko-KR" altLang="en-US" sz="800" dirty="0"/>
                        <a:t> 화면을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UI-EX-02-R85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819AA99-5229-6305-7DF5-CFF892B9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47345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>- “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조회해 주세요</a:t>
            </a:r>
            <a:r>
              <a:rPr lang="en-US" altLang="ko-KR" dirty="0"/>
              <a:t>“ </a:t>
            </a:r>
            <a:r>
              <a:rPr lang="ko-KR" altLang="en-US" dirty="0" err="1"/>
              <a:t>안내문구</a:t>
            </a:r>
            <a:r>
              <a:rPr lang="ko-KR" altLang="en-US" dirty="0"/>
              <a:t> </a:t>
            </a:r>
            <a:r>
              <a:rPr lang="ko-KR" altLang="en-US" dirty="0" smtClean="0"/>
              <a:t>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내역이 있는 경우 만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2-2]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6166" y="17110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3332" y="23164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41421" y="25801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6166" y="21185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5241" y="2180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/>
              <a:t>2-3</a:t>
            </a:r>
            <a:endParaRPr lang="ko-KR" altLang="en-US" sz="600" b="1" dirty="0"/>
          </a:p>
        </p:txBody>
      </p:sp>
      <p:sp>
        <p:nvSpPr>
          <p:cNvPr id="209" name="직사각형 208"/>
          <p:cNvSpPr/>
          <p:nvPr/>
        </p:nvSpPr>
        <p:spPr>
          <a:xfrm>
            <a:off x="7071988" y="5982789"/>
            <a:ext cx="2331582" cy="24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건수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 </a:t>
            </a:r>
            <a:r>
              <a:rPr lang="ko-KR" altLang="en-US" sz="500" dirty="0" smtClean="0"/>
              <a:t>작성일자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진행상태</a:t>
            </a:r>
            <a:endParaRPr lang="en-US" altLang="ko-KR" sz="500" dirty="0" smtClean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72073" y="4207300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조회해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9873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err="1" smtClean="0"/>
              <a:t>계약번호로</a:t>
            </a:r>
            <a:r>
              <a:rPr lang="ko-KR" altLang="en-US" dirty="0" smtClean="0"/>
              <a:t> 검색한 계약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해당 </a:t>
            </a:r>
            <a:r>
              <a:rPr lang="ko-KR" altLang="en-US" dirty="0" err="1" smtClean="0"/>
              <a:t>계약건에</a:t>
            </a:r>
            <a:r>
              <a:rPr lang="ko-KR" altLang="en-US" dirty="0" smtClean="0"/>
              <a:t> 연계된 견적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 </a:t>
            </a:r>
            <a:r>
              <a:rPr lang="en-US" altLang="ko-KR" dirty="0"/>
              <a:t>(</a:t>
            </a:r>
            <a:r>
              <a:rPr lang="ko-KR" altLang="en-US" dirty="0"/>
              <a:t>선택한 건수 만큼 보여주고 </a:t>
            </a:r>
            <a:r>
              <a:rPr lang="ko-KR" altLang="en-US" dirty="0" err="1"/>
              <a:t>더보기시</a:t>
            </a:r>
            <a:r>
              <a:rPr lang="ko-KR" altLang="en-US" dirty="0"/>
              <a:t> 추가로 불러옴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목록 카드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</a:t>
            </a:r>
            <a:r>
              <a:rPr lang="ko-KR" altLang="en-US" dirty="0" err="1"/>
              <a:t>클릭시</a:t>
            </a:r>
            <a:r>
              <a:rPr lang="ko-KR" altLang="en-US" dirty="0"/>
              <a:t> 상세 페이지 </a:t>
            </a:r>
            <a:r>
              <a:rPr lang="ko-KR" altLang="en-US" dirty="0" smtClean="0"/>
              <a:t>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레이블이 화면을 넘치는 경우 드래그하여 확인 가능 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4-1] </a:t>
            </a:r>
            <a:r>
              <a:rPr lang="ko-KR" altLang="en-US" dirty="0" err="1"/>
              <a:t>표시레이블</a:t>
            </a:r>
            <a:r>
              <a:rPr lang="ko-KR" altLang="en-US" dirty="0"/>
              <a:t> 영역 항목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통보서 상태 </a:t>
            </a:r>
            <a:r>
              <a:rPr lang="en-US" altLang="ko-KR" dirty="0"/>
              <a:t>: </a:t>
            </a:r>
            <a:r>
              <a:rPr lang="ko-KR" altLang="en-US" dirty="0"/>
              <a:t>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반려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4-2] </a:t>
            </a:r>
            <a:r>
              <a:rPr lang="ko-KR" altLang="en-US" dirty="0"/>
              <a:t>문서 정보 영역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RQNo</a:t>
            </a:r>
            <a:r>
              <a:rPr lang="ko-KR" altLang="en-US" dirty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</a:t>
            </a:r>
            <a:r>
              <a:rPr lang="ko-KR" altLang="en-US" dirty="0"/>
              <a:t>라인을 넘어가면 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</a:t>
            </a:r>
            <a:r>
              <a:rPr lang="ko-KR" altLang="en-US" dirty="0" smtClean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4-3] </a:t>
            </a:r>
            <a:r>
              <a:rPr lang="ko-KR" altLang="en-US" dirty="0"/>
              <a:t>문서 제목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제목은 </a:t>
            </a:r>
            <a:r>
              <a:rPr lang="en-US" altLang="ko-KR" dirty="0"/>
              <a:t>2</a:t>
            </a:r>
            <a:r>
              <a:rPr lang="ko-KR" altLang="en-US" dirty="0"/>
              <a:t>줄 까지 노출 이후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기능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번항목</a:t>
            </a:r>
            <a:r>
              <a:rPr lang="ko-KR" altLang="en-US" dirty="0"/>
              <a:t> 표시 개수 영역에서 선택한 개수로 증가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</a:t>
            </a:r>
            <a:r>
              <a:rPr lang="en-US" altLang="ko-KR" dirty="0"/>
              <a:t>) 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 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견적통보서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1550" y="193531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68" y="36358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79504" y="57710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059209" y="37197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498" y="39226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40825" y="21685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530862" y="40363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788595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34562" y="612098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821217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34562" y="630323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853839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82859" y="59999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1258146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견적통보서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4357"/>
          <a:ext cx="8994883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04732633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350691"/>
            <a:ext cx="2627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337830"/>
              </p:ext>
            </p:extLst>
          </p:nvPr>
        </p:nvGraphicFramePr>
        <p:xfrm>
          <a:off x="455558" y="35618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94875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tradeSbtBzentyNm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7203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840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7108539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0A187A-601E-C504-77A1-6408CAB89188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247E2B1C-DD05-DA89-5308-75E3059E3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9128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58675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48822"/>
              </p:ext>
            </p:extLst>
          </p:nvPr>
        </p:nvGraphicFramePr>
        <p:xfrm>
          <a:off x="452291" y="815034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3151547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계약번호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scwin.btn_ctrtNoSrch_onclick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계약번호조회 팝업창을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견적통보서상세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UI-EX-02-M77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50527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6791A0A1-FC99-8362-722B-7163A15A8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5341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r>
              <a:rPr lang="ko-KR" altLang="en-US" sz="700" dirty="0" smtClean="0">
                <a:latin typeface="+mn-ea"/>
              </a:rPr>
              <a:t> 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15636" y="5252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5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86148" y="150025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39980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품목수</a:t>
            </a:r>
            <a:r>
              <a:rPr lang="ko-KR" altLang="en-US" dirty="0" smtClean="0"/>
              <a:t> 데이터 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견적통보서품목데이터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666849"/>
            <a:chOff x="3865118" y="2946203"/>
            <a:chExt cx="2630093" cy="666849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6668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변경 </a:t>
              </a: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89771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555724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납품가능일자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MISSING </a:t>
                </a:r>
                <a:r>
                  <a:rPr lang="ko-KR" altLang="en-US" sz="700" dirty="0">
                    <a:latin typeface="+mn-ea"/>
                  </a:rPr>
                  <a:t>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비고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2025-05-01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endPara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AFLC IM : IG(6</a:t>
                </a:r>
                <a:r>
                  <a:rPr lang="ko-KR" altLang="en-US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급 홍길동</a:t>
                </a: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)</a:t>
                </a:r>
                <a:endParaRPr lang="en-US" altLang="ko-KR" sz="700" dirty="0">
                  <a:latin typeface="+mn-ea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60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8"/>
            <a:ext cx="2630093" cy="3016211"/>
            <a:chOff x="3865118" y="2946203"/>
            <a:chExt cx="2630093" cy="3016211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3"/>
              <a:ext cx="792000" cy="29994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MISSING </a:t>
              </a:r>
              <a:r>
                <a:rPr lang="ko-KR" altLang="en-US" sz="700" dirty="0">
                  <a:latin typeface="+mn-ea"/>
                </a:rPr>
                <a:t>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21" y="2587075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0897330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31519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42722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77358683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56933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7354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3915517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납품가능일자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540FFE-2400-F72E-FEF3-C0213792E88D}"/>
              </a:ext>
            </a:extLst>
          </p:cNvPr>
          <p:cNvSpPr txBox="1"/>
          <p:nvPr/>
        </p:nvSpPr>
        <p:spPr>
          <a:xfrm>
            <a:off x="458117" y="570805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F88B6F33-3B59-4E72-BA0A-6E61393E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85248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830447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0470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4627006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96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estmtChgSeCd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B4853B-77A9-063D-FD79-4874F64197E8}"/>
              </a:ext>
            </a:extLst>
          </p:cNvPr>
          <p:cNvSpPr txBox="1"/>
          <p:nvPr/>
        </p:nvSpPr>
        <p:spPr>
          <a:xfrm>
            <a:off x="449462" y="2346846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4774463-17E5-59BA-C57D-82FEFFD58F5A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256346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92632093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작성품목수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chgItemCnt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ko-KR" altLang="en-US" sz="800" dirty="0" err="1">
                          <a:latin typeface="+mn-ea"/>
                        </a:rPr>
                        <a:t>총금액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5E5C85-FD4B-87B2-89FB-EFADA1BC3AFF}"/>
              </a:ext>
            </a:extLst>
          </p:cNvPr>
          <p:cNvSpPr txBox="1"/>
          <p:nvPr/>
        </p:nvSpPr>
        <p:spPr>
          <a:xfrm>
            <a:off x="458117" y="576901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7CFAF236-CC1E-CBBA-7EA4-443CFC13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36985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A18B3F-D143-C88D-B9A9-71068F2A7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9EDC-0ED7-3553-9AB2-299F5F45A058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4E6FDD-3643-671D-43FC-9D1C9000A9AC}"/>
              </a:ext>
            </a:extLst>
          </p:cNvPr>
          <p:cNvGraphicFramePr>
            <a:graphicFrameLocks noGrp="1"/>
          </p:cNvGraphicFramePr>
          <p:nvPr/>
        </p:nvGraphicFramePr>
        <p:xfrm>
          <a:off x="458117" y="79954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UI-EX-02-R86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9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목록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scwin.btn_moveList_onclick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한도액계약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견적통보서목록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UI-EX-02-M76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94BB505-861D-7349-B600-49B8BD8C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8657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78516" y="2279604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152929" y="35174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3-1</a:t>
            </a:r>
            <a:endParaRPr lang="ko-KR" altLang="en-US" sz="6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3-3</a:t>
            </a:r>
            <a:endParaRPr lang="ko-KR" altLang="en-US" sz="600" b="1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3-2</a:t>
            </a:r>
            <a:endParaRPr lang="ko-KR" altLang="en-US" sz="600" b="1" dirty="0"/>
          </a:p>
        </p:txBody>
      </p:sp>
      <p:sp>
        <p:nvSpPr>
          <p:cNvPr id="9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“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검색하여 조회해 주세요</a:t>
            </a:r>
            <a:r>
              <a:rPr lang="en-US" altLang="ko-KR" dirty="0" smtClean="0"/>
              <a:t>“ </a:t>
            </a:r>
            <a:r>
              <a:rPr lang="ko-KR" altLang="en-US" dirty="0" err="1" smtClean="0"/>
              <a:t>안내문구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21205" y="3664242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검색하여 조회해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34447" y="2050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40703" y="1806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2" name="직사각형 101"/>
          <p:cNvSpPr/>
          <p:nvPr/>
        </p:nvSpPr>
        <p:spPr>
          <a:xfrm>
            <a:off x="7071987" y="6052457"/>
            <a:ext cx="2319141" cy="2581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수신일</a:t>
            </a:r>
            <a:r>
              <a:rPr lang="en-US" altLang="ko-KR" sz="500" dirty="0" err="1" smtClean="0"/>
              <a:t>frome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수신일 </a:t>
            </a:r>
            <a:r>
              <a:rPr lang="en-US" altLang="ko-KR" sz="500" dirty="0" smtClean="0"/>
              <a:t>to,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통보서상태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/>
            </a:r>
            <a:br>
              <a:rPr lang="en-US" altLang="ko-KR" sz="500" dirty="0" smtClean="0"/>
            </a:b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29993993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발주번호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491839" y="250560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042" y="231264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792764" y="2505600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187312" y="250560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1143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화폐단위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미 달러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73713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4110" y="31956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50214" y="578852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개수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총 개수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개수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선택한 건수 만큼 보여주고 </a:t>
            </a:r>
            <a:r>
              <a:rPr lang="ko-KR" altLang="en-US" dirty="0" err="1" smtClean="0"/>
              <a:t>더보기시</a:t>
            </a:r>
            <a:r>
              <a:rPr lang="ko-KR" altLang="en-US" dirty="0" smtClean="0"/>
              <a:t> 추가로 불러옴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/>
              <a:t> </a:t>
            </a:r>
            <a:r>
              <a:rPr lang="ko-KR" altLang="en-US" dirty="0" smtClean="0"/>
              <a:t>해당 목록에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목록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상세 페이지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레이블이 화면을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2-1] </a:t>
            </a:r>
            <a:r>
              <a:rPr lang="ko-KR" altLang="en-US" dirty="0" err="1" smtClean="0"/>
              <a:t>표시레이블</a:t>
            </a:r>
            <a:r>
              <a:rPr lang="ko-KR" altLang="en-US" dirty="0" smtClean="0"/>
              <a:t> 영역 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통보서 상태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미작성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2-2] </a:t>
            </a:r>
            <a:r>
              <a:rPr lang="ko-KR" altLang="en-US" dirty="0" smtClean="0"/>
              <a:t>문서 정보 영역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- 3</a:t>
            </a:r>
            <a:r>
              <a:rPr lang="ko-KR" altLang="en-US" dirty="0" err="1" smtClean="0"/>
              <a:t>번항목</a:t>
            </a:r>
            <a:r>
              <a:rPr lang="ko-KR" altLang="en-US" dirty="0" smtClean="0"/>
              <a:t> 표시 개수 영역에서 선택한 개수로 증가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예</a:t>
            </a:r>
            <a:r>
              <a:rPr lang="en-US" altLang="ko-KR" dirty="0" smtClean="0"/>
              <a:t>) 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9660" y="22265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06316" y="33645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1070" y="35577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2-3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2886866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한도액계약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80601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발주의뢰서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168725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314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413314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96007"/>
              </p:ext>
            </p:extLst>
          </p:nvPr>
        </p:nvGraphicFramePr>
        <p:xfrm>
          <a:off x="452291" y="4361426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1023524960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발주의뢰서상세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UI-EX-02-M80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27619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2081243"/>
            <a:ext cx="262468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255722"/>
              </p:ext>
            </p:extLst>
          </p:nvPr>
        </p:nvGraphicFramePr>
        <p:xfrm>
          <a:off x="455558" y="229244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836786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dudtYmd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ntdcStts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216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24788-20B5-1038-4512-AA9F9D45169D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BE2E44-CE92-75DD-1730-97CE577E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18180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r>
              <a:rPr lang="ko-KR" altLang="en-US" sz="700" dirty="0" smtClean="0">
                <a:latin typeface="+mn-ea"/>
              </a:rPr>
              <a:t> 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62389"/>
            <a:ext cx="2630093" cy="1773664"/>
            <a:chOff x="3839894" y="2789208"/>
            <a:chExt cx="2630093" cy="1773664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789208"/>
              <a:ext cx="792000" cy="1770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신용장정보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MD1111111111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5613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1-1] </a:t>
            </a:r>
            <a:r>
              <a:rPr lang="ko-KR" altLang="en-US" dirty="0"/>
              <a:t>레이블이 화면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화면 넘치는 경우 드래그하여 확인 가능 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1-2] </a:t>
            </a:r>
            <a:r>
              <a:rPr lang="ko-KR" altLang="en-US" dirty="0"/>
              <a:t>문서 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해당 </a:t>
            </a:r>
            <a:r>
              <a:rPr lang="ko-KR" altLang="en-US" dirty="0"/>
              <a:t>라인을 넘어가면 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1-3] </a:t>
            </a:r>
            <a:r>
              <a:rPr lang="ko-KR" altLang="en-US" dirty="0"/>
              <a:t>문서 제목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제목은 </a:t>
            </a:r>
            <a:r>
              <a:rPr lang="en-US" altLang="ko-KR" dirty="0"/>
              <a:t>2</a:t>
            </a:r>
            <a:r>
              <a:rPr lang="ko-KR" altLang="en-US" dirty="0"/>
              <a:t>줄 까지 노출 이후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내역이 있는 경우 만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내용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상세정보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물품목록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로그인 필요 서비스 안내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화면을 </a:t>
            </a:r>
            <a:r>
              <a:rPr lang="ko-KR" altLang="en-US" dirty="0" err="1"/>
              <a:t>넘치는경우</a:t>
            </a:r>
            <a:r>
              <a:rPr lang="ko-KR" altLang="en-US" dirty="0"/>
              <a:t> 드래그하여 확인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 상세 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공고에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기본값은 상단 이동 버튼</a:t>
            </a:r>
            <a:endParaRPr lang="en-US" altLang="ko-KR" dirty="0"/>
          </a:p>
        </p:txBody>
      </p:sp>
      <p:sp>
        <p:nvSpPr>
          <p:cNvPr id="153" name="직사각형 152"/>
          <p:cNvSpPr/>
          <p:nvPr/>
        </p:nvSpPr>
        <p:spPr>
          <a:xfrm>
            <a:off x="7091292" y="5963807"/>
            <a:ext cx="2287397" cy="2422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err="1" smtClean="0"/>
              <a:t>발주일자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5663725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3"/>
            <a:ext cx="2630093" cy="3662543"/>
            <a:chOff x="3865118" y="2946202"/>
            <a:chExt cx="2630093" cy="366254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2"/>
              <a:ext cx="792000" cy="3660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하자보증</a:t>
              </a:r>
              <a:r>
                <a:rPr lang="ko-KR" altLang="en-US" sz="700" dirty="0">
                  <a:latin typeface="+mn-ea"/>
                </a:rPr>
                <a:t> 유무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W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 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72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506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567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704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841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6075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91915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978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501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48342"/>
              </p:ext>
            </p:extLst>
          </p:nvPr>
        </p:nvGraphicFramePr>
        <p:xfrm>
          <a:off x="455558" y="1108000"/>
          <a:ext cx="8994883" cy="290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9510346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신용장번호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lcNo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신용장번호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49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2403028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orderClmNo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청구번호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CA2773-291A-19B7-A65A-DF8C1BC71574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0570B5D5-1017-6AB3-E03A-8DC4E32B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83334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41699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5831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2848911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1)</a:t>
                      </a:r>
                      <a:endParaRPr lang="en-US" altLang="ko-KR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필수여부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19E31C-2FDE-08F4-520A-F1BA3FF8AC3E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BF2EC95A-5A84-AF72-3864-F745DCE2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82447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176E2-B3F1-8A10-4975-9EAFB535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4B1C8-80A0-2A21-E2D6-F082A20592E4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7236D2-C531-C445-3790-00FDF6F2D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13164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1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발주의뢰서출력물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UI-EX-02-R87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228E10E-5D1D-7B44-A1BC-AD5D10541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13492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152929" y="35174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3-1</a:t>
            </a:r>
            <a:endParaRPr lang="ko-KR" altLang="en-US" sz="6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3-3</a:t>
            </a:r>
            <a:endParaRPr lang="ko-KR" altLang="en-US" sz="600" b="1" dirty="0"/>
          </a:p>
        </p:txBody>
      </p:sp>
      <p:sp>
        <p:nvSpPr>
          <p:cNvPr id="11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16122" y="1483462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“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검색하여 조회해 주세요</a:t>
            </a:r>
            <a:r>
              <a:rPr lang="en-US" altLang="ko-KR" dirty="0" smtClean="0"/>
              <a:t>“ </a:t>
            </a:r>
            <a:r>
              <a:rPr lang="ko-KR" altLang="en-US" dirty="0" err="1" smtClean="0"/>
              <a:t>안내문구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21205" y="3664242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검색하여 조회해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34447" y="2050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40703" y="1806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24" name="직사각형 123"/>
          <p:cNvSpPr/>
          <p:nvPr/>
        </p:nvSpPr>
        <p:spPr>
          <a:xfrm>
            <a:off x="7066669" y="5986847"/>
            <a:ext cx="2324460" cy="3396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건수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유효일자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무역대리점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작성일자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진행상태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29885029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784494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93549" y="606712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817116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93549" y="628758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모서리가 둥근 직사각형 88"/>
          <p:cNvSpPr/>
          <p:nvPr/>
        </p:nvSpPr>
        <p:spPr>
          <a:xfrm>
            <a:off x="849738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발주통보서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20182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err="1" smtClean="0"/>
              <a:t>계약번호로</a:t>
            </a:r>
            <a:r>
              <a:rPr lang="ko-KR" altLang="en-US" dirty="0" smtClean="0"/>
              <a:t> 검색한 계약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해당 </a:t>
            </a:r>
            <a:r>
              <a:rPr lang="ko-KR" altLang="en-US" dirty="0" err="1" smtClean="0"/>
              <a:t>계약건에</a:t>
            </a:r>
            <a:r>
              <a:rPr lang="ko-KR" altLang="en-US" dirty="0" smtClean="0"/>
              <a:t> 연계된 견적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개수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총 개수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개수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선택한 건수 만큼 보여주고 </a:t>
            </a:r>
            <a:r>
              <a:rPr lang="ko-KR" altLang="en-US" dirty="0" err="1" smtClean="0"/>
              <a:t>더보기시</a:t>
            </a:r>
            <a:r>
              <a:rPr lang="ko-KR" altLang="en-US" dirty="0" smtClean="0"/>
              <a:t> 추가로 불러옴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smtClean="0"/>
              <a:t>목록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상세 페이지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레이블이 화면을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4-1] </a:t>
            </a:r>
            <a:r>
              <a:rPr lang="ko-KR" altLang="en-US" dirty="0" err="1" smtClean="0"/>
              <a:t>표시레이블</a:t>
            </a:r>
            <a:r>
              <a:rPr lang="ko-KR" altLang="en-US" dirty="0" smtClean="0"/>
              <a:t> 영역 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통보서 상태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반려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4-2] </a:t>
            </a:r>
            <a:r>
              <a:rPr lang="ko-KR" altLang="en-US" dirty="0" smtClean="0"/>
              <a:t>문서 정보 영역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RQNo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4-3]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- 3</a:t>
            </a:r>
            <a:r>
              <a:rPr lang="ko-KR" altLang="en-US" dirty="0" err="1" smtClean="0"/>
              <a:t>번항목</a:t>
            </a:r>
            <a:r>
              <a:rPr lang="ko-KR" altLang="en-US" dirty="0" smtClean="0"/>
              <a:t> 표시 개수 영역에서 선택한 개수로 증가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예</a:t>
            </a:r>
            <a:r>
              <a:rPr lang="en-US" altLang="ko-KR" dirty="0" smtClean="0"/>
              <a:t>) 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1550" y="193531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68" y="36358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79504" y="57710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059209" y="37197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498" y="39226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40825" y="21685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530862" y="40363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77771" y="59488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20353229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18568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3198629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448227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79325"/>
              </p:ext>
            </p:extLst>
          </p:nvPr>
        </p:nvGraphicFramePr>
        <p:xfrm>
          <a:off x="455558" y="365943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840203791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orderSeq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vldYmd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bzentyCd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1107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231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27763422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CAD3C8-5A1E-77CB-E6FB-DBE0E1FEA2E4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1D17EA86-8CD2-2112-B4CD-897EC68D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8153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68429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82291"/>
              </p:ext>
            </p:extLst>
          </p:nvPr>
        </p:nvGraphicFramePr>
        <p:xfrm>
          <a:off x="452291" y="912570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9274496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목록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04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0203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5921939B-CCFC-7195-120A-D0BB70A0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20583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45226" y="22583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45226" y="3778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45226" y="41845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45226" y="46026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822175" y="24604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822175" y="27023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87540" y="25274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52" name="텍스트 개체 틀 4"/>
          <p:cNvSpPr txBox="1">
            <a:spLocks/>
          </p:cNvSpPr>
          <p:nvPr/>
        </p:nvSpPr>
        <p:spPr>
          <a:xfrm>
            <a:off x="706889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/>
          </a:p>
        </p:txBody>
      </p:sp>
      <p:sp>
        <p:nvSpPr>
          <p:cNvPr id="153" name="직사각형 152"/>
          <p:cNvSpPr/>
          <p:nvPr/>
        </p:nvSpPr>
        <p:spPr>
          <a:xfrm>
            <a:off x="7066335" y="5992323"/>
            <a:ext cx="2324794" cy="25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err="1" smtClean="0"/>
              <a:t>발주번호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발주일자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하자보증유무</a:t>
            </a:r>
            <a:r>
              <a:rPr lang="en-US" altLang="ko-KR" sz="500" dirty="0" smtClean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631410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087280"/>
            <a:chOff x="3865118" y="2946203"/>
            <a:chExt cx="2630093" cy="1087280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0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수락품목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거부품목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 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1977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33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5574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961298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4" y="2946204"/>
                <a:ext cx="715881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청구번호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우선순위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err="1">
                    <a:latin typeface="+mn-ea"/>
                  </a:rPr>
                  <a:t>PriceList</a:t>
                </a:r>
                <a:r>
                  <a:rPr lang="en-US" altLang="ko-KR" sz="700" dirty="0">
                    <a:latin typeface="+mn-ea"/>
                  </a:rPr>
                  <a:t> </a:t>
                </a:r>
                <a:r>
                  <a:rPr lang="ko-KR" altLang="en-US" sz="700" dirty="0" err="1">
                    <a:latin typeface="+mn-ea"/>
                  </a:rPr>
                  <a:t>적용년도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KD111000001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ROU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</a:t>
                </a: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2158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7"/>
            <a:ext cx="2630093" cy="3447100"/>
            <a:chOff x="3865118" y="2946202"/>
            <a:chExt cx="2630093" cy="3447100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2"/>
              <a:ext cx="792000" cy="3417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729934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수락여부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수락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83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38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094224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561892"/>
              </p:ext>
            </p:extLst>
          </p:nvPr>
        </p:nvGraphicFramePr>
        <p:xfrm>
          <a:off x="455558" y="1108000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494516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계약번호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유효일자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사업명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군담당자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무역대리점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2578951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CFD3310-381B-C4C2-9BA0-63548DC395D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910AE220-4A38-A146-1540-B5150A285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95969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18839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545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7182689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하자보증유무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ED4DD6-163E-4927-19F6-7FD68A853F05}"/>
              </a:ext>
            </a:extLst>
          </p:cNvPr>
          <p:cNvSpPr txBox="1"/>
          <p:nvPr/>
        </p:nvSpPr>
        <p:spPr>
          <a:xfrm>
            <a:off x="449462" y="3040247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34117D-FD60-A747-5571-D9B5B3D877F1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32568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36870763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7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발주품목수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수락품목수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거부품목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rjtItemCnt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거부품목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수락금액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D93E30-7A8D-CBC4-E413-05F3E468868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B85DE731-3AC1-F719-6910-09E0E135D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58729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28E51B-26C0-C10E-47E7-1C935F6C8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8A2ED-2D93-8941-BBD8-93B38E7B3455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EBB6FA0-53AC-6096-D82C-DD9F4C7EC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19264"/>
              </p:ext>
            </p:extLst>
          </p:nvPr>
        </p:nvGraphicFramePr>
        <p:xfrm>
          <a:off x="458117" y="79954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UI-EX-02-R88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080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67FF8F2-87CF-A6B6-1C9B-8B9543742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51910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</a:t>
            </a:r>
            <a:r>
              <a:rPr lang="ko-KR" altLang="en-US" dirty="0" smtClean="0"/>
              <a:t>검색조건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당해 년도부터 과거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년까지 조회 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계약번호</a:t>
            </a:r>
            <a:r>
              <a:rPr lang="ko-KR" altLang="en-US" dirty="0" smtClean="0"/>
              <a:t> 검색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</a:t>
            </a:r>
            <a:r>
              <a:rPr lang="ko-KR" altLang="en-US" dirty="0" smtClean="0"/>
              <a:t>항에 선택한 계약 연도와 </a:t>
            </a:r>
            <a:r>
              <a:rPr lang="en-US" altLang="ko-KR" dirty="0" smtClean="0"/>
              <a:t>And </a:t>
            </a:r>
            <a:r>
              <a:rPr lang="ko-KR" altLang="en-US" dirty="0" smtClean="0"/>
              <a:t>조건으로 검색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클릭 이벤트 실행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바텀시트</a:t>
            </a:r>
            <a:r>
              <a:rPr lang="ko-KR" altLang="en-US" dirty="0" smtClean="0"/>
              <a:t> 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결과 목록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- 4-1] </a:t>
            </a:r>
            <a:r>
              <a:rPr lang="ko-KR" altLang="en-US" dirty="0" err="1" smtClean="0"/>
              <a:t>결과항목</a:t>
            </a:r>
            <a:r>
              <a:rPr lang="ko-KR" altLang="en-US" dirty="0" smtClean="0"/>
              <a:t> 선택 후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선택시</a:t>
            </a:r>
            <a:r>
              <a:rPr lang="ko-KR" altLang="en-US" dirty="0" smtClean="0"/>
              <a:t> 화면에 결과값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570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0977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69283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9" name="양쪽 모서리가 둥근 사각형 118"/>
          <p:cNvSpPr/>
          <p:nvPr/>
        </p:nvSpPr>
        <p:spPr>
          <a:xfrm>
            <a:off x="67539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176141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3164338" y="3182696"/>
            <a:ext cx="94010" cy="94010"/>
            <a:chOff x="6812560" y="3297172"/>
            <a:chExt cx="94010" cy="94010"/>
          </a:xfrm>
        </p:grpSpPr>
        <p:cxnSp>
          <p:nvCxnSpPr>
            <p:cNvPr id="133" name="직선 연결선 13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모서리가 둥근 직사각형 125"/>
          <p:cNvSpPr/>
          <p:nvPr/>
        </p:nvSpPr>
        <p:spPr>
          <a:xfrm>
            <a:off x="1443878" y="384974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1806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8346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3112794" y="388803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56699" y="3931938"/>
            <a:ext cx="58075" cy="58074"/>
            <a:chOff x="6812560" y="3297172"/>
            <a:chExt cx="94010" cy="94010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951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144387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계약연도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76" name="그룹 75"/>
          <p:cNvGrpSpPr/>
          <p:nvPr/>
        </p:nvGrpSpPr>
        <p:grpSpPr>
          <a:xfrm>
            <a:off x="3091726" y="3661996"/>
            <a:ext cx="94010" cy="47005"/>
            <a:chOff x="6812560" y="3297172"/>
            <a:chExt cx="94010" cy="47005"/>
          </a:xfrm>
        </p:grpSpPr>
        <p:cxnSp>
          <p:nvCxnSpPr>
            <p:cNvPr id="82" name="직선 연결선 8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3831550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8803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29300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3831550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831550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831550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74" y="41369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68241" y="339527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7842587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선택시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하일라이트</a:t>
            </a:r>
            <a:r>
              <a:rPr lang="ko-KR" altLang="en-US" dirty="0" smtClean="0"/>
              <a:t>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 클릭 시 선택한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반환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7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675399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6366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0642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048948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711215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08965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711215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711215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711215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2662242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056407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00905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3" name="그룹 112"/>
          <p:cNvGrpSpPr/>
          <p:nvPr/>
        </p:nvGrpSpPr>
        <p:grpSpPr>
          <a:xfrm rot="5400000">
            <a:off x="3875348" y="1640499"/>
            <a:ext cx="94010" cy="47005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6" name="타원 115"/>
          <p:cNvSpPr/>
          <p:nvPr/>
        </p:nvSpPr>
        <p:spPr>
          <a:xfrm>
            <a:off x="6164872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140149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3904021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0" name="그룹 119"/>
          <p:cNvGrpSpPr/>
          <p:nvPr/>
        </p:nvGrpSpPr>
        <p:grpSpPr>
          <a:xfrm>
            <a:off x="6263883" y="2016004"/>
            <a:ext cx="94010" cy="47005"/>
            <a:chOff x="6812560" y="3297172"/>
            <a:chExt cx="94010" cy="47005"/>
          </a:xfrm>
        </p:grpSpPr>
        <p:cxnSp>
          <p:nvCxnSpPr>
            <p:cNvPr id="121" name="직선 연결선 12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7" name="그룹 136"/>
          <p:cNvGrpSpPr/>
          <p:nvPr/>
        </p:nvGrpSpPr>
        <p:grpSpPr>
          <a:xfrm>
            <a:off x="3888037" y="2274581"/>
            <a:ext cx="2527420" cy="473693"/>
            <a:chOff x="786326" y="2274581"/>
            <a:chExt cx="2527420" cy="473693"/>
          </a:xfrm>
        </p:grpSpPr>
        <p:sp>
          <p:nvSpPr>
            <p:cNvPr id="138" name="모서리가 둥근 직사각형 13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타원 13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KD000000001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/>
                <a:t>계약번호</a:t>
              </a:r>
              <a:endParaRPr kumimoji="1" lang="ko-KR" altLang="en-US" sz="800" kern="0" dirty="0"/>
            </a:p>
          </p:txBody>
        </p:sp>
        <p:sp>
          <p:nvSpPr>
            <p:cNvPr id="143" name="타원 142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V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44" name="타원 14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5" name="그룹 14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6" name="직선 연결선 14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8" name="TextBox 147"/>
          <p:cNvSpPr txBox="1"/>
          <p:nvPr/>
        </p:nvSpPr>
        <p:spPr>
          <a:xfrm flipH="1">
            <a:off x="6120673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4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4648280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chemeClr val="accent1"/>
                </a:solidFill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solidFill>
                  <a:schemeClr val="accent1"/>
                </a:solidFill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solidFill>
                  <a:schemeClr val="accent1"/>
                </a:solidFill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/>
            </a:endParaRPr>
          </a:p>
        </p:txBody>
      </p:sp>
      <p:cxnSp>
        <p:nvCxnSpPr>
          <p:cNvPr id="5" name="꺾인 연결선 4"/>
          <p:cNvCxnSpPr>
            <a:endCxn id="138" idx="2"/>
          </p:cNvCxnSpPr>
          <p:nvPr/>
        </p:nvCxnSpPr>
        <p:spPr>
          <a:xfrm flipV="1">
            <a:off x="3318301" y="2748274"/>
            <a:ext cx="1833446" cy="915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7098115" y="5890166"/>
            <a:ext cx="2280575" cy="342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/>
              <a:t>검색 </a:t>
            </a:r>
            <a:r>
              <a:rPr lang="ko-KR" altLang="en-US" sz="500" dirty="0" err="1"/>
              <a:t>기준값이</a:t>
            </a:r>
            <a:r>
              <a:rPr lang="ko-KR" altLang="en-US" sz="500" dirty="0"/>
              <a:t> 계약번호인데</a:t>
            </a:r>
            <a:r>
              <a:rPr lang="en-US" altLang="ko-KR" sz="500" dirty="0"/>
              <a:t>,</a:t>
            </a:r>
            <a:br>
              <a:rPr lang="en-US" altLang="ko-KR" sz="500" dirty="0"/>
            </a:br>
            <a:r>
              <a:rPr lang="ko-KR" altLang="en-US" sz="500" dirty="0"/>
              <a:t>결과값에는 </a:t>
            </a:r>
            <a:r>
              <a:rPr lang="ko-KR" altLang="en-US" sz="500" dirty="0" err="1"/>
              <a:t>계약번호가</a:t>
            </a:r>
            <a:r>
              <a:rPr lang="ko-KR" altLang="en-US" sz="500" dirty="0"/>
              <a:t> </a:t>
            </a:r>
            <a:r>
              <a:rPr lang="ko-KR" altLang="en-US" sz="500" dirty="0" err="1"/>
              <a:t>노출되지않음</a:t>
            </a:r>
            <a:r>
              <a:rPr lang="en-US" altLang="ko-KR" sz="500" dirty="0"/>
              <a:t>. </a:t>
            </a:r>
            <a:br>
              <a:rPr lang="en-US" altLang="ko-KR" sz="500" dirty="0"/>
            </a:br>
            <a:r>
              <a:rPr lang="ko-KR" altLang="en-US" sz="500" dirty="0"/>
              <a:t>해당 화면 </a:t>
            </a:r>
            <a:r>
              <a:rPr lang="ko-KR" altLang="en-US" sz="500" dirty="0" err="1"/>
              <a:t>검토필요</a:t>
            </a:r>
            <a:r>
              <a:rPr lang="en-US" altLang="ko-KR" sz="500" dirty="0"/>
              <a:t>(PC</a:t>
            </a:r>
            <a:r>
              <a:rPr lang="ko-KR" altLang="en-US" sz="500" dirty="0"/>
              <a:t>도 같은 상황</a:t>
            </a:r>
            <a:r>
              <a:rPr lang="en-US" altLang="ko-KR" sz="500" dirty="0"/>
              <a:t>)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5917" y="355896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5917" y="58350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6595537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07058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8261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711064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ctrtYr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99060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/>
        </p:nvGraphicFramePr>
        <p:xfrm>
          <a:off x="452291" y="421888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760269521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현재연도로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확인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scwin.btn_confirm_onclick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그리드에 선택한 정보를 전달한다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6483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3465"/>
            <a:ext cx="24339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dl_resultList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2134668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09871187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crncCd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화폐구분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ctrtBzentyCd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prcmPicNm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C81FA0-031D-901B-C2AD-4D01B4EC8917}"/>
              </a:ext>
            </a:extLst>
          </p:cNvPr>
          <p:cNvSpPr txBox="1"/>
          <p:nvPr/>
        </p:nvSpPr>
        <p:spPr>
          <a:xfrm>
            <a:off x="458117" y="576901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A8636BB8-3BC7-B066-A8CD-59D14853E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700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14354</TotalTime>
  <Words>9215</Words>
  <Application>Microsoft Office PowerPoint</Application>
  <PresentationFormat>A4 용지(210x297mm)</PresentationFormat>
  <Paragraphs>4935</Paragraphs>
  <Slides>75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83" baseType="lpstr">
      <vt:lpstr>Pretendard Medium</vt:lpstr>
      <vt:lpstr>맑은 고딕</vt:lpstr>
      <vt:lpstr>맑은 고딕 (본문)</vt:lpstr>
      <vt:lpstr>Arial</vt:lpstr>
      <vt:lpstr>Segoe UI</vt:lpstr>
      <vt:lpstr>Times New Roman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859</cp:revision>
  <cp:lastPrinted>2016-10-27T08:57:39Z</cp:lastPrinted>
  <dcterms:created xsi:type="dcterms:W3CDTF">2016-10-27T07:41:55Z</dcterms:created>
  <dcterms:modified xsi:type="dcterms:W3CDTF">2026-07-08T07:03:39Z</dcterms:modified>
  <cp:category>서브시스템/업무명</cp:category>
  <cp:contentStatus>0.1</cp:contentStatus>
</cp:coreProperties>
</file>