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188"/>
  </p:notesMasterIdLst>
  <p:handoutMasterIdLst>
    <p:handoutMasterId r:id="rId189"/>
  </p:handoutMasterIdLst>
  <p:sldIdLst>
    <p:sldId id="861" r:id="rId2"/>
    <p:sldId id="886" r:id="rId3"/>
    <p:sldId id="888" r:id="rId4"/>
    <p:sldId id="863" r:id="rId5"/>
    <p:sldId id="864" r:id="rId6"/>
    <p:sldId id="865" r:id="rId7"/>
    <p:sldId id="889" r:id="rId8"/>
    <p:sldId id="866" r:id="rId9"/>
    <p:sldId id="893" r:id="rId10"/>
    <p:sldId id="867" r:id="rId11"/>
    <p:sldId id="894" r:id="rId12"/>
    <p:sldId id="890" r:id="rId13"/>
    <p:sldId id="895" r:id="rId14"/>
    <p:sldId id="868" r:id="rId15"/>
    <p:sldId id="869" r:id="rId16"/>
    <p:sldId id="870" r:id="rId17"/>
    <p:sldId id="871" r:id="rId18"/>
    <p:sldId id="621" r:id="rId19"/>
    <p:sldId id="292" r:id="rId20"/>
    <p:sldId id="891" r:id="rId21"/>
    <p:sldId id="892" r:id="rId22"/>
    <p:sldId id="778" r:id="rId23"/>
    <p:sldId id="630" r:id="rId24"/>
    <p:sldId id="631" r:id="rId25"/>
    <p:sldId id="633" r:id="rId26"/>
    <p:sldId id="632" r:id="rId27"/>
    <p:sldId id="634" r:id="rId28"/>
    <p:sldId id="779" r:id="rId29"/>
    <p:sldId id="780" r:id="rId30"/>
    <p:sldId id="781" r:id="rId31"/>
    <p:sldId id="782" r:id="rId32"/>
    <p:sldId id="784" r:id="rId33"/>
    <p:sldId id="640" r:id="rId34"/>
    <p:sldId id="785" r:id="rId35"/>
    <p:sldId id="786" r:id="rId36"/>
    <p:sldId id="787" r:id="rId37"/>
    <p:sldId id="788" r:id="rId38"/>
    <p:sldId id="645" r:id="rId39"/>
    <p:sldId id="646" r:id="rId40"/>
    <p:sldId id="647" r:id="rId41"/>
    <p:sldId id="648" r:id="rId42"/>
    <p:sldId id="649" r:id="rId43"/>
    <p:sldId id="789" r:id="rId44"/>
    <p:sldId id="790" r:id="rId45"/>
    <p:sldId id="791" r:id="rId46"/>
    <p:sldId id="792" r:id="rId47"/>
    <p:sldId id="794" r:id="rId48"/>
    <p:sldId id="655" r:id="rId49"/>
    <p:sldId id="656" r:id="rId50"/>
    <p:sldId id="657" r:id="rId51"/>
    <p:sldId id="658" r:id="rId52"/>
    <p:sldId id="795" r:id="rId53"/>
    <p:sldId id="796" r:id="rId54"/>
    <p:sldId id="797" r:id="rId55"/>
    <p:sldId id="798" r:id="rId56"/>
    <p:sldId id="663" r:id="rId57"/>
    <p:sldId id="664" r:id="rId58"/>
    <p:sldId id="874" r:id="rId59"/>
    <p:sldId id="875" r:id="rId60"/>
    <p:sldId id="799" r:id="rId61"/>
    <p:sldId id="800" r:id="rId62"/>
    <p:sldId id="801" r:id="rId63"/>
    <p:sldId id="668" r:id="rId64"/>
    <p:sldId id="873" r:id="rId65"/>
    <p:sldId id="669" r:id="rId66"/>
    <p:sldId id="802" r:id="rId67"/>
    <p:sldId id="803" r:id="rId68"/>
    <p:sldId id="804" r:id="rId69"/>
    <p:sldId id="674" r:id="rId70"/>
    <p:sldId id="675" r:id="rId71"/>
    <p:sldId id="676" r:id="rId72"/>
    <p:sldId id="677" r:id="rId73"/>
    <p:sldId id="805" r:id="rId74"/>
    <p:sldId id="806" r:id="rId75"/>
    <p:sldId id="807" r:id="rId76"/>
    <p:sldId id="681" r:id="rId77"/>
    <p:sldId id="682" r:id="rId78"/>
    <p:sldId id="683" r:id="rId79"/>
    <p:sldId id="684" r:id="rId80"/>
    <p:sldId id="876" r:id="rId81"/>
    <p:sldId id="877" r:id="rId82"/>
    <p:sldId id="878" r:id="rId83"/>
    <p:sldId id="879" r:id="rId84"/>
    <p:sldId id="702" r:id="rId85"/>
    <p:sldId id="811" r:id="rId86"/>
    <p:sldId id="896" r:id="rId87"/>
    <p:sldId id="689" r:id="rId88"/>
    <p:sldId id="808" r:id="rId89"/>
    <p:sldId id="809" r:id="rId90"/>
    <p:sldId id="810" r:id="rId91"/>
    <p:sldId id="693" r:id="rId92"/>
    <p:sldId id="812" r:id="rId93"/>
    <p:sldId id="695" r:id="rId94"/>
    <p:sldId id="696" r:id="rId95"/>
    <p:sldId id="813" r:id="rId96"/>
    <p:sldId id="814" r:id="rId97"/>
    <p:sldId id="815" r:id="rId98"/>
    <p:sldId id="700" r:id="rId99"/>
    <p:sldId id="816" r:id="rId100"/>
    <p:sldId id="857" r:id="rId101"/>
    <p:sldId id="855" r:id="rId102"/>
    <p:sldId id="854" r:id="rId103"/>
    <p:sldId id="856" r:id="rId104"/>
    <p:sldId id="704" r:id="rId105"/>
    <p:sldId id="705" r:id="rId106"/>
    <p:sldId id="817" r:id="rId107"/>
    <p:sldId id="818" r:id="rId108"/>
    <p:sldId id="708" r:id="rId109"/>
    <p:sldId id="709" r:id="rId110"/>
    <p:sldId id="710" r:id="rId111"/>
    <p:sldId id="711" r:id="rId112"/>
    <p:sldId id="819" r:id="rId113"/>
    <p:sldId id="820" r:id="rId114"/>
    <p:sldId id="821" r:id="rId115"/>
    <p:sldId id="715" r:id="rId116"/>
    <p:sldId id="716" r:id="rId117"/>
    <p:sldId id="717" r:id="rId118"/>
    <p:sldId id="718" r:id="rId119"/>
    <p:sldId id="822" r:id="rId120"/>
    <p:sldId id="823" r:id="rId121"/>
    <p:sldId id="824" r:id="rId122"/>
    <p:sldId id="825" r:id="rId123"/>
    <p:sldId id="723" r:id="rId124"/>
    <p:sldId id="881" r:id="rId125"/>
    <p:sldId id="882" r:id="rId126"/>
    <p:sldId id="883" r:id="rId127"/>
    <p:sldId id="826" r:id="rId128"/>
    <p:sldId id="827" r:id="rId129"/>
    <p:sldId id="828" r:id="rId130"/>
    <p:sldId id="829" r:id="rId131"/>
    <p:sldId id="728" r:id="rId132"/>
    <p:sldId id="729" r:id="rId133"/>
    <p:sldId id="730" r:id="rId134"/>
    <p:sldId id="731" r:id="rId135"/>
    <p:sldId id="830" r:id="rId136"/>
    <p:sldId id="831" r:id="rId137"/>
    <p:sldId id="832" r:id="rId138"/>
    <p:sldId id="833" r:id="rId139"/>
    <p:sldId id="736" r:id="rId140"/>
    <p:sldId id="884" r:id="rId141"/>
    <p:sldId id="737" r:id="rId142"/>
    <p:sldId id="738" r:id="rId143"/>
    <p:sldId id="834" r:id="rId144"/>
    <p:sldId id="835" r:id="rId145"/>
    <p:sldId id="742" r:id="rId146"/>
    <p:sldId id="897" r:id="rId147"/>
    <p:sldId id="743" r:id="rId148"/>
    <p:sldId id="744" r:id="rId149"/>
    <p:sldId id="745" r:id="rId150"/>
    <p:sldId id="746" r:id="rId151"/>
    <p:sldId id="748" r:id="rId152"/>
    <p:sldId id="836" r:id="rId153"/>
    <p:sldId id="837" r:id="rId154"/>
    <p:sldId id="838" r:id="rId155"/>
    <p:sldId id="840" r:id="rId156"/>
    <p:sldId id="755" r:id="rId157"/>
    <p:sldId id="841" r:id="rId158"/>
    <p:sldId id="842" r:id="rId159"/>
    <p:sldId id="843" r:id="rId160"/>
    <p:sldId id="759" r:id="rId161"/>
    <p:sldId id="844" r:id="rId162"/>
    <p:sldId id="761" r:id="rId163"/>
    <p:sldId id="845" r:id="rId164"/>
    <p:sldId id="763" r:id="rId165"/>
    <p:sldId id="846" r:id="rId166"/>
    <p:sldId id="847" r:id="rId167"/>
    <p:sldId id="747" r:id="rId168"/>
    <p:sldId id="848" r:id="rId169"/>
    <p:sldId id="754" r:id="rId170"/>
    <p:sldId id="899" r:id="rId171"/>
    <p:sldId id="898" r:id="rId172"/>
    <p:sldId id="900" r:id="rId173"/>
    <p:sldId id="901" r:id="rId174"/>
    <p:sldId id="902" r:id="rId175"/>
    <p:sldId id="903" r:id="rId176"/>
    <p:sldId id="904" r:id="rId177"/>
    <p:sldId id="905" r:id="rId178"/>
    <p:sldId id="766" r:id="rId179"/>
    <p:sldId id="767" r:id="rId180"/>
    <p:sldId id="768" r:id="rId181"/>
    <p:sldId id="769" r:id="rId182"/>
    <p:sldId id="849" r:id="rId183"/>
    <p:sldId id="850" r:id="rId184"/>
    <p:sldId id="851" r:id="rId185"/>
    <p:sldId id="773" r:id="rId186"/>
    <p:sldId id="852" r:id="rId187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E17E9566-FE8C-4BF9-8A43-99A4B4FC8091}">
          <p14:sldIdLst>
            <p14:sldId id="861"/>
            <p14:sldId id="886"/>
            <p14:sldId id="888"/>
            <p14:sldId id="863"/>
            <p14:sldId id="864"/>
          </p14:sldIdLst>
        </p14:section>
        <p14:section name="목록" id="{A88D8C4A-42D5-488C-851B-9A15CEB54A60}">
          <p14:sldIdLst>
            <p14:sldId id="865"/>
            <p14:sldId id="889"/>
            <p14:sldId id="866"/>
            <p14:sldId id="893"/>
            <p14:sldId id="867"/>
            <p14:sldId id="894"/>
            <p14:sldId id="890"/>
            <p14:sldId id="895"/>
            <p14:sldId id="868"/>
            <p14:sldId id="869"/>
            <p14:sldId id="870"/>
            <p14:sldId id="871"/>
          </p14:sldIdLst>
        </p14:section>
        <p14:section name="1.계약통합목록" id="{BB5718C8-07C1-4018-9189-79486BE9C0C5}">
          <p14:sldIdLst>
            <p14:sldId id="621"/>
            <p14:sldId id="292"/>
            <p14:sldId id="891"/>
            <p14:sldId id="892"/>
            <p14:sldId id="778"/>
            <p14:sldId id="630"/>
            <p14:sldId id="631"/>
            <p14:sldId id="633"/>
            <p14:sldId id="632"/>
            <p14:sldId id="634"/>
            <p14:sldId id="779"/>
            <p14:sldId id="780"/>
            <p14:sldId id="781"/>
            <p14:sldId id="782"/>
            <p14:sldId id="784"/>
            <p14:sldId id="640"/>
            <p14:sldId id="785"/>
            <p14:sldId id="786"/>
            <p14:sldId id="787"/>
            <p14:sldId id="788"/>
            <p14:sldId id="645"/>
            <p14:sldId id="646"/>
            <p14:sldId id="647"/>
            <p14:sldId id="648"/>
            <p14:sldId id="649"/>
            <p14:sldId id="789"/>
            <p14:sldId id="790"/>
            <p14:sldId id="791"/>
            <p14:sldId id="792"/>
            <p14:sldId id="794"/>
            <p14:sldId id="655"/>
            <p14:sldId id="656"/>
            <p14:sldId id="657"/>
            <p14:sldId id="658"/>
            <p14:sldId id="795"/>
            <p14:sldId id="796"/>
            <p14:sldId id="797"/>
            <p14:sldId id="798"/>
            <p14:sldId id="663"/>
            <p14:sldId id="664"/>
            <p14:sldId id="874"/>
            <p14:sldId id="875"/>
            <p14:sldId id="799"/>
            <p14:sldId id="800"/>
            <p14:sldId id="801"/>
            <p14:sldId id="668"/>
            <p14:sldId id="873"/>
            <p14:sldId id="669"/>
            <p14:sldId id="802"/>
            <p14:sldId id="803"/>
            <p14:sldId id="804"/>
            <p14:sldId id="674"/>
            <p14:sldId id="675"/>
            <p14:sldId id="676"/>
            <p14:sldId id="677"/>
            <p14:sldId id="805"/>
            <p14:sldId id="806"/>
            <p14:sldId id="807"/>
            <p14:sldId id="681"/>
            <p14:sldId id="682"/>
            <p14:sldId id="683"/>
            <p14:sldId id="684"/>
            <p14:sldId id="876"/>
            <p14:sldId id="877"/>
            <p14:sldId id="878"/>
            <p14:sldId id="879"/>
            <p14:sldId id="702"/>
            <p14:sldId id="811"/>
            <p14:sldId id="896"/>
            <p14:sldId id="689"/>
            <p14:sldId id="808"/>
            <p14:sldId id="809"/>
            <p14:sldId id="810"/>
            <p14:sldId id="693"/>
            <p14:sldId id="812"/>
            <p14:sldId id="695"/>
            <p14:sldId id="696"/>
            <p14:sldId id="813"/>
            <p14:sldId id="814"/>
            <p14:sldId id="815"/>
            <p14:sldId id="700"/>
            <p14:sldId id="816"/>
            <p14:sldId id="857"/>
            <p14:sldId id="855"/>
            <p14:sldId id="854"/>
            <p14:sldId id="856"/>
          </p14:sldIdLst>
        </p14:section>
        <p14:section name="2.해지해제목록" id="{ADA4911A-617C-45D8-B34E-F8DEC2891795}">
          <p14:sldIdLst>
            <p14:sldId id="704"/>
            <p14:sldId id="705"/>
            <p14:sldId id="817"/>
            <p14:sldId id="818"/>
            <p14:sldId id="708"/>
            <p14:sldId id="709"/>
            <p14:sldId id="710"/>
            <p14:sldId id="711"/>
            <p14:sldId id="819"/>
            <p14:sldId id="820"/>
            <p14:sldId id="821"/>
            <p14:sldId id="715"/>
            <p14:sldId id="716"/>
            <p14:sldId id="717"/>
            <p14:sldId id="718"/>
            <p14:sldId id="822"/>
            <p14:sldId id="823"/>
            <p14:sldId id="824"/>
            <p14:sldId id="825"/>
            <p14:sldId id="723"/>
            <p14:sldId id="881"/>
            <p14:sldId id="882"/>
            <p14:sldId id="883"/>
            <p14:sldId id="826"/>
            <p14:sldId id="827"/>
            <p14:sldId id="828"/>
            <p14:sldId id="829"/>
            <p14:sldId id="728"/>
            <p14:sldId id="729"/>
            <p14:sldId id="730"/>
            <p14:sldId id="731"/>
            <p14:sldId id="830"/>
            <p14:sldId id="831"/>
            <p14:sldId id="832"/>
            <p14:sldId id="833"/>
            <p14:sldId id="736"/>
            <p14:sldId id="884"/>
            <p14:sldId id="737"/>
            <p14:sldId id="738"/>
            <p14:sldId id="834"/>
            <p14:sldId id="835"/>
          </p14:sldIdLst>
        </p14:section>
        <p14:section name="[국외] 전자계약 상세" id="{424AC961-1D86-485E-99C9-7ED55C62E3A6}">
          <p14:sldIdLst>
            <p14:sldId id="742"/>
            <p14:sldId id="897"/>
            <p14:sldId id="743"/>
            <p14:sldId id="744"/>
            <p14:sldId id="745"/>
            <p14:sldId id="746"/>
            <p14:sldId id="748"/>
            <p14:sldId id="836"/>
            <p14:sldId id="837"/>
            <p14:sldId id="838"/>
            <p14:sldId id="840"/>
            <p14:sldId id="755"/>
            <p14:sldId id="841"/>
            <p14:sldId id="842"/>
            <p14:sldId id="843"/>
            <p14:sldId id="759"/>
            <p14:sldId id="844"/>
            <p14:sldId id="761"/>
            <p14:sldId id="845"/>
            <p14:sldId id="763"/>
            <p14:sldId id="846"/>
            <p14:sldId id="847"/>
            <p14:sldId id="747"/>
            <p14:sldId id="848"/>
            <p14:sldId id="754"/>
            <p14:sldId id="899"/>
            <p14:sldId id="898"/>
            <p14:sldId id="900"/>
            <p14:sldId id="901"/>
            <p14:sldId id="902"/>
            <p14:sldId id="903"/>
            <p14:sldId id="904"/>
            <p14:sldId id="905"/>
            <p14:sldId id="766"/>
            <p14:sldId id="767"/>
            <p14:sldId id="768"/>
            <p14:sldId id="769"/>
            <p14:sldId id="849"/>
            <p14:sldId id="850"/>
            <p14:sldId id="851"/>
            <p14:sldId id="773"/>
            <p14:sldId id="85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12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F4294"/>
    <a:srgbClr val="000000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12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1146" y="96"/>
      </p:cViewPr>
      <p:guideLst>
        <p:guide orient="horz" pos="2160"/>
        <p:guide pos="3120"/>
      </p:guideLst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viewProps" Target="viewProps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theme" Target="theme/theme1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tableStyles" Target="tableStyles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handoutMaster" Target="handoutMasters/handoutMaster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0" Type="http://schemas.openxmlformats.org/officeDocument/2006/relationships/presProps" Target="pres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2026-07-21 (Tuesday)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2026-07-21 (Tuesday)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592090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937303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209261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53186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019220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802406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200297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129469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1417738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575509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00301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95444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335076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907444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7839277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416895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682399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372544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3664098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0905805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577097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722549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753821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828417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97366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13922239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 err="1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제개정이력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</a:t>
            </a:r>
            <a:r>
              <a:rPr lang="en-US" altLang="ko-KR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03.</a:t>
            </a:r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계약</a:t>
            </a:r>
            <a:r>
              <a:rPr lang="en-US" altLang="ko-KR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 smtClean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03.</a:t>
            </a:r>
            <a:r>
              <a:rPr lang="ko-KR" altLang="en-US" dirty="0"/>
              <a:t>계약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338554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F21A837-6853-B5CA-5641-F9A516F3B3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CF8D2BE-3FE8-714A-457C-A4A1521A282B}"/>
              </a:ext>
            </a:extLst>
          </p:cNvPr>
          <p:cNvSpPr/>
          <p:nvPr/>
        </p:nvSpPr>
        <p:spPr>
          <a:xfrm>
            <a:off x="3079266" y="1809750"/>
            <a:ext cx="3771900" cy="34004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국방전자조달시스템 고도화 구축 사업 이외의 어떠한 목적에도 사용을 금하며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사업관리기관 및 개발업체  요원 이외의 열람을 통제한다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</a:p>
          <a:p>
            <a:pPr marL="342900" indent="-342900">
              <a:buAutoNum type="arabicPeriod"/>
            </a:pPr>
            <a:endParaRPr lang="en-US" altLang="ko-KR" sz="1400" dirty="0">
              <a:solidFill>
                <a:schemeClr val="tx1"/>
              </a:solidFill>
            </a:endParaRPr>
          </a:p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방위사업청의 승인없이 발췌 및 복사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배포를 금지하며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방위사업청  문서관리규정에 의하여 관리한다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id="{B3A35A62-3F88-2F9F-9F03-E16DFE92E11E}"/>
              </a:ext>
            </a:extLst>
          </p:cNvPr>
          <p:cNvSpPr txBox="1">
            <a:spLocks/>
          </p:cNvSpPr>
          <p:nvPr/>
        </p:nvSpPr>
        <p:spPr>
          <a:xfrm>
            <a:off x="2265216" y="978498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600"/>
              <a:t>경 고 문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257628989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52374" y="1286787"/>
          <a:ext cx="8782571" cy="3743598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</a:t>
                      </a:r>
                      <a:r>
                        <a:rPr lang="en-US" sz="900" b="0" i="0" u="none" strike="noStrike" kern="120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.9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PMO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 및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TF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검토요청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31071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94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1319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5073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9001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221317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553030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2" name="Group 759">
            <a:extLst>
              <a:ext uri="{FF2B5EF4-FFF2-40B4-BE49-F238E27FC236}">
                <a16:creationId xmlns:a16="http://schemas.microsoft.com/office/drawing/2014/main" id="{2D87D75F-48CB-BAC6-E8EC-9D54A13E8B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52374" y="1416776"/>
          <a:ext cx="8782571" cy="49147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34058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988586" y="1265003"/>
          <a:ext cx="7926814" cy="51022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102241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계약통합목록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국외 계약 통합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5911785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6340548"/>
              </p:ext>
            </p:extLst>
          </p:nvPr>
        </p:nvGraphicFramePr>
        <p:xfrm>
          <a:off x="635474" y="1413419"/>
          <a:ext cx="8701200" cy="4673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계약통합목록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통합 목록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MUI-CT-01-P02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검색필터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계약통합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물품전자계약진행상세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 진행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상세내용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-Cn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1852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계약업체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CmdtyElctrCtrtPrgrsDtl-Artcl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7395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</a:rPr>
                        <a:t>계약특수조건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CmdtyElctrCtrtPrgrsDtl-SpclCnd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05740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</a:rPr>
                        <a:t>첨부서류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-Adoc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CmdtyElctrCtrtPrgrsDtl-Adoc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693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MUI-CT-01-M04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물품전자계약확정상세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CmdtyElctrCtrtCfmtnDtlPage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 확정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CmdtyElctrCtrtCfmtnDtlPage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40808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09198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(2/6)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5614089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MUI-CT-01-M05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물품일반계약서상세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일반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cmdtyGnrlCtrdocDt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CmdtyGnrlCtrdocDtl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397847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MUI-CT-01-M06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물품수정계약서상세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수정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41479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CmdtyMdfcnCtrdocDtl_Cn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CmdtyMdfcnCtrdocDtl_Cn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861732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수정계약명세서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CmdtyMdfcnCtrdocDtl_MdfcnCtrt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CmdtyMdfcnCtrdocDtl_MdfcnCtrt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9462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CmdtyMdfcnCtrdocDtl_Spcl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수정 계약서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cmdtyMdfcnCtrdocDtl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CmdtyMdfcnCtrdocDtl_Spcl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40329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MUI-CT-01-M07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물품총액계약서상세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CmdtyMdfcnCtrdocDtl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4358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CmdtyGramtCtrdocDtl_Cn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CmdtyGramtCtrdocDtl_Cn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87666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CmdtyGramtCtrdocDtl_Ctrt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계약서 탭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CmdtyGramtCtrdocDtl_Ctrt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23959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CmdtyGramtCtrdocDtl_Spcl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물품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cmdtyGramtCtrdocDtl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CmdtyGramtCtrdocDtl_Spcl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91703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MUI-CT-01-M08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물품단가계약서상세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CmdtyUntprcCtrdocDtl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34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MUI-CT-01-T16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상세정보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CmdtyUntprcCtrdocDtl_Cn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CmdtyUntprcCtrdocDtl_Cn.tsx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523606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77081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(3/6)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7672635"/>
              </p:ext>
            </p:extLst>
          </p:nvPr>
        </p:nvGraphicFramePr>
        <p:xfrm>
          <a:off x="635474" y="1413419"/>
          <a:ext cx="8701200" cy="49891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CmdtyUntprcCtrdocDtl_Ctrt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CmdtyUntprcCtrdocDtl_Ctrt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7931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CmdtyUntprcCtrdocDtl_Spcl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탭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cmdtyGramtCtrdocDtl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CmdtyUntprcCtrdocDtl_Spcl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30978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MUI-CT-01-M09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공사전자계약진행상세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CstrnElctrCtrtPrgrsDtlPage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공사 계약 진행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cstrnElctrCtrtPrgrsDtl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UC-CT-01-06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UC-CT-02-02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UC-CT-02-03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UC-CT-02-04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UC-CT-03-01</a:t>
                      </a:r>
                      <a:b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UC-CT-03-02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993972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상세내용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89521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CstrnElctrCtrtPrgrsDtl_Artcl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5596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하자담보책임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CstrnElctrCtrtPrgrsDtl_Flw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CstrnElctrCtrtPrgrsDtl_Flw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5558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CstrnElctrCtrtPrgrsDtl_Adoc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공사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계약 진행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cstrnElctrCtrtPrgrsDtl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CstrnElctrCtrtPrgrsDtl_Adoc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5738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MUI-CT-01-M10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공사계약서상세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공사 계약서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733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95756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4037527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(4/6)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8733960"/>
              </p:ext>
            </p:extLst>
          </p:nvPr>
        </p:nvGraphicFramePr>
        <p:xfrm>
          <a:off x="635474" y="1413419"/>
          <a:ext cx="8701200" cy="30383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하자담보책임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CstrnCtrdocDtl_Flw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CstrnCtrdocDtl_Flw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46739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연대보증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CstrnCtrdocDtl_Grnte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 계약서 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cstrnCtrdocDtl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CstrnCtrdocDtl_Grnte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64090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계약의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CmdtyCtrtDtst.tsx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7494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물품최종계약명세서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CmdtyLastCtrdocDtst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최종계약의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CmdtyLastCtrdocDtst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63393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MUI-CT-01-P13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물품수정계약명세서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수정계약의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542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MUI-CT-01-P14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물품일반계약명세서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CmdtyGnrlCtrdocDtst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물품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일반계약의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cstrnCtrdocDtl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CmdtyMdfcnCtrdocDtst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87314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대금지불정보목록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계약 </a:t>
                      </a:r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건별로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대금지불 정보 목록 조회 화면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99108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대금지불정보조회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계약 건의 대금지불 상세 정보 조회 화면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PymtDfryInfoInq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64174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MUI-CT-01-P17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계약진행상태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CtrtPrgrsSttsInq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진행 상태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cmdtyElctrCtrtPrgrsDtl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CtrtPrgrsSttsInq.tsx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UC-CT-07-01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21436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665467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(5/6)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6013831"/>
              </p:ext>
            </p:extLst>
          </p:nvPr>
        </p:nvGraphicFramePr>
        <p:xfrm>
          <a:off x="635474" y="1413419"/>
          <a:ext cx="8701200" cy="4592121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해제목록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CtrtCncltnRmvListPage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목록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75728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MUI-CT-03-P07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CtrtCncltnRmvList_SrchFilter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검색을 위한 검색 필터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CtrtCncltnRmvList_SrchFilter.tsx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UC-CT-04-01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03461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일반계약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상세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94971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상세정보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-Cn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CmdtyCtrtCncltnRmvDtl-Cn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84762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계약에 따른 세부항목 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-Artcl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탭 조회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CmdtyCtrtCncltnRmvDtl-Artcl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108115"/>
                  </a:ext>
                </a:extLst>
              </a:tr>
              <a:tr h="456456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계약특수조건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탭 조회 화면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CmdtyCtrtCncltnRmvDtl-SpclCnd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5631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MUI-CT-03-M03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일반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총액제계약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총액제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1773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05918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총액제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CncltnRmvGnrlCtrtGramtDtl_Artcl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46874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MUI-CT-03-T06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특수조건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CncltnRmvGnrlCtrtGramtDtl_Spcl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총액제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cncltnRmvGnrlCtrtGramtDtl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CncltnRmvGnrlCtrtGramtDtl_Spcl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687169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1504234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>
                <a:latin typeface="+mn-ea"/>
              </a:rPr>
              <a:t>계약 통합</a:t>
            </a:r>
            <a:r>
              <a:rPr lang="ko-KR" altLang="en-US" dirty="0"/>
              <a:t> 목록 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(6/6)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4360672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MUI-CT-03-M04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 err="1" smtClean="0">
                          <a:latin typeface="+mn-lt"/>
                          <a:ea typeface="+mn-ea"/>
                        </a:rPr>
                        <a:t>해제일반단가제계약상세</a:t>
                      </a:r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일반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단가제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cncltnRmvGnrlCtrtUntprcDtl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CncltnRmvGnrlCtrtUntprcDtlPage.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38395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MUI-CT-03-T07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CncltnRmvGnrlCtrtUntprcDtl_Cn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CncltnRmvGnrlCtrtUntprcDtl_Cn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7361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MUI-CT-03-T08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CncltnRmvGnrlCtrtUntprcDtl_Artcl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CncltnRmvGnrlCtrtUntprcDtl_Artcl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64372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CncltnRmvGnrlCtrtUntprcDtl_Spcl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계약 해지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해제 일반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단가제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 계약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cncltnRmvGnrlCtrtUntprcDtl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CncltnRmvGnrlCtrtUntprcDtl_Spcl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81311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MUI-CT-03-M05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lt"/>
                          <a:ea typeface="+mn-ea"/>
                        </a:rPr>
                        <a:t>해제수정계약상세</a:t>
                      </a:r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95472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CncltnRmvMdfcnCtrtDtl_Cn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CncltnRmvMdfcnCtrtDtl_Cn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758429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CncltnRmvMdfcnCtrtDtl_Ctrt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CncltnRmvMdfcnCtrtDtl_Ctrt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149109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특수조건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CncltnRmvMdfcnCtrtDtl_Spcl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수정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cncltnRmvMdfcnCtrtDtlPage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CncltnRmvMdfcnCtrtDtl_Spcl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403509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MUI-CT-03-M06</a:t>
                      </a:r>
                      <a:endParaRPr lang="en-US" altLang="ko-KR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 smtClean="0">
                          <a:latin typeface="+mn-lt"/>
                          <a:ea typeface="+mn-ea"/>
                        </a:rPr>
                        <a:t>해제공사계약상세</a:t>
                      </a:r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1184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상세정보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CstrnCtrtCncltnRmvDtl_Cn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CstrnCtrtCncltnRmvDtl_Cn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4571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MUI-CT-03-T14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CstrnCtrtCncltnRmvDtl_Adoc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 해지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해제 공사 계약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cstrnCtrtCncltnRmvDtlPage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CstrnCtrtCncltnRmvDtl_Adoc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UC-CT-04-02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63196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1846352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71925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계약통합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3266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0126" y="1772964"/>
            <a:ext cx="37179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상세 화면은 계약과 상태에 따라 상세 탭 화면이 분기되어 표시되며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일부 상세 탭 화면은 중복되어 사용됨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53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검색필터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계약통합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84441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63692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2162468" y="988421"/>
            <a:ext cx="12700" cy="1281085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6237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1971925" y="1772964"/>
            <a:ext cx="381085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1862964"/>
            <a:ext cx="4419152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1236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21305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반송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 err="1">
                <a:solidFill>
                  <a:schemeClr val="tx1"/>
                </a:solidFill>
              </a:rPr>
              <a:t>취소사유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21236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계약업체</a:t>
            </a: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470447" y="21305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3"/>
            <a:endCxn id="140" idx="1"/>
          </p:cNvCxnSpPr>
          <p:nvPr/>
        </p:nvCxnSpPr>
        <p:spPr>
          <a:xfrm flipV="1">
            <a:off x="2754976" y="2199418"/>
            <a:ext cx="1308021" cy="25511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" name="그룹 8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9" name="그룹 8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9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계약상세</a:t>
            </a:r>
            <a:r>
              <a:rPr lang="ko-KR" altLang="en-US" sz="1200" dirty="0">
                <a:solidFill>
                  <a:schemeClr val="tx1"/>
                </a:solidFill>
              </a:rPr>
              <a:t> 정보 조회</a:t>
            </a: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97898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공사전자계약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72567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1408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물품일반계약서상세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55593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물품수정계약서상세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97473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물품총액계약서상세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39303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물품단가계약서상세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2081941"/>
            <a:ext cx="1125417" cy="266397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11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4" idx="1"/>
          </p:cNvCxnSpPr>
          <p:nvPr/>
        </p:nvCxnSpPr>
        <p:spPr>
          <a:xfrm rot="16200000" flipH="1">
            <a:off x="884133" y="2554755"/>
            <a:ext cx="1496965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4779438"/>
            <a:ext cx="1125417" cy="99513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53895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공사계약서상세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9" idx="1"/>
          </p:cNvCxnSpPr>
          <p:nvPr/>
        </p:nvCxnSpPr>
        <p:spPr>
          <a:xfrm rot="16200000" flipH="1">
            <a:off x="-47406" y="3486294"/>
            <a:ext cx="3360043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4" idx="3"/>
            <a:endCxn id="140" idx="1"/>
          </p:cNvCxnSpPr>
          <p:nvPr/>
        </p:nvCxnSpPr>
        <p:spPr>
          <a:xfrm flipV="1">
            <a:off x="2754976" y="2199418"/>
            <a:ext cx="1308021" cy="67025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3898280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3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1590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416586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41590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4699392"/>
            <a:ext cx="4419152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4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9601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49669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하자담보책임</a:t>
            </a:r>
          </a:p>
        </p:txBody>
      </p:sp>
      <p:sp>
        <p:nvSpPr>
          <p:cNvPr id="1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49601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계약업체</a:t>
            </a:r>
          </a:p>
        </p:txBody>
      </p:sp>
      <p:sp>
        <p:nvSpPr>
          <p:cNvPr id="1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470447" y="49669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sp>
        <p:nvSpPr>
          <p:cNvPr id="1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5506169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57668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577375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연대보증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57668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하자담보책임</a:t>
            </a:r>
          </a:p>
        </p:txBody>
      </p:sp>
      <p:cxnSp>
        <p:nvCxnSpPr>
          <p:cNvPr id="1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1" idx="3"/>
            <a:endCxn id="142" idx="1"/>
          </p:cNvCxnSpPr>
          <p:nvPr/>
        </p:nvCxnSpPr>
        <p:spPr>
          <a:xfrm flipV="1">
            <a:off x="2754976" y="5035846"/>
            <a:ext cx="1308021" cy="8714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2" idx="3"/>
            <a:endCxn id="148" idx="1"/>
          </p:cNvCxnSpPr>
          <p:nvPr/>
        </p:nvCxnSpPr>
        <p:spPr>
          <a:xfrm>
            <a:off x="2754976" y="5533510"/>
            <a:ext cx="1308021" cy="3091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2" idx="3"/>
            <a:endCxn id="135" idx="1"/>
          </p:cNvCxnSpPr>
          <p:nvPr/>
        </p:nvCxnSpPr>
        <p:spPr>
          <a:xfrm>
            <a:off x="2754976" y="4118735"/>
            <a:ext cx="1308021" cy="11599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3" idx="3"/>
            <a:endCxn id="135" idx="1"/>
          </p:cNvCxnSpPr>
          <p:nvPr/>
        </p:nvCxnSpPr>
        <p:spPr>
          <a:xfrm flipV="1">
            <a:off x="2754976" y="4234734"/>
            <a:ext cx="1308021" cy="3023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62997" y="3097168"/>
            <a:ext cx="3339289" cy="67290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6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33578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1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375850" y="336475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특수조건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81253" y="33578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수정계약명세서</a:t>
            </a: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0" idx="3"/>
            <a:endCxn id="164" idx="1"/>
          </p:cNvCxnSpPr>
          <p:nvPr/>
        </p:nvCxnSpPr>
        <p:spPr>
          <a:xfrm flipV="1">
            <a:off x="2754976" y="3433622"/>
            <a:ext cx="1308021" cy="2663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0" idx="3"/>
            <a:endCxn id="158" idx="2"/>
          </p:cNvCxnSpPr>
          <p:nvPr/>
        </p:nvCxnSpPr>
        <p:spPr>
          <a:xfrm>
            <a:off x="8482149" y="2199418"/>
            <a:ext cx="767178" cy="52750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4" idx="3"/>
            <a:endCxn id="158" idx="2"/>
          </p:cNvCxnSpPr>
          <p:nvPr/>
        </p:nvCxnSpPr>
        <p:spPr>
          <a:xfrm flipV="1">
            <a:off x="7402286" y="2726921"/>
            <a:ext cx="1847041" cy="706701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5" idx="3"/>
            <a:endCxn id="158" idx="2"/>
          </p:cNvCxnSpPr>
          <p:nvPr/>
        </p:nvCxnSpPr>
        <p:spPr>
          <a:xfrm flipV="1">
            <a:off x="7402286" y="2726921"/>
            <a:ext cx="1847041" cy="1507813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3"/>
            <a:endCxn id="158" idx="2"/>
          </p:cNvCxnSpPr>
          <p:nvPr/>
        </p:nvCxnSpPr>
        <p:spPr>
          <a:xfrm flipV="1">
            <a:off x="8482149" y="2726921"/>
            <a:ext cx="767178" cy="23089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8" idx="3"/>
            <a:endCxn id="158" idx="2"/>
          </p:cNvCxnSpPr>
          <p:nvPr/>
        </p:nvCxnSpPr>
        <p:spPr>
          <a:xfrm flipV="1">
            <a:off x="7402286" y="2726921"/>
            <a:ext cx="1847041" cy="3115702"/>
          </a:xfrm>
          <a:prstGeom prst="bentConnector3">
            <a:avLst>
              <a:gd name="adj1" fmla="val 79232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9" idx="3"/>
            <a:endCxn id="158" idx="2"/>
          </p:cNvCxnSpPr>
          <p:nvPr/>
        </p:nvCxnSpPr>
        <p:spPr>
          <a:xfrm flipV="1">
            <a:off x="2754976" y="2726921"/>
            <a:ext cx="6494351" cy="557882"/>
          </a:xfrm>
          <a:prstGeom prst="bentConnector3">
            <a:avLst>
              <a:gd name="adj1" fmla="val 1553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/>
          <p:cNvSpPr txBox="1"/>
          <p:nvPr/>
        </p:nvSpPr>
        <p:spPr>
          <a:xfrm>
            <a:off x="1867433" y="5800032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 smtClean="0"/>
              <a:t>전자계약상세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9228706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071925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계약통합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3266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0126" y="1772964"/>
            <a:ext cx="37179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계약 상세 화면은 계약과 상태에 따라 상세 탭 화면이 분기되어 표시되며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smtClean="0">
                <a:solidFill>
                  <a:srgbClr val="0000FF"/>
                </a:solidFill>
                <a:latin typeface="+mn-ea"/>
              </a:rPr>
              <a:t>일부 상세 탭 화면은 중복되어 사용됨</a:t>
            </a:r>
            <a:r>
              <a:rPr lang="en-US" altLang="ko-KR" sz="800" kern="0" dirty="0" smtClean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84441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636921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6237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31053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76" idx="1"/>
          </p:cNvCxnSpPr>
          <p:nvPr/>
        </p:nvCxnSpPr>
        <p:spPr>
          <a:xfrm flipV="1">
            <a:off x="2873679" y="5246245"/>
            <a:ext cx="1312977" cy="7977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" name="그룹 87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9" name="그룹 8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9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계약상세</a:t>
            </a:r>
            <a:r>
              <a:rPr lang="ko-KR" altLang="en-US" sz="1200" dirty="0">
                <a:solidFill>
                  <a:schemeClr val="tx1"/>
                </a:solidFill>
              </a:rPr>
              <a:t> 정보 조회</a:t>
            </a: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978988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공사전자계약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272567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물품전자계약</a:t>
            </a:r>
            <a:endParaRPr lang="en-US" altLang="ko-KR" sz="800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algn="ctr"/>
            <a:r>
              <a:rPr lang="ko-KR" altLang="en-US" sz="8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14080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물품일반계약서상세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55593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물품수정계약서상세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397473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물품총액계약서상세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439303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물품단가계약서상세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2081941"/>
            <a:ext cx="1125417" cy="2663975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11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4" idx="1"/>
          </p:cNvCxnSpPr>
          <p:nvPr/>
        </p:nvCxnSpPr>
        <p:spPr>
          <a:xfrm rot="16200000" flipH="1">
            <a:off x="884133" y="2554755"/>
            <a:ext cx="1496965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743306" y="4779438"/>
            <a:ext cx="1125417" cy="995138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smtClean="0">
                <a:solidFill>
                  <a:schemeClr val="tx1"/>
                </a:solidFill>
              </a:rPr>
              <a:t>계약에 따른 분기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1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854976" y="538951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공사계약서상세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2"/>
            <a:endCxn id="119" idx="1"/>
          </p:cNvCxnSpPr>
          <p:nvPr/>
        </p:nvCxnSpPr>
        <p:spPr>
          <a:xfrm rot="16200000" flipH="1">
            <a:off x="-47406" y="3486294"/>
            <a:ext cx="3360043" cy="22138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158" idx="2"/>
          </p:cNvCxnSpPr>
          <p:nvPr/>
        </p:nvCxnSpPr>
        <p:spPr>
          <a:xfrm>
            <a:off x="5086656" y="2454537"/>
            <a:ext cx="4162671" cy="2723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8" idx="3"/>
            <a:endCxn id="158" idx="2"/>
          </p:cNvCxnSpPr>
          <p:nvPr/>
        </p:nvCxnSpPr>
        <p:spPr>
          <a:xfrm flipV="1">
            <a:off x="5086656" y="2726921"/>
            <a:ext cx="4162671" cy="3216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158" idx="2"/>
          </p:cNvCxnSpPr>
          <p:nvPr/>
        </p:nvCxnSpPr>
        <p:spPr>
          <a:xfrm flipV="1">
            <a:off x="5086656" y="2726921"/>
            <a:ext cx="4162671" cy="91560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58" idx="2"/>
          </p:cNvCxnSpPr>
          <p:nvPr/>
        </p:nvCxnSpPr>
        <p:spPr>
          <a:xfrm flipV="1">
            <a:off x="5086656" y="2726921"/>
            <a:ext cx="4162671" cy="15095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3"/>
            <a:endCxn id="158" idx="2"/>
          </p:cNvCxnSpPr>
          <p:nvPr/>
        </p:nvCxnSpPr>
        <p:spPr>
          <a:xfrm flipV="1">
            <a:off x="5086656" y="2726921"/>
            <a:ext cx="4162671" cy="251932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76" idx="1"/>
          </p:cNvCxnSpPr>
          <p:nvPr/>
        </p:nvCxnSpPr>
        <p:spPr>
          <a:xfrm>
            <a:off x="2873679" y="4567056"/>
            <a:ext cx="1312977" cy="6791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510224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계약진행상태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물품계약명세서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290453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물품최종계약명세서</a:t>
            </a: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34985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물품수정계약명세서</a:t>
            </a:r>
          </a:p>
        </p:txBody>
      </p: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86656" y="40925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물품일반계약명세서</a:t>
            </a:r>
          </a:p>
        </p:txBody>
      </p:sp>
      <p:cxnSp>
        <p:nvCxnSpPr>
          <p:cNvPr id="9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7" idx="1"/>
          </p:cNvCxnSpPr>
          <p:nvPr/>
        </p:nvCxnSpPr>
        <p:spPr>
          <a:xfrm flipV="1">
            <a:off x="2868723" y="2454537"/>
            <a:ext cx="1317933" cy="95939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8" idx="1"/>
          </p:cNvCxnSpPr>
          <p:nvPr/>
        </p:nvCxnSpPr>
        <p:spPr>
          <a:xfrm flipV="1">
            <a:off x="2868723" y="3048531"/>
            <a:ext cx="1317933" cy="3653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79" idx="1"/>
          </p:cNvCxnSpPr>
          <p:nvPr/>
        </p:nvCxnSpPr>
        <p:spPr>
          <a:xfrm>
            <a:off x="2868723" y="3413929"/>
            <a:ext cx="1317933" cy="2285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4" idx="3"/>
            <a:endCxn id="80" idx="1"/>
          </p:cNvCxnSpPr>
          <p:nvPr/>
        </p:nvCxnSpPr>
        <p:spPr>
          <a:xfrm>
            <a:off x="2868723" y="3413929"/>
            <a:ext cx="1317933" cy="8225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1867433" y="5800032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smtClean="0"/>
              <a:t>전자계약상세</a:t>
            </a:r>
            <a:endParaRPr lang="ko-KR" altLang="en-US" sz="900" b="1"/>
          </a:p>
        </p:txBody>
      </p:sp>
    </p:spTree>
    <p:extLst>
      <p:ext uri="{BB962C8B-B14F-4D97-AF65-F5344CB8AC3E}">
        <p14:creationId xmlns:p14="http://schemas.microsoft.com/office/powerpoint/2010/main" val="302643480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869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2362692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245269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77742" y="6257756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계약 진입 시 계약 전체 목록이 먼저 노출되며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검색 필터에서 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검색유형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계약진행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계약수정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 </a:t>
            </a:r>
            <a:r>
              <a:rPr lang="ko-KR" altLang="en-US" sz="800" kern="0" dirty="0" err="1">
                <a:solidFill>
                  <a:srgbClr val="0000FF"/>
                </a:solidFill>
                <a:latin typeface="+mn-ea"/>
              </a:rPr>
              <a:t>계약확정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) 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을 설정함</a:t>
            </a: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869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대금지불정보조회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3266608" y="245269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63073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219458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9" idx="3"/>
            <a:endCxn id="158" idx="2"/>
          </p:cNvCxnSpPr>
          <p:nvPr/>
        </p:nvCxnSpPr>
        <p:spPr>
          <a:xfrm>
            <a:off x="5097742" y="2452692"/>
            <a:ext cx="2565816" cy="38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1.2.2 </a:t>
            </a:r>
            <a:r>
              <a:rPr lang="ko-KR" altLang="en-US" sz="1200" dirty="0" smtClean="0">
                <a:solidFill>
                  <a:schemeClr val="tx1"/>
                </a:solidFill>
              </a:rPr>
              <a:t>대금지불 </a:t>
            </a:r>
            <a:r>
              <a:rPr lang="ko-KR" altLang="en-US" sz="1200" dirty="0">
                <a:solidFill>
                  <a:schemeClr val="tx1"/>
                </a:solidFill>
              </a:rPr>
              <a:t>정보 조회</a:t>
            </a:r>
          </a:p>
        </p:txBody>
      </p:sp>
    </p:spTree>
    <p:extLst>
      <p:ext uri="{BB962C8B-B14F-4D97-AF65-F5344CB8AC3E}">
        <p14:creationId xmlns:p14="http://schemas.microsoft.com/office/powerpoint/2010/main" val="369515569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해지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해제 </a:t>
            </a:r>
            <a:r>
              <a:rPr lang="ko-KR" altLang="en-US" sz="800" dirty="0" err="1">
                <a:solidFill>
                  <a:schemeClr val="tx1"/>
                </a:solidFill>
              </a:rPr>
              <a:t>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검색 필터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69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34561" y="2570565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63558" y="2363073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 </a:t>
            </a:r>
            <a:r>
              <a:rPr lang="ko-KR" altLang="en-US" sz="800" dirty="0" err="1">
                <a:solidFill>
                  <a:schemeClr val="tx1"/>
                </a:solidFill>
              </a:rPr>
              <a:t>해지해제</a:t>
            </a:r>
            <a:r>
              <a:rPr lang="ko-KR" altLang="en-US" sz="800" dirty="0">
                <a:solidFill>
                  <a:schemeClr val="tx1"/>
                </a:solidFill>
              </a:rPr>
              <a:t> 상세</a:t>
            </a:r>
          </a:p>
        </p:txBody>
      </p: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3266608" y="1772964"/>
            <a:ext cx="931134" cy="681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9" idx="0"/>
            <a:endCxn id="6" idx="0"/>
          </p:cNvCxnSpPr>
          <p:nvPr/>
        </p:nvCxnSpPr>
        <p:spPr>
          <a:xfrm rot="16200000" flipV="1">
            <a:off x="3732175" y="713397"/>
            <a:ext cx="12700" cy="1831134"/>
          </a:xfrm>
          <a:prstGeom prst="bentConnector3">
            <a:avLst>
              <a:gd name="adj1" fmla="val 180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1191586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816608" y="1261938"/>
            <a:ext cx="14282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검색 반영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계약해지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계약해제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399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계약특수조건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8656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상세내용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1053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계약에 따른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세부항목 탭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56149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첨부서류</a:t>
            </a:r>
          </a:p>
        </p:txBody>
      </p: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25" idx="1"/>
          </p:cNvCxnSpPr>
          <p:nvPr/>
        </p:nvCxnSpPr>
        <p:spPr>
          <a:xfrm>
            <a:off x="5097742" y="245453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4" idx="1"/>
          </p:cNvCxnSpPr>
          <p:nvPr/>
        </p:nvCxnSpPr>
        <p:spPr>
          <a:xfrm flipV="1">
            <a:off x="5097742" y="1830562"/>
            <a:ext cx="931134" cy="6239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23" idx="1"/>
          </p:cNvCxnSpPr>
          <p:nvPr/>
        </p:nvCxnSpPr>
        <p:spPr>
          <a:xfrm>
            <a:off x="5097742" y="2454537"/>
            <a:ext cx="931134" cy="62940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62" idx="3"/>
            <a:endCxn id="30" idx="1"/>
          </p:cNvCxnSpPr>
          <p:nvPr/>
        </p:nvCxnSpPr>
        <p:spPr>
          <a:xfrm>
            <a:off x="5097742" y="2454537"/>
            <a:ext cx="931134" cy="125095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201602" y="2632123"/>
            <a:ext cx="1484381" cy="98488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일반계약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총액제계약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단가제계약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수정 계약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공사 계약 상세</a:t>
            </a:r>
            <a:endParaRPr lang="en-US" altLang="ko-KR" sz="8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58" idx="2"/>
          </p:cNvCxnSpPr>
          <p:nvPr/>
        </p:nvCxnSpPr>
        <p:spPr>
          <a:xfrm>
            <a:off x="6928876" y="1830562"/>
            <a:ext cx="734682" cy="6225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5" idx="3"/>
            <a:endCxn id="158" idx="2"/>
          </p:cNvCxnSpPr>
          <p:nvPr/>
        </p:nvCxnSpPr>
        <p:spPr>
          <a:xfrm flipV="1">
            <a:off x="6928876" y="2453073"/>
            <a:ext cx="734682" cy="146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" idx="3"/>
            <a:endCxn id="158" idx="2"/>
          </p:cNvCxnSpPr>
          <p:nvPr/>
        </p:nvCxnSpPr>
        <p:spPr>
          <a:xfrm flipV="1">
            <a:off x="6928876" y="2453073"/>
            <a:ext cx="734682" cy="63086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0" idx="3"/>
            <a:endCxn id="158" idx="2"/>
          </p:cNvCxnSpPr>
          <p:nvPr/>
        </p:nvCxnSpPr>
        <p:spPr>
          <a:xfrm flipV="1">
            <a:off x="6928876" y="2453073"/>
            <a:ext cx="734682" cy="12524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48B079CE-B424-1DB0-3CB7-D0BB4F1E60F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계약 해지해제 조회</a:t>
            </a:r>
          </a:p>
        </p:txBody>
      </p:sp>
    </p:spTree>
    <p:extLst>
      <p:ext uri="{BB962C8B-B14F-4D97-AF65-F5344CB8AC3E}">
        <p14:creationId xmlns:p14="http://schemas.microsoft.com/office/powerpoint/2010/main" val="994884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계약통합목록조회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검색필터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CtrtIntgList_SrchFilter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물품전자계약진행상세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CmdtyElctrCtrtPrgrsDtlPage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물품전자계약확정상세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CmdtyElctrCtrtCfmtnDtlPage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물품일반계약서상세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CmdtyGnrlCtrdocDtlPage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물품수정계약서상세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CmdtyMdfcnCtrdocDtlPage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물품총액계약서상세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CmdtyGramtCtrdocDtlPage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물품단가계약서상세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CmdtyUntprcCtrdocDtlPage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3"/>
            <a:endCxn id="9" idx="1"/>
          </p:cNvCxnSpPr>
          <p:nvPr/>
        </p:nvCxnSpPr>
        <p:spPr>
          <a:xfrm flipV="1">
            <a:off x="2992582" y="2990174"/>
            <a:ext cx="967509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>
                <a:solidFill>
                  <a:schemeClr val="tx1"/>
                </a:solidFill>
              </a:rPr>
              <a:t>(1/2)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430039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공사전자계약진행상세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CstrnElctrCtrtPrgrsDtlPage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공사계약서상세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CstrnCtrdocDtlPage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</a:t>
            </a:r>
            <a:r>
              <a:rPr lang="ko-KR" altLang="en-US" sz="9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일반계약</a:t>
            </a: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900" dirty="0">
              <a:solidFill>
                <a:schemeClr val="tx1"/>
              </a:solidFill>
            </a:endParaRPr>
          </a:p>
          <a:p>
            <a:pPr algn="ctr"/>
            <a:r>
              <a:rPr lang="en-US" altLang="ko-KR" sz="900" dirty="0" err="1">
                <a:solidFill>
                  <a:schemeClr val="tx1"/>
                </a:solidFill>
                <a:latin typeface="+mn-ea"/>
              </a:rPr>
              <a:t>CmdtyCtrtCncltnRmvDtlPage</a:t>
            </a:r>
            <a:r>
              <a:rPr lang="en-US" altLang="ko-KR" sz="900" dirty="0" err="1"/>
              <a:t>.tsx</a:t>
            </a:r>
            <a:r>
              <a:rPr lang="en-US" altLang="ko-KR" sz="900" b="1" baseline="30000" dirty="0">
                <a:latin typeface="+mn-ea"/>
              </a:rPr>
              <a:t> 1)</a:t>
            </a:r>
            <a:endParaRPr lang="en-US" altLang="ko-KR" sz="900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50" dirty="0"/>
              <a:t>&lt;&lt;</a:t>
            </a:r>
            <a:r>
              <a:rPr lang="ko-KR" altLang="en-US" sz="1050" dirty="0" err="1"/>
              <a:t>계약정보</a:t>
            </a:r>
            <a:r>
              <a:rPr lang="en-US" altLang="ko-KR" sz="1050" dirty="0"/>
              <a:t>Controller&gt;&gt;</a:t>
            </a:r>
          </a:p>
          <a:p>
            <a:pPr algn="ctr"/>
            <a:r>
              <a:rPr lang="en-US" altLang="ko-KR" sz="1050" dirty="0" err="1"/>
              <a:t>CtrtInfoController</a:t>
            </a:r>
            <a:endParaRPr lang="en-US" altLang="ko-KR" sz="105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8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총액제계약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800" dirty="0"/>
          </a:p>
          <a:p>
            <a:pPr algn="ctr"/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CncltnRmvGnrlCtrtGramtDtlPage</a:t>
            </a:r>
            <a:r>
              <a:rPr lang="en-US" altLang="ko-KR" sz="800" dirty="0" err="1"/>
              <a:t>.tsx</a:t>
            </a:r>
            <a:r>
              <a:rPr lang="en-US" altLang="ko-KR" sz="800" b="1" baseline="30000" dirty="0">
                <a:latin typeface="+mn-ea"/>
              </a:rPr>
              <a:t> 1)</a:t>
            </a:r>
            <a:endParaRPr lang="en-US" altLang="ko-KR" sz="800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일반 </a:t>
            </a:r>
            <a:r>
              <a:rPr lang="ko-KR" altLang="en-US" sz="10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단가제계약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CncltnRmvGnrlCtrtUntprcDtlPage</a:t>
            </a:r>
            <a:r>
              <a:rPr lang="en-US" altLang="ko-KR" sz="1000" dirty="0" err="1"/>
              <a:t>.tsx</a:t>
            </a:r>
            <a:r>
              <a:rPr lang="en-US" altLang="ko-KR" sz="1000" b="1" baseline="30000" dirty="0">
                <a:latin typeface="+mn-ea"/>
              </a:rPr>
              <a:t> 1)</a:t>
            </a:r>
            <a:endParaRPr lang="en-US" altLang="ko-KR" sz="1000" dirty="0"/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수정 계약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CncltnRmvMdfcnCtrtDtlPage</a:t>
            </a:r>
            <a:r>
              <a:rPr lang="en-US" altLang="ko-KR" sz="1000" dirty="0" err="1"/>
              <a:t>.tsx</a:t>
            </a:r>
            <a:r>
              <a:rPr lang="en-US" altLang="ko-KR" sz="1000" b="1" baseline="30000" dirty="0">
                <a:latin typeface="+mn-ea"/>
              </a:rPr>
              <a:t> 1)</a:t>
            </a:r>
            <a:endParaRPr lang="en-US" altLang="ko-KR" sz="1000" dirty="0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/>
              <a:t>&lt;&lt;App Page&gt;&gt;</a:t>
            </a:r>
          </a:p>
          <a:p>
            <a:pPr algn="ctr"/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해지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해제 공사 계약 상세</a:t>
            </a:r>
            <a:endParaRPr lang="en-US" altLang="ko-KR" sz="1000" dirty="0"/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CstrnCtrtCncltnRmvDtlPage</a:t>
            </a:r>
            <a:r>
              <a:rPr lang="en-US" altLang="ko-KR" sz="1000" dirty="0" err="1"/>
              <a:t>.tsx</a:t>
            </a:r>
            <a:r>
              <a:rPr lang="en-US" altLang="ko-KR" sz="1000" b="1" baseline="30000" dirty="0">
                <a:latin typeface="+mn-ea"/>
              </a:rPr>
              <a:t> 1)</a:t>
            </a:r>
            <a:endParaRPr lang="en-US" altLang="ko-KR" sz="1000" dirty="0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dirty="0"/>
              <a:t>&lt;&lt;</a:t>
            </a:r>
            <a:r>
              <a:rPr lang="ko-KR" altLang="en-US" sz="800" dirty="0"/>
              <a:t> 계약해지해제</a:t>
            </a:r>
            <a:r>
              <a:rPr lang="en-US" altLang="ko-KR" sz="800" dirty="0"/>
              <a:t>Controller&gt;&gt;</a:t>
            </a:r>
          </a:p>
          <a:p>
            <a:pPr algn="ctr"/>
            <a:r>
              <a:rPr lang="en-US" altLang="ko-KR" sz="800" dirty="0" err="1"/>
              <a:t>CtrtCncltnRmvController</a:t>
            </a:r>
            <a:endParaRPr lang="en-US" altLang="ko-KR" sz="8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>
                <a:solidFill>
                  <a:schemeClr val="tx1"/>
                </a:solidFill>
              </a:rPr>
              <a:t>계약 </a:t>
            </a:r>
            <a:r>
              <a:rPr lang="en-US" altLang="ko-KR" sz="1200" dirty="0">
                <a:solidFill>
                  <a:schemeClr val="tx1"/>
                </a:solidFill>
              </a:rPr>
              <a:t>(2/2)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235290" y="5246050"/>
            <a:ext cx="1260764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대금지불정보목록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85400" y="5246050"/>
            <a:ext cx="1260764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대금지불정보조회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PymtDfryInfoInq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</p:cNvCxnSpPr>
          <p:nvPr/>
        </p:nvCxnSpPr>
        <p:spPr>
          <a:xfrm flipV="1">
            <a:off x="3865672" y="3810190"/>
            <a:ext cx="958019" cy="14358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</p:cNvCxnSpPr>
          <p:nvPr/>
        </p:nvCxnSpPr>
        <p:spPr>
          <a:xfrm flipH="1" flipV="1">
            <a:off x="4823691" y="3810190"/>
            <a:ext cx="492091" cy="14358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4871829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/>
              <a:t>상단 </a:t>
            </a:r>
            <a:r>
              <a:rPr lang="ko-KR" altLang="en-US" sz="600" dirty="0" err="1" smtClean="0"/>
              <a:t>업무도움은</a:t>
            </a:r>
            <a:r>
              <a:rPr lang="ko-KR" altLang="en-US" sz="600" dirty="0" smtClean="0"/>
              <a:t> 기본 값으로 접힘 상태로 정보 제공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/>
              <a:t>- </a:t>
            </a:r>
            <a:r>
              <a:rPr lang="ko-KR" altLang="en-US" sz="600" dirty="0"/>
              <a:t>기본값 </a:t>
            </a:r>
            <a:r>
              <a:rPr lang="en-US" altLang="ko-KR" sz="600" dirty="0"/>
              <a:t>: </a:t>
            </a:r>
            <a:r>
              <a:rPr lang="ko-KR" altLang="en-US" sz="600" dirty="0"/>
              <a:t>접힘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사용자 </a:t>
            </a:r>
            <a:r>
              <a:rPr lang="ko-KR" altLang="en-US" sz="600" dirty="0" err="1"/>
              <a:t>클릭시</a:t>
            </a:r>
            <a:r>
              <a:rPr lang="ko-KR" altLang="en-US" sz="600" dirty="0"/>
              <a:t> 확장하여 정보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 smtClean="0"/>
              <a:t>업무도움</a:t>
            </a:r>
            <a:r>
              <a:rPr lang="en-US" altLang="ko-KR" sz="600" dirty="0" smtClean="0"/>
              <a:t> &gt; </a:t>
            </a:r>
            <a:r>
              <a:rPr lang="ko-KR" altLang="en-US" sz="600" dirty="0"/>
              <a:t>내역이 있는 경우 표시</a:t>
            </a:r>
            <a:r>
              <a:rPr lang="en-US" altLang="ko-KR" sz="600" dirty="0"/>
              <a:t>, </a:t>
            </a:r>
            <a:r>
              <a:rPr lang="ko-KR" altLang="en-US" sz="600" dirty="0"/>
              <a:t>내역이 없으면 항목을 표시하지 않음</a:t>
            </a:r>
            <a:r>
              <a:rPr lang="en-US" altLang="ko-KR" sz="600" dirty="0"/>
              <a:t>.</a:t>
            </a:r>
            <a:br>
              <a:rPr lang="en-US" altLang="ko-KR" sz="600" dirty="0"/>
            </a:b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err="1" smtClean="0"/>
              <a:t>검색필터</a:t>
            </a:r>
            <a:r>
              <a:rPr lang="ko-KR" altLang="en-US" sz="600" dirty="0" smtClean="0"/>
              <a:t> 항목 참고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>
                <a:latin typeface="+mn-ea"/>
              </a:rPr>
              <a:t>검색 필터 </a:t>
            </a:r>
            <a:r>
              <a:rPr lang="en-US" altLang="ko-KR" sz="600" dirty="0" smtClean="0">
                <a:latin typeface="+mn-ea"/>
              </a:rPr>
              <a:t>– </a:t>
            </a:r>
            <a:r>
              <a:rPr lang="ko-KR" altLang="en-US" sz="600" dirty="0" smtClean="0">
                <a:latin typeface="+mn-ea"/>
              </a:rPr>
              <a:t>계약 페이지 참고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/>
              <a:t>표시 개수 영역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총 개수 표시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표시 개수 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선택한 건수 만큼 보여주고 </a:t>
            </a:r>
            <a:r>
              <a:rPr lang="ko-KR" altLang="en-US" sz="600" dirty="0" err="1" smtClean="0"/>
              <a:t>더보기시</a:t>
            </a:r>
            <a:r>
              <a:rPr lang="ko-KR" altLang="en-US" sz="600" dirty="0" smtClean="0"/>
              <a:t> 추가로 불러옴</a:t>
            </a:r>
            <a:r>
              <a:rPr lang="en-US" altLang="ko-KR" sz="600" dirty="0" smtClean="0"/>
              <a:t>)</a:t>
            </a:r>
            <a:br>
              <a:rPr lang="en-US" altLang="ko-KR" sz="600" dirty="0" smtClean="0"/>
            </a:br>
            <a:r>
              <a:rPr lang="ko-KR" altLang="en-US" sz="600" dirty="0" smtClean="0"/>
              <a:t>목록 카드 표시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카드 </a:t>
            </a:r>
            <a:r>
              <a:rPr lang="ko-KR" altLang="en-US" sz="600" dirty="0" err="1" smtClean="0"/>
              <a:t>클릭시</a:t>
            </a:r>
            <a:r>
              <a:rPr lang="ko-KR" altLang="en-US" sz="600" dirty="0" smtClean="0"/>
              <a:t> 상세 페이지 이동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3-1] </a:t>
            </a:r>
            <a:r>
              <a:rPr lang="ko-KR" altLang="en-US" sz="600" dirty="0" err="1"/>
              <a:t>계약번호</a:t>
            </a:r>
            <a:r>
              <a:rPr lang="en-US" altLang="ko-KR" sz="600" dirty="0"/>
              <a:t>+</a:t>
            </a:r>
            <a:r>
              <a:rPr lang="ko-KR" altLang="en-US" sz="600" dirty="0" smtClean="0"/>
              <a:t>계약번호차수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600" dirty="0" smtClean="0"/>
              <a:t>- </a:t>
            </a:r>
            <a:r>
              <a:rPr lang="ko-KR" altLang="en-US" sz="600" dirty="0" smtClean="0"/>
              <a:t>레이블이 화면을 넘치는 경우 드래그하여 확인 가능 </a:t>
            </a:r>
            <a:r>
              <a:rPr lang="en-US" altLang="ko-KR" sz="600" dirty="0" smtClean="0"/>
              <a:t>(</a:t>
            </a:r>
            <a:r>
              <a:rPr lang="ko-KR" altLang="en-US" sz="600" dirty="0" err="1" smtClean="0"/>
              <a:t>스와이프기능</a:t>
            </a:r>
            <a:r>
              <a:rPr lang="ko-KR" altLang="en-US" sz="600" dirty="0" smtClean="0"/>
              <a:t> 반영 필요</a:t>
            </a:r>
            <a:r>
              <a:rPr lang="en-US" altLang="ko-KR" sz="600" dirty="0" smtClean="0"/>
              <a:t>)</a:t>
            </a:r>
            <a:br>
              <a:rPr lang="en-US" altLang="ko-KR" sz="600" dirty="0" smtClean="0"/>
            </a:br>
            <a:r>
              <a:rPr lang="en-US" altLang="ko-KR" sz="600" dirty="0" smtClean="0"/>
              <a:t>4-1</a:t>
            </a:r>
            <a:r>
              <a:rPr lang="en-US" altLang="ko-KR" sz="600" dirty="0"/>
              <a:t>] </a:t>
            </a:r>
            <a:r>
              <a:rPr lang="ko-KR" altLang="en-US" sz="600" dirty="0" err="1"/>
              <a:t>표시레이블</a:t>
            </a:r>
            <a:r>
              <a:rPr lang="ko-KR" altLang="en-US" sz="600" dirty="0"/>
              <a:t> 영역 </a:t>
            </a:r>
            <a:r>
              <a:rPr lang="ko-KR" altLang="en-US" sz="600" dirty="0" smtClean="0"/>
              <a:t>항목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업무구분</a:t>
            </a:r>
            <a:r>
              <a:rPr lang="ko-KR" altLang="en-US" sz="600" dirty="0" smtClean="0"/>
              <a:t> </a:t>
            </a:r>
            <a:r>
              <a:rPr lang="en-US" altLang="ko-KR" sz="600" dirty="0" smtClean="0"/>
              <a:t>:  </a:t>
            </a:r>
            <a:r>
              <a:rPr lang="ko-KR" altLang="en-US" sz="600" dirty="0" smtClean="0"/>
              <a:t>전체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물품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용역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공사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국외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입찰구붐</a:t>
            </a:r>
            <a:r>
              <a:rPr lang="ko-KR" altLang="en-US" sz="600" dirty="0" smtClean="0"/>
              <a:t> </a:t>
            </a:r>
            <a:r>
              <a:rPr lang="en-US" altLang="ko-KR" sz="600" dirty="0" smtClean="0"/>
              <a:t>: </a:t>
            </a:r>
            <a:r>
              <a:rPr lang="ko-KR" altLang="en-US" sz="600" dirty="0" err="1" smtClean="0"/>
              <a:t>총액제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단가제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계약상태</a:t>
            </a:r>
            <a:r>
              <a:rPr lang="ko-KR" altLang="en-US" sz="600" dirty="0" smtClean="0"/>
              <a:t> </a:t>
            </a:r>
            <a:r>
              <a:rPr lang="en-US" altLang="ko-KR" sz="600" dirty="0" smtClean="0"/>
              <a:t>: </a:t>
            </a:r>
            <a:r>
              <a:rPr lang="ko-KR" altLang="en-US" sz="600" dirty="0" err="1" smtClean="0"/>
              <a:t>계약진행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계약수정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계약최종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계약확정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계약해지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해제목록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진행상태 </a:t>
            </a:r>
            <a:r>
              <a:rPr lang="en-US" altLang="ko-KR" sz="600" dirty="0" smtClean="0"/>
              <a:t>: </a:t>
            </a:r>
            <a:r>
              <a:rPr lang="ko-KR" altLang="en-US" sz="600" dirty="0" err="1" smtClean="0"/>
              <a:t>서류요청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서류등록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서류반려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체결의뢰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계약방법 </a:t>
            </a:r>
            <a:r>
              <a:rPr lang="en-US" altLang="ko-KR" sz="600" dirty="0" smtClean="0"/>
              <a:t>:  </a:t>
            </a:r>
            <a:r>
              <a:rPr lang="ko-KR" altLang="en-US" sz="600" dirty="0" smtClean="0"/>
              <a:t>일반경쟁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지명경쟁</a:t>
            </a:r>
            <a:r>
              <a:rPr lang="en-US" altLang="ko-KR" sz="600" dirty="0" smtClean="0"/>
              <a:t>,</a:t>
            </a:r>
            <a:r>
              <a:rPr lang="ko-KR" altLang="en-US" sz="600" dirty="0" smtClean="0"/>
              <a:t>제한경쟁</a:t>
            </a:r>
            <a:r>
              <a:rPr lang="en-US" altLang="ko-KR" sz="600" dirty="0" smtClean="0"/>
              <a:t>,</a:t>
            </a:r>
            <a:r>
              <a:rPr lang="ko-KR" altLang="en-US" sz="600" dirty="0" err="1" smtClean="0"/>
              <a:t>복수경쟁</a:t>
            </a:r>
            <a:r>
              <a:rPr lang="en-US" altLang="ko-KR" sz="600" dirty="0" smtClean="0"/>
              <a:t>,</a:t>
            </a:r>
            <a:r>
              <a:rPr lang="ko-KR" altLang="en-US" sz="600" dirty="0" smtClean="0"/>
              <a:t>수의계약</a:t>
            </a:r>
            <a:r>
              <a:rPr lang="en-US" altLang="ko-KR" sz="600" dirty="0" smtClean="0"/>
              <a:t>,</a:t>
            </a:r>
            <a:r>
              <a:rPr lang="ko-KR" altLang="en-US" sz="600" dirty="0" err="1" smtClean="0"/>
              <a:t>협상에의한계약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),2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), 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), </a:t>
            </a:r>
            <a:r>
              <a:rPr lang="ko-KR" altLang="en-US" sz="600" dirty="0" err="1" smtClean="0"/>
              <a:t>종합낙찰제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), </a:t>
            </a:r>
            <a:r>
              <a:rPr lang="ko-KR" altLang="en-US" sz="600" dirty="0" err="1" smtClean="0"/>
              <a:t>역경매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발주기관</a:t>
            </a:r>
            <a:r>
              <a:rPr lang="en-US" altLang="ko-KR" sz="600" dirty="0" smtClean="0"/>
              <a:t>: </a:t>
            </a:r>
            <a:r>
              <a:rPr lang="ko-KR" altLang="en-US" sz="600" dirty="0" smtClean="0"/>
              <a:t>발주기관 전체 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방위사업청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조달본부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경리단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군수사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교육사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학교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근지단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군병원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본부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-9, </a:t>
            </a:r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-A, </a:t>
            </a:r>
            <a:r>
              <a:rPr lang="ko-KR" altLang="en-US" sz="600" dirty="0" smtClean="0"/>
              <a:t>기타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4-2] </a:t>
            </a:r>
            <a:r>
              <a:rPr lang="ko-KR" altLang="en-US" sz="600" dirty="0" smtClean="0"/>
              <a:t>수정계약요청수신</a:t>
            </a:r>
            <a:r>
              <a:rPr lang="en-US" altLang="ko-KR" sz="600" dirty="0" smtClean="0"/>
              <a:t>, </a:t>
            </a:r>
            <a:r>
              <a:rPr lang="ko-KR" altLang="en-US" sz="600" dirty="0" smtClean="0"/>
              <a:t>수정계약사유 항목 확인 불가</a:t>
            </a:r>
            <a:r>
              <a:rPr lang="en-US" altLang="ko-KR" sz="600" dirty="0" smtClean="0"/>
              <a:t>.</a:t>
            </a:r>
            <a:r>
              <a:rPr lang="ko-KR" altLang="en-US" sz="600" dirty="0" smtClean="0"/>
              <a:t> 항목명과 코드</a:t>
            </a:r>
            <a:r>
              <a:rPr lang="en-US" altLang="ko-KR" sz="600" dirty="0" smtClean="0"/>
              <a:t>,</a:t>
            </a:r>
            <a:r>
              <a:rPr lang="ko-KR" altLang="en-US" sz="600" dirty="0" smtClean="0"/>
              <a:t>전달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4-3] </a:t>
            </a:r>
            <a:r>
              <a:rPr lang="ko-KR" altLang="en-US" sz="600" dirty="0" smtClean="0"/>
              <a:t>레이블 항목 기타사항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4-4] </a:t>
            </a:r>
            <a:r>
              <a:rPr lang="ko-KR" altLang="en-US" sz="600" dirty="0" smtClean="0"/>
              <a:t>문서 정보 영역 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판단번호</a:t>
            </a:r>
            <a:r>
              <a:rPr lang="ko-KR" altLang="en-US" sz="600" dirty="0" smtClean="0"/>
              <a:t> </a:t>
            </a:r>
            <a:r>
              <a:rPr lang="en-US" altLang="ko-KR" sz="600" dirty="0" smtClean="0"/>
              <a:t>,  </a:t>
            </a:r>
            <a:r>
              <a:rPr lang="ko-KR" altLang="en-US" sz="600" dirty="0" err="1" smtClean="0"/>
              <a:t>계약번호</a:t>
            </a:r>
            <a:r>
              <a:rPr lang="ko-KR" altLang="en-US" sz="600" dirty="0" smtClean="0"/>
              <a:t> 노출 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판단번호</a:t>
            </a:r>
            <a:r>
              <a:rPr lang="ko-KR" altLang="en-US" sz="600" dirty="0" smtClean="0"/>
              <a:t> </a:t>
            </a:r>
            <a:r>
              <a:rPr lang="ko-KR" altLang="en-US" sz="600" dirty="0" err="1" smtClean="0"/>
              <a:t>전체노출</a:t>
            </a:r>
            <a:r>
              <a:rPr lang="ko-KR" altLang="en-US" sz="600" dirty="0" smtClean="0"/>
              <a:t> </a:t>
            </a:r>
            <a:r>
              <a:rPr lang="en-US" altLang="ko-KR" sz="600" dirty="0" smtClean="0"/>
              <a:t>/ </a:t>
            </a:r>
            <a:r>
              <a:rPr lang="ko-KR" altLang="en-US" sz="600" dirty="0" err="1" smtClean="0"/>
              <a:t>계약번호</a:t>
            </a:r>
            <a:r>
              <a:rPr lang="ko-KR" altLang="en-US" sz="600" dirty="0" smtClean="0"/>
              <a:t> </a:t>
            </a:r>
            <a:r>
              <a:rPr lang="ko-KR" altLang="en-US" sz="600" dirty="0" err="1" smtClean="0"/>
              <a:t>노출시</a:t>
            </a:r>
            <a:r>
              <a:rPr lang="ko-KR" altLang="en-US" sz="600" dirty="0" smtClean="0"/>
              <a:t> 해당 라인을 넘어가면 </a:t>
            </a:r>
            <a:r>
              <a:rPr lang="en-US" altLang="ko-KR" sz="600" dirty="0" smtClean="0"/>
              <a:t>(…) </a:t>
            </a:r>
            <a:r>
              <a:rPr lang="ko-KR" altLang="en-US" sz="600" dirty="0" err="1" smtClean="0"/>
              <a:t>말줄임</a:t>
            </a:r>
            <a:r>
              <a:rPr lang="ko-KR" altLang="en-US" sz="600" dirty="0" smtClean="0"/>
              <a:t> 표시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err="1" smtClean="0"/>
              <a:t>계약번호</a:t>
            </a:r>
            <a:r>
              <a:rPr lang="en-US" altLang="ko-KR" sz="600" dirty="0" smtClean="0"/>
              <a:t>:</a:t>
            </a:r>
            <a:r>
              <a:rPr lang="ko-KR" altLang="en-US" sz="600" dirty="0" smtClean="0"/>
              <a:t> </a:t>
            </a:r>
            <a:r>
              <a:rPr lang="ko-KR" altLang="en-US" sz="600" dirty="0" err="1" smtClean="0"/>
              <a:t>계약번호</a:t>
            </a:r>
            <a:r>
              <a:rPr lang="en-US" altLang="ko-KR" sz="600" dirty="0" smtClean="0"/>
              <a:t>+</a:t>
            </a:r>
            <a:r>
              <a:rPr lang="ko-KR" altLang="en-US" sz="600" dirty="0" smtClean="0"/>
              <a:t>계약번호차수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4-5] </a:t>
            </a:r>
            <a:r>
              <a:rPr lang="ko-KR" altLang="en-US" sz="600" dirty="0" smtClean="0"/>
              <a:t>문서 제목 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- </a:t>
            </a:r>
            <a:r>
              <a:rPr lang="ko-KR" altLang="en-US" sz="600" dirty="0" smtClean="0"/>
              <a:t>제목은 </a:t>
            </a:r>
            <a:r>
              <a:rPr lang="en-US" altLang="ko-KR" sz="600" dirty="0" smtClean="0"/>
              <a:t>2</a:t>
            </a:r>
            <a:r>
              <a:rPr lang="ko-KR" altLang="en-US" sz="600" dirty="0" smtClean="0"/>
              <a:t>줄 까지 노출 이후</a:t>
            </a:r>
            <a:r>
              <a:rPr lang="en-US" altLang="ko-KR" sz="600" dirty="0" smtClean="0"/>
              <a:t>(…) </a:t>
            </a:r>
            <a:r>
              <a:rPr lang="ko-KR" altLang="en-US" sz="600" dirty="0" err="1" smtClean="0"/>
              <a:t>말줄임</a:t>
            </a:r>
            <a:r>
              <a:rPr lang="ko-KR" altLang="en-US" sz="600" dirty="0" smtClean="0"/>
              <a:t> 표시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err="1" smtClean="0"/>
              <a:t>더보기</a:t>
            </a:r>
            <a:r>
              <a:rPr lang="ko-KR" altLang="en-US" sz="600" dirty="0" smtClean="0"/>
              <a:t> 기능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- 3</a:t>
            </a:r>
            <a:r>
              <a:rPr lang="ko-KR" altLang="en-US" sz="600" dirty="0" err="1" smtClean="0"/>
              <a:t>번항목</a:t>
            </a:r>
            <a:r>
              <a:rPr lang="ko-KR" altLang="en-US" sz="600" dirty="0" smtClean="0"/>
              <a:t> 표시 개수 영역에서 선택한 개수로 증가</a:t>
            </a:r>
            <a:r>
              <a:rPr lang="en-US" altLang="ko-KR" sz="600" dirty="0" smtClean="0"/>
              <a:t>.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ko-KR" altLang="en-US" sz="600" dirty="0" smtClean="0"/>
              <a:t>예</a:t>
            </a:r>
            <a:r>
              <a:rPr lang="en-US" altLang="ko-KR" sz="600" dirty="0" smtClean="0"/>
              <a:t>) </a:t>
            </a:r>
            <a:r>
              <a:rPr lang="en-US" altLang="ko-KR" sz="600" dirty="0"/>
              <a:t>10</a:t>
            </a:r>
            <a:r>
              <a:rPr lang="ko-KR" altLang="en-US" sz="600" dirty="0"/>
              <a:t>개 노출 이후 </a:t>
            </a:r>
            <a:r>
              <a:rPr lang="ko-KR" altLang="en-US" sz="600" dirty="0" err="1"/>
              <a:t>더보기</a:t>
            </a:r>
            <a:r>
              <a:rPr lang="ko-KR" altLang="en-US" sz="600" dirty="0"/>
              <a:t> 버튼 클릭으로 </a:t>
            </a:r>
            <a:r>
              <a:rPr lang="en-US" altLang="ko-KR" sz="600" dirty="0"/>
              <a:t>10</a:t>
            </a:r>
            <a:r>
              <a:rPr lang="ko-KR" altLang="en-US" sz="600" dirty="0"/>
              <a:t>개씩 추가 </a:t>
            </a:r>
            <a:r>
              <a:rPr lang="ko-KR" altLang="en-US" sz="600" dirty="0" smtClean="0"/>
              <a:t>로드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endParaRPr lang="en-US" altLang="ko-KR" sz="6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계약통합목록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 err="1" smtClean="0"/>
              <a:t>통합목록</a:t>
            </a:r>
            <a:r>
              <a:rPr lang="ko-KR" altLang="en-US" dirty="0" smtClean="0"/>
              <a:t>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81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통합목록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046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69299"/>
            <a:ext cx="2473257" cy="1051442"/>
            <a:chOff x="781461" y="3087955"/>
            <a:chExt cx="2473257" cy="1051442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판단번호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99001 /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</a:t>
              </a:r>
            </a:p>
            <a:p>
              <a:r>
                <a:rPr lang="ko-KR" altLang="en-US" sz="900" b="1" dirty="0" smtClean="0"/>
                <a:t>물품구매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585399"/>
              <a:ext cx="307777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계약일자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전자서명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04016" y="3585399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제</a:t>
              </a:r>
              <a:r>
                <a:rPr lang="en-US" altLang="ko-KR" sz="600" dirty="0" smtClean="0">
                  <a:latin typeface="+mn-ea"/>
                </a:rPr>
                <a:t>8385</a:t>
              </a:r>
              <a:r>
                <a:rPr lang="ko-KR" altLang="en-US" sz="600" dirty="0" smtClean="0">
                  <a:latin typeface="+mn-ea"/>
                </a:rPr>
                <a:t>부대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 1 / 4 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  <p:sp>
          <p:nvSpPr>
            <p:cNvPr id="141" name="모서리가 둥근 직사각형 140"/>
            <p:cNvSpPr/>
            <p:nvPr/>
          </p:nvSpPr>
          <p:spPr>
            <a:xfrm>
              <a:off x="2426808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첨언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00573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550943"/>
            <a:ext cx="2534331" cy="1083172"/>
            <a:chOff x="778515" y="2610063"/>
            <a:chExt cx="2534331" cy="1083172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99001 /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2025000000 - 01</a:t>
              </a:r>
            </a:p>
            <a:p>
              <a:r>
                <a:rPr lang="en-US" altLang="ko-KR" sz="900" b="1" dirty="0" smtClean="0"/>
                <a:t>000</a:t>
              </a:r>
              <a:r>
                <a:rPr lang="ko-KR" altLang="en-US" sz="900" b="1" dirty="0" smtClean="0"/>
                <a:t>시설공사</a:t>
              </a:r>
              <a:endParaRPr lang="ko-KR" altLang="en-US" sz="900" b="1" dirty="0"/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계약일자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전자서명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7165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2026-01-03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국군재정관리단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2,596,060,616,000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 1 / 4 </a:t>
              </a: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제한경쟁</a:t>
              </a:r>
              <a:endParaRPr lang="ko-KR" altLang="en-US" sz="600" dirty="0"/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1988604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첨부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324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248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3358" y="43384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10036" y="228338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용역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전체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err="1" smtClean="0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441950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4425342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계약방법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441950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지명경쟁</a:t>
            </a:r>
            <a:endParaRPr lang="ko-KR" altLang="en-US" sz="600" dirty="0"/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441950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제한경쟁</a:t>
            </a:r>
            <a:endParaRPr lang="ko-KR" altLang="en-US" sz="600" dirty="0"/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441950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441950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4591882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4591882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4591882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4759851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4759851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4759851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역경매</a:t>
            </a:r>
            <a:endParaRPr lang="ko-KR" altLang="en-US" sz="600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42020" y="2204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057870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발주기관 전체</a:t>
            </a:r>
            <a:endParaRPr lang="ko-KR" altLang="en-US" sz="600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5063709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발주기관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057870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05787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조달본부</a:t>
            </a:r>
            <a:endParaRPr lang="ko-KR" altLang="en-US" sz="600" dirty="0"/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060145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060145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060145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교육사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5221663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학교</a:t>
            </a:r>
            <a:endParaRPr lang="ko-KR" altLang="en-US" sz="600" dirty="0"/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5221663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5221663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5221663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본부</a:t>
            </a:r>
            <a:endParaRPr lang="ko-KR" altLang="en-US" sz="600" dirty="0"/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5221663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5221663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5221663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기타</a:t>
            </a:r>
            <a:endParaRPr lang="ko-KR" altLang="en-US" sz="600" dirty="0"/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err="1" smtClean="0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err="1" smtClean="0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계약해제</a:t>
            </a:r>
            <a:endParaRPr lang="ko-KR" altLang="en-US" sz="600" dirty="0"/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진행상태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1980118" y="3364160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533959" y="4550943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계약해지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err="1" smtClean="0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252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9" name="그룹 138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40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43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 smtClean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</a:t>
              </a:r>
              <a:r>
                <a:rPr lang="ko-KR" altLang="en-US" sz="700" kern="0" dirty="0" smtClean="0">
                  <a:solidFill>
                    <a:prstClr val="black"/>
                  </a:solidFill>
                </a:rPr>
                <a:t>개</a:t>
              </a:r>
              <a:endParaRPr lang="en-US" altLang="ko-KR" sz="700" kern="0" dirty="0" smtClean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71" name="그룹 170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76" name="모서리가 둥근 직사각형 17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79" name="그룹 178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8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9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82" name="타원 18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85" name="타원 184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6" name="그룹 185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70286" y="21800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" name="직사각형 2"/>
          <p:cNvSpPr/>
          <p:nvPr/>
        </p:nvSpPr>
        <p:spPr>
          <a:xfrm>
            <a:off x="7099526" y="6107754"/>
            <a:ext cx="230404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260617 -  </a:t>
            </a:r>
            <a:r>
              <a:rPr lang="ko-KR" altLang="en-US" sz="500" dirty="0" smtClean="0"/>
              <a:t>전체 특이사항 내용 수정</a:t>
            </a:r>
            <a:r>
              <a:rPr lang="en-US" altLang="ko-KR" sz="500" dirty="0" smtClean="0"/>
              <a:t/>
            </a:r>
            <a:br>
              <a:rPr lang="en-US" altLang="ko-KR" sz="500" dirty="0" smtClean="0"/>
            </a:br>
            <a:r>
              <a:rPr lang="en-US" altLang="ko-KR" sz="500" dirty="0" smtClean="0"/>
              <a:t>3-1,4-2,4-3, </a:t>
            </a:r>
            <a:r>
              <a:rPr lang="ko-KR" altLang="en-US" sz="500" dirty="0" smtClean="0"/>
              <a:t>전자서명항목추가 </a:t>
            </a:r>
            <a:endParaRPr lang="en-US" altLang="ko-KR" sz="500" dirty="0" smtClean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3506" y="44706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1637" y="48521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4-5</a:t>
            </a:r>
            <a:endParaRPr lang="ko-KR" altLang="en-US" sz="600" b="1" dirty="0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00784" y="3904394"/>
            <a:ext cx="84791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수정계약요청수신</a:t>
            </a:r>
            <a:endParaRPr lang="ko-KR" altLang="en-US" sz="700" dirty="0">
              <a:latin typeface="+mn-ea"/>
            </a:endParaRPr>
          </a:p>
        </p:txBody>
      </p:sp>
      <p:sp>
        <p:nvSpPr>
          <p:cNvPr id="200" name="모서리가 둥근 직사각형 199"/>
          <p:cNvSpPr/>
          <p:nvPr/>
        </p:nvSpPr>
        <p:spPr>
          <a:xfrm>
            <a:off x="4318555" y="3900003"/>
            <a:ext cx="1975904" cy="112113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700" dirty="0" err="1">
                <a:latin typeface="+mn-ea"/>
              </a:rPr>
              <a:t>mdfcnCtrtDmndrcofc</a:t>
            </a:r>
            <a:endParaRPr lang="ko-KR" altLang="en-US" sz="700" dirty="0">
              <a:latin typeface="+mn-ea"/>
            </a:endParaRPr>
          </a:p>
        </p:txBody>
      </p:sp>
      <p:sp>
        <p:nvSpPr>
          <p:cNvPr id="201" name="타원 2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7061" y="33960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3-1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00784" y="4124313"/>
            <a:ext cx="84791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수정계약사유</a:t>
            </a:r>
            <a:endParaRPr lang="ko-KR" altLang="en-US" sz="700" dirty="0">
              <a:latin typeface="+mn-ea"/>
            </a:endParaRPr>
          </a:p>
        </p:txBody>
      </p:sp>
      <p:sp>
        <p:nvSpPr>
          <p:cNvPr id="204" name="모서리가 둥근 직사각형 203"/>
          <p:cNvSpPr/>
          <p:nvPr/>
        </p:nvSpPr>
        <p:spPr>
          <a:xfrm>
            <a:off x="4318555" y="4119922"/>
            <a:ext cx="1975904" cy="112113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700" dirty="0" err="1" smtClean="0">
                <a:latin typeface="+mn-ea"/>
              </a:rPr>
              <a:t>mdfcnRncd</a:t>
            </a:r>
            <a:r>
              <a:rPr lang="en-US" altLang="ko-KR" sz="700" dirty="0" smtClean="0">
                <a:latin typeface="+mn-ea"/>
              </a:rPr>
              <a:t> , </a:t>
            </a:r>
            <a:r>
              <a:rPr lang="ko-KR" altLang="en-US" sz="700" dirty="0" err="1">
                <a:latin typeface="+mn-ea"/>
              </a:rPr>
              <a:t>상위코드</a:t>
            </a:r>
            <a:r>
              <a:rPr lang="en-US" altLang="ko-KR" sz="700" dirty="0">
                <a:latin typeface="+mn-ea"/>
              </a:rPr>
              <a:t>:</a:t>
            </a:r>
            <a:r>
              <a:rPr lang="en-US" altLang="ko-KR" sz="700" dirty="0" smtClean="0">
                <a:latin typeface="+mn-ea"/>
              </a:rPr>
              <a:t>MRC</a:t>
            </a:r>
            <a:endParaRPr lang="ko-KR" altLang="en-US" sz="700" dirty="0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451189" y="3799851"/>
            <a:ext cx="3104851" cy="571521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86442" y="54145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4-3</a:t>
            </a:r>
            <a:endParaRPr lang="ko-KR" altLang="en-US" sz="600" b="1" dirty="0"/>
          </a:p>
        </p:txBody>
      </p:sp>
      <p:sp>
        <p:nvSpPr>
          <p:cNvPr id="206" name="모서리가 둥근 직사각형 205"/>
          <p:cNvSpPr/>
          <p:nvPr/>
        </p:nvSpPr>
        <p:spPr>
          <a:xfrm>
            <a:off x="4308589" y="55218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첨부</a:t>
            </a:r>
            <a:endParaRPr lang="ko-KR" altLang="en-US" sz="600" dirty="0"/>
          </a:p>
        </p:txBody>
      </p:sp>
      <p:sp>
        <p:nvSpPr>
          <p:cNvPr id="207" name="모서리가 둥근 직사각형 206"/>
          <p:cNvSpPr/>
          <p:nvPr/>
        </p:nvSpPr>
        <p:spPr>
          <a:xfrm>
            <a:off x="4752286" y="55218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첨언</a:t>
            </a:r>
            <a:endParaRPr lang="ko-KR" altLang="en-US" sz="600" dirty="0"/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701349" y="5534409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기타</a:t>
            </a:r>
            <a:endParaRPr lang="ko-KR" altLang="en-US" sz="700" dirty="0">
              <a:latin typeface="+mn-ea"/>
            </a:endParaRPr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517455" y="36920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4-2</a:t>
            </a:r>
            <a:endParaRPr lang="ko-KR" altLang="en-US" sz="600" b="1" dirty="0"/>
          </a:p>
        </p:txBody>
      </p:sp>
    </p:spTree>
    <p:extLst>
      <p:ext uri="{BB962C8B-B14F-4D97-AF65-F5344CB8AC3E}">
        <p14:creationId xmlns:p14="http://schemas.microsoft.com/office/powerpoint/2010/main" val="3984744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검색필터</a:t>
            </a:r>
            <a:r>
              <a:rPr lang="ko-KR" altLang="en-US" sz="700" dirty="0" smtClean="0"/>
              <a:t> 페이지 타이틀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1-1] </a:t>
            </a:r>
            <a:r>
              <a:rPr lang="ko-KR" altLang="en-US" sz="700" dirty="0" smtClean="0"/>
              <a:t>초기화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1-2] </a:t>
            </a:r>
            <a:r>
              <a:rPr lang="ko-KR" altLang="en-US" sz="700" dirty="0" smtClean="0"/>
              <a:t>창 닫기 버튼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ko-KR" altLang="en-US" sz="700" dirty="0" smtClean="0"/>
              <a:t>각 </a:t>
            </a:r>
            <a:r>
              <a:rPr lang="ko-KR" altLang="en-US" sz="700" dirty="0" err="1"/>
              <a:t>섹션명</a:t>
            </a:r>
            <a:r>
              <a:rPr lang="ko-KR" altLang="en-US" sz="700" dirty="0"/>
              <a:t> 클릭 시 아코디언 </a:t>
            </a:r>
            <a:r>
              <a:rPr lang="ko-KR" altLang="en-US" sz="700" dirty="0" smtClean="0"/>
              <a:t>동작</a:t>
            </a: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업무 구분</a:t>
            </a:r>
            <a:r>
              <a:rPr lang="en-US" altLang="ko-KR" sz="700" dirty="0" smtClean="0"/>
              <a:t>(</a:t>
            </a:r>
            <a:r>
              <a:rPr lang="ko-KR" altLang="en-US" sz="700" dirty="0" err="1" smtClean="0"/>
              <a:t>필수값</a:t>
            </a:r>
            <a:r>
              <a:rPr lang="en-US" altLang="ko-KR" sz="700" dirty="0" smtClean="0"/>
              <a:t>)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항목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ko-KR" altLang="en-US" sz="700" dirty="0" smtClean="0"/>
              <a:t>전체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물품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용역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공사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국외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default) </a:t>
            </a:r>
            <a:r>
              <a:rPr lang="ko-KR" altLang="en-US" sz="700" dirty="0" smtClean="0"/>
              <a:t>전체</a:t>
            </a: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검색 설정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서류요청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수신일자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/ </a:t>
            </a:r>
            <a:r>
              <a:rPr lang="ko-KR" altLang="en-US" sz="700" dirty="0" err="1" smtClean="0"/>
              <a:t>계약일자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- default) </a:t>
            </a:r>
            <a:r>
              <a:rPr lang="ko-KR" altLang="en-US" sz="700" dirty="0" smtClean="0"/>
              <a:t>당일 포함 과거 </a:t>
            </a:r>
            <a:r>
              <a:rPr lang="en-US" altLang="ko-KR" sz="700" dirty="0" smtClean="0"/>
              <a:t>1</a:t>
            </a:r>
            <a:r>
              <a:rPr lang="ko-KR" altLang="en-US" sz="700" dirty="0" smtClean="0"/>
              <a:t>개월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>
                <a:sym typeface="Wingdings" panose="05000000000000000000" pitchFamily="2" charset="2"/>
              </a:rPr>
              <a:t>선택 날짜 즉시 </a:t>
            </a:r>
            <a:r>
              <a:rPr lang="ko-KR" altLang="en-US" sz="700" dirty="0" smtClean="0">
                <a:sym typeface="Wingdings" panose="05000000000000000000" pitchFamily="2" charset="2"/>
              </a:rPr>
              <a:t>업데이트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3-1)</a:t>
            </a:r>
            <a:r>
              <a:rPr lang="ko-KR" altLang="en-US" sz="700" dirty="0" smtClean="0"/>
              <a:t>직접 입력 가능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/>
              <a:t>좌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과거 우</a:t>
            </a:r>
            <a:r>
              <a:rPr lang="en-US" altLang="ko-KR" sz="700" dirty="0" smtClean="0"/>
              <a:t>)</a:t>
            </a:r>
            <a:r>
              <a:rPr lang="ko-KR" altLang="en-US" sz="700" dirty="0" err="1" smtClean="0"/>
              <a:t>현재로한다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우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 값은 미래를 선택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입력 할 </a:t>
            </a:r>
            <a:r>
              <a:rPr lang="ko-KR" altLang="en-US" sz="700" dirty="0" err="1" smtClean="0"/>
              <a:t>수없다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우</a:t>
            </a:r>
            <a:r>
              <a:rPr lang="en-US" altLang="ko-KR" sz="700" dirty="0" smtClean="0"/>
              <a:t>) </a:t>
            </a:r>
            <a:r>
              <a:rPr lang="ko-KR" altLang="en-US" sz="700" dirty="0" smtClean="0"/>
              <a:t>값이 미래를 입력한 경우 오늘로 자동 변경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당일 기준 최대 </a:t>
            </a:r>
            <a:r>
              <a:rPr lang="en-US" altLang="ko-KR" sz="700" dirty="0"/>
              <a:t>1</a:t>
            </a:r>
            <a:r>
              <a:rPr lang="ko-KR" altLang="en-US" sz="700" dirty="0" smtClean="0"/>
              <a:t>년</a:t>
            </a:r>
            <a:r>
              <a:rPr lang="en-US" altLang="ko-KR" sz="700" dirty="0" smtClean="0"/>
              <a:t>(365</a:t>
            </a:r>
            <a:r>
              <a:rPr lang="ko-KR" altLang="en-US" sz="700" dirty="0" smtClean="0"/>
              <a:t>일</a:t>
            </a:r>
            <a:r>
              <a:rPr lang="en-US" altLang="ko-KR" sz="700" dirty="0" smtClean="0"/>
              <a:t>)</a:t>
            </a:r>
            <a:r>
              <a:rPr lang="ko-KR" altLang="en-US" sz="700" dirty="0" smtClean="0"/>
              <a:t>까지 조회 가능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3-2) </a:t>
            </a:r>
            <a:r>
              <a:rPr lang="ko-KR" altLang="en-US" sz="700" dirty="0" smtClean="0"/>
              <a:t>아이콘 </a:t>
            </a:r>
            <a:r>
              <a:rPr lang="en-US" altLang="ko-KR" sz="700" dirty="0" smtClean="0">
                <a:sym typeface="Wingdings" panose="05000000000000000000" pitchFamily="2" charset="2"/>
              </a:rPr>
              <a:t> </a:t>
            </a:r>
            <a:r>
              <a:rPr lang="ko-KR" altLang="en-US" sz="700" dirty="0" smtClean="0">
                <a:sym typeface="Wingdings" panose="05000000000000000000" pitchFamily="2" charset="2"/>
              </a:rPr>
              <a:t>데이트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sz="700" dirty="0" smtClean="0">
                <a:sym typeface="Wingdings" panose="05000000000000000000" pitchFamily="2" charset="2"/>
              </a:rPr>
              <a:t> 호출</a:t>
            </a:r>
            <a:r>
              <a:rPr lang="en-US" altLang="ko-KR" sz="700" dirty="0" smtClean="0">
                <a:sym typeface="Wingdings" panose="05000000000000000000" pitchFamily="2" charset="2"/>
              </a:rPr>
              <a:t>(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미래불가</a:t>
            </a:r>
            <a:r>
              <a:rPr lang="en-US" altLang="ko-KR" sz="700" dirty="0" smtClean="0">
                <a:sym typeface="Wingdings" panose="05000000000000000000" pitchFamily="2" charset="2"/>
              </a:rPr>
              <a:t>)</a:t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3-3) </a:t>
            </a:r>
            <a:r>
              <a:rPr lang="ko-KR" altLang="en-US" sz="700" dirty="0" smtClean="0">
                <a:sym typeface="Wingdings" panose="05000000000000000000" pitchFamily="2" charset="2"/>
              </a:rPr>
              <a:t>최근</a:t>
            </a:r>
            <a:r>
              <a:rPr lang="en-US" altLang="ko-KR" sz="700" dirty="0" smtClean="0">
                <a:sym typeface="Wingdings" panose="05000000000000000000" pitchFamily="2" charset="2"/>
              </a:rPr>
              <a:t>1,3,6</a:t>
            </a:r>
            <a:r>
              <a:rPr lang="ko-KR" altLang="en-US" sz="700" dirty="0" smtClean="0">
                <a:sym typeface="Wingdings" panose="05000000000000000000" pitchFamily="2" charset="2"/>
              </a:rPr>
              <a:t>개월 버튼으로 당일 포함하여 </a:t>
            </a:r>
            <a:r>
              <a:rPr lang="en-US" altLang="ko-KR" sz="700" dirty="0" smtClean="0">
                <a:sym typeface="Wingdings" panose="05000000000000000000" pitchFamily="2" charset="2"/>
              </a:rPr>
              <a:t>30</a:t>
            </a:r>
            <a:r>
              <a:rPr lang="ko-KR" altLang="en-US" sz="700" dirty="0" smtClean="0">
                <a:sym typeface="Wingdings" panose="05000000000000000000" pitchFamily="2" charset="2"/>
              </a:rPr>
              <a:t>일</a:t>
            </a:r>
            <a:r>
              <a:rPr lang="en-US" altLang="ko-KR" sz="700" dirty="0" smtClean="0">
                <a:sym typeface="Wingdings" panose="05000000000000000000" pitchFamily="2" charset="2"/>
              </a:rPr>
              <a:t>, 90</a:t>
            </a:r>
            <a:r>
              <a:rPr lang="ko-KR" altLang="en-US" sz="700" dirty="0" smtClean="0">
                <a:sym typeface="Wingdings" panose="05000000000000000000" pitchFamily="2" charset="2"/>
              </a:rPr>
              <a:t>일</a:t>
            </a:r>
            <a:r>
              <a:rPr lang="en-US" altLang="ko-KR" sz="700" dirty="0" smtClean="0">
                <a:sym typeface="Wingdings" panose="05000000000000000000" pitchFamily="2" charset="2"/>
              </a:rPr>
              <a:t>,180</a:t>
            </a:r>
            <a:r>
              <a:rPr lang="ko-KR" altLang="en-US" sz="700" dirty="0" smtClean="0">
                <a:sym typeface="Wingdings" panose="05000000000000000000" pitchFamily="2" charset="2"/>
              </a:rPr>
              <a:t>일 이전 값을 표시</a:t>
            </a:r>
            <a:r>
              <a:rPr lang="en-US" altLang="ko-KR" sz="700" dirty="0" smtClean="0">
                <a:sym typeface="Wingdings" panose="05000000000000000000" pitchFamily="2" charset="2"/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sz="700" dirty="0" smtClean="0">
                <a:sym typeface="Wingdings" panose="05000000000000000000" pitchFamily="2" charset="2"/>
              </a:rPr>
              <a:t> 영역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r>
              <a:rPr lang="en-US" altLang="ko-KR" sz="700" dirty="0">
                <a:sym typeface="Wingdings" panose="05000000000000000000" pitchFamily="2" charset="2"/>
              </a:rPr>
              <a:t/>
            </a:r>
            <a:br>
              <a:rPr lang="en-US" altLang="ko-KR" sz="700" dirty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계약건명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판단번호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계약번호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smtClean="0">
                <a:sym typeface="Wingdings" panose="05000000000000000000" pitchFamily="2" charset="2"/>
              </a:rPr>
              <a:t>발주기관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strike="sngStrike" dirty="0" smtClean="0">
                <a:sym typeface="Wingdings" panose="05000000000000000000" pitchFamily="2" charset="2"/>
              </a:rPr>
              <a:t>담당자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글자검색</a:t>
            </a:r>
            <a:r>
              <a:rPr lang="en-US" altLang="ko-KR" sz="700" dirty="0" smtClean="0">
                <a:sym typeface="Wingdings" panose="05000000000000000000" pitchFamily="2" charset="2"/>
              </a:rPr>
              <a:t>: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계약건명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strike="sngStrike" dirty="0" smtClean="0">
                <a:sym typeface="Wingdings" panose="05000000000000000000" pitchFamily="2" charset="2"/>
              </a:rPr>
              <a:t>담당자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숫자검색</a:t>
            </a:r>
            <a:r>
              <a:rPr lang="en-US" altLang="ko-KR" sz="700" dirty="0" smtClean="0">
                <a:sym typeface="Wingdings" panose="05000000000000000000" pitchFamily="2" charset="2"/>
              </a:rPr>
              <a:t>: </a:t>
            </a:r>
            <a:r>
              <a:rPr lang="ko-KR" altLang="en-US" sz="700" dirty="0" smtClean="0">
                <a:sym typeface="Wingdings" panose="05000000000000000000" pitchFamily="2" charset="2"/>
              </a:rPr>
              <a:t> </a:t>
            </a:r>
            <a:r>
              <a:rPr lang="ko-KR" altLang="en-US" sz="700" strike="sngStrike" dirty="0" err="1" smtClean="0">
                <a:sym typeface="Wingdings" panose="05000000000000000000" pitchFamily="2" charset="2"/>
              </a:rPr>
              <a:t>판단번호</a:t>
            </a:r>
            <a:r>
              <a:rPr lang="en-US" altLang="ko-KR" sz="700" dirty="0" smtClean="0">
                <a:sym typeface="Wingdings" panose="05000000000000000000" pitchFamily="2" charset="2"/>
              </a:rPr>
              <a:t>, </a:t>
            </a:r>
            <a:r>
              <a:rPr lang="ko-KR" altLang="en-US" sz="700" dirty="0" smtClean="0">
                <a:sym typeface="Wingdings" panose="05000000000000000000" pitchFamily="2" charset="2"/>
              </a:rPr>
              <a:t>계약 번호 </a:t>
            </a:r>
            <a:r>
              <a:rPr lang="en-US" altLang="ko-KR" sz="700" dirty="0">
                <a:sym typeface="Wingdings" panose="05000000000000000000" pitchFamily="2" charset="2"/>
              </a:rPr>
              <a:t>(MUI-EX-02-P79)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발주기관</a:t>
            </a:r>
            <a:r>
              <a:rPr lang="en-US" altLang="ko-KR" sz="700" dirty="0" smtClean="0">
                <a:sym typeface="Wingdings" panose="05000000000000000000" pitchFamily="2" charset="2"/>
              </a:rPr>
              <a:t>: </a:t>
            </a:r>
            <a:r>
              <a:rPr lang="ko-KR" altLang="en-US" sz="700" dirty="0" smtClean="0">
                <a:sym typeface="Wingdings" panose="05000000000000000000" pitchFamily="2" charset="2"/>
              </a:rPr>
              <a:t>입찰 발주부서기관 검색</a:t>
            </a:r>
            <a:r>
              <a:rPr lang="en-US" altLang="ko-KR" sz="700" dirty="0" smtClean="0">
                <a:sym typeface="Wingdings" panose="05000000000000000000" pitchFamily="2" charset="2"/>
              </a:rPr>
              <a:t>(MUI-BD-01-P04)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sym typeface="Wingdings" panose="05000000000000000000" pitchFamily="2" charset="2"/>
              </a:rPr>
              <a:t>구분 설정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 smtClean="0">
                <a:sym typeface="Wingdings" panose="05000000000000000000" pitchFamily="2" charset="2"/>
              </a:rPr>
              <a:t>드롭 다운으로 각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구분값</a:t>
            </a:r>
            <a:r>
              <a:rPr lang="ko-KR" altLang="en-US" sz="700" dirty="0" smtClean="0">
                <a:sym typeface="Wingdings" panose="05000000000000000000" pitchFamily="2" charset="2"/>
              </a:rPr>
              <a:t> 설정</a:t>
            </a:r>
            <a:r>
              <a:rPr lang="en-US" altLang="ko-KR" sz="700" dirty="0">
                <a:sym typeface="Wingdings" panose="05000000000000000000" pitchFamily="2" charset="2"/>
              </a:rPr>
              <a:t/>
            </a:r>
            <a:br>
              <a:rPr lang="en-US" altLang="ko-KR" sz="700" dirty="0">
                <a:sym typeface="Wingdings" panose="05000000000000000000" pitchFamily="2" charset="2"/>
              </a:rPr>
            </a:br>
            <a:r>
              <a:rPr lang="en-US" altLang="ko-KR" sz="700" dirty="0" smtClean="0">
                <a:sym typeface="Wingdings" panose="05000000000000000000" pitchFamily="2" charset="2"/>
              </a:rPr>
              <a:t>- </a:t>
            </a:r>
            <a:r>
              <a:rPr lang="ko-KR" altLang="en-US" sz="700" dirty="0">
                <a:solidFill>
                  <a:prstClr val="black"/>
                </a:solidFill>
              </a:rPr>
              <a:t>항목 설명 </a:t>
            </a:r>
            <a:r>
              <a:rPr lang="ko-KR" altLang="en-US" sz="700" dirty="0" smtClean="0">
                <a:solidFill>
                  <a:prstClr val="black"/>
                </a:solidFill>
              </a:rPr>
              <a:t>페이지 참고</a:t>
            </a:r>
            <a:endParaRPr lang="en-US" altLang="ko-KR" sz="700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sz="700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sz="700" dirty="0" smtClean="0">
                <a:sym typeface="Wingdings" panose="05000000000000000000" pitchFamily="2" charset="2"/>
              </a:rPr>
              <a:t> 처리</a:t>
            </a:r>
            <a:r>
              <a:rPr lang="en-US" altLang="ko-KR" sz="700" dirty="0" smtClean="0">
                <a:sym typeface="Wingdings" panose="05000000000000000000" pitchFamily="2" charset="2"/>
              </a:rPr>
              <a:t/>
            </a:r>
            <a:br>
              <a:rPr lang="en-US" altLang="ko-KR" sz="700" dirty="0" smtClean="0">
                <a:sym typeface="Wingdings" panose="05000000000000000000" pitchFamily="2" charset="2"/>
              </a:rPr>
            </a:br>
            <a:endParaRPr lang="en-US" altLang="ko-KR" sz="700" dirty="0" smtClean="0">
              <a:sym typeface="Wingdings" panose="05000000000000000000" pitchFamily="2" charset="2"/>
            </a:endParaRPr>
          </a:p>
          <a:p>
            <a:pPr marL="0" indent="0">
              <a:buNone/>
            </a:pPr>
            <a:endParaRPr lang="en-US" altLang="ko-KR" sz="700" dirty="0"/>
          </a:p>
          <a:p>
            <a:pPr marL="228600" indent="-228600">
              <a:buFont typeface="+mj-lt"/>
              <a:buAutoNum type="arabicPeriod"/>
            </a:pPr>
            <a:endParaRPr lang="en-US" altLang="ko-KR" sz="700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>
                <a:latin typeface="+mn-ea"/>
              </a:rPr>
              <a:t>-</a:t>
            </a:r>
            <a:r>
              <a:rPr lang="ko-KR" altLang="en-US" dirty="0" err="1">
                <a:latin typeface="+mn-ea"/>
              </a:rPr>
              <a:t>계약통합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계약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MUI-CT-01-P02</a:t>
            </a:r>
            <a:endParaRPr lang="ko-KR" altLang="en-US" sz="1000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5074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9078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8224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47373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696268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서류요청</a:t>
            </a:r>
            <a:r>
              <a:rPr lang="ko-KR" altLang="en-US" sz="700" dirty="0" smtClean="0">
                <a:latin typeface="+mn-ea"/>
              </a:rPr>
              <a:t> 수신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3571420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3723899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3743846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3954568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3723899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0005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3795734" y="3417355"/>
            <a:ext cx="2712027" cy="728026"/>
            <a:chOff x="3795734" y="1919434"/>
            <a:chExt cx="2712027" cy="728026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1956832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smtClean="0">
                  <a:latin typeface="+mn-ea"/>
                </a:rPr>
                <a:t>구분 설정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26" name="그룹 225"/>
            <p:cNvGrpSpPr/>
            <p:nvPr/>
          </p:nvGrpSpPr>
          <p:grpSpPr>
            <a:xfrm flipV="1">
              <a:off x="6261284" y="2054522"/>
              <a:ext cx="91438" cy="45719"/>
              <a:chOff x="6812560" y="3297172"/>
              <a:chExt cx="94010" cy="47005"/>
            </a:xfrm>
          </p:grpSpPr>
          <p:cxnSp>
            <p:nvCxnSpPr>
              <p:cNvPr id="227" name="직선 연결선 22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8" name="직선 연결선 22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9" name="모서리가 둥근 직사각형 228"/>
            <p:cNvSpPr/>
            <p:nvPr/>
          </p:nvSpPr>
          <p:spPr>
            <a:xfrm>
              <a:off x="4569619" y="2237323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2185197"/>
              <a:ext cx="670770" cy="4524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진행상태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4569619" y="2460260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grpSp>
          <p:nvGrpSpPr>
            <p:cNvPr id="244" name="그룹 243"/>
            <p:cNvGrpSpPr/>
            <p:nvPr/>
          </p:nvGrpSpPr>
          <p:grpSpPr>
            <a:xfrm>
              <a:off x="6261284" y="2538745"/>
              <a:ext cx="91438" cy="45719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7" name="그룹 246"/>
            <p:cNvGrpSpPr/>
            <p:nvPr/>
          </p:nvGrpSpPr>
          <p:grpSpPr>
            <a:xfrm>
              <a:off x="6261284" y="2308063"/>
              <a:ext cx="91438" cy="45719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91943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3517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0461" y="1977748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업무구분</a:t>
            </a:r>
            <a:r>
              <a:rPr lang="ko-KR" altLang="en-US" sz="700" b="1" dirty="0">
                <a:latin typeface="+mn-ea"/>
              </a:rPr>
              <a:t>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*</a:t>
            </a:r>
          </a:p>
        </p:txBody>
      </p:sp>
      <p:grpSp>
        <p:nvGrpSpPr>
          <p:cNvPr id="283" name="그룹 282"/>
          <p:cNvGrpSpPr/>
          <p:nvPr/>
        </p:nvGrpSpPr>
        <p:grpSpPr>
          <a:xfrm flipV="1">
            <a:off x="3162895" y="2075438"/>
            <a:ext cx="91438" cy="45719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9" name="TextBox 2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63566" y="2221573"/>
            <a:ext cx="2305144" cy="104291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물품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용역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국외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195658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검색어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일부 입력 가능</a:t>
            </a:r>
            <a:r>
              <a:rPr lang="en-US" altLang="ko-KR" sz="700" b="1" dirty="0" smtClean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6266056" y="2054271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4" name="모서리가 둥근 직사각형 203"/>
          <p:cNvSpPr/>
          <p:nvPr/>
        </p:nvSpPr>
        <p:spPr>
          <a:xfrm>
            <a:off x="4574391" y="223707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계약건명을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2193572"/>
            <a:ext cx="670770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08" name="모서리가 둥근 직사각형 207"/>
          <p:cNvSpPr/>
          <p:nvPr/>
        </p:nvSpPr>
        <p:spPr>
          <a:xfrm>
            <a:off x="4574391" y="2686266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발주기관을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66" name="모서리가 둥근 직사각형 265"/>
          <p:cNvSpPr/>
          <p:nvPr/>
        </p:nvSpPr>
        <p:spPr>
          <a:xfrm>
            <a:off x="4574391" y="246362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grpSp>
        <p:nvGrpSpPr>
          <p:cNvPr id="141" name="그룹 140"/>
          <p:cNvGrpSpPr/>
          <p:nvPr/>
        </p:nvGrpSpPr>
        <p:grpSpPr>
          <a:xfrm rot="16200000">
            <a:off x="6266058" y="2757006"/>
            <a:ext cx="91438" cy="45719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222174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249805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4269752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4480474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249805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grpSp>
        <p:nvGrpSpPr>
          <p:cNvPr id="169" name="그룹 168"/>
          <p:cNvGrpSpPr/>
          <p:nvPr/>
        </p:nvGrpSpPr>
        <p:grpSpPr>
          <a:xfrm>
            <a:off x="772169" y="2297325"/>
            <a:ext cx="107950" cy="963362"/>
            <a:chOff x="772169" y="2297325"/>
            <a:chExt cx="107950" cy="963362"/>
          </a:xfrm>
        </p:grpSpPr>
        <p:sp>
          <p:nvSpPr>
            <p:cNvPr id="170" name="직사각형 169"/>
            <p:cNvSpPr/>
            <p:nvPr/>
          </p:nvSpPr>
          <p:spPr>
            <a:xfrm>
              <a:off x="772169" y="2297325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772169" y="251455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4" name="직사각형 173"/>
            <p:cNvSpPr/>
            <p:nvPr/>
          </p:nvSpPr>
          <p:spPr>
            <a:xfrm>
              <a:off x="772169" y="2711641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772169" y="2926302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5" name="직사각형 184"/>
            <p:cNvSpPr/>
            <p:nvPr/>
          </p:nvSpPr>
          <p:spPr>
            <a:xfrm>
              <a:off x="772169" y="315273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7" name="TextBox 176"/>
          <p:cNvSpPr txBox="1"/>
          <p:nvPr/>
        </p:nvSpPr>
        <p:spPr>
          <a:xfrm>
            <a:off x="712771" y="2469709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51" name="직사각형 150"/>
          <p:cNvSpPr/>
          <p:nvPr/>
        </p:nvSpPr>
        <p:spPr>
          <a:xfrm>
            <a:off x="7100725" y="6106561"/>
            <a:ext cx="229040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/>
              <a:t>260617 -  </a:t>
            </a:r>
            <a:r>
              <a:rPr lang="ko-KR" altLang="en-US" sz="500" dirty="0"/>
              <a:t>전체 특이사항 내용 </a:t>
            </a:r>
            <a:r>
              <a:rPr lang="ko-KR" altLang="en-US" sz="500" dirty="0" smtClean="0"/>
              <a:t>수정</a:t>
            </a:r>
            <a:r>
              <a:rPr lang="en-US" altLang="ko-KR" sz="500" dirty="0" smtClean="0"/>
              <a:t>4-1~3 </a:t>
            </a:r>
            <a:r>
              <a:rPr lang="ko-KR" altLang="en-US" sz="500" dirty="0" smtClean="0"/>
              <a:t>추가</a:t>
            </a:r>
            <a:endParaRPr lang="en-US" altLang="ko-KR" sz="500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36438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3-1</a:t>
            </a:r>
            <a:endParaRPr lang="ko-KR" altLang="en-US" sz="500" b="1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19722" y="36438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3-2</a:t>
            </a:r>
            <a:endParaRPr lang="ko-KR" altLang="en-US" sz="5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1392" y="151997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70821" y="15232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8364" y="39109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3-3</a:t>
            </a:r>
            <a:endParaRPr lang="ko-KR" altLang="en-US" sz="500" b="1" dirty="0"/>
          </a:p>
        </p:txBody>
      </p:sp>
      <p:grpSp>
        <p:nvGrpSpPr>
          <p:cNvPr id="167" name="그룹 16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8" name="직사각형 16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71" name="직사각형 1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PC</a:t>
              </a:r>
              <a:r>
                <a:rPr lang="ko-KR" altLang="en-US" sz="700" dirty="0" smtClean="0"/>
                <a:t>화면과 일치 수정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검색유형</a:t>
              </a:r>
              <a:r>
                <a:rPr lang="ko-KR" altLang="en-US" sz="700" dirty="0" smtClean="0"/>
                <a:t> 구분 삭제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검색어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구분 설정 일부 삭제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팝업 시트 검색 추가</a:t>
              </a:r>
              <a:endParaRPr lang="ko-KR" altLang="en-US" sz="700" dirty="0"/>
            </a:p>
          </p:txBody>
        </p:sp>
      </p:grpSp>
      <p:grpSp>
        <p:nvGrpSpPr>
          <p:cNvPr id="186" name="그룹 185"/>
          <p:cNvGrpSpPr/>
          <p:nvPr/>
        </p:nvGrpSpPr>
        <p:grpSpPr>
          <a:xfrm rot="16200000">
            <a:off x="6266061" y="2529699"/>
            <a:ext cx="91438" cy="45719"/>
            <a:chOff x="6812560" y="3297172"/>
            <a:chExt cx="94010" cy="47005"/>
          </a:xfrm>
        </p:grpSpPr>
        <p:cxnSp>
          <p:nvCxnSpPr>
            <p:cNvPr id="187" name="직선 연결선 18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8" name="직선 연결선 18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2" name="직사각형 191"/>
          <p:cNvSpPr/>
          <p:nvPr/>
        </p:nvSpPr>
        <p:spPr>
          <a:xfrm>
            <a:off x="7100725" y="5852989"/>
            <a:ext cx="2290404" cy="21991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260714 </a:t>
            </a:r>
            <a:r>
              <a:rPr lang="en-US" altLang="ko-KR" sz="500" dirty="0"/>
              <a:t>-  </a:t>
            </a:r>
            <a:r>
              <a:rPr lang="en-US" altLang="ko-KR" sz="500" dirty="0" smtClean="0"/>
              <a:t>AS-IS </a:t>
            </a:r>
            <a:r>
              <a:rPr lang="ko-KR" altLang="en-US" sz="500" dirty="0" smtClean="0"/>
              <a:t>화면에서는 검색 </a:t>
            </a:r>
            <a:r>
              <a:rPr lang="ko-KR" altLang="en-US" sz="500" dirty="0" err="1" smtClean="0"/>
              <a:t>계약건명이</a:t>
            </a:r>
            <a:r>
              <a:rPr lang="ko-KR" altLang="en-US" sz="500" dirty="0" smtClean="0"/>
              <a:t> 존재하여 유지함</a:t>
            </a:r>
            <a:r>
              <a:rPr lang="en-US" altLang="ko-KR" sz="500" dirty="0" smtClean="0"/>
              <a:t>.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28711815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0123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/>
              <a:t>계약통합목록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346885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2111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dcMntDmndRcptnDt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 수신일자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79098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42407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 진행 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통합사업관리시스템과 부대조달정보체계의 진행상태 코드 값 별도 처리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‘UA22’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‘UB57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49496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457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3448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발주기관을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mdfcnCtrtDmndrcofc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수정계약요청수신 여부를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688810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자료 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taskSecd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업무구분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9349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계약번호차수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계약번호차수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7B2A1CC-269C-839D-D48A-3A2600ABC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6201723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계약통합목록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addCn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elsgnVl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813472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2533692"/>
              </p:ext>
            </p:extLst>
          </p:nvPr>
        </p:nvGraphicFramePr>
        <p:xfrm>
          <a:off x="453000" y="1037328"/>
          <a:ext cx="8995591" cy="3673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서류요청 수신일자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하도급계약목록을 조회조건에 맞게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886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계약번호 선택 팝업화면이 호출되고 계약번호를 선택하면 조회조건에 선택한 계약번호가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MUI-EX-02-P79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계약번호조회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678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발주기관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scwin.btn_orderInst_onclick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선택 팝업화면이 호출되고 발주기관을 선택 하면 조회조건에 선택한 발주기관이 설정된다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MUI-BD-01-P04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발주부서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기관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803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카드 목록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scwin.grd_ctrtNo_ctrtList_onclick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업무구분과 진행상태에 따라 계약에 해당하는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내역 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- </a:t>
                      </a:r>
                      <a:r>
                        <a:rPr lang="ko-KR" altLang="en-US" sz="800" dirty="0"/>
                        <a:t>서류요청</a:t>
                      </a:r>
                      <a:r>
                        <a:rPr lang="en-US" altLang="ko-KR" sz="800" dirty="0"/>
                        <a:t>, </a:t>
                      </a:r>
                      <a:r>
                        <a:rPr lang="ko-KR" altLang="en-US" sz="800" dirty="0"/>
                        <a:t>계약체결의뢰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 smtClean="0"/>
                        <a:t>(MUI-CT-01-M03) </a:t>
                      </a:r>
                      <a:r>
                        <a:rPr lang="ko-KR" altLang="en-US" sz="800" dirty="0" smtClean="0"/>
                        <a:t>물품 </a:t>
                      </a:r>
                      <a:r>
                        <a:rPr lang="ko-KR" altLang="en-US" sz="800" dirty="0" err="1" smtClean="0"/>
                        <a:t>전자계약</a:t>
                      </a:r>
                      <a:r>
                        <a:rPr lang="ko-KR" altLang="en-US" sz="800" dirty="0" smtClean="0"/>
                        <a:t>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</a:t>
                      </a:r>
                      <a:r>
                        <a:rPr lang="en-US" altLang="ko-KR" sz="800" dirty="0" smtClean="0"/>
                        <a:t>(MUI-CT-01-M09) </a:t>
                      </a:r>
                      <a:r>
                        <a:rPr lang="ko-KR" altLang="en-US" sz="800" dirty="0" smtClean="0"/>
                        <a:t>공사 </a:t>
                      </a:r>
                      <a:r>
                        <a:rPr lang="ko-KR" altLang="en-US" sz="800" dirty="0"/>
                        <a:t>전자계약 진행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(UI-CT-01-M72</a:t>
                      </a:r>
                      <a:r>
                        <a:rPr lang="en-US" altLang="ko-KR" sz="800" dirty="0" smtClean="0"/>
                        <a:t>) </a:t>
                      </a:r>
                      <a:r>
                        <a:rPr lang="ko-KR" altLang="en-US" sz="800" dirty="0" err="1" smtClean="0"/>
                        <a:t>국외전자계약진행상세</a:t>
                      </a:r>
                      <a:endParaRPr lang="en-US" altLang="ko-KR" sz="800" dirty="0"/>
                    </a:p>
                    <a:p>
                      <a:endParaRPr lang="en-US" altLang="ko-KR" sz="800" dirty="0"/>
                    </a:p>
                    <a:p>
                      <a:r>
                        <a:rPr lang="en-US" altLang="ko-KR" sz="800" dirty="0" smtClean="0"/>
                        <a:t>- </a:t>
                      </a:r>
                      <a:r>
                        <a:rPr lang="ko-KR" altLang="en-US" sz="800" dirty="0"/>
                        <a:t>계약 확정 상태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:</a:t>
                      </a:r>
                      <a:r>
                        <a:rPr lang="ko-KR" altLang="en-US" sz="800" dirty="0"/>
                        <a:t> </a:t>
                      </a:r>
                      <a:r>
                        <a:rPr lang="en-US" altLang="ko-KR" sz="800" dirty="0" smtClean="0"/>
                        <a:t>(MUI-CT-01-M04) </a:t>
                      </a:r>
                      <a:r>
                        <a:rPr lang="ko-KR" altLang="en-US" sz="800" dirty="0" smtClean="0"/>
                        <a:t>물품 전자계약확정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물품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수정有</a:t>
                      </a:r>
                      <a:r>
                        <a:rPr lang="en-US" altLang="ko-KR" sz="800" dirty="0"/>
                        <a:t>): </a:t>
                      </a:r>
                      <a:r>
                        <a:rPr lang="en-US" altLang="ko-KR" sz="800" dirty="0" smtClean="0"/>
                        <a:t>(MUI-CT-01-M06) </a:t>
                      </a:r>
                      <a:r>
                        <a:rPr lang="ko-KR" altLang="en-US" sz="800" dirty="0" smtClean="0"/>
                        <a:t>물품 </a:t>
                      </a:r>
                      <a:r>
                        <a:rPr lang="ko-KR" altLang="en-US" sz="800" dirty="0"/>
                        <a:t>수정 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/>
                        <a:t>    .</a:t>
                      </a:r>
                      <a:r>
                        <a:rPr lang="ko-KR" altLang="en-US" sz="800" dirty="0"/>
                        <a:t>공사</a:t>
                      </a:r>
                      <a:r>
                        <a:rPr lang="en-US" altLang="ko-KR" sz="800" dirty="0"/>
                        <a:t>: </a:t>
                      </a:r>
                      <a:r>
                        <a:rPr lang="en-US" altLang="ko-KR" sz="800" dirty="0" smtClean="0"/>
                        <a:t>(MUI-CT-01-M10) </a:t>
                      </a:r>
                      <a:r>
                        <a:rPr lang="ko-KR" altLang="en-US" sz="800" dirty="0" smtClean="0"/>
                        <a:t>공사 </a:t>
                      </a:r>
                      <a:r>
                        <a:rPr lang="ko-KR" altLang="en-US" sz="800" dirty="0"/>
                        <a:t>계약서 상세</a:t>
                      </a:r>
                      <a:endParaRPr lang="en-US" altLang="ko-KR" sz="800" dirty="0"/>
                    </a:p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800" dirty="0"/>
                        <a:t>.</a:t>
                      </a:r>
                      <a:r>
                        <a:rPr lang="ko-KR" altLang="en-US" sz="800" dirty="0"/>
                        <a:t>국외</a:t>
                      </a:r>
                      <a:r>
                        <a:rPr lang="en-US" altLang="ko-KR" sz="800" dirty="0"/>
                        <a:t>: (UI-CT-01-M81</a:t>
                      </a:r>
                      <a:r>
                        <a:rPr lang="en-US" altLang="ko-KR" sz="800" dirty="0" smtClean="0"/>
                        <a:t>) </a:t>
                      </a:r>
                      <a:r>
                        <a:rPr lang="ko-KR" altLang="en-US" sz="800" dirty="0" err="1" smtClean="0"/>
                        <a:t>국외전자계약확정상세</a:t>
                      </a:r>
                      <a:endParaRPr lang="en-US" altLang="ko-KR" sz="800" dirty="0" smtClean="0"/>
                    </a:p>
                    <a:p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타 계약서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    . MUI-CT-01-M05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물품일반계약서상세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    .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MUI-CT-01-M07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물품총액계약서상세</a:t>
                      </a:r>
                      <a:endParaRPr lang="en-US" altLang="ko-KR" sz="800" dirty="0" smtClean="0"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    . MUI-CT-01-M08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물품단가계약서상세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933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scwin.grd_prgrsStts_ctrtList_onclick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계약번호에 해당하는 계약체결 진행상태 이력 팝업화면이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(UI-CT-01-P17)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계약진행상태조회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(UI-CT-01-P71)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계약진행상태별조회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8735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2109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93EC4AE5-D69A-364F-5367-88A0A8286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604142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650" dirty="0" smtClean="0"/>
              <a:t>타이틀 영역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1-1] </a:t>
            </a:r>
            <a:r>
              <a:rPr lang="ko-KR" altLang="en-US" sz="650" dirty="0"/>
              <a:t>레이블이 </a:t>
            </a:r>
            <a:r>
              <a:rPr lang="ko-KR" altLang="en-US" sz="650" dirty="0" smtClean="0"/>
              <a:t>화면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화면 넘치는 </a:t>
            </a:r>
            <a:r>
              <a:rPr lang="ko-KR" altLang="en-US" sz="650" dirty="0"/>
              <a:t>경우 드래그하여 확인 가능 </a:t>
            </a:r>
            <a:r>
              <a:rPr lang="en-US" altLang="ko-KR" sz="650" dirty="0"/>
              <a:t>(</a:t>
            </a:r>
            <a:r>
              <a:rPr lang="ko-KR" altLang="en-US" sz="650" dirty="0" err="1"/>
              <a:t>스와이프기능</a:t>
            </a:r>
            <a:r>
              <a:rPr lang="ko-KR" altLang="en-US" sz="650" dirty="0"/>
              <a:t> 반영 필요</a:t>
            </a:r>
            <a:r>
              <a:rPr lang="en-US" altLang="ko-KR" sz="650" dirty="0" smtClean="0"/>
              <a:t>)</a:t>
            </a:r>
            <a:br>
              <a:rPr lang="en-US" altLang="ko-KR" sz="650" dirty="0" smtClean="0"/>
            </a:br>
            <a:r>
              <a:rPr lang="en-US" altLang="ko-KR" sz="650" dirty="0" smtClean="0"/>
              <a:t>1-2] </a:t>
            </a:r>
            <a:r>
              <a:rPr lang="ko-KR" altLang="en-US" sz="650" dirty="0" smtClean="0"/>
              <a:t>문서 정보 영역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/>
              <a:t>- </a:t>
            </a:r>
            <a:r>
              <a:rPr lang="ko-KR" altLang="en-US" sz="650" dirty="0" err="1"/>
              <a:t>판단번호</a:t>
            </a:r>
            <a:r>
              <a:rPr lang="ko-KR" altLang="en-US" sz="650" dirty="0"/>
              <a:t> </a:t>
            </a:r>
            <a:r>
              <a:rPr lang="en-US" altLang="ko-KR" sz="650" dirty="0"/>
              <a:t>,  </a:t>
            </a:r>
            <a:r>
              <a:rPr lang="ko-KR" altLang="en-US" sz="650" dirty="0" err="1"/>
              <a:t>계약번호</a:t>
            </a:r>
            <a:r>
              <a:rPr lang="ko-KR" altLang="en-US" sz="650" dirty="0"/>
              <a:t> 노출 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/>
              <a:t>- </a:t>
            </a:r>
            <a:r>
              <a:rPr lang="ko-KR" altLang="en-US" sz="650" dirty="0" err="1"/>
              <a:t>판단번호</a:t>
            </a:r>
            <a:r>
              <a:rPr lang="ko-KR" altLang="en-US" sz="650" dirty="0"/>
              <a:t> </a:t>
            </a:r>
            <a:r>
              <a:rPr lang="ko-KR" altLang="en-US" sz="650" dirty="0" err="1"/>
              <a:t>전체노출</a:t>
            </a:r>
            <a:r>
              <a:rPr lang="ko-KR" altLang="en-US" sz="650" dirty="0"/>
              <a:t> </a:t>
            </a:r>
            <a:r>
              <a:rPr lang="en-US" altLang="ko-KR" sz="650" dirty="0"/>
              <a:t>/ </a:t>
            </a:r>
            <a:r>
              <a:rPr lang="ko-KR" altLang="en-US" sz="650" dirty="0" err="1"/>
              <a:t>계약번호</a:t>
            </a:r>
            <a:r>
              <a:rPr lang="ko-KR" altLang="en-US" sz="650" dirty="0"/>
              <a:t> </a:t>
            </a:r>
            <a:r>
              <a:rPr lang="ko-KR" altLang="en-US" sz="650" dirty="0" err="1"/>
              <a:t>노출시</a:t>
            </a:r>
            <a:r>
              <a:rPr lang="ko-KR" altLang="en-US" sz="650" dirty="0"/>
              <a:t> 해당 라인을 넘어가면 </a:t>
            </a:r>
            <a:r>
              <a:rPr lang="en-US" altLang="ko-KR" sz="650" dirty="0"/>
              <a:t>(…) </a:t>
            </a:r>
            <a:r>
              <a:rPr lang="ko-KR" altLang="en-US" sz="650" dirty="0" err="1"/>
              <a:t>말줄임</a:t>
            </a:r>
            <a:r>
              <a:rPr lang="ko-KR" altLang="en-US" sz="650" dirty="0"/>
              <a:t> </a:t>
            </a:r>
            <a:r>
              <a:rPr lang="ko-KR" altLang="en-US" sz="650" dirty="0" smtClean="0"/>
              <a:t>표시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1-3] </a:t>
            </a:r>
            <a:r>
              <a:rPr lang="ko-KR" altLang="en-US" sz="650" dirty="0"/>
              <a:t>문서 제목 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/>
              <a:t>- </a:t>
            </a:r>
            <a:r>
              <a:rPr lang="ko-KR" altLang="en-US" sz="650" dirty="0"/>
              <a:t>제목은 </a:t>
            </a:r>
            <a:r>
              <a:rPr lang="en-US" altLang="ko-KR" sz="650" dirty="0"/>
              <a:t>2</a:t>
            </a:r>
            <a:r>
              <a:rPr lang="ko-KR" altLang="en-US" sz="650" dirty="0"/>
              <a:t>줄 까지 노출 이후</a:t>
            </a:r>
            <a:r>
              <a:rPr lang="en-US" altLang="ko-KR" sz="650" dirty="0"/>
              <a:t>(…) </a:t>
            </a:r>
            <a:r>
              <a:rPr lang="ko-KR" altLang="en-US" sz="650" dirty="0" err="1"/>
              <a:t>말줄임</a:t>
            </a:r>
            <a:r>
              <a:rPr lang="ko-KR" altLang="en-US" sz="650" dirty="0"/>
              <a:t> </a:t>
            </a:r>
            <a:r>
              <a:rPr lang="ko-KR" altLang="en-US" sz="650" dirty="0" smtClean="0"/>
              <a:t>표시</a:t>
            </a:r>
            <a:endParaRPr lang="en-US" altLang="ko-KR" sz="65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50" dirty="0" err="1" smtClean="0"/>
              <a:t>업무도움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기본값 </a:t>
            </a:r>
            <a:r>
              <a:rPr lang="en-US" altLang="ko-KR" sz="650" dirty="0" smtClean="0"/>
              <a:t>: </a:t>
            </a:r>
            <a:r>
              <a:rPr lang="ko-KR" altLang="en-US" sz="650" dirty="0"/>
              <a:t>접힘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/>
              <a:t>- </a:t>
            </a:r>
            <a:r>
              <a:rPr lang="ko-KR" altLang="en-US" sz="650" dirty="0" err="1" smtClean="0"/>
              <a:t>클릭시</a:t>
            </a:r>
            <a:r>
              <a:rPr lang="ko-KR" altLang="en-US" sz="650" dirty="0" smtClean="0"/>
              <a:t> </a:t>
            </a:r>
            <a:r>
              <a:rPr lang="ko-KR" altLang="en-US" sz="650" dirty="0"/>
              <a:t>확장하여 정보 표시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 smtClean="0"/>
              <a:t>-</a:t>
            </a:r>
            <a:r>
              <a:rPr lang="ko-KR" altLang="en-US" sz="650" dirty="0" err="1" smtClean="0"/>
              <a:t>업무도움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 smtClean="0"/>
              <a:t>&gt; </a:t>
            </a:r>
            <a:r>
              <a:rPr lang="ko-KR" altLang="en-US" sz="650" dirty="0"/>
              <a:t>내역이 있는 경우 </a:t>
            </a:r>
            <a:r>
              <a:rPr lang="ko-KR" altLang="en-US" sz="650" dirty="0" smtClean="0"/>
              <a:t>만 표시</a:t>
            </a:r>
            <a:endParaRPr lang="en-US" altLang="ko-KR" sz="65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50" dirty="0" smtClean="0"/>
              <a:t>탭 영역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/>
              <a:t>- </a:t>
            </a:r>
            <a:r>
              <a:rPr lang="ko-KR" altLang="en-US" sz="650" dirty="0"/>
              <a:t>상세내용 </a:t>
            </a:r>
            <a:r>
              <a:rPr lang="en-US" altLang="ko-KR" sz="650" dirty="0"/>
              <a:t>Tab</a:t>
            </a:r>
            <a:r>
              <a:rPr lang="ko-KR" altLang="en-US" sz="650" dirty="0"/>
              <a:t>은 진입 시 고정 노출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탭 내용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ko-KR" altLang="en-US" sz="650" dirty="0" smtClean="0"/>
              <a:t>상세정보</a:t>
            </a:r>
            <a:r>
              <a:rPr lang="en-US" altLang="ko-KR" sz="650" dirty="0" smtClean="0"/>
              <a:t>, </a:t>
            </a:r>
            <a:r>
              <a:rPr lang="ko-KR" altLang="en-US" sz="650" dirty="0" smtClean="0"/>
              <a:t>계약업체</a:t>
            </a:r>
            <a:r>
              <a:rPr lang="en-US" altLang="ko-KR" sz="650" dirty="0" smtClean="0"/>
              <a:t>, </a:t>
            </a:r>
            <a:r>
              <a:rPr lang="ko-KR" altLang="en-US" sz="650" dirty="0" smtClean="0"/>
              <a:t>반송</a:t>
            </a:r>
            <a:r>
              <a:rPr lang="en-US" altLang="ko-KR" sz="650" dirty="0" smtClean="0"/>
              <a:t>/</a:t>
            </a:r>
            <a:r>
              <a:rPr lang="ko-KR" altLang="en-US" sz="650" dirty="0" err="1" smtClean="0"/>
              <a:t>취소사유</a:t>
            </a:r>
            <a:r>
              <a:rPr lang="en-US" altLang="ko-KR" sz="650" dirty="0" smtClean="0"/>
              <a:t>, </a:t>
            </a:r>
            <a:r>
              <a:rPr lang="ko-KR" altLang="en-US" sz="650" dirty="0" smtClean="0"/>
              <a:t>첨부서류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/>
              <a:t>&gt; </a:t>
            </a:r>
            <a:r>
              <a:rPr lang="ko-KR" altLang="en-US" sz="650" dirty="0"/>
              <a:t>로그인 필요 서비스 안내 표시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화면을 </a:t>
            </a:r>
            <a:r>
              <a:rPr lang="ko-KR" altLang="en-US" sz="650" dirty="0" err="1" smtClean="0"/>
              <a:t>넘치는경우</a:t>
            </a:r>
            <a:r>
              <a:rPr lang="ko-KR" altLang="en-US" sz="650" dirty="0" smtClean="0"/>
              <a:t> 드래그하여 확인</a:t>
            </a:r>
            <a:r>
              <a:rPr lang="en-US" altLang="ko-KR" sz="650" dirty="0" smtClean="0"/>
              <a:t>(</a:t>
            </a:r>
            <a:r>
              <a:rPr lang="ko-KR" altLang="en-US" sz="650" dirty="0" err="1" smtClean="0"/>
              <a:t>스와이프기능</a:t>
            </a:r>
            <a:r>
              <a:rPr lang="ko-KR" altLang="en-US" sz="650" dirty="0" smtClean="0"/>
              <a:t> 반영 필요</a:t>
            </a:r>
            <a:r>
              <a:rPr lang="en-US" altLang="ko-KR" sz="65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650" dirty="0" smtClean="0"/>
              <a:t>계약 상세 정보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각 공고에 맞춰 폼 변화에 유의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 smtClean="0"/>
              <a:t>- </a:t>
            </a:r>
            <a:r>
              <a:rPr lang="ko-KR" altLang="en-US" sz="650" dirty="0" err="1" smtClean="0"/>
              <a:t>상세내용에</a:t>
            </a:r>
            <a:r>
              <a:rPr lang="ko-KR" altLang="en-US" sz="650" dirty="0" smtClean="0"/>
              <a:t> </a:t>
            </a:r>
            <a:r>
              <a:rPr lang="ko-KR" altLang="en-US" sz="650" dirty="0"/>
              <a:t>포함된 정보 </a:t>
            </a:r>
            <a:r>
              <a:rPr lang="ko-KR" altLang="en-US" sz="650" dirty="0" smtClean="0"/>
              <a:t>표시</a:t>
            </a:r>
            <a:endParaRPr lang="en-US" altLang="ko-KR" sz="65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50" dirty="0" smtClean="0"/>
              <a:t>기본값은 상단 이동 버튼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ko-KR" altLang="en-US" sz="650" dirty="0" smtClean="0"/>
              <a:t>현 상세내용 탭에서는 </a:t>
            </a:r>
            <a:endParaRPr lang="en-US" altLang="ko-KR" sz="65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650" dirty="0" smtClean="0"/>
              <a:t>+</a:t>
            </a:r>
            <a:r>
              <a:rPr lang="ko-KR" altLang="en-US" sz="650" dirty="0" smtClean="0"/>
              <a:t>버튼</a:t>
            </a:r>
            <a:r>
              <a:rPr lang="en-US" altLang="ko-KR" sz="650" dirty="0" smtClean="0"/>
              <a:t/>
            </a:r>
            <a:br>
              <a:rPr lang="en-US" altLang="ko-KR" sz="650" dirty="0" smtClean="0"/>
            </a:br>
            <a:r>
              <a:rPr lang="en-US" altLang="ko-KR" sz="650" dirty="0" smtClean="0"/>
              <a:t>- </a:t>
            </a:r>
            <a:r>
              <a:rPr lang="ko-KR" altLang="en-US" sz="650" dirty="0" smtClean="0"/>
              <a:t>해당 페이지에서 호출되는 이벤트 목록 표시</a:t>
            </a:r>
            <a:r>
              <a:rPr lang="en-US" altLang="ko-KR" sz="650" dirty="0" smtClean="0"/>
              <a:t> (</a:t>
            </a:r>
            <a:r>
              <a:rPr lang="ko-KR" altLang="en-US" sz="650" dirty="0" smtClean="0"/>
              <a:t>항목설명페이지 참고</a:t>
            </a:r>
            <a:r>
              <a:rPr lang="en-US" altLang="ko-KR" sz="65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650" dirty="0"/>
              <a:t>출력이 있는 계약인 경우</a:t>
            </a:r>
            <a:r>
              <a:rPr lang="en-US" altLang="ko-KR" sz="650" dirty="0"/>
              <a:t/>
            </a:r>
            <a:br>
              <a:rPr lang="en-US" altLang="ko-KR" sz="650" dirty="0"/>
            </a:br>
            <a:r>
              <a:rPr lang="en-US" altLang="ko-KR" sz="650" dirty="0"/>
              <a:t>- </a:t>
            </a:r>
            <a:r>
              <a:rPr lang="en-US" altLang="ko-KR" sz="650" dirty="0">
                <a:latin typeface="+mn-ea"/>
              </a:rPr>
              <a:t>(UI-CT-01-R37) </a:t>
            </a:r>
            <a:r>
              <a:rPr lang="ko-KR" altLang="en-US" sz="650" dirty="0">
                <a:latin typeface="+mn-ea"/>
              </a:rPr>
              <a:t>리스계약서출력물</a:t>
            </a:r>
            <a:r>
              <a:rPr lang="en-US" altLang="ko-KR" sz="650" dirty="0">
                <a:latin typeface="+mn-ea"/>
              </a:rPr>
              <a:t>,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(UI-CT-01-R38) </a:t>
            </a:r>
            <a:r>
              <a:rPr lang="ko-KR" altLang="en-US" sz="650" dirty="0">
                <a:latin typeface="+mn-ea"/>
              </a:rPr>
              <a:t>무상대여계약서출력물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(UI-CT-01-R39)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(UI-CT-01-R40)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1)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50" dirty="0">
                <a:latin typeface="+mn-ea"/>
              </a:rPr>
              <a:t>,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(UI-CT-01-R41)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4_G)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(UI-CT-01-R42)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5)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</a:t>
            </a:r>
            <a:r>
              <a:rPr lang="ko-KR" altLang="en-US" sz="650" dirty="0" err="1">
                <a:latin typeface="+mn-ea"/>
              </a:rPr>
              <a:t>ㅌ</a:t>
            </a:r>
            <a:r>
              <a:rPr lang="ko-KR" altLang="en-US" sz="650" dirty="0">
                <a:latin typeface="+mn-ea"/>
              </a:rPr>
              <a:t> </a:t>
            </a:r>
            <a:r>
              <a:rPr lang="en-US" altLang="ko-KR" sz="650" dirty="0">
                <a:latin typeface="+mn-ea"/>
              </a:rPr>
              <a:t>I-CT-01-R43)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물품수정계약서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(UI-CT-01-R44)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물품제조계약서출력물</a:t>
            </a:r>
            <a:r>
              <a:rPr lang="en-US" altLang="ko-KR" sz="650" dirty="0">
                <a:latin typeface="+mn-ea"/>
              </a:rPr>
              <a:t>, </a:t>
            </a:r>
            <a:br>
              <a:rPr lang="en-US" altLang="ko-KR" sz="650" dirty="0">
                <a:latin typeface="+mn-ea"/>
              </a:rPr>
            </a:br>
            <a:r>
              <a:rPr lang="en-US" altLang="ko-KR" sz="650" dirty="0">
                <a:latin typeface="+mn-ea"/>
              </a:rPr>
              <a:t>(UI-CT-01-R45)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물품제조구매계약서출력물</a:t>
            </a:r>
            <a:r>
              <a:rPr lang="en-US" altLang="ko-KR" sz="650" dirty="0">
                <a:latin typeface="+mn-ea"/>
              </a:rPr>
              <a:t>, (UI-CT-01-R46)</a:t>
            </a:r>
            <a:r>
              <a:rPr lang="ko-KR" altLang="en-US" sz="65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65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물품제조설치계약서출력물</a:t>
            </a:r>
            <a:endParaRPr lang="ko-KR" altLang="en-US" sz="650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sz="650" dirty="0"/>
          </a:p>
          <a:p>
            <a:pPr marL="228600" indent="-228600">
              <a:buFont typeface="+mj-lt"/>
              <a:buAutoNum type="arabicPeriod"/>
            </a:pPr>
            <a:endParaRPr lang="en-US" altLang="ko-KR" sz="650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물품전자계약진행상세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/>
              <a:t>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계약서 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206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04074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167" name="평행 사변형 166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04074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20681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65951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1846937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2480267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9047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2200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35337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05272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052723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17572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29426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294269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 사유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04074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04074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grpSp>
        <p:nvGrpSpPr>
          <p:cNvPr id="155" name="그룹 15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9" name="TextBox 168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7328" y="56881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53" name="직사각형 152"/>
          <p:cNvSpPr/>
          <p:nvPr/>
        </p:nvSpPr>
        <p:spPr>
          <a:xfrm>
            <a:off x="7066443" y="6170803"/>
            <a:ext cx="2337127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/>
              <a:t>전체 특이사항 내용 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158246412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 데이터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1-1</a:t>
            </a:r>
            <a:r>
              <a:rPr lang="en-US" altLang="ko-KR" dirty="0"/>
              <a:t>] </a:t>
            </a:r>
            <a:r>
              <a:rPr lang="ko-KR" altLang="en-US" dirty="0" err="1"/>
              <a:t>계약일자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1-2</a:t>
            </a:r>
            <a:r>
              <a:rPr lang="en-US" altLang="ko-KR" dirty="0"/>
              <a:t>] </a:t>
            </a:r>
            <a:r>
              <a:rPr lang="ko-KR" altLang="en-US" dirty="0"/>
              <a:t>계약시작일자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1-3</a:t>
            </a:r>
            <a:r>
              <a:rPr lang="en-US" altLang="ko-KR" dirty="0"/>
              <a:t>] </a:t>
            </a:r>
            <a:r>
              <a:rPr lang="ko-KR" altLang="en-US" dirty="0"/>
              <a:t>계약종료일자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물품 계약 경우만 </a:t>
            </a:r>
            <a:r>
              <a:rPr lang="ko-KR" altLang="en-US" dirty="0" smtClean="0"/>
              <a:t>표시 항목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2-2] </a:t>
            </a:r>
            <a:r>
              <a:rPr lang="ko-KR" altLang="en-US" dirty="0" smtClean="0"/>
              <a:t>납품시작일자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2-2] </a:t>
            </a:r>
            <a:r>
              <a:rPr lang="ko-KR" altLang="en-US" dirty="0" smtClean="0"/>
              <a:t>납품종료일자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일반용역계약인 경우 표시 항목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대여계약서</a:t>
            </a:r>
            <a:r>
              <a:rPr lang="ko-KR" altLang="en-US" dirty="0" smtClean="0"/>
              <a:t> </a:t>
            </a:r>
            <a:r>
              <a:rPr lang="ko-KR" altLang="en-US" dirty="0"/>
              <a:t>경우만 표시 </a:t>
            </a:r>
            <a:r>
              <a:rPr lang="ko-KR" altLang="en-US" dirty="0" smtClean="0"/>
              <a:t>항목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대여목적</a:t>
            </a:r>
            <a:r>
              <a:rPr lang="en-US" altLang="ko-KR" dirty="0"/>
              <a:t>, </a:t>
            </a:r>
            <a:r>
              <a:rPr lang="ko-KR" altLang="en-US" dirty="0" err="1"/>
              <a:t>반납장소</a:t>
            </a:r>
            <a:r>
              <a:rPr lang="ko-KR" altLang="en-US" dirty="0"/>
              <a:t>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계약서유형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7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J </a:t>
            </a:r>
            <a:r>
              <a:rPr lang="ko-KR" altLang="en-US" dirty="0"/>
              <a:t>유상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8 </a:t>
            </a:r>
            <a:r>
              <a:rPr lang="ko-KR" altLang="en-US" dirty="0"/>
              <a:t>무상 </a:t>
            </a:r>
            <a:r>
              <a:rPr lang="ko-KR" altLang="en-US" dirty="0" err="1"/>
              <a:t>대여계약서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K </a:t>
            </a:r>
            <a:r>
              <a:rPr lang="ko-KR" altLang="en-US" dirty="0"/>
              <a:t>무상 </a:t>
            </a:r>
            <a:r>
              <a:rPr lang="ko-KR" altLang="en-US" dirty="0" err="1" smtClean="0"/>
              <a:t>대여계약서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리스계약 경우만 </a:t>
            </a:r>
            <a:r>
              <a:rPr lang="ko-KR" altLang="en-US" dirty="0" smtClean="0"/>
              <a:t>표시 항목</a:t>
            </a:r>
            <a:r>
              <a:rPr lang="ko-KR" altLang="en-US" dirty="0"/>
              <a:t/>
            </a:r>
            <a:br>
              <a:rPr lang="ko-KR" altLang="en-US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리스 </a:t>
            </a:r>
            <a:r>
              <a:rPr lang="ko-KR" altLang="en-US" dirty="0"/>
              <a:t>항목 </a:t>
            </a:r>
            <a:r>
              <a:rPr lang="ko-KR" altLang="en-US" dirty="0" err="1"/>
              <a:t>표시조건</a:t>
            </a:r>
            <a:r>
              <a:rPr lang="en-US" altLang="ko-KR" dirty="0"/>
              <a:t>: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계약서유형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5 </a:t>
            </a:r>
            <a:r>
              <a:rPr lang="ko-KR" altLang="en-US" dirty="0" err="1"/>
              <a:t>리스계약서</a:t>
            </a:r>
            <a:r>
              <a:rPr lang="en-US" altLang="ko-KR" dirty="0"/>
              <a:t>, 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H </a:t>
            </a:r>
            <a:r>
              <a:rPr lang="ko-KR" altLang="en-US" dirty="0" err="1"/>
              <a:t>리스계약서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계약품목별</a:t>
            </a:r>
            <a:r>
              <a:rPr lang="ko-KR" altLang="en-US" dirty="0" smtClean="0"/>
              <a:t> </a:t>
            </a:r>
            <a:r>
              <a:rPr lang="ko-KR" altLang="en-US" dirty="0"/>
              <a:t>계약금액 </a:t>
            </a:r>
            <a:r>
              <a:rPr lang="ko-KR" altLang="en-US" dirty="0" smtClean="0"/>
              <a:t>합계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담당자정보</a:t>
            </a:r>
            <a:r>
              <a:rPr lang="ko-KR" altLang="en-US" dirty="0"/>
              <a:t> 데이터 </a:t>
            </a:r>
            <a:r>
              <a:rPr lang="ko-KR" altLang="en-US" dirty="0" smtClean="0"/>
              <a:t>영역 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상세내용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상세내용 </a:t>
            </a:r>
            <a:r>
              <a:rPr lang="ko-KR" altLang="en-US" dirty="0" err="1" smtClean="0"/>
              <a:t>탭화면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15110"/>
            <a:ext cx="2630093" cy="4317189"/>
            <a:chOff x="701175" y="1527996"/>
            <a:chExt cx="2630093" cy="431718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0097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8779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계약서 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위치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대여목적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반납장소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8779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 ~ 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 ~ 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경기도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시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구 </a:t>
              </a: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동 </a:t>
              </a:r>
              <a:r>
                <a:rPr lang="en-US" altLang="ko-KR" sz="700" dirty="0" smtClean="0">
                  <a:latin typeface="+mn-ea"/>
                </a:rPr>
                <a:t>000-00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>
                  <a:latin typeface="+mn-ea"/>
                </a:rPr>
                <a:t>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대여 </a:t>
              </a:r>
              <a:r>
                <a:rPr lang="ko-KR" altLang="en-US" sz="700" dirty="0" err="1" smtClean="0">
                  <a:latin typeface="+mn-ea"/>
                </a:rPr>
                <a:t>목정</a:t>
              </a:r>
              <a:r>
                <a:rPr lang="ko-KR" altLang="en-US" sz="700" dirty="0" smtClean="0">
                  <a:latin typeface="+mn-ea"/>
                </a:rPr>
                <a:t> 정보 표시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경기도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시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구 </a:t>
              </a: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동 </a:t>
              </a:r>
              <a:r>
                <a:rPr lang="en-US" altLang="ko-KR" sz="700" dirty="0" smtClean="0">
                  <a:latin typeface="+mn-ea"/>
                </a:rPr>
                <a:t>000-00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862545"/>
              <a:chOff x="701175" y="1835481"/>
              <a:chExt cx="2630093" cy="386254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853496"/>
            <a:ext cx="792000" cy="129266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853495"/>
            <a:ext cx="89334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리스구분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리스료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지급기준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리스료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리스료</a:t>
            </a:r>
            <a:r>
              <a:rPr lang="ko-KR" altLang="en-US" sz="700" dirty="0" smtClean="0">
                <a:latin typeface="+mn-ea"/>
              </a:rPr>
              <a:t> 기준금액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지출관 연락처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재무관연락처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31880" y="1853495"/>
            <a:ext cx="1619722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리스 구분 정보 표시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지급 기준 정보 </a:t>
            </a:r>
            <a:r>
              <a:rPr lang="ko-KR" altLang="en-US" sz="700" dirty="0" smtClean="0">
                <a:latin typeface="+mn-ea"/>
              </a:rPr>
              <a:t>표시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02-1234-5678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02-2345-6789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853495"/>
            <a:ext cx="2630093" cy="1284819"/>
            <a:chOff x="701175" y="1835481"/>
            <a:chExt cx="2630093" cy="1284819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9055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12030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37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213592"/>
            <a:ext cx="2630093" cy="1777166"/>
            <a:chOff x="3865118" y="2694619"/>
            <a:chExt cx="2630093" cy="1777166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05713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08866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5201992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41937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41937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596951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5542380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660924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660924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655377" y="4789845"/>
            <a:ext cx="2775293" cy="42576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43356" y="49445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10" name="직사각형 109"/>
          <p:cNvSpPr/>
          <p:nvPr/>
        </p:nvSpPr>
        <p:spPr>
          <a:xfrm>
            <a:off x="655377" y="5234856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365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11" name="직사각형 110"/>
          <p:cNvSpPr/>
          <p:nvPr/>
        </p:nvSpPr>
        <p:spPr>
          <a:xfrm>
            <a:off x="655377" y="5680019"/>
            <a:ext cx="2775293" cy="4278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08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5" name="직사각형 114"/>
          <p:cNvSpPr/>
          <p:nvPr/>
        </p:nvSpPr>
        <p:spPr>
          <a:xfrm>
            <a:off x="3766406" y="1861864"/>
            <a:ext cx="2775293" cy="84009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9926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1411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1322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1899" y="43052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10329" y="45560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083425" y="45433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09774" y="48024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082870" y="47898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05" name="직사각형 104"/>
          <p:cNvSpPr/>
          <p:nvPr/>
        </p:nvSpPr>
        <p:spPr>
          <a:xfrm>
            <a:off x="7069348" y="5934182"/>
            <a:ext cx="2334222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2-1~5 </a:t>
            </a:r>
            <a:r>
              <a:rPr lang="ko-KR" altLang="en-US" sz="500" dirty="0"/>
              <a:t>전체 특이사항 내용 수정</a:t>
            </a:r>
            <a:endParaRPr lang="en-US" altLang="ko-KR" sz="500" dirty="0"/>
          </a:p>
        </p:txBody>
      </p:sp>
      <p:grpSp>
        <p:nvGrpSpPr>
          <p:cNvPr id="100" name="그룹 9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6" name="직사각형 10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/>
                <a:t>2026-05-26 </a:t>
              </a:r>
              <a:r>
                <a:rPr lang="ko-KR" altLang="en-US" dirty="0"/>
                <a:t>화면 수정</a:t>
              </a: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설명 </a:t>
              </a:r>
              <a:r>
                <a:rPr lang="en-US" altLang="ko-KR" sz="700" dirty="0" smtClean="0"/>
                <a:t>2</a:t>
              </a:r>
              <a:r>
                <a:rPr lang="ko-KR" altLang="en-US" sz="700" dirty="0" smtClean="0"/>
                <a:t>번 영역 수정</a:t>
              </a:r>
              <a:endParaRPr lang="ko-KR" altLang="en-US" sz="700" dirty="0"/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1" name="그룹 12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2" name="타원 12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3" name="그룹 12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8" name="직선 연결선 12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직선 연결선 12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4" name="타원 12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5" name="그룹 12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6" name="직선 연결선 12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직선 연결선 12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34" name="그룹 133"/>
          <p:cNvGrpSpPr/>
          <p:nvPr/>
        </p:nvGrpSpPr>
        <p:grpSpPr>
          <a:xfrm>
            <a:off x="3881312" y="1493927"/>
            <a:ext cx="2626449" cy="354413"/>
            <a:chOff x="720490" y="4004429"/>
            <a:chExt cx="2626449" cy="354413"/>
          </a:xfrm>
        </p:grpSpPr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1" name="그룹 14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44" name="타원 14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5" name="그룹 14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50" name="직선 연결선 14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1" name="직선 연결선 15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6" name="타원 14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7" name="그룹 14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8" name="직선 연결선 14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직선 연결선 14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5481237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생산공장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여러 건 표시될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방위사업청</a:t>
            </a:r>
            <a:r>
              <a:rPr lang="ko-KR" altLang="en-US" dirty="0" smtClean="0"/>
              <a:t> 계약의 경우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3831550" y="2186860"/>
            <a:ext cx="2652743" cy="547623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41984" y="2218297"/>
            <a:ext cx="246127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위치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우편번호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8080" y="1915110"/>
            <a:ext cx="72887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생산공장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 flipV="1">
            <a:off x="6240167" y="2028441"/>
            <a:ext cx="94010" cy="47005"/>
            <a:chOff x="6812560" y="3297172"/>
            <a:chExt cx="94010" cy="47005"/>
          </a:xfrm>
        </p:grpSpPr>
        <p:cxnSp>
          <p:nvCxnSpPr>
            <p:cNvPr id="134" name="직선 연결선 1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5" name="직선 연결선 1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345065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0133" y="271518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4" y="1915110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82088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375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1204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91907" y="2218297"/>
            <a:ext cx="1911355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생산공장 명칭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주소지 표시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00000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64058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949596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71329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1918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58" name="그룹 5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1" name="타원 6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2" name="그룹 6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9" name="직선 연결선 6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직선 연결선 6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" name="타원 62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4" name="그룹 63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7" name="직선 연결선 6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직선 연결선 6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3881312" y="1493927"/>
            <a:ext cx="2626449" cy="354413"/>
            <a:chOff x="720490" y="4004429"/>
            <a:chExt cx="2626449" cy="354413"/>
          </a:xfrm>
        </p:grpSpPr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75331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7" name="그룹 76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0" name="타원 7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1" name="그룹 8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6" name="직선 연결선 8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직선 연결선 8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2" name="타원 8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3" name="그룹 8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4" name="직선 연결선 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직선 연결선 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6352548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반송</a:t>
            </a:r>
            <a:r>
              <a:rPr lang="en-US" altLang="ko-KR" dirty="0" smtClean="0"/>
              <a:t>/</a:t>
            </a:r>
            <a:r>
              <a:rPr lang="ko-KR" altLang="en-US" dirty="0" smtClean="0"/>
              <a:t>취소 사유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낙찰단가반송사유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제출서류반송사유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계약서 </a:t>
            </a:r>
            <a:r>
              <a:rPr lang="ko-KR" altLang="en-US" dirty="0"/>
              <a:t>반송 사유</a:t>
            </a:r>
            <a:r>
              <a:rPr lang="en-US" altLang="ko-KR" dirty="0"/>
              <a:t>,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계약 </a:t>
            </a:r>
            <a:r>
              <a:rPr lang="ko-KR" altLang="en-US" dirty="0"/>
              <a:t>취소 사유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본문 내용은 하단으로 확장되어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박스 세로 크기 제한 없음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전자수입인지 안내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PC</a:t>
            </a:r>
            <a:r>
              <a:rPr lang="ko-KR" altLang="en-US" dirty="0" smtClean="0"/>
              <a:t>에서만 제공되는 서비스라는 추가 </a:t>
            </a:r>
            <a:r>
              <a:rPr lang="ko-KR" altLang="en-US" dirty="0" err="1" smtClean="0"/>
              <a:t>안내글</a:t>
            </a:r>
            <a:r>
              <a:rPr lang="ko-KR" altLang="en-US" dirty="0" smtClean="0"/>
              <a:t>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err="1" smtClean="0">
                <a:latin typeface="+mn-ea"/>
              </a:rPr>
              <a:t>취소사유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취소 사유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705041" y="4204344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3811" y="4302628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업무도움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필독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기획재정부에 납부하신 경우 전자수입인지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확인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버튼 클릭 시 구매요청서에서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기납부금액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확인 후 닫기를 하셔야 정상납부처리가 됩니다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PC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버전에서 업무처리를 할 수 있습니다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4" name="타원 83"/>
          <p:cNvSpPr/>
          <p:nvPr/>
        </p:nvSpPr>
        <p:spPr>
          <a:xfrm>
            <a:off x="789853" y="4292977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5" name="그룹 84"/>
          <p:cNvGrpSpPr/>
          <p:nvPr/>
        </p:nvGrpSpPr>
        <p:grpSpPr>
          <a:xfrm flipV="1">
            <a:off x="3138674" y="4341475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78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2707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935414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반송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/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취소 반송 사유 표시 영역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89" name="타원 1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572675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27" name="그룹 26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697946" y="4358842"/>
              <a:ext cx="63061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33" name="그룹 3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36" name="타원 35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7" name="그룹 36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42" name="직선 연결선 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직선 연결선 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타원 37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9" name="그룹 38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40" name="직선 연결선 3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직선 연결선 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반송</a:t>
              </a:r>
              <a:r>
                <a:rPr lang="en-US" altLang="ko-KR" sz="700" b="1" dirty="0" smtClean="0">
                  <a:latin typeface="+mn-ea"/>
                </a:rPr>
                <a:t>/</a:t>
              </a:r>
              <a:r>
                <a:rPr lang="ko-KR" altLang="en-US" sz="700" b="1" dirty="0" smtClean="0">
                  <a:latin typeface="+mn-ea"/>
                </a:rPr>
                <a:t>취소 사유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248763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물품전자계약진행상세</a:t>
            </a:r>
            <a:r>
              <a:rPr lang="ko-KR" altLang="en-US" dirty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205919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[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675399" y="372125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45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</a:p>
          <a:p>
            <a:pPr marL="0" indent="0">
              <a:buNone/>
            </a:pPr>
            <a:r>
              <a:rPr lang="en-US" altLang="ko-KR" dirty="0" smtClean="0"/>
              <a:t> </a:t>
            </a:r>
            <a:endParaRPr lang="ko-KR" altLang="en-US" dirty="0" smtClean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89642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201330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237348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90262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69687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3" name="그룹 52"/>
          <p:cNvGrpSpPr/>
          <p:nvPr/>
        </p:nvGrpSpPr>
        <p:grpSpPr>
          <a:xfrm>
            <a:off x="675399" y="3721254"/>
            <a:ext cx="2712026" cy="1602288"/>
            <a:chOff x="3795735" y="2878425"/>
            <a:chExt cx="2712026" cy="1602288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5" name="그룹 54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82" name="직선 연결선 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4" name="직선 연결선 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6" name="모서리가 둥근 직사각형 55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3" name="타원 62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85" name="직사각형 84"/>
          <p:cNvSpPr/>
          <p:nvPr/>
        </p:nvSpPr>
        <p:spPr>
          <a:xfrm>
            <a:off x="2550244" y="4664538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grpSp>
        <p:nvGrpSpPr>
          <p:cNvPr id="86" name="그룹 85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2416546" y="4358842"/>
              <a:ext cx="38562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8" name="그룹 10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1" name="타원 11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7" name="직선 연결선 1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직선 연결선 1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3" name="타원 112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4" name="그룹 113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5" name="직선 연결선 11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직선 연결선 11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첨부서류</a:t>
              </a:r>
              <a:endParaRPr lang="ko-KR" altLang="en-US" sz="7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275834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4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1243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339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962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04452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97244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8203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350603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8042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679311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AF4568-3FCF-6B95-3483-92580814E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60975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600910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86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전자계약 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92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7763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29435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2067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868241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7B0B425-0019-4486-8D38-E4FEB8AB839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2960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63D8347-901F-73D3-1AD6-F718AB44714A}"/>
              </a:ext>
            </a:extLst>
          </p:cNvPr>
          <p:cNvSpPr txBox="1"/>
          <p:nvPr/>
        </p:nvSpPr>
        <p:spPr>
          <a:xfrm>
            <a:off x="458117" y="2149242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9187C43-79FB-F229-512E-0A6FFE4431A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615764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0B9B27C-BE9B-8E90-4DD0-4B39E9A39C44}"/>
              </a:ext>
            </a:extLst>
          </p:cNvPr>
          <p:cNvSpPr txBox="1"/>
          <p:nvPr/>
        </p:nvSpPr>
        <p:spPr>
          <a:xfrm>
            <a:off x="458117" y="341797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A557D83-7495-2564-C607-368B00300EDC}"/>
              </a:ext>
            </a:extLst>
          </p:cNvPr>
          <p:cNvSpPr txBox="1"/>
          <p:nvPr/>
        </p:nvSpPr>
        <p:spPr>
          <a:xfrm>
            <a:off x="458117" y="5787497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5C2342E-D75D-838C-20F1-06F3B79E00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6049987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A0ED7E21-402F-B04E-02C4-FB8A162DA07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148430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0F79D67-91C5-8E01-73AC-7F27C410BF8C}"/>
              </a:ext>
            </a:extLst>
          </p:cNvPr>
          <p:cNvSpPr txBox="1"/>
          <p:nvPr/>
        </p:nvSpPr>
        <p:spPr>
          <a:xfrm>
            <a:off x="458117" y="797837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7F7273E4-5314-A4EF-4DF2-D1CE7772F13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032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68349D1A-8834-0CFE-EFCA-2E65D1502675}"/>
              </a:ext>
            </a:extLst>
          </p:cNvPr>
          <p:cNvSpPr txBox="1"/>
          <p:nvPr/>
        </p:nvSpPr>
        <p:spPr>
          <a:xfrm>
            <a:off x="458117" y="1941015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41B67F0-4567-2B9C-2711-138B2467562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035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05B1348C-4D16-5249-4534-C5A5560B2714}"/>
              </a:ext>
            </a:extLst>
          </p:cNvPr>
          <p:cNvSpPr txBox="1"/>
          <p:nvPr/>
        </p:nvSpPr>
        <p:spPr>
          <a:xfrm>
            <a:off x="458117" y="2889942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D0DBED2B-6CDA-AD74-956B-9DE39427361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15243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AD0DB35-7064-B988-CEEE-5093CC9EB92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07127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125251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 </a:t>
            </a:r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(1/2)</a:t>
            </a:r>
            <a:endParaRPr lang="ko-KR" altLang="en-US" sz="1000" b="1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523DA0D-2482-6C62-85DF-0395607F25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4982435"/>
              </p:ext>
            </p:extLst>
          </p:nvPr>
        </p:nvGraphicFramePr>
        <p:xfrm>
          <a:off x="458468" y="960432"/>
          <a:ext cx="8995591" cy="1751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상세조회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(UI-CT-01-P10)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(UI-CT-01-P11)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(UI-CT-01-P12)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(UI-CT-01-P13)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물품일반계약명세서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6518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 smtClean="0"/>
                        <a:t>계약서표지</a:t>
                      </a:r>
                      <a:r>
                        <a:rPr lang="ko-KR" altLang="en-US" sz="800" dirty="0" smtClean="0"/>
                        <a:t>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(UI-CT-01-R37)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(UI-CT-01-R38)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무상대여계약서출력물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(UI-CT-01-R39)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(UI-CT-01-R40)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4_G)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(UI-CT-01-R42)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물품구매계약서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_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계약구분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(UI-CT-01-R43)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방위사업청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(UI-CT-01-R44)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물품제조구매계약서출력물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(UI-CT-01-R46)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물품제조설치계약서출력물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298504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4C988534-B746-F1B4-64D3-F84EAF1A8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507977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보증서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확인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인지세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계약명세서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계약서표지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80-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129455714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 err="1" smtClean="0">
                <a:latin typeface="+mn-ea"/>
              </a:rPr>
              <a:t>물품전자계약확정상세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확정 상세 </a:t>
            </a:r>
            <a:r>
              <a:rPr lang="en-US" altLang="ko-KR" dirty="0" smtClean="0"/>
              <a:t>- </a:t>
            </a:r>
            <a:r>
              <a:rPr lang="ko-KR" altLang="en-US" dirty="0" err="1" smtClean="0"/>
              <a:t>물품전자계약확정상세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물품구매</a:t>
            </a: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계약서 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4990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3330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33300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4990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5177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4537677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4654748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022927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152393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1876163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2509493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7197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5123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64563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0819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08194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204951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23495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23495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반송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smtClean="0">
                <a:latin typeface="+mn-ea"/>
              </a:rPr>
              <a:t>취소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33300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반송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취소 사유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33300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sp>
        <p:nvSpPr>
          <p:cNvPr id="15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5769705"/>
            <a:ext cx="2300284" cy="651722"/>
          </a:xfrm>
          <a:prstGeom prst="rect">
            <a:avLst/>
          </a:prstGeom>
        </p:spPr>
        <p:txBody>
          <a:bodyPr anchor="b"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dirty="0" smtClean="0">
                <a:solidFill>
                  <a:srgbClr val="FF0000"/>
                </a:solidFill>
              </a:rPr>
              <a:t>참고사항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0" indent="0">
              <a:buNone/>
            </a:pP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err="1" smtClean="0">
                <a:solidFill>
                  <a:srgbClr val="FF0000"/>
                </a:solidFill>
              </a:rPr>
              <a:t>물품전자계약진행상세와</a:t>
            </a:r>
            <a:r>
              <a:rPr lang="ko-KR" altLang="en-US" dirty="0" smtClean="0">
                <a:solidFill>
                  <a:srgbClr val="FF0000"/>
                </a:solidFill>
              </a:rPr>
              <a:t> 화면이 동일함</a:t>
            </a:r>
            <a:endParaRPr lang="en-US" altLang="ko-KR" dirty="0">
              <a:solidFill>
                <a:srgbClr val="FF0000"/>
              </a:solidFill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7" name="그룹 15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1" name="그룹 16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2" name="타원 16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3" name="그룹 16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64" name="직선 연결선 1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6" name="평행 사변형 165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TextBox 166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5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타이틀 영역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1-1] </a:t>
            </a:r>
            <a:r>
              <a:rPr lang="ko-KR" altLang="en-US" sz="600" dirty="0"/>
              <a:t>레이블이 화면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화면 넘치는 경우 드래그하여 확인 가능 </a:t>
            </a:r>
            <a:r>
              <a:rPr lang="en-US" altLang="ko-KR" sz="600" dirty="0"/>
              <a:t>(</a:t>
            </a:r>
            <a:r>
              <a:rPr lang="ko-KR" altLang="en-US" sz="600" dirty="0" err="1"/>
              <a:t>스와이프기능</a:t>
            </a:r>
            <a:r>
              <a:rPr lang="ko-KR" altLang="en-US" sz="600" dirty="0"/>
              <a:t> 반영 필요</a:t>
            </a:r>
            <a:r>
              <a:rPr lang="en-US" altLang="ko-KR" sz="600" dirty="0"/>
              <a:t>)</a:t>
            </a:r>
            <a:br>
              <a:rPr lang="en-US" altLang="ko-KR" sz="600" dirty="0"/>
            </a:br>
            <a:r>
              <a:rPr lang="en-US" altLang="ko-KR" sz="600" dirty="0"/>
              <a:t>1-2] </a:t>
            </a:r>
            <a:r>
              <a:rPr lang="ko-KR" altLang="en-US" sz="600" dirty="0"/>
              <a:t>문서 정보 영역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판단번호</a:t>
            </a:r>
            <a:r>
              <a:rPr lang="ko-KR" altLang="en-US" sz="600" dirty="0"/>
              <a:t> </a:t>
            </a:r>
            <a:r>
              <a:rPr lang="en-US" altLang="ko-KR" sz="600" dirty="0"/>
              <a:t>,  </a:t>
            </a:r>
            <a:r>
              <a:rPr lang="ko-KR" altLang="en-US" sz="600" dirty="0" err="1"/>
              <a:t>계약번호</a:t>
            </a:r>
            <a:r>
              <a:rPr lang="ko-KR" altLang="en-US" sz="600" dirty="0"/>
              <a:t> 노출 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판단번호</a:t>
            </a:r>
            <a:r>
              <a:rPr lang="ko-KR" altLang="en-US" sz="600" dirty="0"/>
              <a:t> </a:t>
            </a:r>
            <a:r>
              <a:rPr lang="ko-KR" altLang="en-US" sz="600" dirty="0" err="1"/>
              <a:t>전체노출</a:t>
            </a:r>
            <a:r>
              <a:rPr lang="ko-KR" altLang="en-US" sz="600" dirty="0"/>
              <a:t> </a:t>
            </a:r>
            <a:r>
              <a:rPr lang="en-US" altLang="ko-KR" sz="600" dirty="0"/>
              <a:t>/ </a:t>
            </a:r>
            <a:r>
              <a:rPr lang="ko-KR" altLang="en-US" sz="600" dirty="0" err="1"/>
              <a:t>계약번호</a:t>
            </a:r>
            <a:r>
              <a:rPr lang="ko-KR" altLang="en-US" sz="600" dirty="0"/>
              <a:t> </a:t>
            </a:r>
            <a:r>
              <a:rPr lang="ko-KR" altLang="en-US" sz="600" dirty="0" err="1"/>
              <a:t>노출시</a:t>
            </a:r>
            <a:r>
              <a:rPr lang="ko-KR" altLang="en-US" sz="600" dirty="0"/>
              <a:t> 해당 라인을 넘어가면 </a:t>
            </a:r>
            <a:r>
              <a:rPr lang="en-US" altLang="ko-KR" sz="600" dirty="0"/>
              <a:t>(…) </a:t>
            </a:r>
            <a:r>
              <a:rPr lang="ko-KR" altLang="en-US" sz="600" dirty="0" err="1"/>
              <a:t>말줄임</a:t>
            </a:r>
            <a:r>
              <a:rPr lang="ko-KR" altLang="en-US" sz="600" dirty="0"/>
              <a:t>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1-3] </a:t>
            </a:r>
            <a:r>
              <a:rPr lang="ko-KR" altLang="en-US" sz="600" dirty="0"/>
              <a:t>문서 제목 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제목은 </a:t>
            </a:r>
            <a:r>
              <a:rPr lang="en-US" altLang="ko-KR" sz="600" dirty="0"/>
              <a:t>2</a:t>
            </a:r>
            <a:r>
              <a:rPr lang="ko-KR" altLang="en-US" sz="600" dirty="0"/>
              <a:t>줄 까지 노출 이후</a:t>
            </a:r>
            <a:r>
              <a:rPr lang="en-US" altLang="ko-KR" sz="600" dirty="0"/>
              <a:t>(…) </a:t>
            </a:r>
            <a:r>
              <a:rPr lang="ko-KR" altLang="en-US" sz="600" dirty="0" err="1"/>
              <a:t>말줄임</a:t>
            </a:r>
            <a:r>
              <a:rPr lang="ko-KR" altLang="en-US" sz="600" dirty="0"/>
              <a:t> 표시</a:t>
            </a: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err="1"/>
              <a:t>업무도움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기본값 </a:t>
            </a:r>
            <a:r>
              <a:rPr lang="en-US" altLang="ko-KR" sz="600" dirty="0"/>
              <a:t>: </a:t>
            </a:r>
            <a:r>
              <a:rPr lang="ko-KR" altLang="en-US" sz="600" dirty="0"/>
              <a:t>접힘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클릭시</a:t>
            </a:r>
            <a:r>
              <a:rPr lang="ko-KR" altLang="en-US" sz="600" dirty="0"/>
              <a:t> 확장하여 정보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</a:t>
            </a:r>
            <a:r>
              <a:rPr lang="ko-KR" altLang="en-US" sz="600" dirty="0" err="1"/>
              <a:t>업무도움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&gt; </a:t>
            </a:r>
            <a:r>
              <a:rPr lang="ko-KR" altLang="en-US" sz="600" dirty="0"/>
              <a:t>내역이 있는 경우 만 표시</a:t>
            </a: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탭 영역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상세내용 </a:t>
            </a:r>
            <a:r>
              <a:rPr lang="en-US" altLang="ko-KR" sz="600" dirty="0"/>
              <a:t>Tab</a:t>
            </a:r>
            <a:r>
              <a:rPr lang="ko-KR" altLang="en-US" sz="600" dirty="0"/>
              <a:t>은 진입 시 고정 노출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탭 내용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ko-KR" altLang="en-US" sz="600" dirty="0"/>
              <a:t>상세정보</a:t>
            </a:r>
            <a:r>
              <a:rPr lang="en-US" altLang="ko-KR" sz="600" dirty="0"/>
              <a:t>, </a:t>
            </a:r>
            <a:r>
              <a:rPr lang="ko-KR" altLang="en-US" sz="600" dirty="0"/>
              <a:t>계약업체</a:t>
            </a:r>
            <a:r>
              <a:rPr lang="en-US" altLang="ko-KR" sz="600" dirty="0"/>
              <a:t>, </a:t>
            </a:r>
            <a:r>
              <a:rPr lang="ko-KR" altLang="en-US" sz="600" dirty="0"/>
              <a:t>반송</a:t>
            </a:r>
            <a:r>
              <a:rPr lang="en-US" altLang="ko-KR" sz="600" dirty="0"/>
              <a:t>/</a:t>
            </a:r>
            <a:r>
              <a:rPr lang="ko-KR" altLang="en-US" sz="600" dirty="0" err="1"/>
              <a:t>취소사유</a:t>
            </a:r>
            <a:r>
              <a:rPr lang="en-US" altLang="ko-KR" sz="600" dirty="0"/>
              <a:t>, </a:t>
            </a:r>
            <a:r>
              <a:rPr lang="ko-KR" altLang="en-US" sz="600" dirty="0"/>
              <a:t>첨부서류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&gt; </a:t>
            </a:r>
            <a:r>
              <a:rPr lang="ko-KR" altLang="en-US" sz="600" dirty="0"/>
              <a:t>로그인 필요 서비스 안내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화면을 </a:t>
            </a:r>
            <a:r>
              <a:rPr lang="ko-KR" altLang="en-US" sz="600" dirty="0" err="1"/>
              <a:t>넘치는경우</a:t>
            </a:r>
            <a:r>
              <a:rPr lang="ko-KR" altLang="en-US" sz="600" dirty="0"/>
              <a:t> 드래그하여 확인</a:t>
            </a:r>
            <a:r>
              <a:rPr lang="en-US" altLang="ko-KR" sz="600" dirty="0"/>
              <a:t>(</a:t>
            </a:r>
            <a:r>
              <a:rPr lang="ko-KR" altLang="en-US" sz="600" dirty="0" err="1"/>
              <a:t>스와이프기능</a:t>
            </a:r>
            <a:r>
              <a:rPr lang="ko-KR" altLang="en-US" sz="600" dirty="0"/>
              <a:t> 반영 필요</a:t>
            </a:r>
            <a:r>
              <a:rPr lang="en-US" altLang="ko-KR" sz="600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계약 상세 정보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각 공고에 맞춰 폼 변화에 유의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상세내용에</a:t>
            </a:r>
            <a:r>
              <a:rPr lang="ko-KR" altLang="en-US" sz="600" dirty="0"/>
              <a:t> 포함된 정보 표시</a:t>
            </a: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기본값은 상단 이동 버튼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ko-KR" altLang="en-US" sz="600" dirty="0"/>
              <a:t>현 상세내용 탭에서는 </a:t>
            </a: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sz="600" dirty="0"/>
              <a:t>+</a:t>
            </a:r>
            <a:r>
              <a:rPr lang="ko-KR" altLang="en-US" sz="600" dirty="0"/>
              <a:t>버튼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해당 페이지에서 호출되는 이벤트 목록 표시</a:t>
            </a:r>
            <a:r>
              <a:rPr lang="en-US" altLang="ko-KR" sz="600" dirty="0"/>
              <a:t> (</a:t>
            </a:r>
            <a:r>
              <a:rPr lang="ko-KR" altLang="en-US" sz="600" dirty="0"/>
              <a:t>항목설명페이지 참고</a:t>
            </a:r>
            <a:r>
              <a:rPr lang="en-US" altLang="ko-KR" sz="600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출력이 있는 계약인 경우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en-US" altLang="ko-KR" sz="600" dirty="0">
                <a:latin typeface="+mn-ea"/>
              </a:rPr>
              <a:t>(UI-CT-01-R37) </a:t>
            </a:r>
            <a:r>
              <a:rPr lang="ko-KR" altLang="en-US" sz="600" dirty="0">
                <a:latin typeface="+mn-ea"/>
              </a:rPr>
              <a:t>리스계약서출력물</a:t>
            </a:r>
            <a:r>
              <a:rPr lang="en-US" altLang="ko-KR" sz="600" dirty="0">
                <a:latin typeface="+mn-ea"/>
              </a:rPr>
              <a:t>,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(UI-CT-01-R38) </a:t>
            </a:r>
            <a:r>
              <a:rPr lang="ko-KR" altLang="en-US" sz="600" dirty="0">
                <a:latin typeface="+mn-ea"/>
              </a:rPr>
              <a:t>무상대여계약서출력물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(UI-CT-01-R39)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(UI-CT-01-R40)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1)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00" dirty="0">
                <a:latin typeface="+mn-ea"/>
              </a:rPr>
              <a:t>,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(UI-CT-01-R41)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4_G)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(UI-CT-01-R42)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물품구매계약서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_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계약구분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5)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</a:t>
            </a:r>
            <a:r>
              <a:rPr lang="ko-KR" altLang="en-US" sz="600" dirty="0" err="1">
                <a:latin typeface="+mn-ea"/>
              </a:rPr>
              <a:t>ㅌ</a:t>
            </a:r>
            <a:r>
              <a:rPr lang="ko-KR" altLang="en-US" sz="600" dirty="0">
                <a:latin typeface="+mn-ea"/>
              </a:rPr>
              <a:t> </a:t>
            </a:r>
            <a:r>
              <a:rPr lang="en-US" altLang="ko-KR" sz="600" dirty="0">
                <a:latin typeface="+mn-ea"/>
              </a:rPr>
              <a:t>I-CT-01-R43)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물품수정계약서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방위사업청</a:t>
            </a:r>
            <a:r>
              <a:rPr lang="en-US" altLang="ko-KR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(UI-CT-01-R44)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물품제조계약서출력물</a:t>
            </a:r>
            <a:r>
              <a:rPr lang="en-US" altLang="ko-KR" sz="600" dirty="0">
                <a:latin typeface="+mn-ea"/>
              </a:rPr>
              <a:t>, </a:t>
            </a:r>
            <a:br>
              <a:rPr lang="en-US" altLang="ko-KR" sz="600" dirty="0">
                <a:latin typeface="+mn-ea"/>
              </a:rPr>
            </a:br>
            <a:r>
              <a:rPr lang="en-US" altLang="ko-KR" sz="600" dirty="0">
                <a:latin typeface="+mn-ea"/>
              </a:rPr>
              <a:t>(UI-CT-01-R45)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물품제조구매계약서출력물</a:t>
            </a:r>
            <a:r>
              <a:rPr lang="en-US" altLang="ko-KR" sz="600" dirty="0">
                <a:latin typeface="+mn-ea"/>
              </a:rPr>
              <a:t>, (UI-CT-01-R46)</a:t>
            </a:r>
            <a:r>
              <a:rPr lang="ko-KR" altLang="en-US" sz="6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6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물품제조설치계약서출력물</a:t>
            </a:r>
            <a:endParaRPr lang="ko-KR" altLang="en-US" sz="600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endParaRPr lang="en-US" altLang="ko-KR" sz="600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5287" y="44784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73" name="타원 1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9293" y="50666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74" name="직사각형 173"/>
          <p:cNvSpPr/>
          <p:nvPr/>
        </p:nvSpPr>
        <p:spPr>
          <a:xfrm>
            <a:off x="7066443" y="5852379"/>
            <a:ext cx="2337127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203533865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0513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8067"/>
          <a:ext cx="8994883" cy="5551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164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47427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dfrpGrnteAmtRt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하자보수보증금율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4432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53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rntlPrps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대여목적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91182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반납장소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22612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leaseSecd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리스구분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:UA46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67174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lsfeeGiveCrtrCd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지급기준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083624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18C1639-1E46-9CE1-B29A-DA7072051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30C79D3-37B1-F2A7-1318-46FCBEF95D9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670397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181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qtrLsfee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lsfeeCrtrAmt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리스료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98451"/>
          <a:ext cx="8994883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tkcgSecd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=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rspnDivs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!= null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0 : 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평가기준담당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rltnPrsnDivsCode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= 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때 계약담당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205491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6191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3393462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C1020C5-3D81-1F1E-5FDB-8B36994D65F8}"/>
              </a:ext>
            </a:extLst>
          </p:cNvPr>
          <p:cNvSpPr txBox="1"/>
          <p:nvPr/>
        </p:nvSpPr>
        <p:spPr>
          <a:xfrm>
            <a:off x="443052" y="5838258"/>
            <a:ext cx="22191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반송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취소 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2397D76-130B-CEF0-BCFC-83279D3FE1D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4" y="6100748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취소 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0632762-7C2C-ACA0-7D89-265A1C4196A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34333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0A9011-591A-6305-B192-97B2365740CF}"/>
              </a:ext>
            </a:extLst>
          </p:cNvPr>
          <p:cNvSpPr txBox="1"/>
          <p:nvPr/>
        </p:nvSpPr>
        <p:spPr>
          <a:xfrm>
            <a:off x="443054" y="78521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생산공장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1C5BBE6-5BC5-38E5-3222-0A72BFE432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4770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생산공장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fctryDaddr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위치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fctryOzip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우편번호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C942520-4CBE-6772-6DB4-B614DEE8CE6C}"/>
              </a:ext>
            </a:extLst>
          </p:cNvPr>
          <p:cNvSpPr txBox="1"/>
          <p:nvPr/>
        </p:nvSpPr>
        <p:spPr>
          <a:xfrm>
            <a:off x="443054" y="1944337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9827C19-D465-D176-D51A-4BACD2F4635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0682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F8C8B61D-A93C-A910-7421-6836A6C357FB}"/>
              </a:ext>
            </a:extLst>
          </p:cNvPr>
          <p:cNvSpPr txBox="1"/>
          <p:nvPr/>
        </p:nvSpPr>
        <p:spPr>
          <a:xfrm>
            <a:off x="443054" y="2923774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400D6AE-CDA3-92C7-0D1E-15BEC9CB800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18626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ctrtAdocCd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82CF135C-EED4-8F17-5FD8-61941DBF595C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37529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2443431"/>
              </p:ext>
            </p:extLst>
          </p:nvPr>
        </p:nvGraphicFramePr>
        <p:xfrm>
          <a:off x="453000" y="99978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835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CABF810B-D96F-3B9F-94E3-39E5FCD6F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169994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/>
              <a:t>공사전자계약진행상세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판단번호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6161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163329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1633299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616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606883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" name="그룹 7"/>
          <p:cNvGrpSpPr/>
          <p:nvPr/>
        </p:nvGrpSpPr>
        <p:grpSpPr>
          <a:xfrm>
            <a:off x="6553092" y="5134085"/>
            <a:ext cx="371277" cy="868327"/>
            <a:chOff x="6596790" y="5154989"/>
            <a:chExt cx="371277" cy="868327"/>
          </a:xfrm>
        </p:grpSpPr>
        <p:sp>
          <p:nvSpPr>
            <p:cNvPr id="277" name="타원 276"/>
            <p:cNvSpPr/>
            <p:nvPr/>
          </p:nvSpPr>
          <p:spPr>
            <a:xfrm>
              <a:off x="6596790" y="5154989"/>
              <a:ext cx="371277" cy="38307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7" name="그룹 26"/>
            <p:cNvGrpSpPr/>
            <p:nvPr/>
          </p:nvGrpSpPr>
          <p:grpSpPr>
            <a:xfrm>
              <a:off x="6726256" y="5272060"/>
              <a:ext cx="120320" cy="148935"/>
              <a:chOff x="161606" y="5392781"/>
              <a:chExt cx="97885" cy="117432"/>
            </a:xfrm>
          </p:grpSpPr>
          <p:cxnSp>
            <p:nvCxnSpPr>
              <p:cNvPr id="279" name="직선 연결선 278"/>
              <p:cNvCxnSpPr/>
              <p:nvPr/>
            </p:nvCxnSpPr>
            <p:spPr>
              <a:xfrm flipV="1">
                <a:off x="163100" y="5409099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0" name="직선 연결선 279"/>
              <p:cNvCxnSpPr/>
              <p:nvPr/>
            </p:nvCxnSpPr>
            <p:spPr>
              <a:xfrm flipH="1" flipV="1">
                <a:off x="210105" y="5409099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" name="직선 연결선 24"/>
              <p:cNvCxnSpPr/>
              <p:nvPr/>
            </p:nvCxnSpPr>
            <p:spPr>
              <a:xfrm>
                <a:off x="210549" y="5412328"/>
                <a:ext cx="0" cy="9788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rot="16200000">
                <a:off x="210549" y="5343838"/>
                <a:ext cx="0" cy="9788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" name="그룹 2"/>
            <p:cNvGrpSpPr/>
            <p:nvPr/>
          </p:nvGrpSpPr>
          <p:grpSpPr>
            <a:xfrm>
              <a:off x="6596790" y="5640239"/>
              <a:ext cx="371277" cy="383077"/>
              <a:chOff x="6596790" y="5640239"/>
              <a:chExt cx="383077" cy="383077"/>
            </a:xfrm>
          </p:grpSpPr>
          <p:sp>
            <p:nvSpPr>
              <p:cNvPr id="284" name="타원 283"/>
              <p:cNvSpPr/>
              <p:nvPr/>
            </p:nvSpPr>
            <p:spPr>
              <a:xfrm>
                <a:off x="6596790" y="5640239"/>
                <a:ext cx="383077" cy="3830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8" name="그룹 27"/>
              <p:cNvGrpSpPr/>
              <p:nvPr/>
            </p:nvGrpSpPr>
            <p:grpSpPr>
              <a:xfrm>
                <a:off x="6726257" y="5769705"/>
                <a:ext cx="124144" cy="124144"/>
                <a:chOff x="162544" y="5299917"/>
                <a:chExt cx="124144" cy="124144"/>
              </a:xfrm>
            </p:grpSpPr>
            <p:cxnSp>
              <p:nvCxnSpPr>
                <p:cNvPr id="288" name="직선 연결선 287"/>
                <p:cNvCxnSpPr/>
                <p:nvPr/>
              </p:nvCxnSpPr>
              <p:spPr>
                <a:xfrm>
                  <a:off x="224616" y="5299917"/>
                  <a:ext cx="0" cy="124144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직선 연결선 288"/>
                <p:cNvCxnSpPr/>
                <p:nvPr/>
              </p:nvCxnSpPr>
              <p:spPr>
                <a:xfrm rot="16200000">
                  <a:off x="224616" y="5299917"/>
                  <a:ext cx="0" cy="124144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46" name="그룹 24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247" name="그룹 24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49" name="타원 24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2606" y="1846562"/>
            <a:ext cx="2630093" cy="1777166"/>
            <a:chOff x="3865118" y="2694619"/>
            <a:chExt cx="2630093" cy="1777166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6525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75123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3864562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97946" y="4142235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하자담보책임</a:t>
            </a: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01478" y="1633299"/>
            <a:ext cx="6306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하자담보책임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16546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첨부서류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20078" y="1633299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grpSp>
        <p:nvGrpSpPr>
          <p:cNvPr id="155" name="그룹 154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56" name="타원 155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387" name="타원 38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389" name="평행 사변형 388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0" name="TextBox 389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45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계약번호</a:t>
            </a:r>
            <a:r>
              <a:rPr lang="en-US" altLang="ko-KR" sz="800" dirty="0" smtClean="0"/>
              <a:t>: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+ </a:t>
            </a:r>
            <a:r>
              <a:rPr lang="ko-KR" altLang="en-US" sz="800" dirty="0" err="1" smtClean="0"/>
              <a:t>계약회차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계약업체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반송</a:t>
            </a:r>
            <a:r>
              <a:rPr lang="en-US" altLang="ko-KR" sz="800" dirty="0" smtClean="0"/>
              <a:t>/</a:t>
            </a:r>
            <a:r>
              <a:rPr lang="ko-KR" altLang="en-US" sz="800" dirty="0" smtClean="0"/>
              <a:t>취소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첨부서류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sz="800" dirty="0" smtClean="0"/>
              <a:t>+</a:t>
            </a:r>
            <a:r>
              <a:rPr lang="ko-KR" altLang="en-US" sz="800" dirty="0" smtClean="0"/>
              <a:t>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해당 페이지에서 호출되는 이벤트 목록 표시</a:t>
            </a:r>
            <a:r>
              <a:rPr lang="en-US" altLang="ko-KR" sz="800" dirty="0" smtClean="0"/>
              <a:t> (</a:t>
            </a:r>
            <a:r>
              <a:rPr lang="ko-KR" altLang="en-US" sz="800" dirty="0" smtClean="0"/>
              <a:t>항목설명페이지 참고</a:t>
            </a:r>
            <a:r>
              <a:rPr lang="en-US" altLang="ko-KR" sz="800" dirty="0" smtClean="0"/>
              <a:t>)</a:t>
            </a:r>
          </a:p>
          <a:p>
            <a:pPr marL="228600" lvl="0" indent="-228600">
              <a:buFont typeface="+mj-lt"/>
              <a:buAutoNum type="arabicPeriod"/>
            </a:pPr>
            <a:r>
              <a:rPr lang="ko-KR" altLang="en-US" sz="800" dirty="0">
                <a:latin typeface="+mn-ea"/>
              </a:rPr>
              <a:t>출력물이 있는 계약의 경우</a:t>
            </a:r>
            <a:r>
              <a:rPr lang="en-US" altLang="ko-KR" sz="800" dirty="0">
                <a:latin typeface="+mn-ea"/>
              </a:rPr>
              <a:t/>
            </a:r>
            <a:br>
              <a:rPr lang="en-US" altLang="ko-KR" sz="800" dirty="0">
                <a:latin typeface="+mn-ea"/>
              </a:rPr>
            </a:br>
            <a:r>
              <a:rPr lang="en-US" altLang="ko-KR" sz="800" dirty="0">
                <a:latin typeface="+mn-ea"/>
              </a:rPr>
              <a:t>(UI-CT-01-R35)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공사도급계약서출력물</a:t>
            </a:r>
            <a:r>
              <a:rPr lang="en-US" altLang="ko-KR" sz="800" dirty="0">
                <a:latin typeface="+mn-ea"/>
              </a:rPr>
              <a:t>, (UI-CT-01-R36)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기술용역계약서출력물</a:t>
            </a:r>
            <a:endParaRPr lang="ko-KR" altLang="en-US" sz="800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47328" y="56881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60" name="직사각형 159"/>
          <p:cNvSpPr/>
          <p:nvPr/>
        </p:nvSpPr>
        <p:spPr>
          <a:xfrm>
            <a:off x="7066105" y="6072298"/>
            <a:ext cx="232502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92984153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078406" y="1483462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전자계약</a:t>
            </a:r>
            <a:r>
              <a:rPr lang="ko-KR" altLang="en-US" dirty="0"/>
              <a:t> 진행 상세정보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35963"/>
            <a:ext cx="2630093" cy="4400913"/>
            <a:chOff x="701175" y="1527996"/>
            <a:chExt cx="2630093" cy="440091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0808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하자담보유무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계약시작일자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계약종료일자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낙찰자확정일자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입찰일자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09342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제한경쟁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077285"/>
              <a:chOff x="701175" y="1835481"/>
              <a:chExt cx="2630093" cy="407728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4" name="직선 연결선 1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565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5" name="직선 연결선 1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713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6" name="직선 연결선 1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86059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7" name="직선 연결선 18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980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9" name="직선 연결선 1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91276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650615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704476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197" name="직사각형 196"/>
          <p:cNvSpPr/>
          <p:nvPr/>
        </p:nvSpPr>
        <p:spPr>
          <a:xfrm>
            <a:off x="3823602" y="1901752"/>
            <a:ext cx="792000" cy="8589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0664" y="1901751"/>
            <a:ext cx="893348" cy="82747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수정사유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관련근거</a:t>
            </a:r>
            <a:endParaRPr lang="en-US" altLang="ko-KR" sz="700" dirty="0"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1901751"/>
            <a:ext cx="1768896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계약확정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기타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</a:t>
            </a:r>
          </a:p>
        </p:txBody>
      </p:sp>
      <p:grpSp>
        <p:nvGrpSpPr>
          <p:cNvPr id="231" name="그룹 230"/>
          <p:cNvGrpSpPr/>
          <p:nvPr/>
        </p:nvGrpSpPr>
        <p:grpSpPr>
          <a:xfrm>
            <a:off x="3821509" y="1901751"/>
            <a:ext cx="2630093" cy="858960"/>
            <a:chOff x="701175" y="1835481"/>
            <a:chExt cx="2630093" cy="858960"/>
          </a:xfrm>
        </p:grpSpPr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7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6944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77704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계약금액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직사각형 74"/>
          <p:cNvSpPr/>
          <p:nvPr/>
        </p:nvSpPr>
        <p:spPr>
          <a:xfrm>
            <a:off x="3838794" y="3028626"/>
            <a:ext cx="792000" cy="259792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30286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3028627"/>
            <a:ext cx="67077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일반예산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국채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합계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총부기금액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계약보증금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지체상금률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공채매입금액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낙찰율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낙찰금액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예정금액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3028627"/>
            <a:ext cx="1775839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0.15 </a:t>
            </a:r>
            <a:r>
              <a:rPr lang="en-US" altLang="ko-KR" sz="700" dirty="0" smtClean="0">
                <a:latin typeface="+mn-ea"/>
              </a:rPr>
              <a:t>%</a:t>
            </a:r>
          </a:p>
          <a:p>
            <a:pPr algn="r"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2597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4734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6871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008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1145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32826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7135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438644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국민주택채권</a:t>
            </a:r>
            <a:endParaRPr lang="en-US" altLang="ko-KR" sz="700" dirty="0" smtClean="0">
              <a:latin typeface="+mn-ea"/>
            </a:endParaRPr>
          </a:p>
          <a:p>
            <a:r>
              <a:rPr lang="ko-KR" altLang="en-US" sz="700" dirty="0" err="1" smtClean="0">
                <a:latin typeface="+mn-ea"/>
              </a:rPr>
              <a:t>매입금액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4492505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76446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97817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19188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4055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61929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타원 105"/>
          <p:cNvSpPr/>
          <p:nvPr/>
        </p:nvSpPr>
        <p:spPr>
          <a:xfrm flipH="1">
            <a:off x="4487811" y="4492367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8" name="타원 107"/>
          <p:cNvSpPr/>
          <p:nvPr/>
        </p:nvSpPr>
        <p:spPr>
          <a:xfrm flipH="1">
            <a:off x="4487811" y="4817320"/>
            <a:ext cx="108000" cy="108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 smtClean="0">
                <a:solidFill>
                  <a:schemeClr val="tx1"/>
                </a:solidFill>
              </a:rPr>
              <a:t>?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2" name="타원 11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3" name="그룹 11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8" name="직선 연결선 11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직선 연결선 11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4" name="타원 11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5" name="그룹 11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하자담보책임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9" name="그룹 128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2" name="타원 13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3" name="그룹 13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8" name="직선 연결선 13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직선 연결선 13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4" name="타원 13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5" name="그룹 13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6" name="직선 연결선 13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7" name="직선 연결선 13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하자담보책임</a:t>
              </a: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531280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/>
          <p:cNvGrpSpPr/>
          <p:nvPr/>
        </p:nvGrpSpPr>
        <p:grpSpPr>
          <a:xfrm>
            <a:off x="803364" y="2828622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3095600"/>
            <a:ext cx="2630093" cy="3016211"/>
            <a:chOff x="3865118" y="2946203"/>
            <a:chExt cx="2630093" cy="3016211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30160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법인번호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Y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02-111-2222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123456-0123456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15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525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38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623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7726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555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135896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1878493"/>
            <a:ext cx="2712026" cy="880857"/>
            <a:chOff x="3795735" y="5745099"/>
            <a:chExt cx="2712026" cy="880857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2153" y="574509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담당자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42" name="그룹 41"/>
            <p:cNvGrpSpPr/>
            <p:nvPr/>
          </p:nvGrpSpPr>
          <p:grpSpPr>
            <a:xfrm flipV="1">
              <a:off x="6264240" y="5858430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3885" y="6075816"/>
              <a:ext cx="493904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구분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35515" y="6075816"/>
              <a:ext cx="493904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성명</a:t>
              </a:r>
              <a:r>
                <a:rPr lang="en-US" altLang="ko-KR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/</a:t>
              </a:r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계급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662595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8" name="모서리가 둥근 직사각형 47"/>
            <p:cNvSpPr/>
            <p:nvPr/>
          </p:nvSpPr>
          <p:spPr>
            <a:xfrm>
              <a:off x="3831550" y="6198818"/>
              <a:ext cx="2652743" cy="344810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3885" y="6317362"/>
              <a:ext cx="49390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계약담당관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35515" y="6317362"/>
              <a:ext cx="64751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홍길동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8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급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1918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2" name="그룹 6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7" name="타원 6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8" name="그룹 6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3" name="직선 연결선 7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직선 연결선 7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9" name="타원 6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0" name="그룹 6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1" name="직선 연결선 7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직선 연결선 7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하자담보책임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433405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하자담보책임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입력된 데이터 출력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</a:t>
            </a:r>
            <a:r>
              <a:rPr lang="en-US" altLang="ko-KR" dirty="0" smtClean="0"/>
              <a:t>/</a:t>
            </a:r>
            <a:r>
              <a:rPr lang="ko-KR" altLang="en-US" dirty="0" smtClean="0"/>
              <a:t>수정 불가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데이터가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하자담보책임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하자담보책임 사유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MUI-CT-01-T11</a:t>
            </a:r>
            <a:endParaRPr lang="ko-KR" altLang="en-US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803364" y="1923303"/>
            <a:ext cx="2456097" cy="181140"/>
            <a:chOff x="763157" y="1527996"/>
            <a:chExt cx="2456097" cy="18114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하자담보</a:t>
              </a:r>
              <a:r>
                <a:rPr lang="ko-KR" altLang="en-US" sz="700" dirty="0" smtClean="0">
                  <a:latin typeface="+mn-ea"/>
                </a:rPr>
                <a:t> 책임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" name="그룹 29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31" name="직선 연결선 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" name="직선 연결선 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3" name="그룹 32"/>
          <p:cNvGrpSpPr/>
          <p:nvPr/>
        </p:nvGrpSpPr>
        <p:grpSpPr>
          <a:xfrm>
            <a:off x="716366" y="2190281"/>
            <a:ext cx="2630093" cy="861981"/>
            <a:chOff x="3865118" y="2946203"/>
            <a:chExt cx="2630093" cy="861981"/>
          </a:xfrm>
        </p:grpSpPr>
        <p:sp>
          <p:nvSpPr>
            <p:cNvPr id="34" name="직사각형 33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3" name="타원 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195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2024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10153"/>
            <a:ext cx="76863" cy="292489"/>
            <a:chOff x="3750067" y="4683795"/>
            <a:chExt cx="76863" cy="292489"/>
          </a:xfrm>
        </p:grpSpPr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05939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716366" y="3115079"/>
            <a:ext cx="2630093" cy="861981"/>
            <a:chOff x="3865118" y="2946203"/>
            <a:chExt cx="2630093" cy="861981"/>
          </a:xfrm>
        </p:grpSpPr>
        <p:sp>
          <p:nvSpPr>
            <p:cNvPr id="61" name="직사각형 60"/>
            <p:cNvSpPr/>
            <p:nvPr/>
          </p:nvSpPr>
          <p:spPr>
            <a:xfrm>
              <a:off x="3867211" y="2946203"/>
              <a:ext cx="792000" cy="8617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42" name="그룹 4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697946" y="4358842"/>
              <a:ext cx="63061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48" name="그룹 4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51" name="타원 5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2" name="그룹 5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3" name="직선 연결선 7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직선 연결선 7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9" name="타원 6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0" name="그룹 6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1" name="직선 연결선 7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직선 연결선 7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97946" y="4142235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하자담보책임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416546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6308749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err="1"/>
              <a:t>공사전자계약진행상세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>
                <a:latin typeface="+mn-ea"/>
              </a:rPr>
              <a:t>첨부서류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 T12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3275"/>
            <a:ext cx="2712026" cy="1602288"/>
            <a:chOff x="3795735" y="2878425"/>
            <a:chExt cx="2712026" cy="160228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7" name="직선 연결선 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8" name="직선 연결선 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9" name="모서리가 둥근 직사각형 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모서리가 둥근 직사각형 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41278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675399" y="3195334"/>
            <a:ext cx="2712026" cy="1602288"/>
            <a:chOff x="3795735" y="2878425"/>
            <a:chExt cx="2712026" cy="1602288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모서리가 둥근 직사각형 9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법인등기부등본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2580536" y="2429433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2576950" y="1984067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47" name="직사각형 46"/>
          <p:cNvSpPr/>
          <p:nvPr/>
        </p:nvSpPr>
        <p:spPr>
          <a:xfrm>
            <a:off x="2550244" y="4138618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48" name="직사각형 47"/>
          <p:cNvSpPr/>
          <p:nvPr/>
        </p:nvSpPr>
        <p:spPr>
          <a:xfrm>
            <a:off x="2546658" y="3718650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5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7078406" y="5997168"/>
            <a:ext cx="2312723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특이사항 </a:t>
            </a:r>
            <a:r>
              <a:rPr lang="ko-KR" altLang="en-US" sz="500" dirty="0" err="1" smtClean="0"/>
              <a:t>전체수정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85103483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1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계약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6773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flwGrnteYn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하자담보유무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nhbdPrchsAmt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국민주택채권매입금액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업체담당자가 공사계약 </a:t>
                      </a:r>
                      <a:r>
                        <a:rPr lang="ko-KR" altLang="en-US" sz="800" b="0" dirty="0" err="1">
                          <a:solidFill>
                            <a:schemeClr val="tx1"/>
                          </a:solidFill>
                        </a:rPr>
                        <a:t>체결시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제공되는 채권매입 방법 표시 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추가요구사항 응용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1-06)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en-US" altLang="ko-KR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882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pbdbtPrchsAmt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공채매입금액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89187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660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25165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0926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08896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02E1DB8-F6F5-C534-1A6D-D7F80258C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1443655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물품 전자계약 확정 상세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낙찰율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scsbdAmt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scbdrCfmtnYmd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낙찰자확정일자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prnmntAmt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예정금액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prcsRsn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relBssCn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관련근거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059877A-3CC3-E6D4-58A6-B1163CA1F20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30416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signYn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전자서명여부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19851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법인번호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1859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lctnAddr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1907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797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50801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D14D5940-6F9C-0A87-A5B5-9CEF2CC43956}"/>
              </a:ext>
            </a:extLst>
          </p:cNvPr>
          <p:cNvSpPr txBox="1"/>
          <p:nvPr/>
        </p:nvSpPr>
        <p:spPr>
          <a:xfrm>
            <a:off x="443054" y="3106375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91985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C4B992E-0D34-B491-EC60-09408F1C43C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12486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하자보수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하자담보책임기간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1BB7953-1B4E-5363-7419-3079AA3E810B}"/>
              </a:ext>
            </a:extLst>
          </p:cNvPr>
          <p:cNvSpPr txBox="1"/>
          <p:nvPr/>
        </p:nvSpPr>
        <p:spPr>
          <a:xfrm>
            <a:off x="443054" y="908027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하자담보책임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2F7AB1-B0D7-75BB-85F8-4645FB31274A}"/>
              </a:ext>
            </a:extLst>
          </p:cNvPr>
          <p:cNvSpPr txBox="1"/>
          <p:nvPr/>
        </p:nvSpPr>
        <p:spPr>
          <a:xfrm>
            <a:off x="433529" y="2258120"/>
            <a:ext cx="28282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계약관 제공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B63500A-7F51-C4ED-A5D2-D3616EEC8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8411" y="252061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57BCAB6-4ADD-90C9-1F9A-0A8162B6197B}"/>
              </a:ext>
            </a:extLst>
          </p:cNvPr>
          <p:cNvSpPr txBox="1"/>
          <p:nvPr/>
        </p:nvSpPr>
        <p:spPr>
          <a:xfrm>
            <a:off x="433529" y="3348096"/>
            <a:ext cx="294368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</a:t>
            </a:r>
            <a:r>
              <a:rPr lang="en-US" altLang="ko-KR" sz="900" b="1" dirty="0">
                <a:solidFill>
                  <a:prstClr val="black"/>
                </a:solidFill>
              </a:rPr>
              <a:t>[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등록</a:t>
            </a:r>
            <a:r>
              <a:rPr lang="en-US" altLang="ko-KR" sz="900" b="1" dirty="0">
                <a:solidFill>
                  <a:prstClr val="black"/>
                </a:solidFill>
              </a:rPr>
              <a:t>]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B033FC2-E428-A273-2ACA-23E2DBCB7A6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8411" y="361058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D30D756-42E3-817C-1A16-E581F297D9FF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69296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8252820"/>
              </p:ext>
            </p:extLst>
          </p:nvPr>
        </p:nvGraphicFramePr>
        <p:xfrm>
          <a:off x="453000" y="1009312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413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129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5410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719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출력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scwin.btn_ctrdocCvr_onclick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 유형에 따라 계약서 출력물 출력물을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(UI-CT-01-R35)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공사도급계약서출력물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(UI-CT-01-R36)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기술용역계약서출력물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0944604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100EC6CE-7C3A-6ABD-2B27-50C3C9F45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6018403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7338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슬라이드 번호 개체 틀 2">
            <a:extLst>
              <a:ext uri="{FF2B5EF4-FFF2-40B4-BE49-F238E27FC236}">
                <a16:creationId xmlns:a16="http://schemas.microsoft.com/office/drawing/2014/main" id="{8C4BE0D1-4326-D2D1-C2E7-C1A8304A16A1}"/>
              </a:ext>
            </a:extLst>
          </p:cNvPr>
          <p:cNvSpPr txBox="1">
            <a:spLocks/>
          </p:cNvSpPr>
          <p:nvPr/>
        </p:nvSpPr>
        <p:spPr>
          <a:xfrm>
            <a:off x="4327200" y="6601133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438B06-4E07-BE5E-7355-E618162AE95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74000" y="1253329"/>
          <a:ext cx="8504011" cy="52194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730">
                  <a:extLst>
                    <a:ext uri="{9D8B030D-6E8A-4147-A177-3AD203B41FA5}">
                      <a16:colId xmlns:a16="http://schemas.microsoft.com/office/drawing/2014/main" val="1736131930"/>
                    </a:ext>
                  </a:extLst>
                </a:gridCol>
                <a:gridCol w="394160">
                  <a:extLst>
                    <a:ext uri="{9D8B030D-6E8A-4147-A177-3AD203B41FA5}">
                      <a16:colId xmlns:a16="http://schemas.microsoft.com/office/drawing/2014/main" val="172173065"/>
                    </a:ext>
                  </a:extLst>
                </a:gridCol>
                <a:gridCol w="624087">
                  <a:extLst>
                    <a:ext uri="{9D8B030D-6E8A-4147-A177-3AD203B41FA5}">
                      <a16:colId xmlns:a16="http://schemas.microsoft.com/office/drawing/2014/main" val="1711509732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197480159"/>
                    </a:ext>
                  </a:extLst>
                </a:gridCol>
                <a:gridCol w="507481">
                  <a:extLst>
                    <a:ext uri="{9D8B030D-6E8A-4147-A177-3AD203B41FA5}">
                      <a16:colId xmlns:a16="http://schemas.microsoft.com/office/drawing/2014/main" val="1765196613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039006538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131260314"/>
                    </a:ext>
                  </a:extLst>
                </a:gridCol>
                <a:gridCol w="446714">
                  <a:extLst>
                    <a:ext uri="{9D8B030D-6E8A-4147-A177-3AD203B41FA5}">
                      <a16:colId xmlns:a16="http://schemas.microsoft.com/office/drawing/2014/main" val="2221148255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3372049076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1732212103"/>
                    </a:ext>
                  </a:extLst>
                </a:gridCol>
                <a:gridCol w="610949">
                  <a:extLst>
                    <a:ext uri="{9D8B030D-6E8A-4147-A177-3AD203B41FA5}">
                      <a16:colId xmlns:a16="http://schemas.microsoft.com/office/drawing/2014/main" val="2259697266"/>
                    </a:ext>
                  </a:extLst>
                </a:gridCol>
                <a:gridCol w="564963">
                  <a:extLst>
                    <a:ext uri="{9D8B030D-6E8A-4147-A177-3AD203B41FA5}">
                      <a16:colId xmlns:a16="http://schemas.microsoft.com/office/drawing/2014/main" val="2224881732"/>
                    </a:ext>
                  </a:extLst>
                </a:gridCol>
                <a:gridCol w="479562">
                  <a:extLst>
                    <a:ext uri="{9D8B030D-6E8A-4147-A177-3AD203B41FA5}">
                      <a16:colId xmlns:a16="http://schemas.microsoft.com/office/drawing/2014/main" val="2622697479"/>
                    </a:ext>
                  </a:extLst>
                </a:gridCol>
                <a:gridCol w="466424">
                  <a:extLst>
                    <a:ext uri="{9D8B030D-6E8A-4147-A177-3AD203B41FA5}">
                      <a16:colId xmlns:a16="http://schemas.microsoft.com/office/drawing/2014/main" val="3192544071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615628013"/>
                    </a:ext>
                  </a:extLst>
                </a:gridCol>
                <a:gridCol w="486132">
                  <a:extLst>
                    <a:ext uri="{9D8B030D-6E8A-4147-A177-3AD203B41FA5}">
                      <a16:colId xmlns:a16="http://schemas.microsoft.com/office/drawing/2014/main" val="305788445"/>
                    </a:ext>
                  </a:extLst>
                </a:gridCol>
              </a:tblGrid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계약진행 단계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구분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텍스트박스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en-US" altLang="ko-KR" sz="500" u="none" strike="noStrike" dirty="0">
                        <a:effectLst/>
                      </a:endParaRPr>
                    </a:p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 타이틀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버튼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018921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인지세 구매방법 설명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반송</a:t>
                      </a:r>
                      <a:r>
                        <a:rPr lang="en-US" altLang="ko-KR" sz="500" u="none" strike="noStrike" dirty="0">
                          <a:effectLst/>
                        </a:rPr>
                        <a:t>/</a:t>
                      </a:r>
                      <a:r>
                        <a:rPr lang="ko-KR" altLang="en-US" sz="500" u="none" strike="noStrike" dirty="0">
                          <a:effectLst/>
                        </a:rPr>
                        <a:t>취소사유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보증서 확인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전자수입인지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[</a:t>
                      </a:r>
                      <a:r>
                        <a:rPr lang="ko-KR" altLang="en-US" sz="500" u="none" strike="noStrike">
                          <a:effectLst/>
                        </a:rPr>
                        <a:t>구매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확인</a:t>
                      </a:r>
                      <a:r>
                        <a:rPr lang="en-US" altLang="ko-KR" sz="500" u="none" strike="noStrike">
                          <a:effectLst/>
                        </a:rPr>
                        <a:t>]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인지세 확인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 err="1">
                          <a:effectLst/>
                        </a:rPr>
                        <a:t>계약명세서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제출서류 등록화면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파일첨부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낙찰단가 처리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(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낙찰단가조회</a:t>
                      </a:r>
                      <a:r>
                        <a:rPr lang="en-US" altLang="ko-KR" sz="500" u="none" strike="noStrike" dirty="0">
                          <a:effectLst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ko-KR" altLang="en-US" sz="500" u="none" strike="noStrike">
                          <a:effectLst/>
                        </a:rPr>
                        <a:t>전송</a:t>
                      </a:r>
                      <a:br>
                        <a:rPr lang="ko-KR" altLang="en-US" sz="500" u="none" strike="noStrike">
                          <a:effectLst/>
                        </a:rPr>
                      </a:br>
                      <a:r>
                        <a:rPr lang="en-US" altLang="ko-KR" sz="500" u="none" strike="noStrike">
                          <a:effectLst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</a:rPr>
                        <a:t>계약서류 제출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 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계약체결</a:t>
                      </a:r>
                      <a:br>
                        <a:rPr lang="ko-KR" altLang="en-US" sz="500" u="none" strike="noStrike" dirty="0">
                          <a:effectLst/>
                        </a:rPr>
                      </a:br>
                      <a:r>
                        <a:rPr lang="en-US" altLang="ko-KR" sz="500" u="none" strike="noStrike" dirty="0">
                          <a:effectLst/>
                        </a:rPr>
                        <a:t>[</a:t>
                      </a:r>
                      <a:r>
                        <a:rPr lang="ko-KR" altLang="en-US" sz="500" u="none" strike="noStrike" dirty="0">
                          <a:effectLst/>
                        </a:rPr>
                        <a:t>전자서명</a:t>
                      </a:r>
                      <a:r>
                        <a:rPr lang="en-US" altLang="ko-KR" sz="500" u="none" strike="noStrike" dirty="0">
                          <a:effectLst/>
                        </a:rPr>
                        <a:t>]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계약서표지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계좌정보 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6683991"/>
                  </a:ext>
                </a:extLst>
              </a:tr>
              <a:tr h="23417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공통</a:t>
                      </a:r>
                      <a:r>
                        <a:rPr lang="en-US" altLang="ko-KR" sz="500" u="none" strike="noStrike">
                          <a:effectLst/>
                        </a:rPr>
                        <a:t>/</a:t>
                      </a:r>
                      <a:r>
                        <a:rPr lang="en-US" sz="500" u="none" strike="noStrike">
                          <a:effectLst/>
                        </a:rPr>
                        <a:t>Default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대표업체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O(</a:t>
                      </a:r>
                      <a:r>
                        <a:rPr lang="ko-KR" altLang="en-US" sz="500" u="none" strike="noStrike" dirty="0">
                          <a:effectLst/>
                        </a:rPr>
                        <a:t>인지세 납부대상이고</a:t>
                      </a:r>
                      <a:r>
                        <a:rPr lang="en-US" altLang="ko-KR" sz="500" u="none" strike="noStrike" dirty="0">
                          <a:effectLst/>
                        </a:rPr>
                        <a:t>, </a:t>
                      </a:r>
                      <a:r>
                        <a:rPr lang="ko-KR" altLang="en-US" sz="500" u="none" strike="noStrike" dirty="0">
                          <a:effectLst/>
                        </a:rPr>
                        <a:t>구매건수가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없을때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O(</a:t>
                      </a:r>
                      <a:r>
                        <a:rPr lang="ko-KR" altLang="en-US" sz="500" u="none" strike="noStrike">
                          <a:effectLst/>
                        </a:rPr>
                        <a:t>납부대상이고</a:t>
                      </a:r>
                      <a:r>
                        <a:rPr lang="en-US" altLang="ko-KR" sz="500" u="none" strike="noStrike">
                          <a:effectLst/>
                        </a:rPr>
                        <a:t>, </a:t>
                      </a:r>
                      <a:br>
                        <a:rPr lang="en-US" altLang="ko-KR" sz="500" u="none" strike="noStrike">
                          <a:effectLst/>
                        </a:rPr>
                      </a:br>
                      <a:r>
                        <a:rPr lang="ko-KR" altLang="en-US" sz="500" u="none" strike="noStrike">
                          <a:effectLst/>
                        </a:rPr>
                        <a:t>구매건수가 없을때</a:t>
                      </a:r>
                      <a:r>
                        <a:rPr lang="en-US" altLang="ko-KR" sz="500" u="none" strike="noStrike">
                          <a:effectLst/>
                        </a:rPr>
                        <a:t>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4188762"/>
                  </a:ext>
                </a:extLst>
              </a:tr>
              <a:tr h="202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627978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30-</a:t>
                      </a:r>
                      <a:r>
                        <a:rPr lang="ko-KR" altLang="en-US" sz="500" u="none" strike="noStrike">
                          <a:effectLst/>
                        </a:rPr>
                        <a:t>서류요청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04299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8613351"/>
                  </a:ext>
                </a:extLst>
              </a:tr>
              <a:tr h="17031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31-</a:t>
                      </a:r>
                      <a:r>
                        <a:rPr lang="ko-KR" altLang="en-US" sz="500" u="none" strike="noStrike">
                          <a:effectLst/>
                        </a:rPr>
                        <a:t>서류등록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835772"/>
                  </a:ext>
                </a:extLst>
              </a:tr>
              <a:tr h="1756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1734192"/>
                  </a:ext>
                </a:extLst>
              </a:tr>
              <a:tr h="23949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32-</a:t>
                      </a:r>
                      <a:r>
                        <a:rPr lang="ko-KR" altLang="en-US" sz="500" u="none" strike="noStrike">
                          <a:effectLst/>
                        </a:rPr>
                        <a:t>서류반송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제출서류반송사유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3185240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3473723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33-</a:t>
                      </a:r>
                      <a:r>
                        <a:rPr lang="ko-KR" altLang="en-US" sz="500" u="none" strike="noStrike">
                          <a:effectLst/>
                        </a:rPr>
                        <a:t>서류확정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453672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51487"/>
                  </a:ext>
                </a:extLst>
              </a:tr>
              <a:tr h="1862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34-</a:t>
                      </a:r>
                      <a:r>
                        <a:rPr lang="ko-KR" altLang="en-US" sz="500" u="none" strike="noStrike">
                          <a:effectLst/>
                        </a:rPr>
                        <a:t>서류확정취소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292830"/>
                  </a:ext>
                </a:extLst>
              </a:tr>
              <a:tr h="1969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3085352"/>
                  </a:ext>
                </a:extLst>
              </a:tr>
              <a:tr h="3778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40-</a:t>
                      </a:r>
                      <a:r>
                        <a:rPr lang="ko-KR" altLang="en-US" sz="500" u="none" strike="noStrike">
                          <a:effectLst/>
                        </a:rPr>
                        <a:t>계약체결의뢰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dirty="0">
                          <a:effectLst/>
                        </a:rPr>
                        <a:t>O </a:t>
                      </a:r>
                      <a:r>
                        <a:rPr lang="ko-KR" altLang="en-US" sz="500" u="none" strike="noStrike" dirty="0">
                          <a:effectLst/>
                        </a:rPr>
                        <a:t>업체제출서류有 </a:t>
                      </a:r>
                      <a:r>
                        <a:rPr lang="en-US" altLang="ko-KR" sz="500" u="none" strike="noStrike" dirty="0">
                          <a:effectLst/>
                        </a:rPr>
                        <a:t>AND ((</a:t>
                      </a:r>
                      <a:r>
                        <a:rPr lang="ko-KR" altLang="en-US" sz="500" u="none" strike="noStrike" dirty="0">
                          <a:effectLst/>
                        </a:rPr>
                        <a:t>입찰방법</a:t>
                      </a:r>
                      <a:r>
                        <a:rPr lang="en-US" altLang="ko-KR" sz="500" u="none" strike="noStrike" dirty="0">
                          <a:effectLst/>
                        </a:rPr>
                        <a:t>: A </a:t>
                      </a:r>
                      <a:r>
                        <a:rPr lang="ko-KR" altLang="en-US" sz="500" u="none" strike="noStrike" dirty="0" err="1">
                          <a:effectLst/>
                        </a:rPr>
                        <a:t>총액제</a:t>
                      </a:r>
                      <a:r>
                        <a:rPr lang="ko-KR" altLang="en-US" sz="500" u="none" strike="noStrike" dirty="0">
                          <a:effectLst/>
                        </a:rPr>
                        <a:t> </a:t>
                      </a:r>
                      <a:r>
                        <a:rPr lang="en-US" altLang="ko-KR" sz="500" u="none" strike="noStrike" dirty="0">
                          <a:effectLst/>
                        </a:rPr>
                        <a:t>Or F </a:t>
                      </a:r>
                      <a:r>
                        <a:rPr lang="ko-KR" altLang="en-US" sz="500" u="none" strike="noStrike" dirty="0">
                          <a:effectLst/>
                        </a:rPr>
                        <a:t>리스입찰</a:t>
                      </a:r>
                      <a:r>
                        <a:rPr lang="en-US" altLang="ko-KR" sz="500" u="none" strike="noStrike" dirty="0">
                          <a:effectLst/>
                        </a:rPr>
                        <a:t>) AND </a:t>
                      </a:r>
                      <a:r>
                        <a:rPr lang="ko-KR" altLang="en-US" sz="500" u="none" strike="noStrike" dirty="0">
                          <a:effectLst/>
                        </a:rPr>
                        <a:t>낙찰단가처리여부</a:t>
                      </a:r>
                      <a:r>
                        <a:rPr lang="en-US" altLang="ko-KR" sz="500" u="none" strike="noStrike" dirty="0">
                          <a:effectLst/>
                        </a:rPr>
                        <a:t>-Y)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505749"/>
                  </a:ext>
                </a:extLst>
              </a:tr>
              <a:tr h="25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7538187"/>
                  </a:ext>
                </a:extLst>
              </a:tr>
              <a:tr h="21288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50-</a:t>
                      </a:r>
                      <a:r>
                        <a:rPr lang="ko-KR" altLang="en-US" sz="500" u="none" strike="noStrike">
                          <a:effectLst/>
                        </a:rPr>
                        <a:t>조달업체서명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altLang="ko-KR" sz="5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595287"/>
                  </a:ext>
                </a:extLst>
              </a:tr>
              <a:tr h="1117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432771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51-</a:t>
                      </a:r>
                      <a:r>
                        <a:rPr lang="ko-KR" altLang="en-US" sz="500" u="none" strike="noStrike">
                          <a:effectLst/>
                        </a:rPr>
                        <a:t>조달업체반송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4199614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8872238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60-</a:t>
                      </a:r>
                      <a:r>
                        <a:rPr lang="ko-KR" altLang="en-US" sz="500" u="none" strike="noStrike">
                          <a:effectLst/>
                        </a:rPr>
                        <a:t>계약취소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683821"/>
                  </a:ext>
                </a:extLst>
              </a:tr>
              <a:tr h="1649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 smtClean="0">
                          <a:effectLst/>
                        </a:rPr>
                        <a:t>O (Title='</a:t>
                      </a:r>
                      <a:r>
                        <a:rPr lang="ko-KR" altLang="en-US" sz="500" u="none" strike="noStrike" smtClean="0">
                          <a:effectLst/>
                        </a:rPr>
                        <a:t>계약 취소 사유</a:t>
                      </a:r>
                      <a:r>
                        <a:rPr lang="en-US" altLang="ko-KR" sz="500" u="none" strike="noStrike" smtClean="0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smtClean="0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782645"/>
                  </a:ext>
                </a:extLst>
              </a:tr>
              <a:tr h="15966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70-</a:t>
                      </a:r>
                      <a:r>
                        <a:rPr lang="ko-KR" altLang="en-US" sz="500" u="none" strike="noStrike">
                          <a:effectLst/>
                        </a:rPr>
                        <a:t>계약서반송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</a:rPr>
                        <a:t>O (Title='</a:t>
                      </a:r>
                      <a:r>
                        <a:rPr lang="ko-KR" altLang="en-US" sz="500" u="none" strike="noStrike">
                          <a:effectLst/>
                        </a:rPr>
                        <a:t>계약서 반송 사유</a:t>
                      </a:r>
                      <a:r>
                        <a:rPr lang="en-US" altLang="ko-KR" sz="500" u="none" strike="noStrike">
                          <a:effectLst/>
                        </a:rPr>
                        <a:t>')</a:t>
                      </a:r>
                      <a:endParaRPr lang="en-US" altLang="ko-KR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606213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smtClean="0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 smtClean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074628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80-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9452548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구성업체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>
                          <a:effectLst/>
                        </a:rPr>
                        <a:t>O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6156551"/>
                  </a:ext>
                </a:extLst>
              </a:tr>
              <a:tr h="1170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500" u="none" strike="noStrike">
                          <a:effectLst/>
                        </a:rPr>
                        <a:t>81-</a:t>
                      </a:r>
                      <a:r>
                        <a:rPr lang="ko-KR" altLang="en-US" sz="500" u="none" strike="noStrike">
                          <a:effectLst/>
                        </a:rPr>
                        <a:t>계약확정요청취소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대표업체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402637"/>
                  </a:ext>
                </a:extLst>
              </a:tr>
              <a:tr h="122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 dirty="0">
                          <a:effectLst/>
                        </a:rPr>
                        <a:t>구성업체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500" u="none" strike="noStrike">
                          <a:effectLst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　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500" u="none" strike="noStrike" dirty="0">
                          <a:effectLst/>
                        </a:rPr>
                        <a:t>O</a:t>
                      </a:r>
                      <a:endParaRPr 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566" marR="4566" marT="45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967148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0941C7F-7438-77FA-CDDC-234FBDF694CF}"/>
              </a:ext>
            </a:extLst>
          </p:cNvPr>
          <p:cNvSpPr txBox="1"/>
          <p:nvPr/>
        </p:nvSpPr>
        <p:spPr>
          <a:xfrm>
            <a:off x="574000" y="960432"/>
            <a:ext cx="363224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100" dirty="0">
                <a:solidFill>
                  <a:schemeClr val="tx1"/>
                </a:solidFill>
              </a:rPr>
              <a:t>※ </a:t>
            </a:r>
            <a:r>
              <a:rPr lang="ko-KR" altLang="en-US" sz="1100" dirty="0">
                <a:solidFill>
                  <a:schemeClr val="tx1"/>
                </a:solidFill>
              </a:rPr>
              <a:t>계약진행상태별 텍스트박스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버튼 숨김 처리 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51538098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물품총액계약서상세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3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3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3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6025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409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64" name="평행 사변형 263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5" name="TextBox 264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  <p:sp>
        <p:nvSpPr>
          <p:cNvPr id="15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8883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/>
              <a:t>, </a:t>
            </a:r>
            <a:r>
              <a:rPr lang="ko-KR" altLang="en-US" sz="800" dirty="0" err="1"/>
              <a:t>계약명세서</a:t>
            </a:r>
            <a:r>
              <a:rPr lang="en-US" altLang="ko-KR" sz="800" dirty="0"/>
              <a:t>,</a:t>
            </a:r>
            <a:r>
              <a:rPr lang="ko-KR" altLang="en-US" sz="800" dirty="0"/>
              <a:t> </a:t>
            </a:r>
            <a:r>
              <a:rPr lang="ko-KR" altLang="en-US" sz="800" dirty="0" err="1"/>
              <a:t>특수조건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＋ 버튼 없음</a:t>
            </a:r>
            <a:endParaRPr lang="en-US" altLang="ko-KR" sz="800" dirty="0" smtClean="0"/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91" name="타원 19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</p:spTree>
    <p:extLst>
      <p:ext uri="{BB962C8B-B14F-4D97-AF65-F5344CB8AC3E}">
        <p14:creationId xmlns:p14="http://schemas.microsoft.com/office/powerpoint/2010/main" val="249878930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</a:t>
            </a:r>
            <a:r>
              <a:rPr lang="ko-KR" altLang="en-US" dirty="0" smtClean="0"/>
              <a:t>납부방법 </a:t>
            </a:r>
            <a:r>
              <a:rPr lang="en-US" altLang="ko-KR" dirty="0" smtClean="0"/>
              <a:t>: </a:t>
            </a:r>
            <a:r>
              <a:rPr lang="ko-KR" altLang="en-US" dirty="0" err="1">
                <a:latin typeface="+mn-ea"/>
              </a:rPr>
              <a:t>상위코드</a:t>
            </a:r>
            <a:r>
              <a:rPr lang="en-US" altLang="ko-KR" dirty="0">
                <a:latin typeface="+mn-ea"/>
              </a:rPr>
              <a:t>:</a:t>
            </a:r>
            <a:r>
              <a:rPr lang="en-US" altLang="ko-KR" dirty="0" smtClean="0">
                <a:latin typeface="+mn-ea"/>
              </a:rPr>
              <a:t>GMCC(</a:t>
            </a:r>
            <a:r>
              <a:rPr lang="ko-KR" altLang="en-US" dirty="0" smtClean="0">
                <a:latin typeface="+mn-ea"/>
              </a:rPr>
              <a:t>항목확인불가</a:t>
            </a:r>
            <a:r>
              <a:rPr lang="en-US" altLang="ko-KR" dirty="0" smtClean="0">
                <a:latin typeface="+mn-ea"/>
              </a:rPr>
              <a:t>)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41429"/>
            <a:ext cx="2630093" cy="2677365"/>
            <a:chOff x="701175" y="1527996"/>
            <a:chExt cx="2630093" cy="267736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3621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362140"/>
              <a:chOff x="701175" y="1835481"/>
              <a:chExt cx="2630093" cy="23621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900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2366177"/>
            <a:ext cx="2630093" cy="1759690"/>
            <a:chOff x="3865118" y="2694619"/>
            <a:chExt cx="2630093" cy="1759690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5062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4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4140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24148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43463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547962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76534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765348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888350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006894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006894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678600"/>
            <a:ext cx="2630093" cy="1577775"/>
            <a:chOff x="3865118" y="2694619"/>
            <a:chExt cx="2630093" cy="1577775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3261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7259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4660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8" name="직사각형 87"/>
          <p:cNvSpPr/>
          <p:nvPr/>
        </p:nvSpPr>
        <p:spPr>
          <a:xfrm>
            <a:off x="7077637" y="6036456"/>
            <a:ext cx="232593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납부방법 항목 추가</a:t>
            </a:r>
            <a:endParaRPr lang="en-US" altLang="ko-KR" sz="500" dirty="0"/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1" name="그룹 9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2" name="타원 9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3" name="그룹 9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8" name="직선 연결선 9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직선 연결선 9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4" name="타원 9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5" name="그룹 9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6" name="직선 연결선 9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직선 연결선 9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0" name="그룹 99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04" name="그룹 103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0" name="그룹 109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5" name="타원 11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6" name="그룹 11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1" name="직선 연결선 14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직선 연결선 14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6" name="타원 13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7" name="그룹 13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8" name="직선 연결선 13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직선 연결선 13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1" name="그룹 110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43" name="그룹 142"/>
          <p:cNvGrpSpPr/>
          <p:nvPr/>
        </p:nvGrpSpPr>
        <p:grpSpPr>
          <a:xfrm>
            <a:off x="3828452" y="1862092"/>
            <a:ext cx="2630093" cy="444813"/>
            <a:chOff x="3865118" y="2946203"/>
            <a:chExt cx="2630093" cy="444813"/>
          </a:xfrm>
        </p:grpSpPr>
        <p:sp>
          <p:nvSpPr>
            <p:cNvPr id="145" name="직사각형 144"/>
            <p:cNvSpPr/>
            <p:nvPr/>
          </p:nvSpPr>
          <p:spPr>
            <a:xfrm>
              <a:off x="3867211" y="2946203"/>
              <a:ext cx="792000" cy="4436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67053138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28591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95569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723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18730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5343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702753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4000651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75963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2" name="그룹 7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01308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1" name="타원 8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0" name="그룹 10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1" name="타원 11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7" name="그룹 76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8" name="그룹 117"/>
          <p:cNvGrpSpPr/>
          <p:nvPr/>
        </p:nvGrpSpPr>
        <p:grpSpPr>
          <a:xfrm>
            <a:off x="3840345" y="1493927"/>
            <a:ext cx="2626449" cy="354413"/>
            <a:chOff x="720490" y="4004429"/>
            <a:chExt cx="2626449" cy="354413"/>
          </a:xfrm>
        </p:grpSpPr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01308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2" name="그룹 12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7" name="타원 12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8" name="그룹 12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5" name="직선 연결선 1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직선 연결선 1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2" name="그룹 1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3" name="직선 연결선 1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직선 연결선 1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" name="그룹 122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4213150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240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89903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756443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4" name="그룹 2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9" name="타원 2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" name="그룹 2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5" name="직선 연결선 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 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1" name="타원 3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2" name="그룹 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" name="직선 연결선 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직선 연결선 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그룹 2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8712562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5465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52681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792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75759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389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85678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1568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7524147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BC9D2BD-5C34-9D8A-E147-F2768EF82D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6893596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861416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2893688"/>
              </p:ext>
            </p:extLst>
          </p:nvPr>
        </p:nvGraphicFramePr>
        <p:xfrm>
          <a:off x="446645" y="1123906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47145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850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774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6777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76608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2584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2936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9927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615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1082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79785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9932721"/>
              </p:ext>
            </p:extLst>
          </p:nvPr>
        </p:nvGraphicFramePr>
        <p:xfrm>
          <a:off x="437936" y="106034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spclCnd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C9F9BEF-5874-BB52-4F5A-8386328260C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E3C279-1352-CBE1-480C-D01201F70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</a:t>
            </a:r>
            <a:r>
              <a:rPr lang="en-US" altLang="ko-KR" sz="700">
                <a:solidFill>
                  <a:prstClr val="black"/>
                </a:solidFill>
                <a:latin typeface="+mn-ea"/>
              </a:rPr>
              <a:t>Hidden     2) </a:t>
            </a:r>
            <a:r>
              <a:rPr lang="ko-KR" altLang="en-US" sz="70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301188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535657"/>
              </p:ext>
            </p:extLst>
          </p:nvPr>
        </p:nvGraphicFramePr>
        <p:xfrm>
          <a:off x="453000" y="100965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69342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37B7FB1-AFA2-0017-3371-A592DD8CF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9166739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물품단가계약서상세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물품단가계약서상세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단가제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단가제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계약확정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76" name="그룹 17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7" name="그룹 176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81" name="그룹 180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85" name="타원 184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7" name="그룹 186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계약명세서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특수조건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－이벤트 항목 호출 없음</a:t>
            </a:r>
            <a:endParaRPr lang="en-US" altLang="ko-KR" sz="800" dirty="0" smtClean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</p:spTree>
    <p:extLst>
      <p:ext uri="{BB962C8B-B14F-4D97-AF65-F5344CB8AC3E}">
        <p14:creationId xmlns:p14="http://schemas.microsoft.com/office/powerpoint/2010/main" val="213015255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총액제와</a:t>
            </a:r>
            <a:r>
              <a:rPr lang="ko-KR" altLang="en-US" dirty="0" smtClean="0"/>
              <a:t> 부서명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조달판단번호가 상이함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납부방법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계약방법조회결과 </a:t>
            </a:r>
            <a:r>
              <a:rPr lang="ko-KR" altLang="en-US" dirty="0" err="1" smtClean="0"/>
              <a:t>상위코드</a:t>
            </a:r>
            <a:r>
              <a:rPr lang="ko-KR" altLang="en-US" dirty="0" smtClean="0"/>
              <a:t> </a:t>
            </a:r>
            <a:r>
              <a:rPr lang="en-US" altLang="ko-KR" dirty="0" smtClean="0"/>
              <a:t>,</a:t>
            </a:r>
            <a:r>
              <a:rPr lang="en-US" altLang="ko-KR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CTMC)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8392"/>
            <a:ext cx="2630093" cy="3109321"/>
            <a:chOff x="701175" y="1527996"/>
            <a:chExt cx="2630093" cy="310932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단가제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000-0000-00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1836"/>
              <a:chOff x="701175" y="1835481"/>
              <a:chExt cx="2630093" cy="280183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57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3731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70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4158804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77760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2074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798192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911523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12890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128909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6251911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370455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370455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951773"/>
            <a:ext cx="2630093" cy="2190577"/>
            <a:chOff x="3865118" y="2694619"/>
            <a:chExt cx="2630093" cy="2190577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9336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63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213" y="19991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8295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0" name="직사각형 89"/>
          <p:cNvSpPr/>
          <p:nvPr/>
        </p:nvSpPr>
        <p:spPr>
          <a:xfrm>
            <a:off x="7079461" y="6069668"/>
            <a:ext cx="2324109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</a:t>
            </a:r>
            <a:r>
              <a:rPr lang="en-US" altLang="ko-KR" sz="500" dirty="0"/>
              <a:t>-  </a:t>
            </a:r>
            <a:r>
              <a:rPr lang="ko-KR" altLang="en-US" sz="500" dirty="0" smtClean="0"/>
              <a:t>납부방법 항목 추가</a:t>
            </a:r>
            <a:endParaRPr lang="en-US" altLang="ko-KR" sz="500" dirty="0"/>
          </a:p>
        </p:txBody>
      </p:sp>
      <p:grpSp>
        <p:nvGrpSpPr>
          <p:cNvPr id="91" name="그룹 9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5" name="그룹 94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00" name="타원 9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1" name="그룹 10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6" name="직선 연결선 10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직선 연결선 10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2" name="타원 10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3" name="그룹 10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4" name="직선 연결선 10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직선 연결선 10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6" name="그룹 95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0" name="그룹 109"/>
          <p:cNvGrpSpPr/>
          <p:nvPr/>
        </p:nvGrpSpPr>
        <p:grpSpPr>
          <a:xfrm>
            <a:off x="3831550" y="1493927"/>
            <a:ext cx="2626449" cy="354413"/>
            <a:chOff x="720490" y="4004429"/>
            <a:chExt cx="2626449" cy="354413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8" name="타원 13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0" name="그룹 13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5" name="직선 연결선 14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6" name="직선 연결선 14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1" name="타원 14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2" name="그룹 14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3" name="직선 연결선 14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직선 연결선 14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6452242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물품단가계약서상세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02465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69443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111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2731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676627"/>
            <a:ext cx="2630093" cy="3483239"/>
            <a:chOff x="3865118" y="2694619"/>
            <a:chExt cx="2630093" cy="348323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29770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986923"/>
              <a:ext cx="930144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fontAlgn="ctr"/>
              <a:r>
                <a:rPr lang="ko-KR" altLang="ko-KR" sz="700" dirty="0" err="1" smtClean="0"/>
                <a:t>항목번호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err="1" smtClean="0"/>
                <a:t>재고번호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smtClean="0"/>
                <a:t>품명</a:t>
              </a:r>
              <a:endParaRPr lang="ko-KR" altLang="ko-KR" sz="700" dirty="0"/>
            </a:p>
            <a:p>
              <a:pPr fontAlgn="ctr"/>
              <a:endParaRPr lang="en-US" altLang="ko-KR" sz="700" dirty="0" smtClean="0"/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단위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수량</a:t>
              </a:r>
              <a:r>
                <a:rPr lang="en-US" altLang="ko-KR" sz="700" dirty="0">
                  <a:solidFill>
                    <a:srgbClr val="FF0000"/>
                  </a:solidFill>
                </a:rPr>
                <a:t>(</a:t>
              </a:r>
              <a:r>
                <a:rPr lang="ko-KR" altLang="ko-KR" sz="700" dirty="0">
                  <a:solidFill>
                    <a:srgbClr val="FF0000"/>
                  </a:solidFill>
                </a:rPr>
                <a:t>예정</a:t>
              </a:r>
              <a:r>
                <a:rPr lang="en-US" altLang="ko-KR" sz="700" dirty="0">
                  <a:solidFill>
                    <a:srgbClr val="FF0000"/>
                  </a:solidFill>
                </a:rPr>
                <a:t>)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단가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금액</a:t>
              </a:r>
              <a:r>
                <a:rPr lang="en-US" altLang="ko-KR" sz="700" dirty="0">
                  <a:solidFill>
                    <a:srgbClr val="FF0000"/>
                  </a:solidFill>
                </a:rPr>
                <a:t>(</a:t>
              </a:r>
              <a:r>
                <a:rPr lang="ko-KR" altLang="ko-KR" sz="700" dirty="0">
                  <a:solidFill>
                    <a:srgbClr val="FF0000"/>
                  </a:solidFill>
                </a:rPr>
                <a:t>예정</a:t>
              </a:r>
              <a:r>
                <a:rPr lang="en-US" altLang="ko-KR" sz="700" dirty="0">
                  <a:solidFill>
                    <a:srgbClr val="FF0000"/>
                  </a:solidFill>
                </a:rPr>
                <a:t>)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도면번호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규격번호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부품번호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검사형태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smtClean="0">
                  <a:solidFill>
                    <a:srgbClr val="FF0000"/>
                  </a:solidFill>
                </a:rPr>
                <a:t>납기</a:t>
              </a:r>
              <a:endParaRPr lang="ko-KR" altLang="ko-KR" sz="700" dirty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납지</a:t>
              </a:r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endParaRPr lang="en-US" altLang="ko-KR" sz="700" dirty="0" smtClean="0">
                <a:solidFill>
                  <a:srgbClr val="FF0000"/>
                </a:solidFill>
              </a:endParaRPr>
            </a:p>
            <a:p>
              <a:pPr fontAlgn="ctr"/>
              <a:r>
                <a:rPr lang="ko-KR" altLang="ko-KR" sz="700" dirty="0" err="1" smtClean="0">
                  <a:solidFill>
                    <a:srgbClr val="FF0000"/>
                  </a:solidFill>
                </a:rPr>
                <a:t>납지수량</a:t>
              </a:r>
              <a:endParaRPr lang="ko-KR" altLang="ko-KR" sz="700" dirty="0">
                <a:solidFill>
                  <a:srgbClr val="FF0000"/>
                </a:solidFill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8405..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564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60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746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4884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0038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1408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4032390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49837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2" name="직사각형 71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계약명세정보 화면 추가</a:t>
            </a:r>
            <a:r>
              <a:rPr lang="en-US" altLang="ko-KR" sz="500" dirty="0" smtClean="0"/>
              <a:t/>
            </a:r>
            <a:br>
              <a:rPr lang="en-US" altLang="ko-KR" sz="500" dirty="0" smtClean="0"/>
            </a:br>
            <a:r>
              <a:rPr lang="ko-KR" altLang="en-US" sz="500" dirty="0" smtClean="0"/>
              <a:t>예산항목 삭제 외</a:t>
            </a:r>
            <a:r>
              <a:rPr lang="en-US" altLang="ko-KR" sz="500" dirty="0"/>
              <a:t/>
            </a:r>
            <a:br>
              <a:rPr lang="en-US" altLang="ko-KR" sz="500" dirty="0"/>
            </a:br>
            <a:r>
              <a:rPr lang="ko-KR" altLang="en-US" sz="500" dirty="0" smtClean="0"/>
              <a:t>항목 다수 변경 이슈로 </a:t>
            </a:r>
            <a:r>
              <a:rPr lang="en-US" altLang="ko-KR" sz="500" dirty="0" smtClean="0"/>
              <a:t>layout </a:t>
            </a:r>
            <a:r>
              <a:rPr lang="ko-KR" altLang="en-US" sz="500" dirty="0" smtClean="0"/>
              <a:t>변경사항 반영 필요</a:t>
            </a:r>
            <a:endParaRPr lang="en-US" altLang="ko-KR" sz="500" dirty="0"/>
          </a:p>
        </p:txBody>
      </p:sp>
      <p:grpSp>
        <p:nvGrpSpPr>
          <p:cNvPr id="81" name="그룹 8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20755" y="4358842"/>
              <a:ext cx="486726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9" name="타원 11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0" name="그룹 11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5" name="직선 연결선 12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직선 연결선 12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타원 12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2" name="그룹 12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23" name="직선 연결선 12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4" name="직선 연결선 12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27" name="그룹 126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20755" y="4358842"/>
              <a:ext cx="486726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33" name="그룹 13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40" name="타원 13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3" name="그룹 14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8" name="직선 연결선 14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직선 연결선 14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4" name="타원 14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5" name="그룹 14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6" name="직선 연결선 14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7" name="직선 연결선 14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34" name="그룹 133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5099765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물품총액계약서상세</a:t>
            </a:r>
            <a:r>
              <a:rPr lang="ko-KR" altLang="en-US" dirty="0" smtClean="0"/>
              <a:t>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533275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err="1" smtClean="0"/>
              <a:t>특수조건</a:t>
            </a:r>
            <a:r>
              <a:rPr lang="ko-KR" altLang="en-US" sz="500" dirty="0" smtClean="0"/>
              <a:t> 화면 추가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3297724665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29220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2974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7577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188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3122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75621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494351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33758EB-5A32-E642-417C-8D4DA0CA5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488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9692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421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699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65004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230602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11002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152226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5590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6965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94358646-C15E-A834-70D8-10265E460335}"/>
              </a:ext>
            </a:extLst>
          </p:cNvPr>
          <p:cNvSpPr txBox="1"/>
          <p:nvPr/>
        </p:nvSpPr>
        <p:spPr>
          <a:xfrm>
            <a:off x="443054" y="5780284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F81F8B0-A405-8059-A659-6D204CB173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604277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209005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8109792"/>
              </p:ext>
            </p:extLst>
          </p:nvPr>
        </p:nvGraphicFramePr>
        <p:xfrm>
          <a:off x="453000" y="101947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324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FE78B1-AD7B-1A69-C96D-5934E09FB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8403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073128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186459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380613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8061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380613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380613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6117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825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391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528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665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802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99053" y="55850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364435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77" name="모서리가 둥근 직사각형 176"/>
          <p:cNvSpPr/>
          <p:nvPr/>
        </p:nvSpPr>
        <p:spPr>
          <a:xfrm>
            <a:off x="3831550" y="6029382"/>
            <a:ext cx="2652743" cy="202917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3" name="그룹 152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4" name="그룹 153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3" name="타원 16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6" name="그룹 175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8" name="직선 연결선 17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 내역은 </a:t>
            </a:r>
            <a:r>
              <a:rPr lang="ko-KR" altLang="en-US" sz="800" dirty="0" err="1" smtClean="0"/>
              <a:t>다음페이지</a:t>
            </a:r>
            <a:r>
              <a:rPr lang="ko-KR" altLang="en-US" sz="800" dirty="0" smtClean="0"/>
              <a:t> 참조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이벤트 항목 </a:t>
            </a:r>
            <a:r>
              <a:rPr lang="ko-KR" altLang="en-US" sz="800" dirty="0" err="1" smtClean="0"/>
              <a:t>바텀시트</a:t>
            </a:r>
            <a:r>
              <a:rPr lang="ko-KR" altLang="en-US" sz="800" dirty="0" smtClean="0"/>
              <a:t> 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노출항목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다음페이지</a:t>
            </a:r>
            <a:r>
              <a:rPr lang="ko-KR" altLang="en-US" sz="800" dirty="0" smtClean="0"/>
              <a:t> 참조</a:t>
            </a:r>
            <a:endParaRPr lang="en-US" altLang="ko-KR" sz="800" dirty="0" smtClean="0"/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3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7" name="직사각형 206"/>
          <p:cNvSpPr/>
          <p:nvPr/>
        </p:nvSpPr>
        <p:spPr>
          <a:xfrm>
            <a:off x="7066462" y="6072298"/>
            <a:ext cx="23246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물가변동계약금액조정방법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납품일자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납품장소</a:t>
            </a:r>
            <a:r>
              <a:rPr lang="ko-KR" altLang="en-US" sz="500" dirty="0" smtClean="0"/>
              <a:t> 누락</a:t>
            </a:r>
            <a:endParaRPr lang="en-US" altLang="ko-KR" sz="500" dirty="0"/>
          </a:p>
        </p:txBody>
      </p:sp>
    </p:spTree>
    <p:extLst>
      <p:ext uri="{BB962C8B-B14F-4D97-AF65-F5344CB8AC3E}">
        <p14:creationId xmlns:p14="http://schemas.microsoft.com/office/powerpoint/2010/main" val="170508537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 </a:t>
            </a:r>
            <a:r>
              <a:rPr lang="ko-KR" altLang="en-US" dirty="0" err="1" smtClean="0">
                <a:latin typeface="+mn-ea"/>
              </a:rPr>
              <a:t>상세조회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4" name="그룹 153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59" name="타원 1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63" name="타원 16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6" name="그룹 175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8" name="직선 연결선 17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직선 연결선 17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/>
              <a:t>상세 기능이 있는 페이지에만 노출된다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1-1</a:t>
            </a:r>
            <a:r>
              <a:rPr lang="en-US" altLang="ko-KR" sz="800" dirty="0" smtClean="0"/>
              <a:t>] </a:t>
            </a:r>
            <a:r>
              <a:rPr lang="ko-KR" altLang="en-US" sz="800" dirty="0" err="1" smtClean="0"/>
              <a:t>계약명세서</a:t>
            </a:r>
            <a:r>
              <a:rPr lang="ko-KR" altLang="en-US" sz="800" dirty="0" smtClean="0"/>
              <a:t> 조회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en-US" altLang="ko-KR" sz="800" dirty="0">
                <a:latin typeface="+mn-ea"/>
              </a:rPr>
              <a:t> (MUI-CT-01-P10)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물품계약명세서</a:t>
            </a:r>
            <a:r>
              <a:rPr lang="en-US" altLang="ko-KR" sz="800" dirty="0">
                <a:latin typeface="+mn-ea"/>
              </a:rPr>
              <a:t>, (MUI-CT-01-P11)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물품최종계약명세서</a:t>
            </a:r>
            <a:r>
              <a:rPr lang="en-US" altLang="ko-KR" sz="800" dirty="0">
                <a:latin typeface="+mn-ea"/>
              </a:rPr>
              <a:t>, (MUI-CT-01-P12)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물품수정계약명세서</a:t>
            </a:r>
            <a:r>
              <a:rPr lang="en-US" altLang="ko-KR" sz="800" dirty="0">
                <a:latin typeface="+mn-ea"/>
              </a:rPr>
              <a:t>, (MUI-CT-01-P13)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</a:rPr>
              <a:t> 물품일반계약명세서</a:t>
            </a:r>
            <a:endParaRPr lang="ko-KR" altLang="en-US" sz="800" dirty="0">
              <a:latin typeface="+mn-ea"/>
            </a:endParaRPr>
          </a:p>
          <a:p>
            <a:pPr marL="228600" lvl="0" indent="-228600">
              <a:buFont typeface="+mj-lt"/>
              <a:buAutoNum type="arabicPeriod"/>
            </a:pPr>
            <a:endParaRPr lang="en-US" altLang="ko-KR" sz="800" dirty="0"/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91685" y="5590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60997" y="1490952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23" name="그룹 222"/>
          <p:cNvGrpSpPr/>
          <p:nvPr/>
        </p:nvGrpSpPr>
        <p:grpSpPr>
          <a:xfrm>
            <a:off x="3723466" y="2945746"/>
            <a:ext cx="2749909" cy="3337178"/>
            <a:chOff x="7056452" y="5531684"/>
            <a:chExt cx="2749909" cy="3337178"/>
          </a:xfrm>
        </p:grpSpPr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625129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59252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438749" y="6285043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공지사항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7" name="타원 226"/>
            <p:cNvSpPr/>
            <p:nvPr/>
          </p:nvSpPr>
          <p:spPr>
            <a:xfrm>
              <a:off x="7202621" y="631638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8" name="그룹 227"/>
            <p:cNvGrpSpPr/>
            <p:nvPr/>
          </p:nvGrpSpPr>
          <p:grpSpPr>
            <a:xfrm>
              <a:off x="9562483" y="6398374"/>
              <a:ext cx="94010" cy="47005"/>
              <a:chOff x="6812560" y="3297172"/>
              <a:chExt cx="94010" cy="47005"/>
            </a:xfrm>
          </p:grpSpPr>
          <p:cxnSp>
            <p:nvCxnSpPr>
              <p:cNvPr id="341" name="직선 연결선 3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42" name="직선 연결선 34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83104" y="6730334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7480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6" name="그룹 235"/>
            <p:cNvGrpSpPr/>
            <p:nvPr/>
          </p:nvGrpSpPr>
          <p:grpSpPr>
            <a:xfrm>
              <a:off x="9343021" y="6692211"/>
              <a:ext cx="422853" cy="187961"/>
              <a:chOff x="3641308" y="2234886"/>
              <a:chExt cx="422853" cy="187961"/>
            </a:xfrm>
          </p:grpSpPr>
          <p:sp>
            <p:nvSpPr>
              <p:cNvPr id="330" name="타원 32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1" name="그룹 33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6" name="직선 연결선 33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9" name="직선 연결선 33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32" name="타원 33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3" name="그룹 33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4" name="직선 연결선 33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직선 연결선 33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00396" y="7053272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상세정보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38" name="그룹 237"/>
            <p:cNvGrpSpPr/>
            <p:nvPr/>
          </p:nvGrpSpPr>
          <p:grpSpPr>
            <a:xfrm flipV="1">
              <a:off x="9562483" y="7166603"/>
              <a:ext cx="94010" cy="47005"/>
              <a:chOff x="6812560" y="3297172"/>
              <a:chExt cx="94010" cy="47005"/>
            </a:xfrm>
          </p:grpSpPr>
          <p:cxnSp>
            <p:nvCxnSpPr>
              <p:cNvPr id="328" name="직선 연결선 32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9" name="직선 연결선 32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39" name="직사각형 238"/>
            <p:cNvSpPr/>
            <p:nvPr/>
          </p:nvSpPr>
          <p:spPr>
            <a:xfrm>
              <a:off x="7141518" y="7360757"/>
              <a:ext cx="792000" cy="14596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736075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8582" y="7360757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계약서 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85430" y="7360757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5918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8055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0192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2329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4466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6603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589361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67" name="그룹 266"/>
            <p:cNvGrpSpPr/>
            <p:nvPr/>
          </p:nvGrpSpPr>
          <p:grpSpPr>
            <a:xfrm rot="16200000">
              <a:off x="7669632" y="6046435"/>
              <a:ext cx="94010" cy="47005"/>
              <a:chOff x="6812560" y="3297172"/>
              <a:chExt cx="94010" cy="47005"/>
            </a:xfrm>
          </p:grpSpPr>
          <p:cxnSp>
            <p:nvCxnSpPr>
              <p:cNvPr id="326" name="직선 연결선 3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7" name="직선 연결선 3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23105" y="6016075"/>
              <a:ext cx="40086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입찰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0" name="타원 269"/>
            <p:cNvSpPr/>
            <p:nvPr/>
          </p:nvSpPr>
          <p:spPr>
            <a:xfrm>
              <a:off x="782297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7802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2" name="그룹 271"/>
            <p:cNvGrpSpPr/>
            <p:nvPr/>
          </p:nvGrpSpPr>
          <p:grpSpPr>
            <a:xfrm rot="16200000">
              <a:off x="8325743" y="6046435"/>
              <a:ext cx="94010" cy="47005"/>
              <a:chOff x="6812560" y="3297172"/>
              <a:chExt cx="94010" cy="47005"/>
            </a:xfrm>
          </p:grpSpPr>
          <p:cxnSp>
            <p:nvCxnSpPr>
              <p:cNvPr id="324" name="직선 연결선 32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5" name="직선 연결선 3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73" name="그룹 272"/>
            <p:cNvGrpSpPr/>
            <p:nvPr/>
          </p:nvGrpSpPr>
          <p:grpSpPr>
            <a:xfrm rot="16200000">
              <a:off x="8981855" y="6046435"/>
              <a:ext cx="94010" cy="47005"/>
              <a:chOff x="6812560" y="3297172"/>
              <a:chExt cx="94010" cy="47005"/>
            </a:xfrm>
          </p:grpSpPr>
          <p:cxnSp>
            <p:nvCxnSpPr>
              <p:cNvPr id="322" name="직선 연결선 3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3" name="직선 연결선 3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4" name="타원 273"/>
            <p:cNvSpPr/>
            <p:nvPr/>
          </p:nvSpPr>
          <p:spPr>
            <a:xfrm>
              <a:off x="716686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191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370285" y="6016075"/>
              <a:ext cx="39757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조달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8" name="그룹 277"/>
            <p:cNvGrpSpPr/>
            <p:nvPr/>
          </p:nvGrpSpPr>
          <p:grpSpPr>
            <a:xfrm>
              <a:off x="8477684" y="5975956"/>
              <a:ext cx="603798" cy="187961"/>
              <a:chOff x="2058749" y="3237230"/>
              <a:chExt cx="603798" cy="187961"/>
            </a:xfrm>
          </p:grpSpPr>
          <p:grpSp>
            <p:nvGrpSpPr>
              <p:cNvPr id="318" name="그룹 317"/>
              <p:cNvGrpSpPr/>
              <p:nvPr/>
            </p:nvGrpSpPr>
            <p:grpSpPr>
              <a:xfrm>
                <a:off x="2058749" y="3237230"/>
                <a:ext cx="187961" cy="187961"/>
                <a:chOff x="2058749" y="3237230"/>
                <a:chExt cx="187961" cy="187961"/>
              </a:xfrm>
            </p:grpSpPr>
            <p:sp>
              <p:nvSpPr>
                <p:cNvPr id="320" name="타원 319"/>
                <p:cNvSpPr/>
                <p:nvPr/>
              </p:nvSpPr>
              <p:spPr>
                <a:xfrm>
                  <a:off x="2058749" y="3237230"/>
                  <a:ext cx="187961" cy="187961"/>
                </a:xfrm>
                <a:prstGeom prst="ellipse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1" name="TextBox 320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113806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solidFill>
                        <a:schemeClr val="bg1"/>
                      </a:solidFill>
                      <a:latin typeface="+mn-ea"/>
                    </a:rPr>
                    <a:t>3</a:t>
                  </a:r>
                  <a:endParaRPr lang="ko-KR" altLang="en-US" sz="7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263899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계약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16881" y="6730334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35481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85" name="그룹 284"/>
            <p:cNvGrpSpPr/>
            <p:nvPr/>
          </p:nvGrpSpPr>
          <p:grpSpPr>
            <a:xfrm>
              <a:off x="9133795" y="5975956"/>
              <a:ext cx="603798" cy="187961"/>
              <a:chOff x="2714860" y="3237230"/>
              <a:chExt cx="603798" cy="187961"/>
            </a:xfrm>
          </p:grpSpPr>
          <p:grpSp>
            <p:nvGrpSpPr>
              <p:cNvPr id="314" name="그룹 313"/>
              <p:cNvGrpSpPr/>
              <p:nvPr/>
            </p:nvGrpSpPr>
            <p:grpSpPr>
              <a:xfrm>
                <a:off x="2714860" y="3237230"/>
                <a:ext cx="187961" cy="187961"/>
                <a:chOff x="2714860" y="3237230"/>
                <a:chExt cx="187961" cy="187961"/>
              </a:xfrm>
            </p:grpSpPr>
            <p:sp>
              <p:nvSpPr>
                <p:cNvPr id="316" name="타원 315"/>
                <p:cNvSpPr/>
                <p:nvPr/>
              </p:nvSpPr>
              <p:spPr>
                <a:xfrm>
                  <a:off x="2714860" y="3237230"/>
                  <a:ext cx="187961" cy="18796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7" name="TextBox 3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769917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latin typeface="+mn-ea"/>
                    </a:rPr>
                    <a:t>4</a:t>
                  </a:r>
                  <a:endParaRPr lang="ko-KR" altLang="en-US" sz="700" dirty="0">
                    <a:latin typeface="+mn-ea"/>
                  </a:endParaRPr>
                </a:p>
              </p:txBody>
            </p:sp>
          </p:grpSp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20010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이행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86" name="그룹 285"/>
            <p:cNvGrpSpPr/>
            <p:nvPr/>
          </p:nvGrpSpPr>
          <p:grpSpPr>
            <a:xfrm rot="5400000">
              <a:off x="9577913" y="5970247"/>
              <a:ext cx="187961" cy="187961"/>
              <a:chOff x="3876200" y="2234886"/>
              <a:chExt cx="187961" cy="187961"/>
            </a:xfrm>
          </p:grpSpPr>
          <p:sp>
            <p:nvSpPr>
              <p:cNvPr id="310" name="타원 30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11" name="그룹 31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12" name="직선 연결선 31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직선 연결선 31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7" name="양쪽 모서리가 둥근 사각형 286"/>
            <p:cNvSpPr/>
            <p:nvPr/>
          </p:nvSpPr>
          <p:spPr>
            <a:xfrm>
              <a:off x="7087364" y="5599752"/>
              <a:ext cx="2712027" cy="3215510"/>
            </a:xfrm>
            <a:prstGeom prst="round2SameRect">
              <a:avLst>
                <a:gd name="adj1" fmla="val 4887"/>
                <a:gd name="adj2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ko-KR" altLang="en-US" sz="700">
                <a:solidFill>
                  <a:srgbClr val="0F4294"/>
                </a:solidFill>
              </a:endParaRPr>
            </a:p>
          </p:txBody>
        </p:sp>
        <p:sp>
          <p:nvSpPr>
            <p:cNvPr id="290" name="모서리가 둥근 직사각형 289"/>
            <p:cNvSpPr/>
            <p:nvPr/>
          </p:nvSpPr>
          <p:spPr>
            <a:xfrm>
              <a:off x="8173377" y="5636379"/>
              <a:ext cx="540000" cy="4571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tx1"/>
                </a:solidFill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>
              <a:off x="9576303" y="5770795"/>
              <a:ext cx="94010" cy="94010"/>
              <a:chOff x="6812560" y="3297172"/>
              <a:chExt cx="94010" cy="94010"/>
            </a:xfrm>
          </p:grpSpPr>
          <p:cxnSp>
            <p:nvCxnSpPr>
              <p:cNvPr id="308" name="직선 연결선 30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9" name="직선 연결선 30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16441" y="5751474"/>
              <a:ext cx="179875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900" dirty="0">
                  <a:latin typeface="+mn-ea"/>
                </a:rPr>
                <a:t> </a:t>
              </a:r>
              <a:endParaRPr lang="ko-KR" altLang="en-US" sz="900" dirty="0">
                <a:latin typeface="+mn-ea"/>
              </a:endParaRPr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87364" y="601287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22BC05EE-C648-7CA2-4CCC-6E1C1A7E9BDA}"/>
                </a:ext>
              </a:extLst>
            </p:cNvPr>
            <p:cNvGrpSpPr/>
            <p:nvPr/>
          </p:nvGrpSpPr>
          <p:grpSpPr>
            <a:xfrm>
              <a:off x="8424253" y="8281222"/>
              <a:ext cx="76863" cy="292489"/>
              <a:chOff x="3750067" y="4683795"/>
              <a:chExt cx="76863" cy="292489"/>
            </a:xfrm>
          </p:grpSpPr>
          <p:sp>
            <p:nvSpPr>
              <p:cNvPr id="305" name="타원 304">
                <a:extLst>
                  <a:ext uri="{FF2B5EF4-FFF2-40B4-BE49-F238E27FC236}">
                    <a16:creationId xmlns:a16="http://schemas.microsoft.com/office/drawing/2014/main" id="{B62EC5A9-8616-6B01-4FB1-D38CF6C29F0E}"/>
                  </a:ext>
                </a:extLst>
              </p:cNvPr>
              <p:cNvSpPr/>
              <p:nvPr/>
            </p:nvSpPr>
            <p:spPr>
              <a:xfrm>
                <a:off x="3750067" y="4683795"/>
                <a:ext cx="76863" cy="76863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306" name="타원 305">
                <a:extLst>
                  <a:ext uri="{FF2B5EF4-FFF2-40B4-BE49-F238E27FC236}">
                    <a16:creationId xmlns:a16="http://schemas.microsoft.com/office/drawing/2014/main" id="{0D32B1A6-219D-1D15-5FDD-889D3F5740C1}"/>
                  </a:ext>
                </a:extLst>
              </p:cNvPr>
              <p:cNvSpPr/>
              <p:nvPr/>
            </p:nvSpPr>
            <p:spPr>
              <a:xfrm>
                <a:off x="3750067" y="4791517"/>
                <a:ext cx="76863" cy="76863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307" name="타원 306">
                <a:extLst>
                  <a:ext uri="{FF2B5EF4-FFF2-40B4-BE49-F238E27FC236}">
                    <a16:creationId xmlns:a16="http://schemas.microsoft.com/office/drawing/2014/main" id="{F347D62C-1828-433E-F5ED-51C6591859DD}"/>
                  </a:ext>
                </a:extLst>
              </p:cNvPr>
              <p:cNvSpPr/>
              <p:nvPr/>
            </p:nvSpPr>
            <p:spPr>
              <a:xfrm>
                <a:off x="3750067" y="4899421"/>
                <a:ext cx="76863" cy="76863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</p:grpSp>
        <p:sp>
          <p:nvSpPr>
            <p:cNvPr id="297" name="타원 296">
              <a:extLst>
                <a:ext uri="{FF2B5EF4-FFF2-40B4-BE49-F238E27FC236}">
                  <a16:creationId xmlns:a16="http://schemas.microsoft.com/office/drawing/2014/main" id="{37A7FF4F-0EAA-1463-560A-D5EC24416103}"/>
                </a:ext>
              </a:extLst>
            </p:cNvPr>
            <p:cNvSpPr/>
            <p:nvPr/>
          </p:nvSpPr>
          <p:spPr>
            <a:xfrm>
              <a:off x="7056452" y="5531684"/>
              <a:ext cx="172130" cy="172130"/>
            </a:xfrm>
            <a:prstGeom prst="ellipse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500" dirty="0" smtClean="0"/>
                <a:t>1-1</a:t>
              </a:r>
              <a:endParaRPr lang="ko-KR" altLang="en-US" sz="900" dirty="0"/>
            </a:p>
          </p:txBody>
        </p:sp>
        <p:sp>
          <p:nvSpPr>
            <p:cNvPr id="300" name="모서리가 둥근 직사각형 40">
              <a:extLst>
                <a:ext uri="{FF2B5EF4-FFF2-40B4-BE49-F238E27FC236}">
                  <a16:creationId xmlns:a16="http://schemas.microsoft.com/office/drawing/2014/main" id="{3BE5C28A-F0C3-8BA2-3AC1-EFA405ADE137}"/>
                </a:ext>
              </a:extLst>
            </p:cNvPr>
            <p:cNvSpPr/>
            <p:nvPr/>
          </p:nvSpPr>
          <p:spPr bwMode="auto">
            <a:xfrm>
              <a:off x="7179667" y="6134416"/>
              <a:ext cx="2522014" cy="244350"/>
            </a:xfrm>
            <a:prstGeom prst="roundRect">
              <a:avLst/>
            </a:prstGeom>
            <a:solidFill>
              <a:srgbClr val="0F4294"/>
            </a:solidFill>
            <a:ln w="6350">
              <a:solidFill>
                <a:srgbClr val="0F4294"/>
              </a:solidFill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lIns="36000" rIns="36000" anchor="ctr"/>
            <a:lstStyle/>
            <a:p>
              <a:pPr algn="ctr">
                <a:defRPr/>
              </a:pPr>
              <a:r>
                <a:rPr lang="ko-KR" altLang="en-US" sz="700" dirty="0" err="1" smtClean="0">
                  <a:solidFill>
                    <a:schemeClr val="bg1"/>
                  </a:solidFill>
                  <a:latin typeface="+mn-ea"/>
                </a:rPr>
                <a:t>계약명세서</a:t>
              </a:r>
              <a:r>
                <a:rPr lang="ko-KR" altLang="en-US" sz="700" dirty="0" smtClean="0">
                  <a:solidFill>
                    <a:schemeClr val="bg1"/>
                  </a:solidFill>
                  <a:latin typeface="+mn-ea"/>
                </a:rPr>
                <a:t> 조회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8535946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물품일반계약서상세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물품일반계약서상세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490537"/>
            <a:chOff x="701175" y="1527996"/>
            <a:chExt cx="2630093" cy="249053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183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0000-0000-00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75049"/>
              <a:chOff x="701175" y="1835481"/>
              <a:chExt cx="2630093" cy="2175049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01053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526061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1448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574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165449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278780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496166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3619168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73771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구매담당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737712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16366" y="4084763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1756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1968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0" name="모서리가 둥근 직사각형 89"/>
          <p:cNvSpPr/>
          <p:nvPr/>
        </p:nvSpPr>
        <p:spPr>
          <a:xfrm>
            <a:off x="3831550" y="400437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2291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원가담당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122916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김길동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31550" y="438341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0196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01960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박길동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6820226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3099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338580"/>
              </p:ext>
            </p:extLst>
          </p:nvPr>
        </p:nvGraphicFramePr>
        <p:xfrm>
          <a:off x="452999" y="1086853"/>
          <a:ext cx="8994883" cy="5091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ctrdocTpcd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통합참조번호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 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249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169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dlvgdsPlcNm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09708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etcMttr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43259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5696956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816D957A-8E33-9E32-2D49-DCC116AAE1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016789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1975566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23805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prchsPicEchlnCd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prmcoPicEchlnCd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원가담당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054531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1062786"/>
              </p:ext>
            </p:extLst>
          </p:nvPr>
        </p:nvGraphicFramePr>
        <p:xfrm>
          <a:off x="453000" y="1093483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조회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(MUI-CT-01-P10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smtClean="0">
                          <a:latin typeface="+mn-ea"/>
                        </a:rPr>
                        <a:t>MUI-CT-01-P11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물품최종계약명세서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(MUI-CT-01-P12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물품수정계약명세서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(MUI-CT-01-P13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물품일반계약명세서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41770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77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F7CBA703-636B-B2B8-E837-81A56606E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036020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공사계약서상세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/>
              <a:t>공사계약서상세 </a:t>
            </a:r>
            <a:r>
              <a:rPr lang="ko-KR" altLang="en-US" dirty="0" smtClean="0"/>
              <a:t>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발주처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7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76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76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603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계약확정</a:t>
            </a:r>
            <a:endParaRPr lang="ko-KR" altLang="en-US" sz="600" dirty="0"/>
          </a:p>
        </p:txBody>
      </p:sp>
      <p:grpSp>
        <p:nvGrpSpPr>
          <p:cNvPr id="5" name="그룹 4"/>
          <p:cNvGrpSpPr/>
          <p:nvPr/>
        </p:nvGrpSpPr>
        <p:grpSpPr>
          <a:xfrm>
            <a:off x="3836701" y="3506952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1369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163437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169380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5282711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500097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5623099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741643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741643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808516"/>
            <a:ext cx="76863" cy="292489"/>
            <a:chOff x="3750067" y="4683795"/>
            <a:chExt cx="76863" cy="292489"/>
          </a:xfrm>
        </p:grpSpPr>
        <p:sp>
          <p:nvSpPr>
            <p:cNvPr id="173" name="타원 17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8488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9822" y="163437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하자담보책임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49594" y="4142235"/>
            <a:ext cx="5255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50928" y="1634370"/>
            <a:ext cx="5112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연대보증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0" name="그룹 159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2" name="그룹 16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6" name="타원 17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8" name="그룹 177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9" name="타원 178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0" name="그룹 179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2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하자담보책임</a:t>
            </a:r>
            <a:r>
              <a:rPr lang="en-US" altLang="ko-KR" sz="800" dirty="0" smtClean="0"/>
              <a:t>,</a:t>
            </a:r>
            <a:r>
              <a:rPr lang="ko-KR" altLang="en-US" sz="800" dirty="0" smtClean="0"/>
              <a:t> 연대보증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</a:t>
            </a:r>
            <a:endParaRPr lang="en-US" altLang="ko-KR" sz="800" dirty="0" smtClean="0"/>
          </a:p>
        </p:txBody>
      </p:sp>
      <p:sp>
        <p:nvSpPr>
          <p:cNvPr id="187" name="직사각형 186"/>
          <p:cNvSpPr/>
          <p:nvPr/>
        </p:nvSpPr>
        <p:spPr>
          <a:xfrm>
            <a:off x="7080202" y="6060844"/>
            <a:ext cx="2373139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smtClean="0"/>
              <a:t>수의계약사유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총부기금액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지체상금률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278992315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 상세정보업체정보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계약대상자 </a:t>
            </a:r>
            <a:r>
              <a:rPr lang="en-US" altLang="ko-KR" smtClean="0"/>
              <a:t>- </a:t>
            </a:r>
            <a:r>
              <a:rPr lang="ko-KR" altLang="en-US" smtClean="0"/>
              <a:t>업체정보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계약금액 정보</a:t>
            </a:r>
            <a:endParaRPr lang="en-US" altLang="ko-KR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MUI-CT-01-T19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9878"/>
            <a:ext cx="2630093" cy="3112730"/>
            <a:chOff x="701175" y="1527996"/>
            <a:chExt cx="2630093" cy="3112730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28007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발주처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물품제조구매계약서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20260130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805245"/>
              <a:chOff x="701175" y="1835481"/>
              <a:chExt cx="2630093" cy="2805245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98174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144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92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40726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5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999526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61833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40481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63891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752245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96963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96963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609263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21117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21117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8794" y="1917539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계약대상자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617" y="2008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67030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843907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3897768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3795734" y="1494789"/>
            <a:ext cx="2712027" cy="355980"/>
            <a:chOff x="3795734" y="1494789"/>
            <a:chExt cx="2712027" cy="355980"/>
          </a:xfrm>
        </p:grpSpPr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3" name="그룹 92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94" name="타원 9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5" name="그룹 9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3" name="직선 연결선 10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직선 연결선 10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9" name="타원 9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0" name="그룹 9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1" name="직선 연결선 10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직선 연결선 10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5092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675399" y="1494789"/>
            <a:ext cx="2712027" cy="355980"/>
            <a:chOff x="3795734" y="1494789"/>
            <a:chExt cx="2712027" cy="355980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137" name="타원 13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4" name="직선 연결선 14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직선 연결선 14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0" name="타원 13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5092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082184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하자담보책임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하자담보책임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하자담보책임</a:t>
            </a:r>
            <a:r>
              <a:rPr lang="ko-KR" altLang="en-US" dirty="0" smtClean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MUI-CT-01-T20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942029"/>
            <a:ext cx="2456097" cy="181140"/>
            <a:chOff x="763157" y="1527996"/>
            <a:chExt cx="2456097" cy="181140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하자담보</a:t>
              </a:r>
              <a:r>
                <a:rPr lang="ko-KR" altLang="en-US" sz="700" dirty="0" smtClean="0">
                  <a:latin typeface="+mn-ea"/>
                </a:rPr>
                <a:t> 책임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2209007"/>
            <a:ext cx="2630093" cy="1077219"/>
            <a:chOff x="3865118" y="2946203"/>
            <a:chExt cx="2630093" cy="1077219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59883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1614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0" name="그룹 109"/>
          <p:cNvGrpSpPr/>
          <p:nvPr/>
        </p:nvGrpSpPr>
        <p:grpSpPr>
          <a:xfrm>
            <a:off x="716366" y="3371830"/>
            <a:ext cx="2630093" cy="1078759"/>
            <a:chOff x="3865118" y="2946203"/>
            <a:chExt cx="2630093" cy="1078759"/>
          </a:xfrm>
        </p:grpSpPr>
        <p:sp>
          <p:nvSpPr>
            <p:cNvPr id="111" name="직사각형 110"/>
            <p:cNvSpPr/>
            <p:nvPr/>
          </p:nvSpPr>
          <p:spPr>
            <a:xfrm>
              <a:off x="3867211" y="2946203"/>
              <a:ext cx="792000" cy="10772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공종별</a:t>
              </a:r>
              <a:r>
                <a:rPr lang="ko-KR" altLang="en-US" sz="700" dirty="0" smtClean="0">
                  <a:latin typeface="+mn-ea"/>
                </a:rPr>
                <a:t> 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하자보수 </a:t>
              </a:r>
              <a:r>
                <a:rPr lang="ko-KR" altLang="en-US" sz="700" dirty="0" err="1" smtClean="0">
                  <a:latin typeface="+mn-ea"/>
                </a:rPr>
                <a:t>보증율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하자담보책임기간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 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49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9067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3896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42" name="그룹 41"/>
          <p:cNvGrpSpPr/>
          <p:nvPr/>
        </p:nvGrpSpPr>
        <p:grpSpPr>
          <a:xfrm>
            <a:off x="675399" y="1494789"/>
            <a:ext cx="2712027" cy="355980"/>
            <a:chOff x="3795734" y="1494789"/>
            <a:chExt cx="2712027" cy="355980"/>
          </a:xfrm>
        </p:grpSpPr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4332253" y="1850769"/>
              <a:ext cx="55883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46" name="그룹 45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50" name="타원 4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1" name="그룹 5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6" name="직선 연결선 5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직선 연결선 5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2" name="타원 5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3" name="그룹 5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4" name="직선 연결선 5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직선 연결선 5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5092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72858040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연대보증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내용에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연대보증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연대보증</a:t>
            </a:r>
            <a:r>
              <a:rPr lang="ko-KR" altLang="en-US" dirty="0" smtClean="0"/>
              <a:t> </a:t>
            </a:r>
            <a:r>
              <a:rPr lang="en-US" altLang="ko-KR" dirty="0"/>
              <a:t>- </a:t>
            </a:r>
            <a:r>
              <a:rPr lang="ko-KR" altLang="en-US" dirty="0"/>
              <a:t>공사계약서상세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MUI-CT-01-T21</a:t>
            </a:r>
            <a:endParaRPr lang="ko-KR" altLang="en-US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2" name="그룹 71"/>
          <p:cNvGrpSpPr/>
          <p:nvPr/>
        </p:nvGrpSpPr>
        <p:grpSpPr>
          <a:xfrm>
            <a:off x="803364" y="1924535"/>
            <a:ext cx="2456097" cy="215444"/>
            <a:chOff x="763157" y="1527996"/>
            <a:chExt cx="2456097" cy="215444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126648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연대보증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90" name="직선 연결선 8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그룹 91"/>
          <p:cNvGrpSpPr/>
          <p:nvPr/>
        </p:nvGrpSpPr>
        <p:grpSpPr>
          <a:xfrm>
            <a:off x="716366" y="2191513"/>
            <a:ext cx="2630093" cy="1942191"/>
            <a:chOff x="3865118" y="2946203"/>
            <a:chExt cx="2630093" cy="1942191"/>
          </a:xfrm>
        </p:grpSpPr>
        <p:sp>
          <p:nvSpPr>
            <p:cNvPr id="93" name="직사각형 92"/>
            <p:cNvSpPr/>
            <p:nvPr/>
          </p:nvSpPr>
          <p:spPr>
            <a:xfrm>
              <a:off x="3867211" y="2946203"/>
              <a:ext cx="792000" cy="19389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4" y="2946204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00000-0000-00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4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559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3" name="직선 연결선 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96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31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3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49252"/>
            <a:ext cx="76863" cy="292489"/>
            <a:chOff x="3750067" y="4683795"/>
            <a:chExt cx="76863" cy="292489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70401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318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2147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6" name="그룹 35"/>
          <p:cNvGrpSpPr/>
          <p:nvPr/>
        </p:nvGrpSpPr>
        <p:grpSpPr>
          <a:xfrm>
            <a:off x="675399" y="1494789"/>
            <a:ext cx="2712027" cy="355980"/>
            <a:chOff x="3795734" y="1494789"/>
            <a:chExt cx="2712027" cy="355980"/>
          </a:xfrm>
        </p:grpSpPr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14947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18507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5086365" y="1850769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40" name="그룹 39"/>
            <p:cNvGrpSpPr/>
            <p:nvPr/>
          </p:nvGrpSpPr>
          <p:grpSpPr>
            <a:xfrm>
              <a:off x="6027618" y="1596039"/>
              <a:ext cx="422853" cy="187961"/>
              <a:chOff x="3641308" y="2234886"/>
              <a:chExt cx="422853" cy="187961"/>
            </a:xfrm>
          </p:grpSpPr>
          <p:sp>
            <p:nvSpPr>
              <p:cNvPr id="48" name="타원 4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49" name="그룹 4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4" name="직선 연결선 5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직선 연결선 5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0" name="타원 4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51" name="그룹 5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52" name="직선 연결선 5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직선 연결선 5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65503" y="163437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79822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하자담보책임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048338" y="1634370"/>
              <a:ext cx="51126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연대보증</a:t>
              </a:r>
              <a:endParaRPr lang="ko-KR" altLang="en-US" sz="7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249987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260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109740"/>
              </p:ext>
            </p:extLst>
          </p:nvPr>
        </p:nvGraphicFramePr>
        <p:xfrm>
          <a:off x="452999" y="914585"/>
          <a:ext cx="8994883" cy="5285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발주처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fcltLbsvcSecd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계약유형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계약상대자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pvctRncd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수의계약사유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tcstrnBkpngAmt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45788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지체상금률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49078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물가변동계약금액조정방법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22745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bgncstYmd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착공년월일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6963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준공년월일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9322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9979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894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106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예금주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5023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85536B4-DF9E-4147-8663-8AD3E620F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2866318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7640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ofcctrEchlnCd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직급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81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ofcctrNm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계약담당 성명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58169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4444876-DFBD-6F6B-8247-A084330C41BA}"/>
              </a:ext>
            </a:extLst>
          </p:cNvPr>
          <p:cNvSpPr txBox="1"/>
          <p:nvPr/>
        </p:nvSpPr>
        <p:spPr>
          <a:xfrm>
            <a:off x="458117" y="1979216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하자담보책임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1F97DAE3-70C8-0008-F2B2-B1946099C61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6297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공종명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cnstpCtrtAmt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공종별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계약금액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dfrpGrnteAmtRt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하자보수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보증율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(%)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wrtrspPrdCn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하자담보 책임기간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A0FEFE26-A1AF-7BD6-E395-02A35A80D8FD}"/>
              </a:ext>
            </a:extLst>
          </p:cNvPr>
          <p:cNvSpPr txBox="1"/>
          <p:nvPr/>
        </p:nvSpPr>
        <p:spPr>
          <a:xfrm>
            <a:off x="458117" y="361606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연대보증 데이터</a:t>
            </a:r>
            <a:r>
              <a:rPr lang="ko-KR" altLang="en-US" sz="900" b="1" dirty="0">
                <a:solidFill>
                  <a:prstClr val="black"/>
                </a:solidFill>
              </a:rPr>
              <a:t>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EF6DC8B-90DE-CA66-C644-BD341E795C4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89981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순번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8562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금융기관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8645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사업자등록번호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224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계좌번호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조회결과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3458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2990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8304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4077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59559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8053040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1744908"/>
              </p:ext>
            </p:extLst>
          </p:nvPr>
        </p:nvGraphicFramePr>
        <p:xfrm>
          <a:off x="453000" y="104577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2954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46364423-B86A-4A19-7518-6915F57C6F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949038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물품수정계약서상세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상세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물품수정계약서상세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수정계약사유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000000 </a:t>
            </a:r>
            <a:r>
              <a:rPr lang="ko-KR" altLang="en-US" sz="900" b="1" dirty="0">
                <a:solidFill>
                  <a:prstClr val="black"/>
                </a:solidFill>
              </a:rPr>
              <a:t>모델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57817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176036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46171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수의계약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5058198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225082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53139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계약특수조건 </a:t>
            </a: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324803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426516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4" name="타원 2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5" name="타원 2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73322" y="50999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4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247" name="직사각형 246"/>
          <p:cNvSpPr/>
          <p:nvPr/>
        </p:nvSpPr>
        <p:spPr>
          <a:xfrm>
            <a:off x="7066462" y="6100910"/>
            <a:ext cx="23246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260622 –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금액</a:t>
            </a:r>
            <a:r>
              <a:rPr lang="en-US" altLang="ko-KR" sz="500" dirty="0" smtClean="0"/>
              <a:t>),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납지수량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부품번호</a:t>
            </a:r>
            <a:r>
              <a:rPr lang="ko-KR" altLang="en-US" sz="500" dirty="0" smtClean="0"/>
              <a:t> 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113735690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상세정보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 smtClean="0"/>
              <a:t>물품수정계약서상세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893248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</a:t>
              </a:r>
              <a:r>
                <a:rPr lang="en-US" altLang="ko-KR" sz="700" dirty="0" smtClean="0">
                  <a:latin typeface="+mn-ea"/>
                </a:rPr>
                <a:t>000000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89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9838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0442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1775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3514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3514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45814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57669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57669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893248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3975457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729167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77" name="타원 7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8" name="그룹 7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4" name="직선 연결선 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직선 연결선 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9" name="타원 7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0" name="그룹 7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1" name="직선 연결선 8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직선 연결선 8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" name="그룹 10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0" name="그룹 109"/>
          <p:cNvGrpSpPr/>
          <p:nvPr/>
        </p:nvGrpSpPr>
        <p:grpSpPr>
          <a:xfrm>
            <a:off x="3844696" y="1493927"/>
            <a:ext cx="2626449" cy="354413"/>
            <a:chOff x="720490" y="4004429"/>
            <a:chExt cx="2626449" cy="354413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7" name="타원 13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4" name="직선 연결선 14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직선 연결선 14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0" name="타원 13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704898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수정계약명세정보서</a:t>
            </a:r>
            <a:r>
              <a:rPr lang="ko-KR" altLang="en-US" dirty="0" smtClean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</a:t>
            </a:r>
            <a:r>
              <a:rPr lang="ko-KR" altLang="en-US" dirty="0"/>
              <a:t>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885047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3369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61880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625395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으로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장기국채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2147909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885047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14366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1" name="그룹 14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77880" y="4358842"/>
              <a:ext cx="67850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4" name="그룹 15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59" name="타원 15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0" name="그룹 15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65" name="직선 연결선 16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6" name="직선 연결선 16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1" name="타원 16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2" name="그룹 16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63" name="직선 연결선 16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4" name="직선 연결선 16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그룹 154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7" name="그룹 166"/>
          <p:cNvGrpSpPr/>
          <p:nvPr/>
        </p:nvGrpSpPr>
        <p:grpSpPr>
          <a:xfrm>
            <a:off x="3844696" y="1493927"/>
            <a:ext cx="2626449" cy="354413"/>
            <a:chOff x="720490" y="4004429"/>
            <a:chExt cx="2626449" cy="354413"/>
          </a:xfrm>
        </p:grpSpPr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97297" y="4358842"/>
              <a:ext cx="68521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1" name="그룹 17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77" name="타원 17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0" name="그룹 17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86" name="직선 연결선 18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7" name="직선 연결선 18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2" name="타원 18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3" name="그룹 18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84" name="직선 연결선 1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5" name="직선 연결선 1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72" name="그룹 171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8321570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상세 </a:t>
            </a:r>
            <a:r>
              <a:rPr lang="en-US" altLang="ko-KR" dirty="0"/>
              <a:t>- </a:t>
            </a:r>
            <a:r>
              <a:rPr lang="ko-KR" altLang="en-US" dirty="0"/>
              <a:t>물품수정계약서상세 </a:t>
            </a:r>
            <a:r>
              <a:rPr lang="ko-KR" altLang="en-US" dirty="0" smtClean="0">
                <a:latin typeface="+mn-ea"/>
              </a:rPr>
              <a:t>조회</a:t>
            </a:r>
            <a:r>
              <a:rPr lang="ko-KR" altLang="en-US" dirty="0" smtClean="0"/>
              <a:t> </a:t>
            </a:r>
            <a:r>
              <a:rPr lang="ko-KR" altLang="en-US" dirty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MUI-CT-01-T24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214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908780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" name="그룹 17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964704" y="4358842"/>
              <a:ext cx="40445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" name="그룹 2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8" name="타원 2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9" name="그룹 2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4" name="직선 연결선 3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 3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0" name="타원 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1" name="그룹 3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2" name="직선 연결선 3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직선 연결선 3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" name="그룹 2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244673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06364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0118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mdfcnCtrtIncrsAmt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diffAmt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depsSecd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0A3D08A-E02C-D6E2-2997-258DEBA43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560D2D5-52EA-E497-A4A3-A5826A422228}"/>
              </a:ext>
            </a:extLst>
          </p:cNvPr>
          <p:cNvSpPr txBox="1"/>
          <p:nvPr/>
        </p:nvSpPr>
        <p:spPr>
          <a:xfrm>
            <a:off x="458117" y="4913825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518D26-28C4-93AA-A3EE-8A8F998D4E7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19757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9423366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811333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2505"/>
          <a:ext cx="8994883" cy="4388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36048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958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6163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551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6715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644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016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b="1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255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9770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67620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61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80013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8999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1280999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E07BFCFD-35D9-346C-8E60-BD520ADC8151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288041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806304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687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spclCnd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8B044B1-EC91-0F8A-BB80-43B220D14079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310219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3145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5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계약서 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scwin.btn_list_onclick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계약통합목록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(UI-CT-01-M01)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계약통합목록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11868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71522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804EAA8-7415-C097-8F47-2A068BB34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2545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공사 계약의 진행 상태 이력을 </a:t>
            </a:r>
            <a:r>
              <a:rPr lang="ko-KR" altLang="en-US" dirty="0" smtClean="0"/>
              <a:t>조회하기위한화면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내역 조회만 가능하고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클릭 불가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 계약에서 조회할 때 보여지는 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국외 계약에서 조회할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처리 담당자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반려사유</a:t>
            </a:r>
            <a:r>
              <a:rPr lang="ko-KR" altLang="en-US" dirty="0" smtClean="0"/>
              <a:t> 추가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반려사유가</a:t>
            </a:r>
            <a:r>
              <a:rPr lang="ko-KR" altLang="en-US" dirty="0" smtClean="0"/>
              <a:t> 없을 때 </a:t>
            </a:r>
            <a:r>
              <a:rPr lang="ko-KR" altLang="en-US" dirty="0" err="1" smtClean="0"/>
              <a:t>미표시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계약진행상태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계약의 </a:t>
            </a:r>
            <a:r>
              <a:rPr lang="ko-KR" altLang="en-US" dirty="0" smtClean="0"/>
              <a:t>계약진행상태조회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계약진행상태조회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계약 진행 상태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6" y="2540582"/>
            <a:ext cx="125084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계약진행</a:t>
            </a:r>
            <a:r>
              <a:rPr lang="ko-KR" altLang="en-US" sz="700" dirty="0">
                <a:latin typeface="+mn-ea"/>
              </a:rPr>
              <a:t> 현황 이력 </a:t>
            </a:r>
            <a:r>
              <a:rPr lang="ko-KR" altLang="en-US" sz="700" dirty="0" smtClean="0">
                <a:latin typeface="+mn-ea"/>
              </a:rPr>
              <a:t>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2868504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처리상태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1" y="2868504"/>
            <a:ext cx="878121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업체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처리일시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01807" y="2991506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110050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계약서작성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056189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000000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701807" y="338309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50164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서류요청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447780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ㅌㅌㅌ부대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92" name="모서리가 둥근 직사각형 91"/>
          <p:cNvSpPr/>
          <p:nvPr/>
        </p:nvSpPr>
        <p:spPr>
          <a:xfrm>
            <a:off x="701807" y="3770635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34142" y="3889179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서류등록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5772" y="3835318"/>
            <a:ext cx="164695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A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업체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4493844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4" name="그룹 33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801356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양쪽 모서리가 둥근 사각형 37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9" name="모서리가 둥근 직사각형 38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0" name="그룹 39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41" name="직선 연결선 4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2" name="직선 연결선 4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계약 진행 상태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5" name="모서리가 둥근 직사각형 44"/>
          <p:cNvSpPr/>
          <p:nvPr/>
        </p:nvSpPr>
        <p:spPr>
          <a:xfrm rot="5400000">
            <a:off x="5782577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293" y="2540582"/>
            <a:ext cx="125084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계약진행</a:t>
            </a:r>
            <a:r>
              <a:rPr lang="ko-KR" altLang="en-US" sz="700" dirty="0">
                <a:latin typeface="+mn-ea"/>
              </a:rPr>
              <a:t> 현황 이력 </a:t>
            </a:r>
            <a:r>
              <a:rPr lang="ko-KR" altLang="en-US" sz="700" dirty="0" smtClean="0">
                <a:latin typeface="+mn-ea"/>
              </a:rPr>
              <a:t>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711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2868504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처리상태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8" y="2868504"/>
            <a:ext cx="878121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업체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처리일시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0" name="모서리가 둥근 직사각형 49"/>
          <p:cNvSpPr/>
          <p:nvPr/>
        </p:nvSpPr>
        <p:spPr>
          <a:xfrm>
            <a:off x="3827764" y="2991506"/>
            <a:ext cx="2652743" cy="558594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321694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계약서작성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9" y="3056189"/>
            <a:ext cx="164695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000000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담당자 홍길동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반려사유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en-US" altLang="ko-KR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oooooooooooooo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3827764" y="3680726"/>
            <a:ext cx="2652743" cy="4440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384890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서류요청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9" y="3745409"/>
            <a:ext cx="164695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ㅌㅌㅌ부대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담당자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홍길동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3827764" y="4190123"/>
            <a:ext cx="2652743" cy="471381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0099" y="4371952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서류등록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1729" y="4254807"/>
            <a:ext cx="164695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A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업체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담당자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김길동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lvl="0"/>
            <a:r>
              <a:rPr lang="en-US" altLang="ko-KR" sz="700" dirty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2026-01-01 </a:t>
            </a:r>
            <a:r>
              <a:rPr lang="en-US" altLang="ko-KR" sz="700" dirty="0" smtClean="0">
                <a:solidFill>
                  <a:prstClr val="black"/>
                </a:solidFill>
                <a:latin typeface="+mn-ea"/>
                <a:cs typeface="Segoe UI" panose="020B0502040204020203" pitchFamily="34" charset="0"/>
              </a:rPr>
              <a:t>01:01:00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5" y="5007935"/>
            <a:ext cx="76863" cy="292489"/>
            <a:chOff x="3750067" y="4683795"/>
            <a:chExt cx="76863" cy="292489"/>
          </a:xfrm>
        </p:grpSpPr>
        <p:sp>
          <p:nvSpPr>
            <p:cNvPr id="60" name="타원 5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5" name="직사각형 7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국외 계약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4216557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2112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7419"/>
            <a:ext cx="270964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국내 </a:t>
            </a:r>
            <a:r>
              <a:rPr lang="ko-KR" altLang="en-US" sz="900" b="1" dirty="0" err="1" smtClean="0">
                <a:solidFill>
                  <a:prstClr val="black"/>
                </a:solidFill>
              </a:rPr>
              <a:t>계약현황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이력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23904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계약진행 이력 정보로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402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prcsSbsdBzenty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15D8B50-64DA-702A-AE42-0CB4E33D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16436581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85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1337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6954"/>
            <a:ext cx="293566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1.2.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국외 계약진행상태목록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41338"/>
          <a:ext cx="8994883" cy="189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prcsStts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계약생성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전자계약의뢰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계약서반송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서류재확정요청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서류제출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서류확정취소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전자서명의뢰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전자서명의뢰반려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계약취소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계약서반송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계약확정요청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계약확정요청취소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결재요청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결재승인완료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해지해제요청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해지해제통보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처리일시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prcsDt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처리일시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처리부대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prcsSbsdBzenty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처리부대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처리담당자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prcsPic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처리담당자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rjctRsn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반려사유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305868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2609" y="3290273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 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8C16C6DE-C792-6335-2214-3871E42EC6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" name="직사각형 1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" name="직사각형 1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국외 계약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18039913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1175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사단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사단 주차장 신축 자재 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85" name="직사각형 84"/>
          <p:cNvSpPr/>
          <p:nvPr/>
        </p:nvSpPr>
        <p:spPr>
          <a:xfrm>
            <a:off x="7095103" y="6080144"/>
            <a:ext cx="2308467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</a:t>
            </a:r>
            <a:r>
              <a:rPr lang="ko-KR" altLang="en-US" sz="500" dirty="0" err="1" smtClean="0"/>
              <a:t>군급</a:t>
            </a:r>
            <a:r>
              <a:rPr lang="en-US" altLang="ko-KR" sz="500" dirty="0" smtClean="0"/>
              <a:t>-</a:t>
            </a:r>
            <a:r>
              <a:rPr lang="ko-KR" altLang="en-US" sz="500" dirty="0" err="1" smtClean="0"/>
              <a:t>재고번호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적용장비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참조번호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414659711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706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bizTpcd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:ETC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bscbgtCtrtAmt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일반예산금액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govbndCtrtAmt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0B2F06DC-C013-D484-631D-AAC3502694F9}"/>
              </a:ext>
            </a:extLst>
          </p:cNvPr>
          <p:cNvSpPr txBox="1"/>
          <p:nvPr/>
        </p:nvSpPr>
        <p:spPr>
          <a:xfrm>
            <a:off x="460676" y="314749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217390-69BE-491E-7735-07C4C70914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0106415"/>
              </p:ext>
            </p:extLst>
          </p:nvPr>
        </p:nvGraphicFramePr>
        <p:xfrm>
          <a:off x="455558" y="3431246"/>
          <a:ext cx="8994883" cy="2908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2015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377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8259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92210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633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44082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282F2FE-A152-2E47-3D33-B1E64CFF0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8469499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114ADAF-CBF0-F775-85F9-8D58158A7D23}"/>
              </a:ext>
            </a:extLst>
          </p:cNvPr>
          <p:cNvSpPr txBox="1"/>
          <p:nvPr/>
        </p:nvSpPr>
        <p:spPr>
          <a:xfrm>
            <a:off x="460676" y="823392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 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21211B-3228-76E0-A845-A1D6C3C6A0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852725"/>
              </p:ext>
            </p:extLst>
          </p:nvPr>
        </p:nvGraphicFramePr>
        <p:xfrm>
          <a:off x="455558" y="110714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도면번호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717C1911-6DC8-ADE5-D601-34D67D39DCAA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575472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7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88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B442A5E-83C5-8E99-586C-33EBA13DA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86540095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물품최종계약명세서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최종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물품최종계약명세서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물품최종계약명세서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2406021"/>
            <a:chOff x="3865118" y="2694619"/>
            <a:chExt cx="2630093" cy="240602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2154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ko-KR" altLang="en-US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0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43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04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5134301"/>
            <a:ext cx="76863" cy="292489"/>
            <a:chOff x="3750067" y="4683795"/>
            <a:chExt cx="76863" cy="292489"/>
          </a:xfrm>
        </p:grpSpPr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3" name="타원 9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23653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212775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2658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18375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7495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35B4B537-BC84-C121-3CA4-CB3B4D88D5D9}"/>
              </a:ext>
            </a:extLst>
          </p:cNvPr>
          <p:cNvSpPr txBox="1"/>
          <p:nvPr/>
        </p:nvSpPr>
        <p:spPr>
          <a:xfrm>
            <a:off x="458117" y="34839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0936383-D527-CFB3-4A4A-189AAAB6E8D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376203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2FD51AA-DD27-1E65-2182-1C9E70AD4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109644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수정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275406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물품수정계약명세서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물품수정계약명세서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2540582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수정계약차수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</a:t>
              </a:r>
              <a:r>
                <a:rPr lang="en-US" altLang="ko-KR" sz="700" dirty="0" smtClean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</a:t>
              </a:r>
              <a:r>
                <a:rPr lang="ko-KR" altLang="en-US" sz="700" dirty="0">
                  <a:latin typeface="+mn-ea"/>
                </a:rPr>
                <a:t>사단 주차장 신축 자재 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833068" y="2511680"/>
            <a:ext cx="2630093" cy="3946281"/>
            <a:chOff x="3836701" y="3418175"/>
            <a:chExt cx="2630093" cy="3946281"/>
          </a:xfrm>
        </p:grpSpPr>
        <p:sp>
          <p:nvSpPr>
            <p:cNvPr id="166" name="직사각형 165"/>
            <p:cNvSpPr/>
            <p:nvPr/>
          </p:nvSpPr>
          <p:spPr>
            <a:xfrm>
              <a:off x="3838794" y="3671135"/>
              <a:ext cx="792000" cy="35453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367113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71137"/>
              <a:ext cx="670770" cy="36639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순번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구분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조달요구번호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군급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재고번호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군구분</a:t>
              </a:r>
              <a:endParaRPr lang="en-US" altLang="ko-KR" sz="600" dirty="0" smtClean="0">
                <a:latin typeface="+mn-ea"/>
              </a:endParaRPr>
            </a:p>
            <a:p>
              <a:pPr fontAlgn="ctr"/>
              <a:endParaRPr lang="en-US" altLang="ko-KR" sz="600" dirty="0" smtClean="0">
                <a:latin typeface="+mn-ea"/>
              </a:endParaRPr>
            </a:p>
            <a:p>
              <a:pPr fontAlgn="ctr"/>
              <a:r>
                <a:rPr lang="ko-KR" altLang="en-US" sz="600" dirty="0" smtClean="0">
                  <a:latin typeface="+mn-ea"/>
                </a:rPr>
                <a:t>품명</a:t>
              </a:r>
              <a:r>
                <a:rPr lang="ko-KR" altLang="ko-KR" sz="600" dirty="0" smtClean="0"/>
                <a:t>예산구분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사업</a:t>
              </a:r>
              <a:r>
                <a:rPr lang="en-US" altLang="ko-KR" sz="600" dirty="0"/>
                <a:t>ID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단위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수량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금액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단가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규격번호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납지별수량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증감내역</a:t>
              </a:r>
              <a:r>
                <a:rPr lang="en-US" altLang="ko-KR" sz="600" dirty="0"/>
                <a:t>(</a:t>
              </a:r>
              <a:r>
                <a:rPr lang="ko-KR" altLang="ko-KR" sz="600" dirty="0"/>
                <a:t>수량</a:t>
              </a:r>
              <a:r>
                <a:rPr lang="en-US" altLang="ko-KR" sz="600" dirty="0"/>
                <a:t>)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증감내역</a:t>
              </a:r>
              <a:r>
                <a:rPr lang="en-US" altLang="ko-KR" sz="600" dirty="0"/>
                <a:t>(</a:t>
              </a:r>
              <a:r>
                <a:rPr lang="ko-KR" altLang="ko-KR" sz="600" dirty="0"/>
                <a:t>금액</a:t>
              </a:r>
              <a:r>
                <a:rPr lang="en-US" altLang="ko-KR" sz="600" dirty="0"/>
                <a:t>)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검사형태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smtClean="0"/>
                <a:t>납기</a:t>
              </a:r>
              <a:endParaRPr lang="ko-KR" altLang="ko-KR" sz="600" dirty="0"/>
            </a:p>
            <a:p>
              <a:pPr fontAlgn="ctr"/>
              <a:endParaRPr lang="en-US" altLang="ko-KR" sz="600" dirty="0" smtClean="0"/>
            </a:p>
            <a:p>
              <a:pPr fontAlgn="ctr"/>
              <a:r>
                <a:rPr lang="ko-KR" altLang="ko-KR" sz="600" dirty="0" err="1" smtClean="0"/>
                <a:t>납지</a:t>
              </a:r>
              <a:endParaRPr lang="ko-KR" altLang="ko-KR" sz="600" dirty="0"/>
            </a:p>
            <a:p>
              <a:pPr>
                <a:lnSpc>
                  <a:spcPct val="200000"/>
                </a:lnSpc>
              </a:pP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3671137"/>
              <a:ext cx="1775839" cy="36933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600" dirty="0" err="1" smtClean="0">
                  <a:latin typeface="+mn-ea"/>
                </a:rPr>
                <a:t>으로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600" dirty="0">
                  <a:latin typeface="+mn-ea"/>
                </a:rPr>
                <a:t>MWDW</a:t>
              </a:r>
              <a:r>
                <a:rPr lang="en-US" altLang="ko-KR" sz="6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600" dirty="0" smtClean="0">
                  <a:latin typeface="+mn-ea"/>
                </a:rPr>
                <a:t>육군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600" dirty="0" err="1">
                  <a:latin typeface="+mn-ea"/>
                </a:rPr>
                <a:t>일반우의</a:t>
              </a:r>
              <a:r>
                <a:rPr lang="en-US" altLang="ko-KR" sz="6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6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6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63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542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0977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69283" y="3418175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423443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26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5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480159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941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84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535718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5497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7402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59243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1168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3074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646449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6570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68475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700850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72010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6" name="그룹 85"/>
          <p:cNvGrpSpPr/>
          <p:nvPr/>
        </p:nvGrpSpPr>
        <p:grpSpPr>
          <a:xfrm>
            <a:off x="712771" y="3660811"/>
            <a:ext cx="2633688" cy="1374730"/>
            <a:chOff x="712771" y="2302158"/>
            <a:chExt cx="2633688" cy="1374730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4" name="그룹 93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137" name="직사각형 13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직사각형 13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직사각형 13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직사각형 14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0" name="직사각형 149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20" name="직사각형 11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1" name="직사각형 12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5" name="직사각형 13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6" name="직사각형 13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7" name="그룹 96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04" name="직사각형 103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직사각형 104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직사각형 109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99" name="그룹 98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00" name="직사각형 9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1" name="직사각형 10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직사각형 10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3" name="직사각형 102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89" y="1493927"/>
            <a:ext cx="2712027" cy="4890000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직사각형 144"/>
          <p:cNvSpPr/>
          <p:nvPr/>
        </p:nvSpPr>
        <p:spPr>
          <a:xfrm>
            <a:off x="7080996" y="6036456"/>
            <a:ext cx="232257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 </a:t>
            </a:r>
            <a:r>
              <a:rPr lang="ko-KR" altLang="en-US" sz="500" dirty="0" err="1" smtClean="0"/>
              <a:t>예산구분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3731224579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계약의 </a:t>
            </a:r>
            <a:r>
              <a:rPr lang="ko-KR" altLang="en-US" dirty="0" smtClean="0"/>
              <a:t>수정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물품수정계약명세서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MUI-CT-01-P13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물품수정계약명세서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56620" y="5471369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01175" y="3276905"/>
            <a:ext cx="2630093" cy="1090970"/>
            <a:chOff x="701175" y="2353137"/>
            <a:chExt cx="2630093" cy="1090970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8691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80096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증감내역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수량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증감내역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금액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32258" y="2574946"/>
              <a:ext cx="169901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00,000 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+ 00,000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858960"/>
              <a:chOff x="701175" y="1835481"/>
              <a:chExt cx="2630093" cy="85896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계약품목</a:t>
              </a:r>
              <a:r>
                <a:rPr lang="ko-KR" altLang="en-US" sz="700" dirty="0" smtClean="0">
                  <a:latin typeface="+mn-ea"/>
                </a:rPr>
                <a:t> 합계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7358" y="2790216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669777" y="5614711"/>
            <a:ext cx="2712027" cy="617588"/>
            <a:chOff x="675399" y="5614711"/>
            <a:chExt cx="2712027" cy="617588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36614499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42831"/>
            <a:ext cx="19369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038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821181C-9131-A26F-D5C0-73725DEEC0F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50771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25650B4-924F-3571-B2B1-D6A167063699}"/>
              </a:ext>
            </a:extLst>
          </p:cNvPr>
          <p:cNvSpPr txBox="1"/>
          <p:nvPr/>
        </p:nvSpPr>
        <p:spPr>
          <a:xfrm>
            <a:off x="458117" y="22811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12DA7579-1E55-1146-508C-B4923F931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5860321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917472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6649319"/>
              </p:ext>
            </p:extLst>
          </p:nvPr>
        </p:nvGraphicFramePr>
        <p:xfrm>
          <a:off x="452999" y="1201226"/>
          <a:ext cx="8994883" cy="4000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55441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342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7372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2232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633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0327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3268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93729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00319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439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33498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spcfctNo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0973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납지별수량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inspShp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8C0E63E-246C-7F09-7A6E-FC69AA82CD21}"/>
              </a:ext>
            </a:extLst>
          </p:cNvPr>
          <p:cNvSpPr txBox="1"/>
          <p:nvPr/>
        </p:nvSpPr>
        <p:spPr>
          <a:xfrm>
            <a:off x="458117" y="52433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품목합계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4E68CE1-BF56-1D3A-3FCE-A191189517D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45093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sumQ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qtyIcdcDsctn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sumAmtIcdcDsctn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18E2EE5-346E-DA77-78BD-0DE0432FD8DB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964237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240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수정계약명세서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961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78FC3B21-2668-48C7-3DF7-C256E43E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34041111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직사각형 8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711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계약정보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물품일반계약명세서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물품 </a:t>
            </a:r>
            <a:r>
              <a:rPr lang="ko-KR" altLang="en-US" dirty="0" err="1" smtClean="0"/>
              <a:t>일반계약의</a:t>
            </a:r>
            <a:r>
              <a:rPr lang="ko-KR" altLang="en-US" dirty="0" smtClean="0"/>
              <a:t> </a:t>
            </a:r>
            <a:r>
              <a:rPr lang="ko-KR" altLang="en-US" dirty="0" err="1"/>
              <a:t>계약명세서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/>
              <a:t>계약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계약통합목록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물품일반계약명세서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MUI-CT-01-P14</a:t>
            </a:r>
            <a:endParaRPr lang="ko-KR" alt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물품일반계약명세서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물품일반계약명세서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4512043"/>
            <a:ext cx="2630093" cy="1759690"/>
            <a:chOff x="3865118" y="2694619"/>
            <a:chExt cx="2630093" cy="1759690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계약품목정보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460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MB2026010001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패널</a:t>
              </a:r>
              <a:r>
                <a:rPr lang="en-US" altLang="ko-KR" sz="700" dirty="0">
                  <a:latin typeface="+mn-ea"/>
                </a:rPr>
                <a:t>,</a:t>
              </a:r>
              <a:r>
                <a:rPr lang="ko-KR" altLang="en-US" sz="700" dirty="0" err="1">
                  <a:latin typeface="+mn-ea"/>
                </a:rPr>
                <a:t>조명기구용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07999" y="2540582"/>
            <a:ext cx="2630093" cy="1945358"/>
            <a:chOff x="701175" y="2353137"/>
            <a:chExt cx="2630093" cy="1945358"/>
          </a:xfrm>
        </p:grpSpPr>
        <p:sp>
          <p:nvSpPr>
            <p:cNvPr id="106" name="직사각형 105"/>
            <p:cNvSpPr/>
            <p:nvPr/>
          </p:nvSpPr>
          <p:spPr>
            <a:xfrm>
              <a:off x="703268" y="2574946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2574946"/>
              <a:ext cx="725552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국채금액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2574946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 </a:t>
              </a:r>
              <a:r>
                <a:rPr lang="ko-KR" altLang="en-US" sz="700" dirty="0" smtClean="0">
                  <a:latin typeface="+mn-ea"/>
                </a:rPr>
                <a:t>사단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  <a:r>
                <a:rPr lang="ko-KR" altLang="en-US" sz="700" dirty="0" smtClean="0">
                  <a:latin typeface="+mn-ea"/>
                </a:rPr>
                <a:t>사단 주차장 신축 자재 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701175" y="2574946"/>
              <a:ext cx="2630093" cy="1717920"/>
              <a:chOff x="701175" y="1835481"/>
              <a:chExt cx="2630093" cy="1717920"/>
            </a:xfrm>
          </p:grpSpPr>
          <p:cxnSp>
            <p:nvCxnSpPr>
              <p:cNvPr id="112" name="직선 연결선 11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3" name="직선 연결선 11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4" name="직선 연결선 11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8" name="직선 연결선 11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9" name="직선 연결선 11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22" name="직선 연결선 12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34228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6" y="2353137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5311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42" name="그룹 141"/>
          <p:cNvGrpSpPr/>
          <p:nvPr/>
        </p:nvGrpSpPr>
        <p:grpSpPr>
          <a:xfrm>
            <a:off x="3836701" y="2520110"/>
            <a:ext cx="2630093" cy="1085934"/>
            <a:chOff x="3865118" y="2946203"/>
            <a:chExt cx="2630093" cy="1085934"/>
          </a:xfrm>
        </p:grpSpPr>
        <p:sp>
          <p:nvSpPr>
            <p:cNvPr id="144" name="직사각형 143"/>
            <p:cNvSpPr/>
            <p:nvPr/>
          </p:nvSpPr>
          <p:spPr>
            <a:xfrm>
              <a:off x="3867211" y="2946203"/>
              <a:ext cx="792000" cy="10859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납지별수량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1" name="그룹 160"/>
          <p:cNvGrpSpPr/>
          <p:nvPr/>
        </p:nvGrpSpPr>
        <p:grpSpPr>
          <a:xfrm>
            <a:off x="3836701" y="3671135"/>
            <a:ext cx="2630093" cy="2585325"/>
            <a:chOff x="3865118" y="2946202"/>
            <a:chExt cx="2630093" cy="2585325"/>
          </a:xfrm>
        </p:grpSpPr>
        <p:sp>
          <p:nvSpPr>
            <p:cNvPr id="166" name="직사각형 165"/>
            <p:cNvSpPr/>
            <p:nvPr/>
          </p:nvSpPr>
          <p:spPr>
            <a:xfrm>
              <a:off x="3867211" y="2946202"/>
              <a:ext cx="792000" cy="25528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항목번호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규격종류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납지별수량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MB2026010002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전선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1000002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기타</a:t>
              </a:r>
              <a:endParaRPr lang="en-US" altLang="ko-KR" sz="700" dirty="0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50001001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2026-12-31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29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16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299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05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6" name="모서리가 둥근 직사각형 335"/>
          <p:cNvSpPr/>
          <p:nvPr/>
        </p:nvSpPr>
        <p:spPr>
          <a:xfrm rot="5400000">
            <a:off x="5782577" y="4236250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89" name="직사각형 88"/>
          <p:cNvSpPr/>
          <p:nvPr/>
        </p:nvSpPr>
        <p:spPr>
          <a:xfrm>
            <a:off x="7059758" y="6036541"/>
            <a:ext cx="2343812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260623 - </a:t>
            </a:r>
            <a:r>
              <a:rPr lang="ko-KR" altLang="en-US" sz="500" dirty="0" err="1" smtClean="0"/>
              <a:t>군급</a:t>
            </a:r>
            <a:r>
              <a:rPr lang="en-US" altLang="ko-KR" sz="500" dirty="0" smtClean="0"/>
              <a:t>-</a:t>
            </a:r>
            <a:r>
              <a:rPr lang="ko-KR" altLang="en-US" sz="500" dirty="0" err="1" smtClean="0"/>
              <a:t>재고번호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참조번호</a:t>
            </a:r>
            <a:r>
              <a:rPr lang="en-US" altLang="ko-KR" sz="500" dirty="0" smtClean="0"/>
              <a:t>, </a:t>
            </a:r>
          </a:p>
        </p:txBody>
      </p:sp>
    </p:spTree>
    <p:extLst>
      <p:ext uri="{BB962C8B-B14F-4D97-AF65-F5344CB8AC3E}">
        <p14:creationId xmlns:p14="http://schemas.microsoft.com/office/powerpoint/2010/main" val="3099103814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5525964"/>
              </p:ext>
            </p:extLst>
          </p:nvPr>
        </p:nvGraphicFramePr>
        <p:xfrm>
          <a:off x="452999" y="1117060"/>
          <a:ext cx="8994883" cy="3490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clsfNo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990789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145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638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spcfctKndCd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규격종류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48208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40066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8738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5276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7668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1167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00567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24152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7641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참조번호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flrplnNo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97508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767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10D3AD7-C158-2B79-0172-EB4AC78F39E1}"/>
              </a:ext>
            </a:extLst>
          </p:cNvPr>
          <p:cNvSpPr txBox="1"/>
          <p:nvPr/>
        </p:nvSpPr>
        <p:spPr>
          <a:xfrm>
            <a:off x="458117" y="49602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BD8AFFD-7F02-1064-CE8E-9D4BC78CA5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5238412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물품계약명세서 값으로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85984280-7ED6-ECD5-5D22-CEB6C0F69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0978601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600" dirty="0"/>
              <a:t>상단 </a:t>
            </a:r>
            <a:r>
              <a:rPr lang="ko-KR" altLang="en-US" sz="600" dirty="0" err="1"/>
              <a:t>업무도움은</a:t>
            </a:r>
            <a:r>
              <a:rPr lang="ko-KR" altLang="en-US" sz="600" dirty="0"/>
              <a:t> 기본 값으로 접힘 상태로 정보 제공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기본값 </a:t>
            </a:r>
            <a:r>
              <a:rPr lang="en-US" altLang="ko-KR" sz="600" dirty="0"/>
              <a:t>: </a:t>
            </a:r>
            <a:r>
              <a:rPr lang="ko-KR" altLang="en-US" sz="600" dirty="0"/>
              <a:t>접힘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사용자 </a:t>
            </a:r>
            <a:r>
              <a:rPr lang="ko-KR" altLang="en-US" sz="600" dirty="0" err="1"/>
              <a:t>클릭시</a:t>
            </a:r>
            <a:r>
              <a:rPr lang="ko-KR" altLang="en-US" sz="600" dirty="0"/>
              <a:t> 확장하여 정보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업무도움</a:t>
            </a:r>
            <a:r>
              <a:rPr lang="en-US" altLang="ko-KR" sz="600" dirty="0"/>
              <a:t> &gt; </a:t>
            </a:r>
            <a:r>
              <a:rPr lang="ko-KR" altLang="en-US" sz="600" dirty="0"/>
              <a:t>내역이 있는 경우 표시</a:t>
            </a:r>
            <a:r>
              <a:rPr lang="en-US" altLang="ko-KR" sz="600" dirty="0"/>
              <a:t>, </a:t>
            </a:r>
            <a:r>
              <a:rPr lang="ko-KR" altLang="en-US" sz="600" dirty="0"/>
              <a:t>내역이 없으면 항목을 표시하지 않음</a:t>
            </a:r>
            <a:r>
              <a:rPr lang="en-US" altLang="ko-KR" sz="600" dirty="0"/>
              <a:t>.</a:t>
            </a:r>
            <a:br>
              <a:rPr lang="en-US" altLang="ko-KR" sz="600" dirty="0"/>
            </a:b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err="1" smtClean="0"/>
              <a:t>검색필터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2-1] </a:t>
            </a:r>
            <a:r>
              <a:rPr lang="ko-KR" altLang="en-US" sz="600" dirty="0" smtClean="0"/>
              <a:t>통합참조정보</a:t>
            </a:r>
            <a:r>
              <a:rPr lang="en-US" altLang="ko-KR" sz="600" dirty="0" smtClean="0"/>
              <a:t>, </a:t>
            </a:r>
            <a:r>
              <a:rPr lang="ko-KR" altLang="en-US" sz="600" dirty="0" err="1" smtClean="0"/>
              <a:t>예약번호중</a:t>
            </a:r>
            <a:r>
              <a:rPr lang="ko-KR" altLang="en-US" sz="600" dirty="0" smtClean="0"/>
              <a:t> 선택</a:t>
            </a:r>
            <a:r>
              <a:rPr lang="en-US" altLang="ko-KR" sz="600" dirty="0" smtClean="0"/>
              <a:t/>
            </a:r>
            <a:br>
              <a:rPr lang="en-US" altLang="ko-KR" sz="600" dirty="0" smtClean="0"/>
            </a:br>
            <a:r>
              <a:rPr lang="en-US" altLang="ko-KR" sz="600" dirty="0" smtClean="0"/>
              <a:t>2-2] </a:t>
            </a:r>
            <a:r>
              <a:rPr lang="ko-KR" altLang="en-US" sz="600" dirty="0" err="1" smtClean="0"/>
              <a:t>검색어</a:t>
            </a:r>
            <a:r>
              <a:rPr lang="ko-KR" altLang="en-US" sz="600" dirty="0" smtClean="0"/>
              <a:t> 입력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>
                <a:latin typeface="+mn-ea"/>
              </a:rPr>
              <a:t>검색 필터 호출</a:t>
            </a:r>
            <a:r>
              <a:rPr lang="en-US" altLang="ko-KR" sz="600" dirty="0" smtClean="0">
                <a:latin typeface="+mn-ea"/>
              </a:rPr>
              <a:t/>
            </a:r>
            <a:br>
              <a:rPr lang="en-US" altLang="ko-KR" sz="600" dirty="0" smtClean="0">
                <a:latin typeface="+mn-ea"/>
              </a:rPr>
            </a:br>
            <a:r>
              <a:rPr lang="ko-KR" altLang="en-US" sz="600" dirty="0" smtClean="0">
                <a:latin typeface="+mn-ea"/>
              </a:rPr>
              <a:t> </a:t>
            </a:r>
            <a:r>
              <a:rPr lang="en-US" altLang="ko-KR" sz="600" dirty="0" smtClean="0">
                <a:latin typeface="+mn-ea"/>
              </a:rPr>
              <a:t>– </a:t>
            </a:r>
            <a:r>
              <a:rPr lang="ko-KR" altLang="en-US" sz="600" dirty="0" smtClean="0">
                <a:latin typeface="+mn-ea"/>
              </a:rPr>
              <a:t>계약 페이지 참고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/>
              <a:t>표시 </a:t>
            </a:r>
            <a:r>
              <a:rPr lang="ko-KR" altLang="en-US" sz="600" dirty="0"/>
              <a:t>개수 영역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총 개수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4-1] </a:t>
            </a:r>
            <a:r>
              <a:rPr lang="ko-KR" altLang="en-US" sz="600" dirty="0" smtClean="0"/>
              <a:t>표시 </a:t>
            </a:r>
            <a:r>
              <a:rPr lang="ko-KR" altLang="en-US" sz="600" dirty="0"/>
              <a:t>개수 </a:t>
            </a:r>
            <a:r>
              <a:rPr lang="en-US" altLang="ko-KR" sz="600" dirty="0"/>
              <a:t>(</a:t>
            </a:r>
            <a:r>
              <a:rPr lang="ko-KR" altLang="en-US" sz="600" dirty="0"/>
              <a:t>선택한 건수 만큼 보여주고 </a:t>
            </a:r>
            <a:r>
              <a:rPr lang="ko-KR" altLang="en-US" sz="600" dirty="0" err="1"/>
              <a:t>더보기시</a:t>
            </a:r>
            <a:r>
              <a:rPr lang="ko-KR" altLang="en-US" sz="600" dirty="0"/>
              <a:t> 추가로 불러옴</a:t>
            </a:r>
            <a:r>
              <a:rPr lang="en-US" altLang="ko-KR" sz="6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/>
              <a:t>목록 </a:t>
            </a:r>
            <a:r>
              <a:rPr lang="ko-KR" altLang="en-US" sz="600" dirty="0"/>
              <a:t>카드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ko-KR" altLang="en-US" sz="600" dirty="0" smtClean="0"/>
              <a:t>레이블이 </a:t>
            </a:r>
            <a:r>
              <a:rPr lang="ko-KR" altLang="en-US" sz="600" dirty="0"/>
              <a:t>화면을 넘치는 경우 드래그하여 확인 가능 </a:t>
            </a:r>
            <a:r>
              <a:rPr lang="en-US" altLang="ko-KR" sz="600" dirty="0"/>
              <a:t>(</a:t>
            </a:r>
            <a:r>
              <a:rPr lang="ko-KR" altLang="en-US" sz="600" dirty="0" err="1"/>
              <a:t>스와이프기능</a:t>
            </a:r>
            <a:r>
              <a:rPr lang="ko-KR" altLang="en-US" sz="600" dirty="0"/>
              <a:t> 반영 필요</a:t>
            </a:r>
            <a:r>
              <a:rPr lang="en-US" altLang="ko-KR" sz="600" dirty="0"/>
              <a:t>)</a:t>
            </a:r>
            <a:br>
              <a:rPr lang="en-US" altLang="ko-KR" sz="600" dirty="0"/>
            </a:br>
            <a:r>
              <a:rPr lang="en-US" altLang="ko-KR" sz="600" dirty="0" smtClean="0"/>
              <a:t>5-1</a:t>
            </a:r>
            <a:r>
              <a:rPr lang="en-US" altLang="ko-KR" sz="600" dirty="0"/>
              <a:t>] </a:t>
            </a:r>
            <a:r>
              <a:rPr lang="ko-KR" altLang="en-US" sz="600" dirty="0" err="1"/>
              <a:t>표시레이블</a:t>
            </a:r>
            <a:r>
              <a:rPr lang="ko-KR" altLang="en-US" sz="600" dirty="0"/>
              <a:t> 영역 </a:t>
            </a:r>
            <a:r>
              <a:rPr lang="ko-KR" altLang="en-US" sz="600" dirty="0" smtClean="0"/>
              <a:t>항목 </a:t>
            </a:r>
            <a:r>
              <a:rPr lang="ko-KR" altLang="en-US" sz="600" dirty="0" err="1" smtClean="0"/>
              <a:t>항목</a:t>
            </a:r>
            <a:r>
              <a:rPr lang="ko-KR" altLang="en-US" sz="600" dirty="0" smtClean="0"/>
              <a:t> 확인 필요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업무구분</a:t>
            </a:r>
            <a:r>
              <a:rPr lang="ko-KR" altLang="en-US" sz="600" dirty="0"/>
              <a:t> </a:t>
            </a:r>
            <a:r>
              <a:rPr lang="en-US" altLang="ko-KR" sz="600" dirty="0"/>
              <a:t>:  </a:t>
            </a:r>
            <a:r>
              <a:rPr lang="ko-KR" altLang="en-US" sz="600" dirty="0"/>
              <a:t>전체</a:t>
            </a:r>
            <a:r>
              <a:rPr lang="en-US" altLang="ko-KR" sz="600" dirty="0"/>
              <a:t>, </a:t>
            </a:r>
            <a:r>
              <a:rPr lang="ko-KR" altLang="en-US" sz="600" dirty="0"/>
              <a:t>물품</a:t>
            </a:r>
            <a:r>
              <a:rPr lang="en-US" altLang="ko-KR" sz="600" dirty="0"/>
              <a:t>, </a:t>
            </a:r>
            <a:r>
              <a:rPr lang="ko-KR" altLang="en-US" sz="600" dirty="0"/>
              <a:t>용역</a:t>
            </a:r>
            <a:r>
              <a:rPr lang="en-US" altLang="ko-KR" sz="600" dirty="0"/>
              <a:t>, </a:t>
            </a:r>
            <a:r>
              <a:rPr lang="ko-KR" altLang="en-US" sz="600" dirty="0"/>
              <a:t>공사</a:t>
            </a:r>
            <a:r>
              <a:rPr lang="en-US" altLang="ko-KR" sz="600" dirty="0"/>
              <a:t>, </a:t>
            </a:r>
            <a:r>
              <a:rPr lang="ko-KR" altLang="en-US" sz="600" dirty="0"/>
              <a:t>국외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입찰구붐</a:t>
            </a:r>
            <a:r>
              <a:rPr lang="ko-KR" altLang="en-US" sz="600" dirty="0"/>
              <a:t> </a:t>
            </a:r>
            <a:r>
              <a:rPr lang="en-US" altLang="ko-KR" sz="600" dirty="0"/>
              <a:t>: </a:t>
            </a:r>
            <a:r>
              <a:rPr lang="ko-KR" altLang="en-US" sz="600" dirty="0" err="1"/>
              <a:t>총액제</a:t>
            </a:r>
            <a:r>
              <a:rPr lang="en-US" altLang="ko-KR" sz="600" dirty="0"/>
              <a:t>, </a:t>
            </a:r>
            <a:r>
              <a:rPr lang="ko-KR" altLang="en-US" sz="600" dirty="0" err="1"/>
              <a:t>단가제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계약상태</a:t>
            </a:r>
            <a:r>
              <a:rPr lang="ko-KR" altLang="en-US" sz="600" dirty="0"/>
              <a:t> </a:t>
            </a:r>
            <a:r>
              <a:rPr lang="en-US" altLang="ko-KR" sz="600" dirty="0"/>
              <a:t>: </a:t>
            </a:r>
            <a:r>
              <a:rPr lang="ko-KR" altLang="en-US" sz="600" dirty="0" err="1"/>
              <a:t>계약진행</a:t>
            </a:r>
            <a:r>
              <a:rPr lang="en-US" altLang="ko-KR" sz="600" dirty="0"/>
              <a:t>, </a:t>
            </a:r>
            <a:r>
              <a:rPr lang="ko-KR" altLang="en-US" sz="600" dirty="0" err="1"/>
              <a:t>계약수정</a:t>
            </a:r>
            <a:r>
              <a:rPr lang="en-US" altLang="ko-KR" sz="600" dirty="0"/>
              <a:t>, </a:t>
            </a:r>
            <a:r>
              <a:rPr lang="ko-KR" altLang="en-US" sz="600" dirty="0" err="1"/>
              <a:t>계약최종</a:t>
            </a:r>
            <a:r>
              <a:rPr lang="en-US" altLang="ko-KR" sz="600" dirty="0"/>
              <a:t>, </a:t>
            </a:r>
            <a:r>
              <a:rPr lang="ko-KR" altLang="en-US" sz="600" dirty="0" err="1"/>
              <a:t>계약확정</a:t>
            </a:r>
            <a:r>
              <a:rPr lang="en-US" altLang="ko-KR" sz="600" dirty="0"/>
              <a:t>, </a:t>
            </a:r>
            <a:r>
              <a:rPr lang="ko-KR" altLang="en-US" sz="600" dirty="0"/>
              <a:t>계약해지</a:t>
            </a:r>
            <a:r>
              <a:rPr lang="en-US" altLang="ko-KR" sz="600" dirty="0"/>
              <a:t>, </a:t>
            </a:r>
            <a:r>
              <a:rPr lang="ko-KR" altLang="en-US" sz="600" dirty="0" err="1"/>
              <a:t>해제목록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진행상태 </a:t>
            </a:r>
            <a:r>
              <a:rPr lang="en-US" altLang="ko-KR" sz="600" dirty="0"/>
              <a:t>: </a:t>
            </a:r>
            <a:r>
              <a:rPr lang="ko-KR" altLang="en-US" sz="600" dirty="0" err="1"/>
              <a:t>서류요청</a:t>
            </a:r>
            <a:r>
              <a:rPr lang="en-US" altLang="ko-KR" sz="600" dirty="0"/>
              <a:t>, </a:t>
            </a:r>
            <a:r>
              <a:rPr lang="ko-KR" altLang="en-US" sz="600" dirty="0" err="1"/>
              <a:t>서류등록</a:t>
            </a:r>
            <a:r>
              <a:rPr lang="en-US" altLang="ko-KR" sz="600" dirty="0"/>
              <a:t>, </a:t>
            </a:r>
            <a:r>
              <a:rPr lang="ko-KR" altLang="en-US" sz="600" dirty="0" err="1"/>
              <a:t>서류반려</a:t>
            </a:r>
            <a:r>
              <a:rPr lang="en-US" altLang="ko-KR" sz="600" dirty="0"/>
              <a:t>, </a:t>
            </a:r>
            <a:r>
              <a:rPr lang="ko-KR" altLang="en-US" sz="600" dirty="0" err="1"/>
              <a:t>체결의뢰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계약방법 </a:t>
            </a:r>
            <a:r>
              <a:rPr lang="en-US" altLang="ko-KR" sz="600" dirty="0"/>
              <a:t>:  </a:t>
            </a:r>
            <a:r>
              <a:rPr lang="ko-KR" altLang="en-US" sz="600" dirty="0"/>
              <a:t>일반경쟁</a:t>
            </a:r>
            <a:r>
              <a:rPr lang="en-US" altLang="ko-KR" sz="600" dirty="0"/>
              <a:t>, </a:t>
            </a:r>
            <a:r>
              <a:rPr lang="ko-KR" altLang="en-US" sz="600" dirty="0"/>
              <a:t>지명경쟁</a:t>
            </a:r>
            <a:r>
              <a:rPr lang="en-US" altLang="ko-KR" sz="600" dirty="0"/>
              <a:t>,</a:t>
            </a:r>
            <a:r>
              <a:rPr lang="ko-KR" altLang="en-US" sz="600" dirty="0"/>
              <a:t>제한경쟁</a:t>
            </a:r>
            <a:r>
              <a:rPr lang="en-US" altLang="ko-KR" sz="600" dirty="0"/>
              <a:t>,</a:t>
            </a:r>
            <a:r>
              <a:rPr lang="ko-KR" altLang="en-US" sz="600" dirty="0" err="1"/>
              <a:t>복수경쟁</a:t>
            </a:r>
            <a:r>
              <a:rPr lang="en-US" altLang="ko-KR" sz="600" dirty="0"/>
              <a:t>,</a:t>
            </a:r>
            <a:r>
              <a:rPr lang="ko-KR" altLang="en-US" sz="600" dirty="0"/>
              <a:t>수의계약</a:t>
            </a:r>
            <a:r>
              <a:rPr lang="en-US" altLang="ko-KR" sz="600" dirty="0"/>
              <a:t>,</a:t>
            </a:r>
            <a:r>
              <a:rPr lang="ko-KR" altLang="en-US" sz="600" dirty="0" err="1"/>
              <a:t>협상에의한계약</a:t>
            </a:r>
            <a:r>
              <a:rPr lang="en-US" altLang="ko-KR" sz="600" dirty="0"/>
              <a:t>(</a:t>
            </a:r>
            <a:r>
              <a:rPr lang="ko-KR" altLang="en-US" sz="600" dirty="0"/>
              <a:t>서류</a:t>
            </a:r>
            <a:r>
              <a:rPr lang="en-US" altLang="ko-KR" sz="600" dirty="0"/>
              <a:t>),2</a:t>
            </a:r>
            <a:r>
              <a:rPr lang="ko-KR" altLang="en-US" sz="600" dirty="0"/>
              <a:t>단계 경쟁</a:t>
            </a:r>
            <a:r>
              <a:rPr lang="en-US" altLang="ko-KR" sz="600" dirty="0"/>
              <a:t>(</a:t>
            </a:r>
            <a:r>
              <a:rPr lang="ko-KR" altLang="en-US" sz="600" dirty="0"/>
              <a:t>동시</a:t>
            </a:r>
            <a:r>
              <a:rPr lang="en-US" altLang="ko-KR" sz="600" dirty="0"/>
              <a:t>), 2</a:t>
            </a:r>
            <a:r>
              <a:rPr lang="ko-KR" altLang="en-US" sz="600" dirty="0"/>
              <a:t>단계 경쟁</a:t>
            </a:r>
            <a:r>
              <a:rPr lang="en-US" altLang="ko-KR" sz="600" dirty="0"/>
              <a:t>(</a:t>
            </a:r>
            <a:r>
              <a:rPr lang="ko-KR" altLang="en-US" sz="600" dirty="0"/>
              <a:t>분리</a:t>
            </a:r>
            <a:r>
              <a:rPr lang="en-US" altLang="ko-KR" sz="600" dirty="0"/>
              <a:t>), </a:t>
            </a:r>
            <a:r>
              <a:rPr lang="ko-KR" altLang="en-US" sz="600" dirty="0" err="1"/>
              <a:t>종합낙찰제</a:t>
            </a:r>
            <a:r>
              <a:rPr lang="en-US" altLang="ko-KR" sz="600" dirty="0"/>
              <a:t>, </a:t>
            </a:r>
            <a:r>
              <a:rPr lang="ko-KR" altLang="en-US" sz="600" dirty="0" err="1"/>
              <a:t>협상에의한</a:t>
            </a:r>
            <a:r>
              <a:rPr lang="ko-KR" altLang="en-US" sz="600" dirty="0"/>
              <a:t> 계약</a:t>
            </a:r>
            <a:r>
              <a:rPr lang="en-US" altLang="ko-KR" sz="600" dirty="0"/>
              <a:t>(</a:t>
            </a:r>
            <a:r>
              <a:rPr lang="ko-KR" altLang="en-US" sz="600" dirty="0"/>
              <a:t>전자</a:t>
            </a:r>
            <a:r>
              <a:rPr lang="en-US" altLang="ko-KR" sz="600" dirty="0"/>
              <a:t>), </a:t>
            </a:r>
            <a:r>
              <a:rPr lang="ko-KR" altLang="en-US" sz="600" dirty="0" err="1"/>
              <a:t>역경매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발주기관</a:t>
            </a:r>
            <a:r>
              <a:rPr lang="en-US" altLang="ko-KR" sz="600" dirty="0"/>
              <a:t>: </a:t>
            </a:r>
            <a:r>
              <a:rPr lang="ko-KR" altLang="en-US" sz="600" dirty="0"/>
              <a:t>발주기관 전체 </a:t>
            </a:r>
            <a:r>
              <a:rPr lang="en-US" altLang="ko-KR" sz="600" dirty="0"/>
              <a:t>, </a:t>
            </a:r>
            <a:r>
              <a:rPr lang="ko-KR" altLang="en-US" sz="600" dirty="0" err="1"/>
              <a:t>방위사업청</a:t>
            </a:r>
            <a:r>
              <a:rPr lang="en-US" altLang="ko-KR" sz="600" dirty="0"/>
              <a:t>, </a:t>
            </a:r>
            <a:r>
              <a:rPr lang="ko-KR" altLang="en-US" sz="600" dirty="0"/>
              <a:t>조달본부</a:t>
            </a:r>
            <a:r>
              <a:rPr lang="en-US" altLang="ko-KR" sz="600" dirty="0"/>
              <a:t>, </a:t>
            </a:r>
            <a:r>
              <a:rPr lang="ko-KR" altLang="en-US" sz="600" dirty="0" err="1"/>
              <a:t>경리단</a:t>
            </a:r>
            <a:r>
              <a:rPr lang="en-US" altLang="ko-KR" sz="600" dirty="0"/>
              <a:t>, </a:t>
            </a:r>
            <a:r>
              <a:rPr lang="ko-KR" altLang="en-US" sz="600" dirty="0" err="1"/>
              <a:t>군수사</a:t>
            </a:r>
            <a:r>
              <a:rPr lang="en-US" altLang="ko-KR" sz="600" dirty="0"/>
              <a:t>, </a:t>
            </a:r>
            <a:r>
              <a:rPr lang="ko-KR" altLang="en-US" sz="600" dirty="0"/>
              <a:t>교육사</a:t>
            </a:r>
            <a:r>
              <a:rPr lang="en-US" altLang="ko-KR" sz="600" dirty="0"/>
              <a:t>, </a:t>
            </a:r>
            <a:r>
              <a:rPr lang="ko-KR" altLang="en-US" sz="600" dirty="0"/>
              <a:t>학교</a:t>
            </a:r>
            <a:r>
              <a:rPr lang="en-US" altLang="ko-KR" sz="600" dirty="0"/>
              <a:t>, </a:t>
            </a:r>
            <a:r>
              <a:rPr lang="ko-KR" altLang="en-US" sz="600" dirty="0" err="1"/>
              <a:t>근지단</a:t>
            </a:r>
            <a:r>
              <a:rPr lang="en-US" altLang="ko-KR" sz="600" dirty="0"/>
              <a:t>, </a:t>
            </a:r>
            <a:r>
              <a:rPr lang="ko-KR" altLang="en-US" sz="600" dirty="0" err="1"/>
              <a:t>군병원</a:t>
            </a:r>
            <a:r>
              <a:rPr lang="en-US" altLang="ko-KR" sz="600" dirty="0"/>
              <a:t>, </a:t>
            </a:r>
            <a:r>
              <a:rPr lang="ko-KR" altLang="en-US" sz="600" dirty="0"/>
              <a:t>본부</a:t>
            </a:r>
            <a:r>
              <a:rPr lang="en-US" altLang="ko-KR" sz="600" dirty="0"/>
              <a:t>, </a:t>
            </a:r>
            <a:r>
              <a:rPr lang="ko-KR" altLang="en-US" sz="600" dirty="0"/>
              <a:t>국방부</a:t>
            </a:r>
            <a:r>
              <a:rPr lang="en-US" altLang="ko-KR" sz="600" dirty="0"/>
              <a:t>-9, </a:t>
            </a:r>
            <a:r>
              <a:rPr lang="ko-KR" altLang="en-US" sz="600" dirty="0"/>
              <a:t>국방부</a:t>
            </a:r>
            <a:r>
              <a:rPr lang="en-US" altLang="ko-KR" sz="600" dirty="0"/>
              <a:t>-A, </a:t>
            </a:r>
            <a:r>
              <a:rPr lang="ko-KR" altLang="en-US" sz="600" dirty="0"/>
              <a:t>기타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5-2</a:t>
            </a:r>
            <a:r>
              <a:rPr lang="en-US" altLang="ko-KR" sz="600" dirty="0"/>
              <a:t>] </a:t>
            </a:r>
            <a:r>
              <a:rPr lang="ko-KR" altLang="en-US" sz="600" dirty="0"/>
              <a:t>수정계약요청수신</a:t>
            </a:r>
            <a:r>
              <a:rPr lang="en-US" altLang="ko-KR" sz="600" dirty="0"/>
              <a:t>, </a:t>
            </a:r>
            <a:r>
              <a:rPr lang="ko-KR" altLang="en-US" sz="600" dirty="0"/>
              <a:t>수정계약사유 항목 확인 불가</a:t>
            </a:r>
            <a:r>
              <a:rPr lang="en-US" altLang="ko-KR" sz="600" dirty="0"/>
              <a:t>.</a:t>
            </a:r>
            <a:r>
              <a:rPr lang="ko-KR" altLang="en-US" sz="600" dirty="0"/>
              <a:t> 항목명과 코드</a:t>
            </a:r>
            <a:r>
              <a:rPr lang="en-US" altLang="ko-KR" sz="600" dirty="0"/>
              <a:t>,</a:t>
            </a:r>
            <a:r>
              <a:rPr lang="ko-KR" altLang="en-US" sz="600" dirty="0"/>
              <a:t>전달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5-3</a:t>
            </a:r>
            <a:r>
              <a:rPr lang="en-US" altLang="ko-KR" sz="600" dirty="0"/>
              <a:t>] </a:t>
            </a:r>
            <a:r>
              <a:rPr lang="ko-KR" altLang="en-US" sz="600" dirty="0"/>
              <a:t>레이블 항목 </a:t>
            </a:r>
            <a:r>
              <a:rPr lang="ko-KR" altLang="en-US" sz="600" dirty="0" smtClean="0"/>
              <a:t>기타사항</a:t>
            </a:r>
            <a:endParaRPr lang="en-US" altLang="ko-KR" sz="6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smtClean="0"/>
              <a:t>문서 </a:t>
            </a:r>
            <a:r>
              <a:rPr lang="ko-KR" altLang="en-US" sz="600" dirty="0"/>
              <a:t>정보 영역 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 smtClean="0"/>
              <a:t>계약번호</a:t>
            </a:r>
            <a:r>
              <a:rPr lang="ko-KR" altLang="en-US" sz="600" dirty="0" smtClean="0"/>
              <a:t> </a:t>
            </a:r>
            <a:r>
              <a:rPr lang="en-US" altLang="ko-KR" sz="600" dirty="0"/>
              <a:t>,  </a:t>
            </a:r>
            <a:r>
              <a:rPr lang="ko-KR" altLang="en-US" sz="600" dirty="0" err="1" smtClean="0"/>
              <a:t>증빙번호</a:t>
            </a:r>
            <a:r>
              <a:rPr lang="ko-KR" altLang="en-US" sz="600" dirty="0" smtClean="0"/>
              <a:t> </a:t>
            </a:r>
            <a:r>
              <a:rPr lang="ko-KR" altLang="en-US" sz="600" dirty="0"/>
              <a:t>노출 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 smtClean="0"/>
              <a:t>계약번호</a:t>
            </a:r>
            <a:r>
              <a:rPr lang="ko-KR" altLang="en-US" sz="600" dirty="0" smtClean="0"/>
              <a:t> </a:t>
            </a:r>
            <a:r>
              <a:rPr lang="ko-KR" altLang="en-US" sz="600" dirty="0" err="1"/>
              <a:t>전체노출</a:t>
            </a:r>
            <a:r>
              <a:rPr lang="ko-KR" altLang="en-US" sz="600" dirty="0"/>
              <a:t> </a:t>
            </a:r>
            <a:r>
              <a:rPr lang="en-US" altLang="ko-KR" sz="600" dirty="0"/>
              <a:t>/ </a:t>
            </a:r>
            <a:r>
              <a:rPr lang="ko-KR" altLang="en-US" sz="600" dirty="0" err="1" smtClean="0"/>
              <a:t>증빙번호</a:t>
            </a:r>
            <a:r>
              <a:rPr lang="ko-KR" altLang="en-US" sz="600" dirty="0" smtClean="0"/>
              <a:t> </a:t>
            </a:r>
            <a:r>
              <a:rPr lang="ko-KR" altLang="en-US" sz="600" dirty="0" err="1"/>
              <a:t>노출시</a:t>
            </a:r>
            <a:r>
              <a:rPr lang="ko-KR" altLang="en-US" sz="600" dirty="0"/>
              <a:t> 해당 라인을 넘어가면 </a:t>
            </a:r>
            <a:r>
              <a:rPr lang="en-US" altLang="ko-KR" sz="600" dirty="0"/>
              <a:t>(…) </a:t>
            </a:r>
            <a:r>
              <a:rPr lang="ko-KR" altLang="en-US" sz="600" dirty="0" err="1"/>
              <a:t>말줄임</a:t>
            </a:r>
            <a:r>
              <a:rPr lang="ko-KR" altLang="en-US" sz="600" dirty="0"/>
              <a:t> 표시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 err="1"/>
              <a:t>계약번호</a:t>
            </a:r>
            <a:r>
              <a:rPr lang="en-US" altLang="ko-KR" sz="600" dirty="0"/>
              <a:t>:</a:t>
            </a:r>
            <a:r>
              <a:rPr lang="ko-KR" altLang="en-US" sz="600" dirty="0"/>
              <a:t> </a:t>
            </a:r>
            <a:r>
              <a:rPr lang="ko-KR" altLang="en-US" sz="600" dirty="0" err="1"/>
              <a:t>계약번호</a:t>
            </a:r>
            <a:r>
              <a:rPr lang="en-US" altLang="ko-KR" sz="600" dirty="0"/>
              <a:t>+</a:t>
            </a:r>
            <a:r>
              <a:rPr lang="ko-KR" altLang="en-US" sz="600" dirty="0"/>
              <a:t>계약번호차수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6-3] </a:t>
            </a:r>
            <a:r>
              <a:rPr lang="ko-KR" altLang="en-US" sz="600" dirty="0"/>
              <a:t>문서 제목 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/>
              <a:t>- </a:t>
            </a:r>
            <a:r>
              <a:rPr lang="ko-KR" altLang="en-US" sz="600" dirty="0"/>
              <a:t>제목은 </a:t>
            </a:r>
            <a:r>
              <a:rPr lang="en-US" altLang="ko-KR" sz="600" dirty="0"/>
              <a:t>2</a:t>
            </a:r>
            <a:r>
              <a:rPr lang="ko-KR" altLang="en-US" sz="600" dirty="0"/>
              <a:t>줄 까지 노출 이후</a:t>
            </a:r>
            <a:r>
              <a:rPr lang="en-US" altLang="ko-KR" sz="600" dirty="0"/>
              <a:t>(…) </a:t>
            </a:r>
            <a:r>
              <a:rPr lang="ko-KR" altLang="en-US" sz="600" dirty="0" err="1"/>
              <a:t>말줄임</a:t>
            </a:r>
            <a:r>
              <a:rPr lang="ko-KR" altLang="en-US" sz="600" dirty="0"/>
              <a:t> 표시</a:t>
            </a:r>
            <a:endParaRPr lang="en-US" altLang="ko-KR" sz="600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z="600" dirty="0" err="1"/>
              <a:t>더보기</a:t>
            </a:r>
            <a:r>
              <a:rPr lang="ko-KR" altLang="en-US" sz="600" dirty="0"/>
              <a:t> 기능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r>
              <a:rPr lang="en-US" altLang="ko-KR" sz="600" dirty="0" smtClean="0"/>
              <a:t>-4 </a:t>
            </a:r>
            <a:r>
              <a:rPr lang="ko-KR" altLang="en-US" sz="600" dirty="0" err="1" smtClean="0"/>
              <a:t>번항목</a:t>
            </a:r>
            <a:r>
              <a:rPr lang="ko-KR" altLang="en-US" sz="600" dirty="0" smtClean="0"/>
              <a:t> </a:t>
            </a:r>
            <a:r>
              <a:rPr lang="ko-KR" altLang="en-US" sz="600" dirty="0"/>
              <a:t>표시 개수 영역에서 선택한 개수로 증가</a:t>
            </a:r>
            <a:r>
              <a:rPr lang="en-US" altLang="ko-KR" sz="600" dirty="0"/>
              <a:t>.</a:t>
            </a:r>
            <a:br>
              <a:rPr lang="en-US" altLang="ko-KR" sz="600" dirty="0"/>
            </a:br>
            <a:r>
              <a:rPr lang="ko-KR" altLang="en-US" sz="600" dirty="0"/>
              <a:t>예</a:t>
            </a:r>
            <a:r>
              <a:rPr lang="en-US" altLang="ko-KR" sz="600" dirty="0"/>
              <a:t>) 10</a:t>
            </a:r>
            <a:r>
              <a:rPr lang="ko-KR" altLang="en-US" sz="600" dirty="0"/>
              <a:t>개 노출 이후 </a:t>
            </a:r>
            <a:r>
              <a:rPr lang="ko-KR" altLang="en-US" sz="600" dirty="0" err="1"/>
              <a:t>더보기</a:t>
            </a:r>
            <a:r>
              <a:rPr lang="ko-KR" altLang="en-US" sz="600" dirty="0"/>
              <a:t> 버튼 클릭으로 </a:t>
            </a:r>
            <a:r>
              <a:rPr lang="en-US" altLang="ko-KR" sz="600" dirty="0"/>
              <a:t>10</a:t>
            </a:r>
            <a:r>
              <a:rPr lang="ko-KR" altLang="en-US" sz="600" dirty="0"/>
              <a:t>개씩 추가 로드</a:t>
            </a:r>
            <a:r>
              <a:rPr lang="en-US" altLang="ko-KR" sz="600" dirty="0"/>
              <a:t/>
            </a:r>
            <a:br>
              <a:rPr lang="en-US" altLang="ko-KR" sz="600" dirty="0"/>
            </a:br>
            <a:endParaRPr lang="en-US" altLang="ko-KR" sz="6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</a:t>
            </a:r>
            <a:r>
              <a:rPr lang="ko-KR" altLang="en-US" dirty="0" err="1"/>
              <a:t>건별로</a:t>
            </a:r>
            <a:r>
              <a:rPr lang="ko-KR" altLang="en-US" dirty="0"/>
              <a:t> 대금지불 정보 </a:t>
            </a:r>
            <a:r>
              <a:rPr lang="ko-KR" altLang="en-US" dirty="0" smtClean="0"/>
              <a:t>목록 조회 화면</a:t>
            </a:r>
            <a:endParaRPr lang="en-US" altLang="ko-KR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/>
              <a:t>대금지불정보목록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MUI-CT-01-M15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대금지불정보목록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99519" cy="1237060"/>
            <a:chOff x="781461" y="3087955"/>
            <a:chExt cx="2499519" cy="1237060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 / </a:t>
              </a:r>
              <a:r>
                <a:rPr lang="ko-KR" altLang="en-US" sz="700" dirty="0" err="1" smtClean="0"/>
                <a:t>증빙번호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00000000-0000</a:t>
              </a:r>
            </a:p>
            <a:p>
              <a:r>
                <a:rPr lang="ko-KR" altLang="en-US" sz="900" b="1" dirty="0" err="1" smtClean="0"/>
                <a:t>계약건명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384721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업체명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지출금액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지체상금액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국고환수액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수표발행일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08094" y="3617129"/>
              <a:ext cx="472886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A</a:t>
              </a:r>
              <a:r>
                <a:rPr lang="ko-KR" altLang="en-US" sz="600" dirty="0" smtClean="0">
                  <a:latin typeface="+mn-ea"/>
                </a:rPr>
                <a:t>업체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475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8615" y="3226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86648" y="227576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용역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전체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14137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계약방법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지명경쟁</a:t>
            </a:r>
            <a:endParaRPr lang="ko-KR" altLang="en-US" sz="600" dirty="0"/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제한경쟁</a:t>
            </a:r>
            <a:endParaRPr lang="ko-KR" altLang="en-US" sz="600" dirty="0"/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5307915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5475884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5475884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5475884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역경매</a:t>
            </a:r>
            <a:endParaRPr lang="ko-KR" altLang="en-US" sz="600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14518" y="22113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5-1</a:t>
            </a:r>
            <a:endParaRPr lang="ko-KR" altLang="en-US" sz="500" b="1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847205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발주기관 전체</a:t>
            </a:r>
            <a:endParaRPr lang="ko-KR" altLang="en-US" sz="600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85304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발주기관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847205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8472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조달본부</a:t>
            </a:r>
            <a:endParaRPr lang="ko-KR" altLang="en-US" sz="600" dirty="0"/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교육사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학교</a:t>
            </a:r>
            <a:endParaRPr lang="ko-KR" altLang="en-US" sz="600" dirty="0"/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본부</a:t>
            </a:r>
            <a:endParaRPr lang="ko-KR" altLang="en-US" sz="600" dirty="0"/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기타</a:t>
            </a:r>
            <a:endParaRPr lang="ko-KR" altLang="en-US" sz="600" dirty="0"/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계약해제</a:t>
            </a:r>
            <a:endParaRPr lang="ko-KR" altLang="en-US" sz="600" dirty="0"/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진행상태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7183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계약해지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err="1" smtClean="0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모서리가 둥근 직사각형 122"/>
          <p:cNvSpPr/>
          <p:nvPr/>
        </p:nvSpPr>
        <p:spPr>
          <a:xfrm>
            <a:off x="1969200" y="337183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kumimoji="1" lang="ko-KR" altLang="en-US" sz="500" kern="0" dirty="0" smtClean="0">
                    <a:solidFill>
                      <a:srgbClr val="0070C0"/>
                    </a:solidFill>
                  </a:rPr>
                  <a:t>   통합참조번호</a:t>
                </a:r>
                <a:endParaRPr kumimoji="1" lang="en-US" sz="5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직사각형 115"/>
          <p:cNvSpPr/>
          <p:nvPr/>
        </p:nvSpPr>
        <p:spPr>
          <a:xfrm>
            <a:off x="7072262" y="6025791"/>
            <a:ext cx="2371724" cy="23954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 smtClean="0"/>
              <a:t>PC </a:t>
            </a:r>
            <a:r>
              <a:rPr lang="ko-KR" altLang="en-US" sz="500" dirty="0" smtClean="0"/>
              <a:t>내역 확인 후</a:t>
            </a:r>
            <a:endParaRPr lang="en-US" altLang="ko-KR" sz="500" dirty="0" smtClean="0"/>
          </a:p>
          <a:p>
            <a:pPr algn="ctr"/>
            <a:r>
              <a:rPr lang="ko-KR" altLang="en-US" sz="500" dirty="0" smtClean="0"/>
              <a:t>흐름 수정 필요</a:t>
            </a:r>
            <a:endParaRPr lang="ko-KR" altLang="en-US" sz="500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2055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63636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84573" y="22247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5396" y="25044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22365" y="28912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05536" y="34994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24224" y="3511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6-1</a:t>
            </a:r>
            <a:endParaRPr lang="ko-KR" altLang="en-US" sz="600" b="1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887229" y="35161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6-2</a:t>
            </a:r>
            <a:endParaRPr lang="ko-KR" altLang="en-US" sz="600" b="1" dirty="0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8517" y="37095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6-3</a:t>
            </a:r>
            <a:endParaRPr lang="ko-KR" altLang="en-US" sz="600" b="1" dirty="0"/>
          </a:p>
        </p:txBody>
      </p:sp>
      <p:sp>
        <p:nvSpPr>
          <p:cNvPr id="6" name="직사각형 5"/>
          <p:cNvSpPr/>
          <p:nvPr/>
        </p:nvSpPr>
        <p:spPr>
          <a:xfrm>
            <a:off x="3837995" y="2396927"/>
            <a:ext cx="3234267" cy="3868406"/>
          </a:xfrm>
          <a:prstGeom prst="rect">
            <a:avLst/>
          </a:prstGeom>
          <a:noFill/>
          <a:ln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직사각형 155"/>
          <p:cNvSpPr/>
          <p:nvPr/>
        </p:nvSpPr>
        <p:spPr>
          <a:xfrm>
            <a:off x="7062870" y="5819409"/>
            <a:ext cx="235790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– 5-1 </a:t>
            </a:r>
            <a:r>
              <a:rPr lang="ko-KR" altLang="en-US" sz="500" dirty="0" err="1" smtClean="0"/>
              <a:t>표시레이블</a:t>
            </a:r>
            <a:r>
              <a:rPr lang="ko-KR" altLang="en-US" sz="500" dirty="0" smtClean="0"/>
              <a:t> 항목 확인 필요</a:t>
            </a:r>
            <a:r>
              <a:rPr lang="en-US" altLang="ko-KR" sz="500" dirty="0" smtClean="0"/>
              <a:t>.</a:t>
            </a:r>
            <a:br>
              <a:rPr lang="en-US" altLang="ko-KR" sz="500" dirty="0" smtClean="0"/>
            </a:br>
            <a:r>
              <a:rPr lang="ko-KR" altLang="en-US" sz="500" dirty="0" err="1" smtClean="0"/>
              <a:t>지불일자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순번</a:t>
            </a:r>
            <a:r>
              <a:rPr lang="en-US" altLang="ko-KR" sz="500" dirty="0" smtClean="0"/>
              <a:t>, </a:t>
            </a:r>
          </a:p>
        </p:txBody>
      </p:sp>
      <p:sp>
        <p:nvSpPr>
          <p:cNvPr id="159" name="타원 158"/>
          <p:cNvSpPr/>
          <p:nvPr/>
        </p:nvSpPr>
        <p:spPr>
          <a:xfrm>
            <a:off x="3378170" y="539208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1" name="그룹 170"/>
          <p:cNvGrpSpPr/>
          <p:nvPr/>
        </p:nvGrpSpPr>
        <p:grpSpPr>
          <a:xfrm>
            <a:off x="3507637" y="5521547"/>
            <a:ext cx="124144" cy="124144"/>
            <a:chOff x="162544" y="5299917"/>
            <a:chExt cx="124144" cy="124144"/>
          </a:xfrm>
        </p:grpSpPr>
        <p:cxnSp>
          <p:nvCxnSpPr>
            <p:cNvPr id="176" name="직선 연결선 175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7" name="직선 연결선 176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5600041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22843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1599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7596576"/>
              </p:ext>
            </p:extLst>
          </p:nvPr>
        </p:nvGraphicFramePr>
        <p:xfrm>
          <a:off x="452999" y="2512190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순번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rnum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 조회결과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checkPblcnYmd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수표발행일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증빙번호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업무구분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1709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lqdmgAmt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24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nttrRdmAmt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국고환수액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44183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998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486390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7447209"/>
              </p:ext>
            </p:extLst>
          </p:nvPr>
        </p:nvGraphicFramePr>
        <p:xfrm>
          <a:off x="453000" y="514203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조회조건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계약번호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scwin.btn_ctrtNo_onclick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조회조건의 계약번호를 클릭하여 조달업체의 계약번호 선택 팝업화면에서 조회하려는 계약번호를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7076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6CF5554-9905-721E-D18C-6470C57A0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3343314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450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데이터 </a:t>
            </a:r>
            <a:r>
              <a:rPr lang="ko-KR" altLang="en-US" dirty="0" smtClean="0"/>
              <a:t>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/>
              <a:t>대금지불정보목록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대금지불정보조회 </a:t>
            </a:r>
            <a:r>
              <a:rPr lang="ko-KR" altLang="en-US" dirty="0" smtClean="0">
                <a:latin typeface="+mn-ea"/>
              </a:rPr>
              <a:t>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MUI-CT-01-P16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76601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62614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65540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678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대금지불정보조회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6601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8" name="모서리가 둥근 직사각형 97"/>
          <p:cNvSpPr/>
          <p:nvPr/>
        </p:nvSpPr>
        <p:spPr>
          <a:xfrm rot="5400000">
            <a:off x="2663444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540582"/>
            <a:ext cx="2630093" cy="1554746"/>
            <a:chOff x="3865118" y="2694619"/>
            <a:chExt cx="2630093" cy="1554746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대금지불정보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3867211" y="2946203"/>
              <a:ext cx="792000" cy="13031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지출관증빙번호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지출금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반납구분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00000000-0000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94394" y="2694619"/>
              <a:ext cx="1250843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</a:t>
              </a: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000</a:t>
              </a:r>
              <a:r>
                <a:rPr lang="en-US" altLang="ko-KR" sz="700" dirty="0" smtClean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05047"/>
            <a:ext cx="2446613" cy="241506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622625"/>
            <a:ext cx="76863" cy="292489"/>
            <a:chOff x="3750067" y="4683795"/>
            <a:chExt cx="76863" cy="292489"/>
          </a:xfrm>
        </p:grpSpPr>
        <p:sp>
          <p:nvSpPr>
            <p:cNvPr id="90" name="타원 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1" name="타원 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1" name="직사각형 40"/>
          <p:cNvSpPr/>
          <p:nvPr/>
        </p:nvSpPr>
        <p:spPr>
          <a:xfrm>
            <a:off x="7070726" y="5960766"/>
            <a:ext cx="2371724" cy="23954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 smtClean="0"/>
              <a:t>PC </a:t>
            </a:r>
            <a:r>
              <a:rPr lang="ko-KR" altLang="en-US" sz="500" dirty="0" smtClean="0"/>
              <a:t>내역 확인 후</a:t>
            </a:r>
            <a:endParaRPr lang="en-US" altLang="ko-KR" sz="500" dirty="0" smtClean="0"/>
          </a:p>
          <a:p>
            <a:pPr algn="ctr"/>
            <a:r>
              <a:rPr lang="ko-KR" altLang="en-US" sz="500" dirty="0" smtClean="0"/>
              <a:t>흐름 수정 필요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3417583522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43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조회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1942686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대금지불정보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8272976"/>
              </p:ext>
            </p:extLst>
          </p:nvPr>
        </p:nvGraphicFramePr>
        <p:xfrm>
          <a:off x="452999" y="1014316"/>
          <a:ext cx="8994883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지불일자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dfryYmd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지불일자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기준으로 대금이 지불된 내역을 조회하기 위한 조건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198142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26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0786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dsbofrEvdncNo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지출관증빙번호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26995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expndAmt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지출금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306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5746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rtnSe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반납구분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44094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2CB1FAC-ACC0-43B0-6E8A-5AC9A3766BF3}"/>
              </a:ext>
            </a:extLst>
          </p:cNvPr>
          <p:cNvSpPr txBox="1"/>
          <p:nvPr/>
        </p:nvSpPr>
        <p:spPr>
          <a:xfrm>
            <a:off x="458117" y="37018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598257E-A6F5-1774-F771-ED30A4F1E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955480"/>
              </p:ext>
            </p:extLst>
          </p:nvPr>
        </p:nvGraphicFramePr>
        <p:xfrm>
          <a:off x="453000" y="39799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지불일자를 현재일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M,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 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 조회조건에 해당하는 결과 그리드에 출력한다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734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77BF3023-3077-A2F1-DB82-250E7F59A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32040316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해지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해지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해제목록</a:t>
            </a:r>
            <a:r>
              <a:rPr lang="ko-KR" altLang="en-US" dirty="0" smtClean="0"/>
              <a:t>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smtClean="0"/>
              <a:t>홈 </a:t>
            </a:r>
            <a:r>
              <a:rPr lang="en-US" altLang="ko-KR" dirty="0" smtClean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계약해지해제목록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 err="1" smtClean="0">
                <a:latin typeface="+mn-ea"/>
              </a:rPr>
              <a:t>해지해제</a:t>
            </a:r>
            <a:r>
              <a:rPr lang="ko-KR" altLang="en-US" sz="800" dirty="0" smtClean="0">
                <a:latin typeface="+mn-ea"/>
              </a:rPr>
              <a:t>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41494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81461" y="3376970"/>
            <a:ext cx="2473257" cy="1098561"/>
            <a:chOff x="781461" y="3087955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3272286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공사번호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99001 /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2025000000 - 01</a:t>
              </a:r>
            </a:p>
            <a:p>
              <a:r>
                <a:rPr lang="ko-KR" altLang="en-US" sz="900" b="1" dirty="0" smtClean="0">
                  <a:solidFill>
                    <a:srgbClr val="0070C0"/>
                  </a:solidFill>
                </a:rPr>
                <a:t>물품</a:t>
              </a:r>
              <a:r>
                <a:rPr lang="ko-KR" altLang="en-US" sz="900" b="1" dirty="0" smtClean="0"/>
                <a:t>구매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632518"/>
              <a:ext cx="46166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계약일자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해지해제일자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617129"/>
              <a:ext cx="47288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2026-04-21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제</a:t>
              </a:r>
              <a:r>
                <a:rPr lang="en-US" altLang="ko-KR" sz="600" dirty="0" smtClean="0">
                  <a:latin typeface="+mn-ea"/>
                </a:rPr>
                <a:t>8385</a:t>
              </a:r>
              <a:r>
                <a:rPr lang="ko-KR" altLang="en-US" sz="600" dirty="0" smtClean="0">
                  <a:latin typeface="+mn-ea"/>
                </a:rPr>
                <a:t>부대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3087955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1075655" y="3087955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/>
                <a:t>수의계약</a:t>
              </a:r>
              <a:endParaRPr lang="ko-KR" altLang="en-US" sz="600" dirty="0"/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1521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57491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001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43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모서리가 둥근 직사각형 79"/>
          <p:cNvSpPr/>
          <p:nvPr/>
        </p:nvSpPr>
        <p:spPr>
          <a:xfrm>
            <a:off x="4614060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44961" y="226292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표시 레이블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914986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용역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모서리가 둥근 직사각형 84"/>
          <p:cNvSpPr/>
          <p:nvPr/>
        </p:nvSpPr>
        <p:spPr>
          <a:xfrm>
            <a:off x="521597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5519047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254462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전체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55046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업무구분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5" name="모서리가 둥근 직사각형 144"/>
          <p:cNvSpPr/>
          <p:nvPr/>
        </p:nvSpPr>
        <p:spPr>
          <a:xfrm>
            <a:off x="431863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14137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계약방법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477609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지명경쟁</a:t>
            </a:r>
            <a:endParaRPr lang="ko-KR" altLang="en-US" sz="600" dirty="0"/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5232765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제한경쟁</a:t>
            </a:r>
            <a:endParaRPr lang="ko-KR" altLang="en-US" sz="600" dirty="0"/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5690227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복수경쟁</a:t>
            </a:r>
            <a:endParaRPr lang="ko-KR" altLang="en-US" sz="600" dirty="0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6147576" y="5135536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152" name="모서리가 둥근 직사각형 151"/>
          <p:cNvSpPr/>
          <p:nvPr/>
        </p:nvSpPr>
        <p:spPr>
          <a:xfrm>
            <a:off x="4318635" y="5307915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서류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5199541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동시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5885028" y="5307915"/>
            <a:ext cx="64459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 smtClean="0"/>
              <a:t>2</a:t>
            </a:r>
            <a:r>
              <a:rPr lang="ko-KR" altLang="en-US" sz="600" dirty="0" smtClean="0"/>
              <a:t>단계 경쟁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분리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4318635" y="5475884"/>
            <a:ext cx="50131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종합낙찰제</a:t>
            </a:r>
            <a:endParaRPr lang="ko-KR" altLang="en-US" sz="600" dirty="0"/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4876890" y="5475884"/>
            <a:ext cx="83407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협상에의한</a:t>
            </a:r>
            <a:r>
              <a:rPr lang="ko-KR" altLang="en-US" sz="600" dirty="0" smtClean="0"/>
              <a:t> 계약</a:t>
            </a:r>
            <a:r>
              <a:rPr lang="en-US" altLang="ko-KR" sz="600" dirty="0" smtClean="0"/>
              <a:t>(</a:t>
            </a:r>
            <a:r>
              <a:rPr lang="ko-KR" altLang="en-US" sz="600" dirty="0" smtClean="0"/>
              <a:t>전자</a:t>
            </a:r>
            <a:r>
              <a:rPr lang="en-US" altLang="ko-KR" sz="600" dirty="0" smtClean="0"/>
              <a:t>)</a:t>
            </a:r>
            <a:endParaRPr lang="ko-KR" altLang="en-US" sz="600" dirty="0"/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5767485" y="5475884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역경매</a:t>
            </a:r>
            <a:endParaRPr lang="ko-KR" altLang="en-US" sz="600" dirty="0"/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4318635" y="5847205"/>
            <a:ext cx="57991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발주기관 전체</a:t>
            </a:r>
            <a:endParaRPr lang="ko-KR" altLang="en-US" sz="600" dirty="0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585304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발주기관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4946591" y="5847205"/>
            <a:ext cx="47052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방위사업청</a:t>
            </a:r>
            <a:endParaRPr lang="ko-KR" altLang="en-US" sz="600" dirty="0"/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5462635" y="584720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조달본부</a:t>
            </a:r>
            <a:endParaRPr lang="ko-KR" altLang="en-US" sz="600" dirty="0"/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590936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경리단</a:t>
            </a:r>
            <a:endParaRPr lang="ko-KR" altLang="en-US" sz="600" dirty="0"/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6282921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군수사</a:t>
            </a:r>
            <a:endParaRPr lang="ko-KR" altLang="en-US" sz="600" dirty="0"/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6658148" y="5849480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교육사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321449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학교</a:t>
            </a:r>
            <a:endParaRPr lang="ko-KR" altLang="en-US" sz="600" dirty="0"/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4639917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근지단</a:t>
            </a:r>
            <a:endParaRPr lang="ko-KR" altLang="en-US" sz="600" dirty="0"/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5025544" y="6010998"/>
            <a:ext cx="3232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/>
              <a:t>군병원</a:t>
            </a:r>
            <a:endParaRPr lang="ko-KR" altLang="en-US" sz="600" dirty="0"/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413995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본부</a:t>
            </a:r>
            <a:endParaRPr lang="ko-KR" altLang="en-US" sz="600" dirty="0"/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727123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-9</a:t>
            </a:r>
            <a:endParaRPr lang="ko-KR" altLang="en-US" sz="600" dirty="0"/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6198542" y="6010998"/>
            <a:ext cx="40761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국방부</a:t>
            </a:r>
            <a:r>
              <a:rPr lang="en-US" altLang="ko-KR" sz="600" dirty="0" smtClean="0"/>
              <a:t>-A</a:t>
            </a:r>
            <a:endParaRPr lang="ko-KR" altLang="en-US" sz="600" dirty="0"/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6669961" y="6010998"/>
            <a:ext cx="25083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기타</a:t>
            </a:r>
            <a:endParaRPr lang="ko-KR" altLang="en-US" sz="600" dirty="0"/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4318635" y="2877159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4695883" y="2878607"/>
            <a:ext cx="32583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288299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입찰구분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4318634" y="3217399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계약진행</a:t>
            </a:r>
            <a:endParaRPr lang="ko-KR" altLang="en-US" sz="600" dirty="0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762118" y="321884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계약수정</a:t>
            </a:r>
            <a:endParaRPr lang="ko-KR" altLang="en-US" sz="600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223238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계약상태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5221341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계약최종</a:t>
            </a:r>
            <a:endParaRPr lang="ko-KR" altLang="en-US" sz="600" dirty="0"/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6169583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6641670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계약해제</a:t>
            </a:r>
            <a:endParaRPr lang="ko-KR" altLang="en-US" sz="600" dirty="0"/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318634" y="3553817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서류요청</a:t>
            </a:r>
            <a:endParaRPr lang="ko-KR" altLang="en-US" sz="600" dirty="0"/>
          </a:p>
        </p:txBody>
      </p:sp>
      <p:sp>
        <p:nvSpPr>
          <p:cNvPr id="113" name="모서리가 둥근 직사각형 112"/>
          <p:cNvSpPr/>
          <p:nvPr/>
        </p:nvSpPr>
        <p:spPr>
          <a:xfrm>
            <a:off x="4762118" y="3555265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서류등록</a:t>
            </a:r>
            <a:endParaRPr lang="ko-KR" altLang="en-US" sz="600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559656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진행상태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5221341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서류반려</a:t>
            </a:r>
            <a:endParaRPr lang="ko-KR" altLang="en-US" sz="600" dirty="0"/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5691577" y="3555265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체결의뢰</a:t>
            </a:r>
            <a:endParaRPr lang="ko-KR" altLang="en-US" sz="600" dirty="0"/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525063" y="337183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67300" y="3079596"/>
            <a:ext cx="753411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계약해지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err="1" smtClean="0">
                <a:latin typeface="+mn-ea"/>
              </a:rPr>
              <a:t>해제목록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5682205" y="3218847"/>
            <a:ext cx="40339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980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모서리가 둥근 직사각형 122"/>
          <p:cNvSpPr/>
          <p:nvPr/>
        </p:nvSpPr>
        <p:spPr>
          <a:xfrm>
            <a:off x="1969200" y="3371831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9021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210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 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143548" y="2992033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8" name="그룹 147"/>
          <p:cNvGrpSpPr/>
          <p:nvPr/>
        </p:nvGrpSpPr>
        <p:grpSpPr>
          <a:xfrm>
            <a:off x="3004764" y="3105654"/>
            <a:ext cx="776938" cy="1131139"/>
            <a:chOff x="3004764" y="2490533"/>
            <a:chExt cx="776938" cy="1131139"/>
          </a:xfrm>
        </p:grpSpPr>
        <p:sp>
          <p:nvSpPr>
            <p:cNvPr id="176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004764" y="2833887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2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004764" y="2490533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84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063151" y="2833887"/>
              <a:ext cx="641770" cy="6740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kern="0" dirty="0" smtClean="0">
                  <a:solidFill>
                    <a:prstClr val="black"/>
                  </a:solidFill>
                </a:rPr>
                <a:t>30</a:t>
              </a:r>
              <a:r>
                <a:rPr lang="ko-KR" altLang="en-US" sz="700" kern="0" dirty="0">
                  <a:solidFill>
                    <a:prstClr val="black"/>
                  </a:solidFill>
                </a:rPr>
                <a:t> </a:t>
              </a:r>
              <a:r>
                <a:rPr lang="ko-KR" altLang="en-US" sz="700" kern="0" dirty="0" smtClean="0">
                  <a:solidFill>
                    <a:prstClr val="black"/>
                  </a:solidFill>
                </a:rPr>
                <a:t>개</a:t>
              </a:r>
              <a:endParaRPr lang="en-US" altLang="ko-KR" sz="700" kern="0" dirty="0" smtClean="0">
                <a:solidFill>
                  <a:prstClr val="black"/>
                </a:solidFill>
              </a:endParaRPr>
            </a:p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50 </a:t>
              </a:r>
              <a:r>
                <a:rPr kumimoji="0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584851" y="2638708"/>
              <a:ext cx="94010" cy="47005"/>
              <a:chOff x="6615710" y="3297172"/>
              <a:chExt cx="94010" cy="47005"/>
            </a:xfrm>
          </p:grpSpPr>
          <p:cxnSp>
            <p:nvCxnSpPr>
              <p:cNvPr id="186" name="직선 연결선 185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7" name="직선 연결선 18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94264"/>
            <a:ext cx="149041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1" name="타원 190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 smtClean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200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계약명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 smtClean="0">
                    <a:latin typeface="맑은 고딕"/>
                    <a:ea typeface="맑은 고딕" panose="020B0503020000020004" pitchFamily="50" charset="-127"/>
                  </a:rPr>
                  <a:t>계약번호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94" name="타원 193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 smtClean="0"/>
                <a:t>V</a:t>
              </a:r>
              <a:endParaRPr lang="ko-KR" altLang="en-US" sz="600" dirty="0"/>
            </a:p>
          </p:txBody>
        </p:sp>
        <p:sp>
          <p:nvSpPr>
            <p:cNvPr id="19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0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상단 </a:t>
            </a:r>
            <a:r>
              <a:rPr lang="ko-KR" altLang="en-US" sz="700" dirty="0" err="1" smtClean="0"/>
              <a:t>업무도움은</a:t>
            </a:r>
            <a:r>
              <a:rPr lang="ko-KR" altLang="en-US" sz="700" dirty="0" smtClean="0"/>
              <a:t> 기본 값으로 접힘 상태로 정보 제공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기본값 </a:t>
            </a:r>
            <a:r>
              <a:rPr lang="en-US" altLang="ko-KR" sz="700" dirty="0" smtClean="0"/>
              <a:t>: </a:t>
            </a:r>
            <a:r>
              <a:rPr lang="ko-KR" altLang="en-US" sz="700" dirty="0" smtClean="0"/>
              <a:t>접힘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사용자 </a:t>
            </a:r>
            <a:r>
              <a:rPr lang="ko-KR" altLang="en-US" sz="700" dirty="0" err="1" smtClean="0"/>
              <a:t>클릭시</a:t>
            </a:r>
            <a:r>
              <a:rPr lang="ko-KR" altLang="en-US" sz="700" dirty="0" smtClean="0"/>
              <a:t> 확장하여 정보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업무도움</a:t>
            </a:r>
            <a:r>
              <a:rPr lang="en-US" altLang="ko-KR" sz="700" dirty="0" smtClean="0"/>
              <a:t> &gt; </a:t>
            </a:r>
            <a:r>
              <a:rPr lang="ko-KR" altLang="en-US" sz="700" dirty="0" smtClean="0"/>
              <a:t>내역이 있는 경우 표시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내역이 없으면 항목을 표시하지 않음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검색필터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2-1] </a:t>
            </a:r>
            <a:r>
              <a:rPr lang="ko-KR" altLang="en-US" sz="700" dirty="0" smtClean="0"/>
              <a:t>통합참조정보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예약번호중</a:t>
            </a:r>
            <a:r>
              <a:rPr lang="ko-KR" altLang="en-US" sz="700" dirty="0" smtClean="0"/>
              <a:t> 선택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2-2] </a:t>
            </a:r>
            <a:r>
              <a:rPr lang="ko-KR" altLang="en-US" sz="700" dirty="0" err="1" smtClean="0"/>
              <a:t>검색어</a:t>
            </a:r>
            <a:r>
              <a:rPr lang="ko-KR" altLang="en-US" sz="700" dirty="0" smtClean="0"/>
              <a:t> 입력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>
                <a:latin typeface="+mn-ea"/>
              </a:rPr>
              <a:t>검색 필터 호출</a:t>
            </a:r>
            <a:r>
              <a:rPr lang="en-US" altLang="ko-KR" sz="700" dirty="0" smtClean="0">
                <a:latin typeface="+mn-ea"/>
              </a:rPr>
              <a:t/>
            </a:r>
            <a:br>
              <a:rPr lang="en-US" altLang="ko-KR" sz="700" dirty="0" smtClean="0">
                <a:latin typeface="+mn-ea"/>
              </a:rPr>
            </a:b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– </a:t>
            </a:r>
            <a:r>
              <a:rPr lang="ko-KR" altLang="en-US" sz="700" dirty="0" smtClean="0">
                <a:latin typeface="+mn-ea"/>
              </a:rPr>
              <a:t>계약 페이지 참고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표시 개수 영역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총 개수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4-1] </a:t>
            </a:r>
            <a:r>
              <a:rPr lang="ko-KR" altLang="en-US" sz="700" dirty="0" smtClean="0"/>
              <a:t>표시 개수 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선택한 건수 만큼 보여주고 </a:t>
            </a:r>
            <a:r>
              <a:rPr lang="ko-KR" altLang="en-US" sz="700" dirty="0" err="1" smtClean="0"/>
              <a:t>더보기시</a:t>
            </a:r>
            <a:r>
              <a:rPr lang="ko-KR" altLang="en-US" sz="700" dirty="0" smtClean="0"/>
              <a:t> 추가로 불러옴</a:t>
            </a:r>
            <a:r>
              <a:rPr lang="en-US" altLang="ko-KR" sz="7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목록 카드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ko-KR" altLang="en-US" sz="700" dirty="0" smtClean="0"/>
              <a:t>레이블이 화면을 넘치는 경우 드래그하여 확인 가능 </a:t>
            </a:r>
            <a:r>
              <a:rPr lang="en-US" altLang="ko-KR" sz="700" dirty="0" smtClean="0"/>
              <a:t>(</a:t>
            </a:r>
            <a:r>
              <a:rPr lang="ko-KR" altLang="en-US" sz="700" dirty="0" err="1" smtClean="0"/>
              <a:t>스와이프기능</a:t>
            </a:r>
            <a:r>
              <a:rPr lang="ko-KR" altLang="en-US" sz="700" dirty="0" smtClean="0"/>
              <a:t> 반영 필요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5-1] </a:t>
            </a:r>
            <a:r>
              <a:rPr lang="ko-KR" altLang="en-US" sz="700" dirty="0" err="1" smtClean="0"/>
              <a:t>표시레이블</a:t>
            </a:r>
            <a:r>
              <a:rPr lang="ko-KR" altLang="en-US" sz="700" dirty="0" smtClean="0"/>
              <a:t> 영역 항목 </a:t>
            </a:r>
            <a:r>
              <a:rPr lang="ko-KR" altLang="en-US" sz="700" dirty="0" err="1" smtClean="0"/>
              <a:t>항목</a:t>
            </a:r>
            <a:r>
              <a:rPr lang="ko-KR" altLang="en-US" sz="700" dirty="0" smtClean="0"/>
              <a:t> 확인 필요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업무구분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:  </a:t>
            </a:r>
            <a:r>
              <a:rPr lang="ko-KR" altLang="en-US" sz="700" dirty="0" smtClean="0"/>
              <a:t>전체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물품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용역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공사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국외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입찰구붐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: </a:t>
            </a:r>
            <a:r>
              <a:rPr lang="ko-KR" altLang="en-US" sz="700" dirty="0" err="1" smtClean="0"/>
              <a:t>총액제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단가제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계약상태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: </a:t>
            </a:r>
            <a:r>
              <a:rPr lang="ko-KR" altLang="en-US" sz="700" dirty="0" err="1" smtClean="0"/>
              <a:t>계약진행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계약수정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계약최종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계약확정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계약해지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해제목록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진행상태 </a:t>
            </a:r>
            <a:r>
              <a:rPr lang="en-US" altLang="ko-KR" sz="700" dirty="0" smtClean="0"/>
              <a:t>: </a:t>
            </a:r>
            <a:r>
              <a:rPr lang="ko-KR" altLang="en-US" sz="700" dirty="0" err="1" smtClean="0"/>
              <a:t>서류요청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서류등록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서류반려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체결의뢰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계약방법 </a:t>
            </a:r>
            <a:r>
              <a:rPr lang="en-US" altLang="ko-KR" sz="700" dirty="0" smtClean="0"/>
              <a:t>:  </a:t>
            </a:r>
            <a:r>
              <a:rPr lang="ko-KR" altLang="en-US" sz="700" dirty="0" smtClean="0"/>
              <a:t>일반경쟁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지명경쟁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제한경쟁</a:t>
            </a:r>
            <a:r>
              <a:rPr lang="en-US" altLang="ko-KR" sz="700" dirty="0" smtClean="0"/>
              <a:t>,</a:t>
            </a:r>
            <a:r>
              <a:rPr lang="ko-KR" altLang="en-US" sz="700" dirty="0" err="1" smtClean="0"/>
              <a:t>복수경쟁</a:t>
            </a:r>
            <a:r>
              <a:rPr lang="en-US" altLang="ko-KR" sz="700" dirty="0" smtClean="0"/>
              <a:t>,</a:t>
            </a:r>
            <a:r>
              <a:rPr lang="ko-KR" altLang="en-US" sz="700" dirty="0" smtClean="0"/>
              <a:t>수의계약</a:t>
            </a:r>
            <a:r>
              <a:rPr lang="en-US" altLang="ko-KR" sz="700" dirty="0" smtClean="0"/>
              <a:t>,</a:t>
            </a:r>
            <a:r>
              <a:rPr lang="ko-KR" altLang="en-US" sz="700" dirty="0" err="1" smtClean="0"/>
              <a:t>협상에의한계약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서류</a:t>
            </a:r>
            <a:r>
              <a:rPr lang="en-US" altLang="ko-KR" sz="700" dirty="0" smtClean="0"/>
              <a:t>),2</a:t>
            </a:r>
            <a:r>
              <a:rPr lang="ko-KR" altLang="en-US" sz="700" dirty="0" smtClean="0"/>
              <a:t>단계 경쟁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동시</a:t>
            </a:r>
            <a:r>
              <a:rPr lang="en-US" altLang="ko-KR" sz="700" dirty="0" smtClean="0"/>
              <a:t>), 2</a:t>
            </a:r>
            <a:r>
              <a:rPr lang="ko-KR" altLang="en-US" sz="700" dirty="0" smtClean="0"/>
              <a:t>단계 경쟁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분리</a:t>
            </a:r>
            <a:r>
              <a:rPr lang="en-US" altLang="ko-KR" sz="700" dirty="0" smtClean="0"/>
              <a:t>), </a:t>
            </a:r>
            <a:r>
              <a:rPr lang="ko-KR" altLang="en-US" sz="700" dirty="0" err="1" smtClean="0"/>
              <a:t>종합낙찰제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협상에의한</a:t>
            </a:r>
            <a:r>
              <a:rPr lang="ko-KR" altLang="en-US" sz="700" dirty="0" smtClean="0"/>
              <a:t> 계약</a:t>
            </a:r>
            <a:r>
              <a:rPr lang="en-US" altLang="ko-KR" sz="700" dirty="0" smtClean="0"/>
              <a:t>(</a:t>
            </a:r>
            <a:r>
              <a:rPr lang="ko-KR" altLang="en-US" sz="700" dirty="0" smtClean="0"/>
              <a:t>전자</a:t>
            </a:r>
            <a:r>
              <a:rPr lang="en-US" altLang="ko-KR" sz="700" dirty="0" smtClean="0"/>
              <a:t>), </a:t>
            </a:r>
            <a:r>
              <a:rPr lang="ko-KR" altLang="en-US" sz="700" dirty="0" err="1" smtClean="0"/>
              <a:t>역경매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발주기관</a:t>
            </a:r>
            <a:r>
              <a:rPr lang="en-US" altLang="ko-KR" sz="700" dirty="0" smtClean="0"/>
              <a:t>: </a:t>
            </a:r>
            <a:r>
              <a:rPr lang="ko-KR" altLang="en-US" sz="700" dirty="0" smtClean="0"/>
              <a:t>발주기관 전체 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방위사업청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조달본부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경리단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군수사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교육사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학교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근지단</a:t>
            </a:r>
            <a:r>
              <a:rPr lang="en-US" altLang="ko-KR" sz="700" dirty="0" smtClean="0"/>
              <a:t>, </a:t>
            </a:r>
            <a:r>
              <a:rPr lang="ko-KR" altLang="en-US" sz="700" dirty="0" err="1" smtClean="0"/>
              <a:t>군병원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본부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국방부</a:t>
            </a:r>
            <a:r>
              <a:rPr lang="en-US" altLang="ko-KR" sz="700" dirty="0" smtClean="0"/>
              <a:t>-9, </a:t>
            </a:r>
            <a:r>
              <a:rPr lang="ko-KR" altLang="en-US" sz="700" dirty="0" smtClean="0"/>
              <a:t>국방부</a:t>
            </a:r>
            <a:r>
              <a:rPr lang="en-US" altLang="ko-KR" sz="700" dirty="0" smtClean="0"/>
              <a:t>-A, </a:t>
            </a:r>
            <a:r>
              <a:rPr lang="ko-KR" altLang="en-US" sz="700" dirty="0" smtClean="0"/>
              <a:t>기타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문서 정보 영역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6-1]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,  </a:t>
            </a:r>
            <a:r>
              <a:rPr lang="ko-KR" altLang="en-US" sz="700" dirty="0" err="1" smtClean="0"/>
              <a:t>증빙번호</a:t>
            </a:r>
            <a:r>
              <a:rPr lang="ko-KR" altLang="en-US" sz="700" dirty="0" smtClean="0"/>
              <a:t> 노출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6-2]</a:t>
            </a:r>
            <a:r>
              <a:rPr lang="ko-KR" altLang="en-US" sz="700" dirty="0" err="1" smtClean="0"/>
              <a:t>계약번호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전체노출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/ </a:t>
            </a:r>
            <a:r>
              <a:rPr lang="ko-KR" altLang="en-US" sz="700" dirty="0" err="1" smtClean="0"/>
              <a:t>증빙번호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노출시</a:t>
            </a:r>
            <a:r>
              <a:rPr lang="ko-KR" altLang="en-US" sz="700" dirty="0" smtClean="0"/>
              <a:t> 해당 라인을 넘어가면 </a:t>
            </a:r>
            <a:r>
              <a:rPr lang="en-US" altLang="ko-KR" sz="700" dirty="0" smtClean="0"/>
              <a:t>(…) </a:t>
            </a:r>
            <a:r>
              <a:rPr lang="ko-KR" altLang="en-US" sz="700" dirty="0" err="1" smtClean="0"/>
              <a:t>말줄임</a:t>
            </a:r>
            <a:r>
              <a:rPr lang="ko-KR" altLang="en-US" sz="700" dirty="0" smtClean="0"/>
              <a:t>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계약번호</a:t>
            </a:r>
            <a:r>
              <a:rPr lang="en-US" altLang="ko-KR" sz="700" dirty="0" smtClean="0"/>
              <a:t>: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계약번호</a:t>
            </a:r>
            <a:r>
              <a:rPr lang="en-US" altLang="ko-KR" sz="700" dirty="0" smtClean="0"/>
              <a:t>+</a:t>
            </a:r>
            <a:r>
              <a:rPr lang="ko-KR" altLang="en-US" sz="700" dirty="0" smtClean="0"/>
              <a:t>계약번호차수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6-3] </a:t>
            </a:r>
            <a:r>
              <a:rPr lang="ko-KR" altLang="en-US" sz="700" dirty="0" smtClean="0"/>
              <a:t>문서 제목 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제목은 </a:t>
            </a:r>
            <a:r>
              <a:rPr lang="en-US" altLang="ko-KR" sz="700" dirty="0" smtClean="0"/>
              <a:t>2</a:t>
            </a:r>
            <a:r>
              <a:rPr lang="ko-KR" altLang="en-US" sz="700" dirty="0" smtClean="0"/>
              <a:t>줄 까지 노출 이후</a:t>
            </a:r>
            <a:r>
              <a:rPr lang="en-US" altLang="ko-KR" sz="700" dirty="0" smtClean="0"/>
              <a:t>(…) </a:t>
            </a:r>
            <a:r>
              <a:rPr lang="ko-KR" altLang="en-US" sz="700" dirty="0" err="1" smtClean="0"/>
              <a:t>말줄임</a:t>
            </a:r>
            <a:r>
              <a:rPr lang="ko-KR" altLang="en-US" sz="700" dirty="0" smtClean="0"/>
              <a:t> 표시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더보기</a:t>
            </a:r>
            <a:r>
              <a:rPr lang="ko-KR" altLang="en-US" sz="700" dirty="0" smtClean="0"/>
              <a:t> 기능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-4 </a:t>
            </a:r>
            <a:r>
              <a:rPr lang="ko-KR" altLang="en-US" sz="700" dirty="0" err="1" smtClean="0"/>
              <a:t>번항목</a:t>
            </a:r>
            <a:r>
              <a:rPr lang="ko-KR" altLang="en-US" sz="700" dirty="0" smtClean="0"/>
              <a:t> 표시 개수 영역에서 선택한 개수로 증가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ko-KR" altLang="en-US" sz="700" dirty="0" smtClean="0"/>
              <a:t>예</a:t>
            </a:r>
            <a:r>
              <a:rPr lang="en-US" altLang="ko-KR" sz="700" dirty="0" smtClean="0"/>
              <a:t>) 10</a:t>
            </a:r>
            <a:r>
              <a:rPr lang="ko-KR" altLang="en-US" sz="700" dirty="0" smtClean="0"/>
              <a:t>개 노출 이후 </a:t>
            </a:r>
            <a:r>
              <a:rPr lang="ko-KR" altLang="en-US" sz="700" dirty="0" err="1" smtClean="0"/>
              <a:t>더보기</a:t>
            </a:r>
            <a:r>
              <a:rPr lang="ko-KR" altLang="en-US" sz="700" dirty="0" smtClean="0"/>
              <a:t> 버튼 클릭으로 </a:t>
            </a:r>
            <a:r>
              <a:rPr lang="en-US" altLang="ko-KR" sz="700" dirty="0" smtClean="0"/>
              <a:t>10</a:t>
            </a:r>
            <a:r>
              <a:rPr lang="ko-KR" altLang="en-US" sz="700" dirty="0" smtClean="0"/>
              <a:t>개씩 추가 로드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endParaRPr lang="en-US" altLang="ko-KR" sz="700" dirty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19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8615" y="32267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2055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463636" y="22338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2-1</a:t>
            </a:r>
            <a:endParaRPr lang="ko-KR" altLang="en-US" sz="600" b="1" dirty="0"/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684573" y="22247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5396" y="25044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2-2</a:t>
            </a:r>
            <a:endParaRPr lang="ko-KR" altLang="en-US" sz="6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222365" y="28912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4-1</a:t>
            </a:r>
            <a:endParaRPr lang="ko-KR" altLang="en-US" sz="600" b="1" dirty="0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05536" y="34994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78" name="타원 1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24224" y="3511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6-1</a:t>
            </a:r>
            <a:endParaRPr lang="ko-KR" altLang="en-US" sz="600" b="1" dirty="0"/>
          </a:p>
        </p:txBody>
      </p:sp>
      <p:sp>
        <p:nvSpPr>
          <p:cNvPr id="179" name="타원 1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887229" y="35161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6-2</a:t>
            </a:r>
            <a:endParaRPr lang="ko-KR" altLang="en-US" sz="600" b="1" dirty="0"/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8517" y="37095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6-3</a:t>
            </a:r>
            <a:endParaRPr lang="ko-KR" altLang="en-US" sz="600" b="1" dirty="0"/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14518" y="22113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 smtClean="0"/>
              <a:t>5-1</a:t>
            </a:r>
            <a:endParaRPr lang="ko-KR" altLang="en-US" sz="500" b="1" dirty="0"/>
          </a:p>
        </p:txBody>
      </p:sp>
      <p:sp>
        <p:nvSpPr>
          <p:cNvPr id="204" name="직사각형 203"/>
          <p:cNvSpPr/>
          <p:nvPr/>
        </p:nvSpPr>
        <p:spPr>
          <a:xfrm>
            <a:off x="3837995" y="2396927"/>
            <a:ext cx="3234267" cy="3868406"/>
          </a:xfrm>
          <a:prstGeom prst="rect">
            <a:avLst/>
          </a:prstGeom>
          <a:noFill/>
          <a:ln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직사각형 204"/>
          <p:cNvSpPr/>
          <p:nvPr/>
        </p:nvSpPr>
        <p:spPr>
          <a:xfrm>
            <a:off x="7045060" y="6376802"/>
            <a:ext cx="2358510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260623 </a:t>
            </a:r>
            <a:r>
              <a:rPr lang="ko-KR" altLang="en-US" sz="500" dirty="0" err="1" smtClean="0"/>
              <a:t>표시레이블</a:t>
            </a:r>
            <a:r>
              <a:rPr lang="ko-KR" altLang="en-US" sz="500" dirty="0" smtClean="0"/>
              <a:t> 항목 확인 필요 </a:t>
            </a:r>
            <a:r>
              <a:rPr lang="en-US" altLang="ko-KR" sz="500" dirty="0" smtClean="0"/>
              <a:t>,</a:t>
            </a:r>
            <a:br>
              <a:rPr lang="en-US" altLang="ko-KR" sz="500" dirty="0" smtClean="0"/>
            </a:br>
            <a:r>
              <a:rPr lang="en-US" altLang="ko-KR" sz="500" dirty="0" smtClean="0"/>
              <a:t> </a:t>
            </a:r>
            <a:r>
              <a:rPr lang="ko-KR" altLang="en-US" sz="500" dirty="0" err="1" smtClean="0"/>
              <a:t>진행일자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해지해제사유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계약담당</a:t>
            </a:r>
            <a:r>
              <a:rPr lang="ko-KR" altLang="en-US" sz="500" dirty="0" smtClean="0"/>
              <a:t> 누락</a:t>
            </a:r>
            <a:r>
              <a:rPr lang="en-US" altLang="ko-KR" sz="500" dirty="0" smtClean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4795540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r>
              <a:rPr lang="en-US" altLang="ko-KR" dirty="0" smtClean="0"/>
              <a:t>[</a:t>
            </a:r>
            <a:r>
              <a:rPr lang="ko-KR" altLang="en-US" dirty="0" smtClean="0"/>
              <a:t>공통</a:t>
            </a:r>
            <a:r>
              <a:rPr lang="en-US" altLang="ko-KR" dirty="0" smtClean="0"/>
              <a:t>] </a:t>
            </a:r>
            <a:r>
              <a:rPr lang="ko-KR" altLang="en-US" dirty="0" smtClean="0"/>
              <a:t>각 </a:t>
            </a:r>
            <a:r>
              <a:rPr lang="ko-KR" altLang="en-US" dirty="0" err="1" smtClean="0"/>
              <a:t>섹션명</a:t>
            </a:r>
            <a:r>
              <a:rPr lang="ko-KR" altLang="en-US" dirty="0" smtClean="0"/>
              <a:t> 클릭 시 아코디언 동작</a:t>
            </a:r>
            <a:endParaRPr lang="en-US" altLang="ko-KR" dirty="0" smtClean="0"/>
          </a:p>
          <a:p>
            <a:pPr marL="0" indent="0">
              <a:buNone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검색필터</a:t>
            </a:r>
            <a:r>
              <a:rPr lang="ko-KR" altLang="en-US" dirty="0" smtClean="0"/>
              <a:t> 페이지 타이틀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초기화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닫기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구분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 비활성화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검색 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직접 입력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아이콘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데이트 </a:t>
            </a:r>
            <a:r>
              <a:rPr lang="ko-KR" altLang="en-US" dirty="0" err="1" smtClean="0">
                <a:sym typeface="Wingdings" panose="05000000000000000000" pitchFamily="2" charset="2"/>
              </a:rPr>
              <a:t>피커</a:t>
            </a:r>
            <a:r>
              <a:rPr lang="ko-KR" altLang="en-US" dirty="0" smtClean="0">
                <a:sym typeface="Wingdings" panose="05000000000000000000" pitchFamily="2" charset="2"/>
              </a:rPr>
              <a:t> 호출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지정 설정으로 날짜 즉시 업데이트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>
                <a:sym typeface="Wingdings" panose="05000000000000000000" pitchFamily="2" charset="2"/>
              </a:rPr>
              <a:t>검색어</a:t>
            </a:r>
            <a:r>
              <a:rPr lang="ko-KR" altLang="en-US" dirty="0" smtClean="0">
                <a:sym typeface="Wingdings" panose="05000000000000000000" pitchFamily="2" charset="2"/>
              </a:rPr>
              <a:t> 영역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사용자가 입력하고자 하는 내역만 입력 후 검색 가능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구분 설정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드롭 다운으로 각 </a:t>
            </a:r>
            <a:r>
              <a:rPr lang="ko-KR" altLang="en-US" dirty="0" err="1" smtClean="0">
                <a:sym typeface="Wingdings" panose="05000000000000000000" pitchFamily="2" charset="2"/>
              </a:rPr>
              <a:t>구분값</a:t>
            </a:r>
            <a:r>
              <a:rPr lang="ko-KR" altLang="en-US" dirty="0" smtClean="0">
                <a:sym typeface="Wingdings" panose="05000000000000000000" pitchFamily="2" charset="2"/>
              </a:rPr>
              <a:t> 설정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검색 버튼 영역은 화면 하단 </a:t>
            </a:r>
            <a:r>
              <a:rPr lang="ko-KR" altLang="en-US" dirty="0" err="1" smtClean="0">
                <a:sym typeface="Wingdings" panose="05000000000000000000" pitchFamily="2" charset="2"/>
              </a:rPr>
              <a:t>플로팅</a:t>
            </a:r>
            <a:r>
              <a:rPr lang="ko-KR" altLang="en-US" dirty="0" smtClean="0">
                <a:sym typeface="Wingdings" panose="05000000000000000000" pitchFamily="2" charset="2"/>
              </a:rPr>
              <a:t> 처리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검색 필터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계약 해지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해제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상세 검색을 위한 검색 필터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계약해지해제목록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MUI-CT-03-P07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9708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328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8" name="그룹 117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타원 126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초기화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983697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업무구분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41620" y="2213855"/>
            <a:ext cx="2305144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용역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공사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  <a:latin typeface="+mn-ea"/>
              </a:rPr>
              <a:t>국외</a:t>
            </a:r>
            <a:endParaRPr lang="en-US" altLang="ko-KR" sz="700" dirty="0">
              <a:solidFill>
                <a:schemeClr val="bg1">
                  <a:lumMod val="65000"/>
                </a:schemeClr>
              </a:solidFill>
              <a:latin typeface="+mn-ea"/>
            </a:endParaRPr>
          </a:p>
        </p:txBody>
      </p:sp>
      <p:sp>
        <p:nvSpPr>
          <p:cNvPr id="132" name="직사각형 131"/>
          <p:cNvSpPr/>
          <p:nvPr/>
        </p:nvSpPr>
        <p:spPr>
          <a:xfrm>
            <a:off x="772169" y="228016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/>
          <p:cNvSpPr/>
          <p:nvPr/>
        </p:nvSpPr>
        <p:spPr>
          <a:xfrm>
            <a:off x="772169" y="2497393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4" name="그룹 133"/>
          <p:cNvGrpSpPr/>
          <p:nvPr/>
        </p:nvGrpSpPr>
        <p:grpSpPr>
          <a:xfrm flipV="1">
            <a:off x="3140949" y="2081387"/>
            <a:ext cx="91438" cy="45719"/>
            <a:chOff x="6812560" y="3297172"/>
            <a:chExt cx="94010" cy="47005"/>
          </a:xfrm>
        </p:grpSpPr>
        <p:cxnSp>
          <p:nvCxnSpPr>
            <p:cNvPr id="135" name="직선 연결선 13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6" name="직선 연결선 13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7" name="직사각형 136"/>
          <p:cNvSpPr/>
          <p:nvPr/>
        </p:nvSpPr>
        <p:spPr>
          <a:xfrm>
            <a:off x="772169" y="269448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직사각형 137"/>
          <p:cNvSpPr/>
          <p:nvPr/>
        </p:nvSpPr>
        <p:spPr>
          <a:xfrm>
            <a:off x="772169" y="2909144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772169" y="3121110"/>
            <a:ext cx="107950" cy="10795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/>
          <p:cNvSpPr txBox="1"/>
          <p:nvPr/>
        </p:nvSpPr>
        <p:spPr>
          <a:xfrm>
            <a:off x="712771" y="2459035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 smtClean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868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4478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47831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검색 설정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700851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해지해제</a:t>
            </a:r>
            <a:r>
              <a:rPr lang="ko-KR" altLang="en-US" sz="700" dirty="0" smtClean="0">
                <a:latin typeface="+mn-ea"/>
              </a:rPr>
              <a:t> 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59" name="그룹 158"/>
          <p:cNvGrpSpPr/>
          <p:nvPr/>
        </p:nvGrpSpPr>
        <p:grpSpPr>
          <a:xfrm flipV="1">
            <a:off x="3140949" y="3576003"/>
            <a:ext cx="91438" cy="45719"/>
            <a:chOff x="6812560" y="3297172"/>
            <a:chExt cx="94010" cy="47005"/>
          </a:xfrm>
        </p:grpSpPr>
        <p:cxnSp>
          <p:nvCxnSpPr>
            <p:cNvPr id="160" name="직선 연결선 1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1" name="직선 연결선 1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3728482"/>
            <a:ext cx="859319" cy="188244"/>
            <a:chOff x="5613534" y="2854836"/>
            <a:chExt cx="804671" cy="188244"/>
          </a:xfrm>
        </p:grpSpPr>
        <p:sp>
          <p:nvSpPr>
            <p:cNvPr id="181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2025-10-15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78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3748429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1464781" y="3959151"/>
            <a:ext cx="1845146" cy="188135"/>
            <a:chOff x="1430277" y="4057651"/>
            <a:chExt cx="1845146" cy="188135"/>
          </a:xfrm>
        </p:grpSpPr>
        <p:sp>
          <p:nvSpPr>
            <p:cNvPr id="189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91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3728482"/>
            <a:ext cx="859319" cy="188244"/>
            <a:chOff x="5613534" y="2854836"/>
            <a:chExt cx="804671" cy="188244"/>
          </a:xfrm>
        </p:grpSpPr>
        <p:sp>
          <p:nvSpPr>
            <p:cNvPr id="196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700" kern="0" dirty="0" smtClean="0">
                  <a:latin typeface="맑은 고딕"/>
                </a:rPr>
                <a:t>2026-01-16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pic>
          <p:nvPicPr>
            <p:cNvPr id="197" name="그림 196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046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1" name="그룹 220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2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23094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구분 설정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26" name="그룹 225"/>
          <p:cNvGrpSpPr/>
          <p:nvPr/>
        </p:nvGrpSpPr>
        <p:grpSpPr>
          <a:xfrm flipV="1">
            <a:off x="6261284" y="3328631"/>
            <a:ext cx="91438" cy="45719"/>
            <a:chOff x="6812560" y="3297172"/>
            <a:chExt cx="94010" cy="47005"/>
          </a:xfrm>
        </p:grpSpPr>
        <p:cxnSp>
          <p:nvCxnSpPr>
            <p:cNvPr id="227" name="직선 연결선 2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8" name="직선 연결선 2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9" name="모서리가 둥근 직사각형 228"/>
          <p:cNvSpPr/>
          <p:nvPr/>
        </p:nvSpPr>
        <p:spPr>
          <a:xfrm>
            <a:off x="4569619" y="351143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3459306"/>
            <a:ext cx="670770" cy="4524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10000"/>
              </a:lnSpc>
            </a:pPr>
            <a:r>
              <a:rPr lang="ko-KR" altLang="en-US" sz="700" dirty="0" smtClean="0">
                <a:latin typeface="+mn-ea"/>
              </a:rPr>
              <a:t>진행상태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10000"/>
              </a:lnSpc>
            </a:pPr>
            <a:r>
              <a:rPr lang="ko-KR" altLang="en-US" sz="700" dirty="0" err="1" smtClean="0">
                <a:latin typeface="+mn-ea"/>
              </a:rPr>
              <a:t>해지구분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31" name="모서리가 둥근 직사각형 230"/>
          <p:cNvSpPr/>
          <p:nvPr/>
        </p:nvSpPr>
        <p:spPr>
          <a:xfrm>
            <a:off x="4569619" y="373436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전체</a:t>
            </a:r>
          </a:p>
        </p:txBody>
      </p:sp>
      <p:grpSp>
        <p:nvGrpSpPr>
          <p:cNvPr id="244" name="그룹 243"/>
          <p:cNvGrpSpPr/>
          <p:nvPr/>
        </p:nvGrpSpPr>
        <p:grpSpPr>
          <a:xfrm>
            <a:off x="6261284" y="3812854"/>
            <a:ext cx="91438" cy="45719"/>
            <a:chOff x="6812560" y="3297172"/>
            <a:chExt cx="94010" cy="47005"/>
          </a:xfrm>
        </p:grpSpPr>
        <p:cxnSp>
          <p:nvCxnSpPr>
            <p:cNvPr id="245" name="직선 연결선 2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6" name="직선 연결선 2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/>
          <p:cNvGrpSpPr/>
          <p:nvPr/>
        </p:nvGrpSpPr>
        <p:grpSpPr>
          <a:xfrm>
            <a:off x="6261284" y="3582172"/>
            <a:ext cx="91438" cy="45719"/>
            <a:chOff x="6812560" y="3297172"/>
            <a:chExt cx="94010" cy="47005"/>
          </a:xfrm>
        </p:grpSpPr>
        <p:cxnSp>
          <p:nvCxnSpPr>
            <p:cNvPr id="248" name="직선 연결선 24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9" name="직선 연결선 24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67" name="직선 연결선 2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935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2" name="타원 2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3562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1956581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 smtClean="0">
                <a:latin typeface="+mn-ea"/>
              </a:rPr>
              <a:t>검색어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일부 입력 가능</a:t>
            </a:r>
            <a:r>
              <a:rPr lang="en-US" altLang="ko-KR" sz="700" b="1" dirty="0" smtClean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201" name="그룹 200"/>
          <p:cNvGrpSpPr/>
          <p:nvPr/>
        </p:nvGrpSpPr>
        <p:grpSpPr>
          <a:xfrm flipV="1">
            <a:off x="6266056" y="2054271"/>
            <a:ext cx="91438" cy="45719"/>
            <a:chOff x="6812560" y="3297172"/>
            <a:chExt cx="94010" cy="47005"/>
          </a:xfrm>
        </p:grpSpPr>
        <p:cxnSp>
          <p:nvCxnSpPr>
            <p:cNvPr id="202" name="직선 연결선 2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직선 연결선 2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4" name="모서리가 둥근 직사각형 203"/>
          <p:cNvSpPr/>
          <p:nvPr/>
        </p:nvSpPr>
        <p:spPr>
          <a:xfrm>
            <a:off x="4574391" y="2237072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계약건명을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622" y="2193572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07" name="모서리가 둥근 직사각형 206"/>
          <p:cNvSpPr/>
          <p:nvPr/>
        </p:nvSpPr>
        <p:spPr>
          <a:xfrm>
            <a:off x="4574391" y="2458629"/>
            <a:ext cx="1845838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번호를 입력하세요</a:t>
            </a:r>
            <a:r>
              <a:rPr lang="en-US" altLang="ko-KR" sz="700" dirty="0" smtClean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5751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4226757"/>
            <a:ext cx="67077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빠른 설정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1464781" y="4254388"/>
            <a:ext cx="859319" cy="188244"/>
            <a:chOff x="5613534" y="2854836"/>
            <a:chExt cx="804671" cy="188244"/>
          </a:xfrm>
        </p:grpSpPr>
        <p:sp>
          <p:nvSpPr>
            <p:cNvPr id="122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2025-10-15</a:t>
              </a:r>
            </a:p>
          </p:txBody>
        </p:sp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  <p:sp>
        <p:nvSpPr>
          <p:cNvPr id="125" name="TextBox 91">
            <a:extLst>
              <a:ext uri="{FF2B5EF4-FFF2-40B4-BE49-F238E27FC236}">
                <a16:creationId xmlns:a16="http://schemas.microsoft.com/office/drawing/2014/main" id="{02490888-B81F-0F94-5D5F-078AEEB39DDB}"/>
              </a:ext>
            </a:extLst>
          </p:cNvPr>
          <p:cNvSpPr txBox="1"/>
          <p:nvPr/>
        </p:nvSpPr>
        <p:spPr>
          <a:xfrm>
            <a:off x="2347279" y="4274335"/>
            <a:ext cx="80150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prstClr val="black"/>
                </a:solidFill>
                <a:cs typeface="Pretendard Medium" panose="02000603000000020004" pitchFamily="50" charset="-127"/>
              </a:rPr>
              <a:t>~</a:t>
            </a:r>
            <a:endParaRPr lang="ko-KR" altLang="en-US" sz="900" dirty="0">
              <a:solidFill>
                <a:prstClr val="black"/>
              </a:solidFill>
              <a:cs typeface="Pretendard Medium" panose="02000603000000020004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1464781" y="4485057"/>
            <a:ext cx="1845146" cy="188135"/>
            <a:chOff x="1430277" y="4057651"/>
            <a:chExt cx="1845146" cy="188135"/>
          </a:xfrm>
        </p:grpSpPr>
        <p:sp>
          <p:nvSpPr>
            <p:cNvPr id="145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430277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최근 </a:t>
              </a:r>
              <a:r>
                <a:rPr kumimoji="1" lang="en-US" altLang="ko-KR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r>
                <a:rPr kumimoji="1" lang="ko-KR" altLang="en-US" sz="7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개월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061841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+mn-ea"/>
                </a:rPr>
                <a:t>최근 </a:t>
              </a:r>
              <a:r>
                <a:rPr kumimoji="1" lang="en-US" altLang="ko-KR" sz="700" kern="0" dirty="0" smtClean="0">
                  <a:latin typeface="+mn-ea"/>
                </a:rPr>
                <a:t>3</a:t>
              </a:r>
              <a:r>
                <a:rPr kumimoji="1" lang="ko-KR" altLang="en-US" sz="700" kern="0" dirty="0" smtClean="0">
                  <a:latin typeface="+mn-ea"/>
                </a:rPr>
                <a:t>개월</a:t>
              </a:r>
              <a:endParaRPr kumimoji="1" lang="en-US" altLang="ko-KR" sz="700" kern="0" dirty="0">
                <a:latin typeface="+mn-ea"/>
              </a:endParaRPr>
            </a:p>
          </p:txBody>
        </p:sp>
        <p:sp>
          <p:nvSpPr>
            <p:cNvPr id="147" name="사각형: 둥근 모서리 172">
              <a:extLst>
                <a:ext uri="{FF2B5EF4-FFF2-40B4-BE49-F238E27FC236}">
                  <a16:creationId xmlns:a16="http://schemas.microsoft.com/office/drawing/2014/main" id="{7F182F00-C81F-5F02-6A1E-826222B231A9}"/>
                </a:ext>
              </a:extLst>
            </p:cNvPr>
            <p:cNvSpPr/>
            <p:nvPr/>
          </p:nvSpPr>
          <p:spPr>
            <a:xfrm>
              <a:off x="2693406" y="4057651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prstClr val="black"/>
                  </a:solidFill>
                  <a:latin typeface="+mn-ea"/>
                </a:rPr>
                <a:t>최근 </a:t>
              </a:r>
              <a:r>
                <a:rPr kumimoji="1" lang="en-US" altLang="ko-KR" sz="700" kern="0" dirty="0" smtClean="0">
                  <a:solidFill>
                    <a:prstClr val="black"/>
                  </a:solidFill>
                  <a:latin typeface="+mn-ea"/>
                </a:rPr>
                <a:t>6</a:t>
              </a:r>
              <a:r>
                <a:rPr kumimoji="1" lang="ko-KR" altLang="en-US" sz="700" kern="0" dirty="0" smtClean="0">
                  <a:solidFill>
                    <a:prstClr val="black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8F2F56C4-B606-212C-F131-A4A30AE19BC8}"/>
              </a:ext>
            </a:extLst>
          </p:cNvPr>
          <p:cNvGrpSpPr/>
          <p:nvPr/>
        </p:nvGrpSpPr>
        <p:grpSpPr>
          <a:xfrm>
            <a:off x="2450608" y="4254388"/>
            <a:ext cx="859319" cy="188244"/>
            <a:chOff x="5613534" y="2854836"/>
            <a:chExt cx="804671" cy="188244"/>
          </a:xfrm>
        </p:grpSpPr>
        <p:sp>
          <p:nvSpPr>
            <p:cNvPr id="149" name="사각형: 둥근 모서리 86">
              <a:extLst>
                <a:ext uri="{FF2B5EF4-FFF2-40B4-BE49-F238E27FC236}">
                  <a16:creationId xmlns:a16="http://schemas.microsoft.com/office/drawing/2014/main" id="{C84908FA-11D4-E687-3603-3EA5852F6FAE}"/>
                </a:ext>
              </a:extLst>
            </p:cNvPr>
            <p:cNvSpPr/>
            <p:nvPr/>
          </p:nvSpPr>
          <p:spPr>
            <a:xfrm>
              <a:off x="5613534" y="2854836"/>
              <a:ext cx="804671" cy="188244"/>
            </a:xfrm>
            <a:prstGeom prst="roundRect">
              <a:avLst>
                <a:gd name="adj" fmla="val 1865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en-US" altLang="ko-KR" sz="700" kern="0" dirty="0"/>
                <a:t>2026-01-16</a:t>
              </a:r>
            </a:p>
          </p:txBody>
        </p:sp>
        <p:pic>
          <p:nvPicPr>
            <p:cNvPr id="150" name="그림 149">
              <a:extLst>
                <a:ext uri="{FF2B5EF4-FFF2-40B4-BE49-F238E27FC236}">
                  <a16:creationId xmlns:a16="http://schemas.microsoft.com/office/drawing/2014/main" id="{B217D5BC-8335-EED4-D47A-F3F4110845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65649" y="2876004"/>
              <a:ext cx="126296" cy="13727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2366669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947F42-24A6-AC12-410B-185FD576E1C3}"/>
              </a:ext>
            </a:extLst>
          </p:cNvPr>
          <p:cNvSpPr txBox="1"/>
          <p:nvPr/>
        </p:nvSpPr>
        <p:spPr>
          <a:xfrm>
            <a:off x="458117" y="803113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2999404"/>
            <a:ext cx="235858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계약해지해제목록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0D7D7297-5C46-7078-D2CB-A9F2A55503A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834569402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34101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289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구분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9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계약번호를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계약번호검색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공통팝업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099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16953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진행상태를 선택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4646940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28315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차수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cncltnRmvSecd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진행상태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fcltPicNm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담당관명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0A0A9A45-7FEE-1598-C314-3774454B6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46771104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69027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06507"/>
          <a:ext cx="8995591" cy="10789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추가계약보증금 상세 값 설정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scwin.btn_srch_onclick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정보가 조회된다</a:t>
                      </a:r>
                      <a:r>
                        <a:rPr lang="en-US" altLang="ko-KR" sz="800" dirty="0"/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/>
                        <a:t>그리드</a:t>
                      </a:r>
                      <a:r>
                        <a:rPr lang="en-US" altLang="ko-KR" sz="800"/>
                        <a:t>-</a:t>
                      </a:r>
                      <a:r>
                        <a:rPr lang="ko-KR" altLang="en-US" sz="800"/>
                        <a:t>계약건명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scwin.grd_ctrtNm_ctrtcncltnRmvList_onclick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/>
                        <a:t>계약해지해제  상세 화면이 호출된다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(UI-CT-03-M02)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물품계약해지해제상세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(UI-CT-03-M03)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해지해제일반계약총액제상세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(UI-CT-03-M04)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해지해제일반계약단가제상세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(UI-CT-03-M05)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해지해제수정계약상세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(UI-CT-03-M06)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공사계약해지해제상세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342213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3EBE10A-F4BA-BA46-8D94-0B25A8BCDD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9459969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해제일반계약상세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계약 해지 상세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물품계약해지해제상세 조회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</a:t>
            </a:r>
            <a:r>
              <a:rPr lang="ko-KR" altLang="en-US" dirty="0" smtClean="0">
                <a:latin typeface="+mn-ea"/>
              </a:rPr>
              <a:t>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계약 </a:t>
            </a:r>
            <a:r>
              <a:rPr lang="ko-KR" altLang="en-US" sz="800" dirty="0">
                <a:latin typeface="+mn-ea"/>
              </a:rPr>
              <a:t>해지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 smtClean="0">
                <a:latin typeface="+mn-ea"/>
              </a:rPr>
              <a:t>해제 상세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판단번호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제한경쟁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계약서유형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물품제조구매계약서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20260130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 smtClean="0">
                <a:latin typeface="+mn-ea"/>
              </a:rPr>
              <a:t>부대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1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410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410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937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계약해지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3836701" y="1880467"/>
            <a:ext cx="2630093" cy="1551225"/>
            <a:chOff x="3865118" y="2694619"/>
            <a:chExt cx="2630093" cy="155122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3" name="직사각형 252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5" name="모서리가 둥근 직사각형 234"/>
          <p:cNvSpPr/>
          <p:nvPr/>
        </p:nvSpPr>
        <p:spPr>
          <a:xfrm rot="5400000">
            <a:off x="6098765" y="537574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510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5503" y="163771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54289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65" name="그룹 164"/>
          <p:cNvGrpSpPr/>
          <p:nvPr/>
        </p:nvGrpSpPr>
        <p:grpSpPr>
          <a:xfrm flipV="1">
            <a:off x="6264240" y="3656226"/>
            <a:ext cx="94010" cy="47005"/>
            <a:chOff x="6812560" y="3297172"/>
            <a:chExt cx="94010" cy="47005"/>
          </a:xfrm>
        </p:grpSpPr>
        <p:cxnSp>
          <p:nvCxnSpPr>
            <p:cNvPr id="166" name="직선 연결선 16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7" name="직선 연결선 16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87361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87361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831550" y="399661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1515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115158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홍길동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1960873" y="2278058"/>
            <a:ext cx="554754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해지해제확정</a:t>
            </a:r>
            <a:endParaRPr lang="ko-KR" altLang="en-US" sz="600" dirty="0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70996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계약업체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72330" y="163771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계약업체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7129" y="4142235"/>
            <a:ext cx="5814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 smtClean="0">
                <a:latin typeface="+mn-ea"/>
              </a:rPr>
              <a:t>해지해제</a:t>
            </a:r>
            <a:r>
              <a:rPr lang="ko-KR" altLang="en-US" sz="700" dirty="0" smtClean="0">
                <a:latin typeface="+mn-ea"/>
              </a:rPr>
              <a:t> 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8463" y="1637710"/>
            <a:ext cx="583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해지해제</a:t>
            </a:r>
            <a:r>
              <a:rPr lang="ko-KR" altLang="en-US" sz="700" dirty="0">
                <a:latin typeface="+mn-ea"/>
              </a:rPr>
              <a:t> 정보</a:t>
            </a:r>
          </a:p>
        </p:txBody>
      </p:sp>
      <p:grpSp>
        <p:nvGrpSpPr>
          <p:cNvPr id="156" name="그룹 155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73" name="그룹 172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75" name="타원 174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7" name="그룹 176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8" name="타원 177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9" name="그룹 178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3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계약업체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해지해제정보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237" name="직사각형 236"/>
          <p:cNvSpPr/>
          <p:nvPr/>
        </p:nvSpPr>
        <p:spPr>
          <a:xfrm>
            <a:off x="7100628" y="6072298"/>
            <a:ext cx="2266118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</a:t>
            </a:r>
            <a:r>
              <a:rPr lang="ko-KR" altLang="en-US" sz="500" dirty="0" err="1" smtClean="0"/>
              <a:t>총부기금액</a:t>
            </a:r>
            <a:r>
              <a:rPr lang="ko-KR" altLang="en-US" sz="500" dirty="0" smtClean="0"/>
              <a:t> 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185" name="평행 사변형 184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7" name="TextBox 186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385830712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계약대상자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상세조회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8592"/>
            <a:ext cx="2630093" cy="3539139"/>
            <a:chOff x="701175" y="1527996"/>
            <a:chExt cx="2630093" cy="353913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0"/>
              <a:ext cx="792000" cy="3231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계약서유형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2316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>
                  <a:latin typeface="+mn-ea"/>
                </a:rPr>
                <a:t>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2026-01-30 ~ 2026-12-30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조달업체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231624"/>
              <a:chOff x="701175" y="1835481"/>
              <a:chExt cx="2630093" cy="323162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386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7964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2081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2288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6" name="직선 연결선 9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63762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7" name="직선 연결선 9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523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98" name="직선 연결선 9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671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72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1926657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5454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19753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56604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3679376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389676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389676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01976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3830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138308"/>
            <a:ext cx="162273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주무관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0189" y="45762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5974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4064504"/>
            <a:ext cx="7255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맑은 고딕" panose="020B0503020000020004" pitchFamily="50" charset="-127"/>
              </a:rPr>
              <a:t>물가변동계약금액조정방법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0800" y="4118365"/>
            <a:ext cx="7255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국계령</a:t>
            </a:r>
            <a:r>
              <a:rPr lang="ko-KR" altLang="en-US" sz="700" dirty="0">
                <a:latin typeface="+mn-ea"/>
              </a:rPr>
              <a:t> 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조 </a:t>
            </a:r>
            <a:r>
              <a:rPr lang="en-US" altLang="ko-KR" sz="700" dirty="0">
                <a:latin typeface="+mn-ea"/>
              </a:rPr>
              <a:t>... 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7" name="그룹 66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8" name="타원 6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0" name="직선 연결선 8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직선 연결선 9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타원 6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1" name="그룹 7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2" name="직선 연결선 7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직선 연결선 8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해지해제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3844696" y="1493927"/>
            <a:ext cx="2626449" cy="354413"/>
            <a:chOff x="720490" y="4004429"/>
            <a:chExt cx="2626449" cy="354413"/>
          </a:xfrm>
        </p:grpSpPr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4" name="그룹 10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0" name="타원 109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1" name="그룹 11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직선 연결선 12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2" name="타원 11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3" name="그룹 11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해지해제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148533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계약업체</a:t>
            </a:r>
            <a:r>
              <a:rPr lang="en-US" altLang="ko-KR" dirty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업체 정보가 반복 표시됨</a:t>
            </a:r>
            <a:r>
              <a:rPr lang="en-US" altLang="ko-KR" dirty="0" smtClean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계약업체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smtClean="0"/>
              <a:t>계약업체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4" y="1962615"/>
            <a:ext cx="2456097" cy="181140"/>
            <a:chOff x="763157" y="1527996"/>
            <a:chExt cx="2456097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7" y="1527996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229593"/>
            <a:ext cx="2630093" cy="2163618"/>
            <a:chOff x="3865118" y="2946203"/>
            <a:chExt cx="2630093" cy="2163618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21611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 10:00:00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*****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0818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18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5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2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64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98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1126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5955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11563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76080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4" name="그룹 53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29336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58" name="그룹 5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2" name="타원 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3" name="그룹 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0" name="직선 연결선 6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직선 연결선 7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4" name="타원 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7" name="그룹 6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8" name="직선 연결선 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직선 연결선 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계약업체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해지해제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8289197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해지해제정보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/>
              <a:t>물품계약해지해제상세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해지해제</a:t>
            </a:r>
            <a:r>
              <a:rPr lang="ko-KR" altLang="en-US" dirty="0" smtClean="0">
                <a:latin typeface="+mn-ea"/>
              </a:rPr>
              <a:t> 정보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MUI-CT-03-T03</a:t>
            </a:r>
            <a:endParaRPr lang="ko-KR" altLang="en-US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9356" y="3785661"/>
            <a:ext cx="1252172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pc="-52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해지해제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spc="-52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통보내용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91" name="그룹 90"/>
          <p:cNvGrpSpPr/>
          <p:nvPr/>
        </p:nvGrpSpPr>
        <p:grpSpPr>
          <a:xfrm flipV="1">
            <a:off x="3121443" y="3898992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011" y="482571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717978" y="4077028"/>
            <a:ext cx="2630093" cy="658520"/>
            <a:chOff x="3865118" y="2946204"/>
            <a:chExt cx="2630093" cy="658520"/>
          </a:xfrm>
        </p:grpSpPr>
        <p:sp>
          <p:nvSpPr>
            <p:cNvPr id="53" name="직사각형 52"/>
            <p:cNvSpPr/>
            <p:nvPr/>
          </p:nvSpPr>
          <p:spPr>
            <a:xfrm>
              <a:off x="3867211" y="2946204"/>
              <a:ext cx="792000" cy="65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통보차수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통지일시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통보메일내용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2025-12-01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업체 경영 상황에 따른 </a:t>
              </a:r>
              <a:r>
                <a:rPr lang="ko-KR" altLang="en-US" sz="700" dirty="0" smtClean="0"/>
                <a:t>계약해지</a:t>
              </a:r>
              <a:endParaRPr lang="ko-KR" altLang="en-US" sz="700" dirty="0"/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9" name="그룹 118"/>
          <p:cNvGrpSpPr/>
          <p:nvPr/>
        </p:nvGrpSpPr>
        <p:grpSpPr>
          <a:xfrm>
            <a:off x="675399" y="2068054"/>
            <a:ext cx="2712026" cy="1602288"/>
            <a:chOff x="3795735" y="2878425"/>
            <a:chExt cx="2712026" cy="1602288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34" name="직선 연결선 1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5" name="직선 연결선 1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모서리가 둥근 직사각형 121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5" name="타원 124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6" name="모서리가 둥근 직사각형 125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41278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첨부파일명이너무길면어떻게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노출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... 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29" name="타원 128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153" name="직사각형 152"/>
          <p:cNvSpPr/>
          <p:nvPr/>
        </p:nvSpPr>
        <p:spPr>
          <a:xfrm>
            <a:off x="2580536" y="2964212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4" name="직사각형 153"/>
          <p:cNvSpPr/>
          <p:nvPr/>
        </p:nvSpPr>
        <p:spPr>
          <a:xfrm>
            <a:off x="2576950" y="2518846"/>
            <a:ext cx="546945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</a:t>
            </a:r>
            <a:r>
              <a:rPr lang="ko-KR" altLang="en-US" sz="6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7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해지해제통보내용 표시</a:t>
            </a:r>
            <a:endParaRPr lang="en-US" altLang="ko-KR" dirty="0" smtClean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90528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202216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238234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9114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70573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48" name="그룹 47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686230" y="4358842"/>
              <a:ext cx="64233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0" name="그룹 59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4" name="타원 6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5" name="그룹 6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0" name="직선 연결선 6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직선 연결선 7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6" name="타원 6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7" name="그룹 6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68" name="직선 연결선 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직선 연결선 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70996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47129" y="4142235"/>
              <a:ext cx="5814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해지해제</a:t>
              </a:r>
              <a:r>
                <a:rPr lang="ko-KR" altLang="en-US" sz="700" b="1" dirty="0" smtClean="0">
                  <a:latin typeface="+mn-ea"/>
                </a:rPr>
                <a:t> 정보</a:t>
              </a:r>
              <a:endParaRPr lang="ko-KR" altLang="en-US" sz="7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6334506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85681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3710"/>
          <a:ext cx="8994883" cy="4194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ctrdocTpcd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:CRTC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pvctRncd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:PCRC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:UA22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99292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977392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FB633A5-38EC-8DFF-FE6A-E78F666D5A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4F2FA94-A180-60B9-B531-94455F37C5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5880672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rlprSecd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원가담당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36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874355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D97703E-51A6-2C31-B4F3-A0DA05ACE555}"/>
              </a:ext>
            </a:extLst>
          </p:cNvPr>
          <p:cNvSpPr txBox="1"/>
          <p:nvPr/>
        </p:nvSpPr>
        <p:spPr>
          <a:xfrm>
            <a:off x="443054" y="5637137"/>
            <a:ext cx="20524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담당자 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230740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B10A94D-0FF9-6706-A496-65878377BE2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57762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475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brno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8070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rprsvNm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01652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7352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dpstrNm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elsgnDt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전자서명일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3667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depsPayMthdCd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096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grnteAmt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74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9734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enacno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87CA49-D82F-3598-E12F-FA116B4CA444}"/>
              </a:ext>
            </a:extLst>
          </p:cNvPr>
          <p:cNvSpPr txBox="1"/>
          <p:nvPr/>
        </p:nvSpPr>
        <p:spPr>
          <a:xfrm>
            <a:off x="443054" y="832058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3BD3B9F-ACA0-7080-186D-647955612811}"/>
              </a:ext>
            </a:extLst>
          </p:cNvPr>
          <p:cNvSpPr txBox="1"/>
          <p:nvPr/>
        </p:nvSpPr>
        <p:spPr>
          <a:xfrm>
            <a:off x="443054" y="3313923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참조서류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D0189910-144A-3F11-D512-83E0C8F2215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576413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cncltnRmvDmndAdocNm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서류명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23F87E72-897D-717D-0FE0-275855EF65FB}"/>
              </a:ext>
            </a:extLst>
          </p:cNvPr>
          <p:cNvSpPr txBox="1"/>
          <p:nvPr/>
        </p:nvSpPr>
        <p:spPr>
          <a:xfrm>
            <a:off x="443054" y="4293360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통보내용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76FEAEB-973D-2BE3-880D-C12942F83F3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455585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ctrtCycl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통보차수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ctrtPrgrsSttsDt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통지일시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hh:mm:ss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통보메일내용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55530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8BD5011-F17E-2051-778C-0499E2CDBE2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427738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B9A9460-D900-0EB9-D1A3-38A2E9799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184171"/>
              </p:ext>
            </p:extLst>
          </p:nvPr>
        </p:nvGraphicFramePr>
        <p:xfrm>
          <a:off x="453000" y="1009312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전자계약 진행 상세 값을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계약명세서 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scwin.btn_ctrtDtstInq_onclick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 계약명세서 팝업 화면을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723269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3EC23A5-C42A-1F71-B9F7-942A215AD092}"/>
              </a:ext>
            </a:extLst>
          </p:cNvPr>
          <p:cNvSpPr txBox="1"/>
          <p:nvPr/>
        </p:nvSpPr>
        <p:spPr>
          <a:xfrm>
            <a:off x="458117" y="69308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3D4F2578-2B81-1851-4754-F0ED044FDF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4770741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/>
              <a:t>해지</a:t>
            </a:r>
            <a:r>
              <a:rPr lang="en-US" altLang="ko-KR" dirty="0"/>
              <a:t>/</a:t>
            </a:r>
            <a:r>
              <a:rPr lang="ko-KR" altLang="en-US" dirty="0" err="1"/>
              <a:t>해제일반총액제계약상세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 smtClean="0"/>
              <a:t> </a:t>
            </a:r>
            <a:r>
              <a:rPr lang="ko-KR" altLang="en-US" dirty="0"/>
              <a:t>조회 </a:t>
            </a:r>
            <a:r>
              <a:rPr lang="ko-KR" altLang="en-US" dirty="0" smtClean="0"/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0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38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038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5657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33988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890120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58914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52015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55254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4665879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8832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88326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00626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12481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12481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191684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5" name="그룹 16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69" name="그룹 16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0" name="타원 16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1" name="그룹 17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2" name="직선 연결선 1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직사각형 199"/>
          <p:cNvSpPr/>
          <p:nvPr/>
        </p:nvSpPr>
        <p:spPr>
          <a:xfrm>
            <a:off x="7101170" y="6023316"/>
            <a:ext cx="2266118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삭감금액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사업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승인일자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도면번호</a:t>
            </a:r>
            <a:r>
              <a:rPr lang="ko-KR" altLang="en-US" sz="500" dirty="0" smtClean="0"/>
              <a:t> </a:t>
            </a:r>
            <a:r>
              <a:rPr lang="ko-KR" altLang="en-US" sz="500" dirty="0" err="1" smtClean="0"/>
              <a:t>총부기금액</a:t>
            </a:r>
            <a:r>
              <a:rPr lang="ko-KR" altLang="en-US" sz="500" dirty="0" smtClean="0"/>
              <a:t> 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7" name="타원 2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39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7004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현 상세내용 탭에서는 </a:t>
            </a:r>
            <a:endParaRPr lang="en-US" altLang="ko-KR" sz="800" dirty="0" smtClean="0"/>
          </a:p>
        </p:txBody>
      </p:sp>
      <p:sp>
        <p:nvSpPr>
          <p:cNvPr id="246" name="평행 사변형 245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1608459783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890456"/>
            <a:ext cx="2630093" cy="3108252"/>
            <a:chOff x="701175" y="1527996"/>
            <a:chExt cx="2630093" cy="310825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7810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해지해제일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000 000  00 00000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790930"/>
              <a:chOff x="701175" y="1835481"/>
              <a:chExt cx="2630093" cy="279093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1167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641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391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906420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52522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9550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54580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65913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87652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87652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599952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11807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11807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856387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3555" y="19037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5771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2" name="그룹 9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3" name="타원 92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4" name="그룹 93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9" name="직선 연결선 9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직선 연결선 9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5" name="타원 94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6" name="그룹 95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7" name="직선 연결선 9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8" name="직선 연결선 9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1" name="그룹 100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05" name="그룹 104"/>
          <p:cNvGrpSpPr/>
          <p:nvPr/>
        </p:nvGrpSpPr>
        <p:grpSpPr>
          <a:xfrm>
            <a:off x="3831550" y="1493927"/>
            <a:ext cx="2626449" cy="354413"/>
            <a:chOff x="720490" y="4004429"/>
            <a:chExt cx="2626449" cy="354413"/>
          </a:xfrm>
        </p:grpSpPr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6" name="타원 115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6" name="그룹 13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7" name="타원 136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0" name="직선 연결선 13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직선 연결선 1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그룹 111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115201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02465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169443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111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2402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2731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676627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3974525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49837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2" name="그룹 7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02998" y="4358842"/>
              <a:ext cx="47519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1" name="타원 8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0" name="그룹 10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1" name="타원 11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7" name="그룹 76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8" name="그룹 117"/>
          <p:cNvGrpSpPr/>
          <p:nvPr/>
        </p:nvGrpSpPr>
        <p:grpSpPr>
          <a:xfrm>
            <a:off x="3836701" y="1493927"/>
            <a:ext cx="2626449" cy="354413"/>
            <a:chOff x="720490" y="4004429"/>
            <a:chExt cx="2626449" cy="354413"/>
          </a:xfrm>
        </p:grpSpPr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02998" y="4358842"/>
              <a:ext cx="475195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2" name="그룹 12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7" name="타원 12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8" name="그룹 12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5" name="직선 연결선 1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직선 연결선 1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2" name="그룹 1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3" name="직선 연결선 1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직선 연결선 1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" name="그룹 122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66862211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일반계약총액제해지해제상세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1627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872909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756443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4" name="그룹 2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9" name="타원 2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" name="그룹 2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5" name="직선 연결선 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 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1" name="타원 3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2" name="그룹 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" name="직선 연결선 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직선 연결선 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그룹 2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4382164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6632083"/>
              </p:ext>
            </p:extLst>
          </p:nvPr>
        </p:nvGraphicFramePr>
        <p:xfrm>
          <a:off x="452999" y="111706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24308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73845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240732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D91A7E5-937F-E221-FDB3-6C08210E6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5068951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864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7204190"/>
              </p:ext>
            </p:extLst>
          </p:nvPr>
        </p:nvGraphicFramePr>
        <p:xfrm>
          <a:off x="437936" y="2348934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2555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84145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14663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52904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plcdlvRnk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889276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315176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2C92AC0-77EE-876F-BC80-7AEE77D8CE0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43839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1914214"/>
              </p:ext>
            </p:extLst>
          </p:nvPr>
        </p:nvGraphicFramePr>
        <p:xfrm>
          <a:off x="453000" y="1026808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1057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3CCF530-0365-D3D7-6360-668B198E9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486218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해제일반단가제계약상세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일반계약단가제해지해제상세</a:t>
            </a:r>
            <a:r>
              <a:rPr lang="ko-KR" altLang="en-US" dirty="0" smtClean="0"/>
              <a:t> </a:t>
            </a:r>
            <a:r>
              <a:rPr lang="ko-KR" altLang="en-US" dirty="0"/>
              <a:t>조회 </a:t>
            </a:r>
            <a:r>
              <a:rPr lang="ko-KR" altLang="en-US" dirty="0" smtClean="0"/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모델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6" y="2278058"/>
            <a:ext cx="32838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단가제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물품명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공고번호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입찰방법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총액제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수의계약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1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21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217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597442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909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427484" cy="107722"/>
            <a:chOff x="764169" y="4142235"/>
            <a:chExt cx="1427484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90017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35773"/>
            <a:ext cx="1427484" cy="107722"/>
            <a:chOff x="764169" y="4142235"/>
            <a:chExt cx="142748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44523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8719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2891905"/>
            <a:ext cx="2630093" cy="1551225"/>
            <a:chOff x="3865118" y="2694619"/>
            <a:chExt cx="2630093" cy="155122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12904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본조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총제조부기금액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0699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5219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554333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20" name="그룹 219"/>
          <p:cNvGrpSpPr/>
          <p:nvPr/>
        </p:nvGrpSpPr>
        <p:grpSpPr>
          <a:xfrm flipV="1">
            <a:off x="6264240" y="4667664"/>
            <a:ext cx="94010" cy="47005"/>
            <a:chOff x="6812560" y="3297172"/>
            <a:chExt cx="94010" cy="47005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TextBox 2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885050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885050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3831550" y="500805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12659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126596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2193469"/>
            <a:ext cx="76863" cy="292489"/>
            <a:chOff x="3750067" y="4683795"/>
            <a:chExt cx="76863" cy="292489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0" name="타원 2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65" name="그룹 164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66" name="그룹 165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4" name="직선 연결선 2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7" name="타원 2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39" name="타원 2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46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513670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판단번호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47" name="직사각형 246"/>
          <p:cNvSpPr/>
          <p:nvPr/>
        </p:nvSpPr>
        <p:spPr>
          <a:xfrm>
            <a:off x="7078049" y="6122339"/>
            <a:ext cx="2300641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smtClean="0"/>
              <a:t>납부방법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단위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, </a:t>
            </a:r>
            <a:r>
              <a:rPr lang="ko-KR" altLang="en-US" sz="500" dirty="0" smtClean="0"/>
              <a:t>단가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삭감금액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적용장비</a:t>
            </a:r>
            <a:r>
              <a:rPr lang="ko-KR" altLang="en-US" sz="500" dirty="0" smtClean="0"/>
              <a:t> 사업</a:t>
            </a:r>
            <a:r>
              <a:rPr lang="en-US" altLang="ko-KR" sz="500" dirty="0" smtClean="0"/>
              <a:t>,</a:t>
            </a:r>
            <a:r>
              <a:rPr lang="ko-KR" altLang="en-US" sz="500" dirty="0"/>
              <a:t> </a:t>
            </a:r>
            <a:r>
              <a:rPr lang="ko-KR" altLang="en-US" sz="500" dirty="0" err="1" smtClean="0"/>
              <a:t>승인일자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도면번호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</a:t>
            </a:r>
            <a:r>
              <a:rPr lang="ko-KR" altLang="en-US" sz="500" dirty="0"/>
              <a:t> </a:t>
            </a:r>
            <a:r>
              <a:rPr lang="ko-KR" altLang="en-US" sz="500" dirty="0" err="1" smtClean="0"/>
              <a:t>부품번호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납기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납지순위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납지수량</a:t>
            </a:r>
            <a:r>
              <a:rPr lang="ko-KR" altLang="en-US" sz="500" dirty="0" smtClean="0"/>
              <a:t>  누락</a:t>
            </a:r>
            <a:endParaRPr lang="en-US" altLang="ko-KR" sz="500" dirty="0" smtClean="0"/>
          </a:p>
        </p:txBody>
      </p:sp>
      <p:sp>
        <p:nvSpPr>
          <p:cNvPr id="164" name="평행 사변형 163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TextBox 247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54256118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계약금액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Autofit/>
          </a:bodyPr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898726"/>
            <a:ext cx="2630093" cy="3108252"/>
            <a:chOff x="701175" y="1527996"/>
            <a:chExt cx="2630093" cy="310825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7810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납품장소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해지해제일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총액제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000 000  00 00000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790930"/>
              <a:chOff x="701175" y="1835481"/>
              <a:chExt cx="2630093" cy="279093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681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41167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641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38050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물가변동율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smtClean="0">
                  <a:latin typeface="+mn-ea"/>
                </a:rPr>
                <a:t>적용방법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91911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73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3836701" y="3914690"/>
            <a:ext cx="2630093" cy="1557601"/>
            <a:chOff x="3865118" y="2694619"/>
            <a:chExt cx="2630093" cy="155760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3867211" y="2946203"/>
              <a:ext cx="792000" cy="130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합계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총제조부기금액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0.15 %</a:t>
              </a:r>
            </a:p>
          </p:txBody>
        </p: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55334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39633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555407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5667409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588479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5884795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6007797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6126341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6126341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1" y="1838530"/>
            <a:ext cx="2630093" cy="1975134"/>
            <a:chOff x="3865118" y="2694619"/>
            <a:chExt cx="2630093" cy="197513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97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3555" y="19120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156" y="5585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2" name="그룹 9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3" name="타원 92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4" name="그룹 93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9" name="직선 연결선 9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직선 연결선 99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5" name="타원 94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96" name="그룹 95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97" name="직선 연결선 9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98" name="직선 연결선 9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1" name="그룹 100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05" name="그룹 104"/>
          <p:cNvGrpSpPr/>
          <p:nvPr/>
        </p:nvGrpSpPr>
        <p:grpSpPr>
          <a:xfrm>
            <a:off x="3837881" y="1493927"/>
            <a:ext cx="2626449" cy="354413"/>
            <a:chOff x="720490" y="4004429"/>
            <a:chExt cx="2626449" cy="354413"/>
          </a:xfrm>
        </p:grpSpPr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6" name="타원 115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6" name="그룹 13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7" name="타원 136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0" name="직선 연결선 13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직선 연결선 1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그룹 111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32651008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계약 명세 정보 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예산구분</a:t>
            </a:r>
            <a:r>
              <a:rPr lang="ko-KR" altLang="en-US" dirty="0" smtClean="0"/>
              <a:t> 항목이 더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937813"/>
            <a:ext cx="2456098" cy="215444"/>
            <a:chOff x="763156" y="1527996"/>
            <a:chExt cx="2456098" cy="21544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 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1" name="그룹 140"/>
          <p:cNvGrpSpPr/>
          <p:nvPr/>
        </p:nvGrpSpPr>
        <p:grpSpPr>
          <a:xfrm>
            <a:off x="716366" y="2204791"/>
            <a:ext cx="2630093" cy="444813"/>
            <a:chOff x="3865118" y="2946203"/>
            <a:chExt cx="2630093" cy="444813"/>
          </a:xfrm>
        </p:grpSpPr>
        <p:sp>
          <p:nvSpPr>
            <p:cNvPr id="142" name="직사각형 141"/>
            <p:cNvSpPr/>
            <p:nvPr/>
          </p:nvSpPr>
          <p:spPr>
            <a:xfrm>
              <a:off x="3867211" y="2946203"/>
              <a:ext cx="792000" cy="4448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부서명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조달판단번호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 </a:t>
              </a:r>
              <a:r>
                <a:rPr lang="ko-KR" altLang="en-US" sz="700" dirty="0" smtClean="0">
                  <a:latin typeface="+mn-ea"/>
                </a:rPr>
                <a:t>부서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111-11-11111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6460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59369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606266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16366" y="2711975"/>
            <a:ext cx="2630093" cy="1975134"/>
            <a:chOff x="3865118" y="2694619"/>
            <a:chExt cx="2630093" cy="197513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장기국채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2" name="그룹 81"/>
          <p:cNvGrpSpPr/>
          <p:nvPr/>
        </p:nvGrpSpPr>
        <p:grpSpPr>
          <a:xfrm>
            <a:off x="3836701" y="4009873"/>
            <a:ext cx="2630093" cy="1975134"/>
            <a:chOff x="3865118" y="2694619"/>
            <a:chExt cx="2630093" cy="197513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총계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36701" y="1985185"/>
            <a:ext cx="2630093" cy="1975134"/>
            <a:chOff x="3865118" y="2694619"/>
            <a:chExt cx="2630093" cy="1975134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예산별</a:t>
              </a:r>
              <a:r>
                <a:rPr lang="ko-KR" altLang="en-US" sz="700" dirty="0" smtClean="0">
                  <a:latin typeface="+mn-ea"/>
                </a:rPr>
                <a:t> 소계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공동계약업체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적용장비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2" name="그룹 71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2046" y="4358842"/>
              <a:ext cx="466147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81" name="타원 8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0" name="그룹 10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6" name="직선 연결선 1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직선 연결선 1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1" name="타원 11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12" name="그룹 11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14" name="직선 연결선 1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직선 연결선 1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7" name="그룹 76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8" name="그룹 117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2046" y="4358842"/>
              <a:ext cx="466147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22" name="그룹 121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27" name="타원 12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8" name="그룹 12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5" name="직선 연결선 1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직선 연결선 1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2" name="그룹 1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3" name="직선 연결선 1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직선 연결선 1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" name="그룹 122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8020077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 err="1">
                <a:latin typeface="+mn-ea"/>
              </a:rPr>
              <a:t>특수조건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일반계약단가제해지해제상세</a:t>
            </a:r>
            <a:r>
              <a:rPr lang="ko-KR" altLang="en-US" dirty="0"/>
              <a:t> 조회 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982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916454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212046" y="4358842"/>
              <a:ext cx="466147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4" name="그룹 2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9" name="타원 2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" name="그룹 2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5" name="직선 연결선 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직선 연결선 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1" name="타원 3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2" name="그룹 3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" name="직선 연결선 3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직선 연결선 3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그룹 24"/>
            <p:cNvGrpSpPr/>
            <p:nvPr/>
          </p:nvGrpSpPr>
          <p:grpSpPr>
            <a:xfrm>
              <a:off x="764169" y="4142235"/>
              <a:ext cx="1427484" cy="107722"/>
              <a:chOff x="764169" y="4142235"/>
              <a:chExt cx="1427484" cy="10772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44523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87199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90059651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정보정보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DE65A25-6901-AD8C-E4A5-0E0337AE4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423697"/>
              </p:ext>
            </p:extLst>
          </p:nvPr>
        </p:nvGraphicFramePr>
        <p:xfrm>
          <a:off x="452999" y="1098010"/>
          <a:ext cx="8994883" cy="50419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본조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총제조부기금액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계약보증금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지체상금율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dlvgdsPlcNm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납품장소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입찰방법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:BDTC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9904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72906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payMthdCd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:GMCC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0563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물가변동율적용방법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28855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883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44612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금융기관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WTB_PBT209/WTB_PDT209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358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890608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F6543C8-1364-FCEE-CD86-7A0CD86658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1595499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1425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801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dpstrNm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882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해지해제일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615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cncltnRmvRsn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해지해제사유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9686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CB986F8-2635-88DF-F793-5A50DDBDC46B}"/>
              </a:ext>
            </a:extLst>
          </p:cNvPr>
          <p:cNvSpPr txBox="1"/>
          <p:nvPr/>
        </p:nvSpPr>
        <p:spPr>
          <a:xfrm>
            <a:off x="443054" y="2048344"/>
            <a:ext cx="22079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D96C56-DE4B-4DA2-29FC-7DEFA61DB7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7204796"/>
              </p:ext>
            </p:extLst>
          </p:nvPr>
        </p:nvGraphicFramePr>
        <p:xfrm>
          <a:off x="437936" y="2310834"/>
          <a:ext cx="8994883" cy="407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:RIC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2168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조달판단번호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2577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92369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공동계약업체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0069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98740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9872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6148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4485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6353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760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0466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삭감금액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59437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aplcnEqpmntCd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:AC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9432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4402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35676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사업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11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91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도면번호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flrplnNo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도면번호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9907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규격번호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6939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8802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8040331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2C1362-BA0E-28E2-07BD-AAA5839A0E7D}"/>
              </a:ext>
            </a:extLst>
          </p:cNvPr>
          <p:cNvSpPr txBox="1"/>
          <p:nvPr/>
        </p:nvSpPr>
        <p:spPr>
          <a:xfrm>
            <a:off x="443054" y="826995"/>
            <a:ext cx="25220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계약 명세정보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 (</a:t>
            </a:r>
            <a:r>
              <a:rPr lang="ko-KR" altLang="en-US" sz="900" b="1" dirty="0">
                <a:solidFill>
                  <a:prstClr val="black"/>
                </a:solidFill>
              </a:rPr>
              <a:t>계속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FFF1A7F-1851-FC68-6571-9958A71A7A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1847770"/>
              </p:ext>
            </p:extLst>
          </p:nvPr>
        </p:nvGraphicFramePr>
        <p:xfrm>
          <a:off x="437936" y="108948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6456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43373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0062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납지순위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plcdlvRnk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납지순위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283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kern="120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plcdlvQty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C8DADB8-FBEF-4084-79F7-982D1B03C357}"/>
              </a:ext>
            </a:extLst>
          </p:cNvPr>
          <p:cNvSpPr txBox="1"/>
          <p:nvPr/>
        </p:nvSpPr>
        <p:spPr>
          <a:xfrm>
            <a:off x="443054" y="2574951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EE22B6A-A4BB-F83B-BE8E-A1A0E458E6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283744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A83496E-5722-9A13-D5E3-689A22BA9703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929183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65D1D3C-35D2-96AE-24AD-0243B3C3836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7283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scwin.btn_list_onclick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 목록 조회화면으로 이동된다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UI-CT-03-M01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계약해지해제목록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118681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14B53CC-D490-04A1-B4FE-B19036DC81EB}"/>
              </a:ext>
            </a:extLst>
          </p:cNvPr>
          <p:cNvSpPr txBox="1"/>
          <p:nvPr/>
        </p:nvSpPr>
        <p:spPr>
          <a:xfrm>
            <a:off x="458117" y="7010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CD63C9B0-F42A-DC2A-6BDD-5878F3C932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767125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해제수정계약상세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MUI-CT-03-M05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000000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27921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총액제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5700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수정계약사유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2026-01-30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 smtClean="0">
                <a:latin typeface="+mn-ea"/>
              </a:rPr>
              <a:t>모델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0000 000 000000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3459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80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78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577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160305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458842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수의계약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1604989" cy="107722"/>
            <a:chOff x="764169" y="4142235"/>
            <a:chExt cx="1604989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34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470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899923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계약수정</a:t>
            </a:r>
            <a:endParaRPr lang="ko-KR" altLang="en-US" sz="6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3865503" y="1641390"/>
            <a:ext cx="1607874" cy="107722"/>
            <a:chOff x="764169" y="4142235"/>
            <a:chExt cx="1607874" cy="10772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32958" y="4142235"/>
              <a:ext cx="62562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수정계약명세서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967589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836701" y="1921964"/>
            <a:ext cx="2630093" cy="696397"/>
            <a:chOff x="3865118" y="2694619"/>
            <a:chExt cx="2630093" cy="69639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6316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6100910"/>
            <a:ext cx="178408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계약특수조건 </a:t>
            </a: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11</a:t>
            </a:r>
            <a:r>
              <a:rPr lang="ko-KR" altLang="en-US" sz="700" dirty="0">
                <a:latin typeface="+mn-ea"/>
              </a:rPr>
              <a:t>조 ① 항 “</a:t>
            </a:r>
            <a:r>
              <a:rPr lang="en-US" altLang="ko-KR" sz="700" dirty="0">
                <a:latin typeface="+mn-ea"/>
              </a:rPr>
              <a:t>XX</a:t>
            </a:r>
            <a:r>
              <a:rPr lang="ko-KR" altLang="en-US" sz="700" dirty="0">
                <a:latin typeface="+mn-ea"/>
              </a:rPr>
              <a:t>년 </a:t>
            </a:r>
            <a:r>
              <a:rPr lang="ko-KR" altLang="en-US" sz="700" dirty="0" err="1">
                <a:latin typeface="+mn-ea"/>
              </a:rPr>
              <a:t>계약납기</a:t>
            </a:r>
            <a:r>
              <a:rPr lang="ko-KR" altLang="en-US" sz="700" dirty="0">
                <a:latin typeface="+mn-ea"/>
              </a:rPr>
              <a:t> 조정</a:t>
            </a:r>
            <a:r>
              <a:rPr lang="en-US" altLang="ko-KR" sz="700" dirty="0">
                <a:latin typeface="+mn-ea"/>
              </a:rPr>
              <a:t>(....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6154771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기타사항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3836701" y="2638606"/>
            <a:ext cx="2630093" cy="907968"/>
            <a:chOff x="3865118" y="2694619"/>
            <a:chExt cx="2630093" cy="90796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8" name="직사각형 167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5" name="그룹 204"/>
          <p:cNvGrpSpPr/>
          <p:nvPr/>
        </p:nvGrpSpPr>
        <p:grpSpPr>
          <a:xfrm>
            <a:off x="3842944" y="3655737"/>
            <a:ext cx="2630093" cy="1975134"/>
            <a:chOff x="3865118" y="2694619"/>
            <a:chExt cx="2630093" cy="1975134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71554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63" name="타원 2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66" name="타원 2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67" name="타원 2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68" name="타원 2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69" name="타원 2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70" name="타원 2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7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공고번호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공고번호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81" name="직사각형 280"/>
          <p:cNvSpPr/>
          <p:nvPr/>
        </p:nvSpPr>
        <p:spPr>
          <a:xfrm>
            <a:off x="7089279" y="6154771"/>
            <a:ext cx="2301850" cy="1660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err="1" smtClean="0"/>
              <a:t>수정항목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수량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증감내역</a:t>
            </a:r>
            <a:r>
              <a:rPr lang="en-US" altLang="ko-KR" sz="500" dirty="0" smtClean="0"/>
              <a:t>(</a:t>
            </a:r>
            <a:r>
              <a:rPr lang="ko-KR" altLang="en-US" sz="500" dirty="0" smtClean="0"/>
              <a:t>금액</a:t>
            </a:r>
            <a:r>
              <a:rPr lang="en-US" altLang="ko-KR" sz="500" dirty="0" smtClean="0"/>
              <a:t>), </a:t>
            </a:r>
            <a:r>
              <a:rPr lang="ko-KR" altLang="en-US" sz="500" dirty="0" err="1" smtClean="0"/>
              <a:t>규격번호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검사형태</a:t>
            </a:r>
            <a:r>
              <a:rPr lang="en-US" altLang="ko-KR" sz="500" dirty="0" smtClean="0"/>
              <a:t>,</a:t>
            </a:r>
            <a:r>
              <a:rPr lang="ko-KR" altLang="en-US" sz="500" dirty="0" err="1" smtClean="0"/>
              <a:t>납지수량</a:t>
            </a:r>
            <a:r>
              <a:rPr lang="en-US" altLang="ko-KR" sz="500" dirty="0" smtClean="0"/>
              <a:t>, </a:t>
            </a:r>
            <a:r>
              <a:rPr lang="ko-KR" altLang="en-US" sz="500" dirty="0" err="1" smtClean="0"/>
              <a:t>부품번호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  <p:sp>
        <p:nvSpPr>
          <p:cNvPr id="200" name="평행 사변형 199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TextBox 223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2657651318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28084"/>
            <a:ext cx="2630093" cy="2025405"/>
            <a:chOff x="701175" y="1527996"/>
            <a:chExt cx="2630093" cy="202540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7179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수정계약사유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25835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2026-01-30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000000 </a:t>
              </a:r>
              <a:r>
                <a:rPr lang="ko-KR" altLang="en-US" sz="700" dirty="0">
                  <a:latin typeface="+mn-ea"/>
                </a:rPr>
                <a:t>모델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0000 000 </a:t>
              </a:r>
              <a:r>
                <a:rPr lang="en-US" altLang="ko-KR" sz="700" dirty="0" smtClean="0">
                  <a:latin typeface="+mn-ea"/>
                </a:rPr>
                <a:t>000000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717920"/>
              <a:chOff x="701175" y="1835481"/>
              <a:chExt cx="2630093" cy="171792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84800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기타사항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799" y="3230939"/>
              <a:ext cx="178221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계약특수조건 제</a:t>
              </a:r>
              <a:r>
                <a:rPr lang="en-US" altLang="ko-KR" sz="700" dirty="0">
                  <a:latin typeface="+mn-ea"/>
                </a:rPr>
                <a:t>11</a:t>
              </a:r>
              <a:r>
                <a:rPr lang="ko-KR" altLang="en-US" sz="700" dirty="0">
                  <a:latin typeface="+mn-ea"/>
                </a:rPr>
                <a:t>조 ① 항 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계약납기</a:t>
              </a:r>
              <a:r>
                <a:rPr lang="ko-KR" altLang="en-US" sz="700" dirty="0">
                  <a:latin typeface="+mn-ea"/>
                </a:rPr>
                <a:t> 조정</a:t>
              </a:r>
              <a:r>
                <a:rPr lang="en-US" altLang="ko-KR" sz="700" dirty="0">
                  <a:latin typeface="+mn-ea"/>
                </a:rPr>
                <a:t>(....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6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0186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3926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52595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6998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6998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49298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1152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1152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3836700" y="1928084"/>
            <a:ext cx="2630093" cy="1990579"/>
            <a:chOff x="3865118" y="2694619"/>
            <a:chExt cx="2630093" cy="1990579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3867211" y="2946203"/>
              <a:ext cx="792000" cy="173899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111111-00000-01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851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3" name="그룹 82"/>
          <p:cNvGrpSpPr/>
          <p:nvPr/>
        </p:nvGrpSpPr>
        <p:grpSpPr>
          <a:xfrm>
            <a:off x="701175" y="4010293"/>
            <a:ext cx="2630093" cy="696397"/>
            <a:chOff x="3865118" y="2694619"/>
            <a:chExt cx="2630093" cy="69639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867211" y="2946204"/>
              <a:ext cx="792000" cy="4395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감액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- 1,000,000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701175" y="4764003"/>
            <a:ext cx="2630093" cy="907968"/>
            <a:chOff x="3865118" y="2694619"/>
            <a:chExt cx="2630093" cy="90796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추가보증금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3867211" y="2946204"/>
              <a:ext cx="792000" cy="6563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차액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보증금구분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</a:rPr>
                <a:t>[K]</a:t>
              </a:r>
              <a:r>
                <a:rPr lang="ko-KR" altLang="en-US" sz="700" dirty="0" smtClean="0">
                  <a:latin typeface="맑은 고딕" panose="020B0503020000020004" pitchFamily="50" charset="-127"/>
                </a:rPr>
                <a:t>공제조합보증서</a:t>
              </a:r>
              <a:endParaRPr lang="ko-KR" altLang="en-US" sz="700" dirty="0">
                <a:latin typeface="맑은 고딕" panose="020B0503020000020004" pitchFamily="50" charset="-127"/>
              </a:endParaRPr>
            </a:p>
          </p:txBody>
        </p: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258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6" name="그룹 75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77" name="타원 7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8" name="그룹 7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4" name="직선 연결선 8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직선 연결선 8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9" name="타원 78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0" name="그룹 79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81" name="직선 연결선 8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직선 연결선 8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" name="그룹 10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0" name="그룹 109"/>
          <p:cNvGrpSpPr/>
          <p:nvPr/>
        </p:nvGrpSpPr>
        <p:grpSpPr>
          <a:xfrm>
            <a:off x="3831550" y="1493927"/>
            <a:ext cx="2626449" cy="354413"/>
            <a:chOff x="720490" y="4004429"/>
            <a:chExt cx="2626449" cy="354413"/>
          </a:xfrm>
        </p:grpSpPr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4" name="그룹 113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37" name="타원 136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8" name="그룹 137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4" name="직선 연결선 14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직선 연결선 14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0" name="타원 13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직선 연결선 14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5" name="그룹 114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상세정보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52292255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수정계약명세정보서</a:t>
            </a:r>
            <a:r>
              <a:rPr lang="ko-KR" altLang="en-US" dirty="0" smtClean="0"/>
              <a:t>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무슨 항목이 변경되었는지 표시되는 항목으로 사용자 선택 불가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단순 노출 정보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~</a:t>
            </a:r>
            <a:r>
              <a:rPr lang="ko-KR" altLang="en-US" dirty="0" smtClean="0"/>
              <a:t>으로 바뀌었다는 의미로 사용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[</a:t>
            </a:r>
            <a:r>
              <a:rPr lang="ko-KR" altLang="en-US" dirty="0" smtClean="0">
                <a:solidFill>
                  <a:srgbClr val="FF0000"/>
                </a:solidFill>
              </a:rPr>
              <a:t>수정 후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dirty="0" smtClean="0">
                <a:solidFill>
                  <a:srgbClr val="FF0000"/>
                </a:solidFill>
              </a:rPr>
              <a:t>코멘트를 </a:t>
            </a:r>
            <a:r>
              <a:rPr lang="ko-KR" altLang="en-US" dirty="0" err="1" smtClean="0">
                <a:solidFill>
                  <a:srgbClr val="FF0000"/>
                </a:solidFill>
              </a:rPr>
              <a:t>코드값에</a:t>
            </a:r>
            <a:r>
              <a:rPr lang="ko-KR" altLang="en-US" dirty="0" smtClean="0">
                <a:solidFill>
                  <a:srgbClr val="FF0000"/>
                </a:solidFill>
              </a:rPr>
              <a:t> 맞춰 추가로 넣어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사용자가 인지할 수 있도록 추가함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표의 </a:t>
            </a:r>
            <a:r>
              <a:rPr lang="ko-KR" altLang="en-US" dirty="0" err="1" smtClean="0">
                <a:solidFill>
                  <a:srgbClr val="FF0000"/>
                </a:solidFill>
              </a:rPr>
              <a:t>표시정보는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ko-KR" altLang="en-US" dirty="0" err="1" smtClean="0">
                <a:solidFill>
                  <a:srgbClr val="FF0000"/>
                </a:solidFill>
              </a:rPr>
              <a:t>항목정보</a:t>
            </a:r>
            <a:r>
              <a:rPr lang="ko-KR" altLang="en-US" dirty="0" smtClean="0">
                <a:solidFill>
                  <a:srgbClr val="FF0000"/>
                </a:solidFill>
              </a:rPr>
              <a:t> 참조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노출되는 표의 정보가 많음으로 일부 접기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펼치기를 통해서 </a:t>
            </a:r>
            <a:r>
              <a:rPr lang="en-US" altLang="ko-KR" dirty="0" smtClean="0">
                <a:solidFill>
                  <a:srgbClr val="FF0000"/>
                </a:solidFill>
              </a:rPr>
              <a:t>4</a:t>
            </a:r>
            <a:r>
              <a:rPr lang="ko-KR" altLang="en-US" dirty="0" smtClean="0">
                <a:solidFill>
                  <a:srgbClr val="FF0000"/>
                </a:solidFill>
              </a:rPr>
              <a:t>개 </a:t>
            </a:r>
            <a:r>
              <a:rPr lang="ko-KR" altLang="en-US" dirty="0" err="1" smtClean="0">
                <a:solidFill>
                  <a:srgbClr val="FF0000"/>
                </a:solidFill>
              </a:rPr>
              <a:t>표까지만</a:t>
            </a:r>
            <a:r>
              <a:rPr lang="ko-KR" altLang="en-US" dirty="0" smtClean="0">
                <a:solidFill>
                  <a:srgbClr val="FF0000"/>
                </a:solidFill>
              </a:rPr>
              <a:t> 노출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~</a:t>
            </a:r>
            <a:r>
              <a:rPr lang="ko-KR" altLang="en-US" dirty="0" smtClean="0"/>
              <a:t>을 </a:t>
            </a:r>
            <a:r>
              <a:rPr lang="en-US" altLang="ko-KR" dirty="0" smtClean="0"/>
              <a:t>2</a:t>
            </a:r>
            <a:r>
              <a:rPr lang="ko-KR" altLang="en-US" dirty="0" err="1" smtClean="0"/>
              <a:t>번항으로</a:t>
            </a:r>
            <a:r>
              <a:rPr lang="ko-KR" altLang="en-US" dirty="0" smtClean="0"/>
              <a:t> 바뀌기 전 내용을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>
                <a:solidFill>
                  <a:srgbClr val="FF0000"/>
                </a:solidFill>
              </a:rPr>
              <a:t>- [</a:t>
            </a:r>
            <a:r>
              <a:rPr lang="ko-KR" altLang="en-US" dirty="0" smtClean="0">
                <a:solidFill>
                  <a:srgbClr val="FF0000"/>
                </a:solidFill>
              </a:rPr>
              <a:t>수정 전</a:t>
            </a:r>
            <a:r>
              <a:rPr lang="en-US" altLang="ko-KR" dirty="0" smtClean="0">
                <a:solidFill>
                  <a:srgbClr val="FF0000"/>
                </a:solidFill>
              </a:rPr>
              <a:t>] </a:t>
            </a:r>
            <a:r>
              <a:rPr lang="ko-KR" altLang="en-US" dirty="0">
                <a:solidFill>
                  <a:srgbClr val="FF0000"/>
                </a:solidFill>
              </a:rPr>
              <a:t>코멘트를 </a:t>
            </a:r>
            <a:r>
              <a:rPr lang="ko-KR" altLang="en-US" dirty="0" err="1">
                <a:solidFill>
                  <a:srgbClr val="FF0000"/>
                </a:solidFill>
              </a:rPr>
              <a:t>코드값에</a:t>
            </a:r>
            <a:r>
              <a:rPr lang="ko-KR" altLang="en-US" dirty="0">
                <a:solidFill>
                  <a:srgbClr val="FF0000"/>
                </a:solidFill>
              </a:rPr>
              <a:t> 맞춰 추가로 넣어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사용자가 인지할 수 있도록 </a:t>
            </a:r>
            <a:r>
              <a:rPr lang="ko-KR" altLang="en-US" dirty="0" smtClean="0">
                <a:solidFill>
                  <a:srgbClr val="FF0000"/>
                </a:solidFill>
              </a:rPr>
              <a:t>추가함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노출되는 표의 정보가 많음으로 일부 접기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펼치기를 통해서 </a:t>
            </a:r>
            <a:r>
              <a:rPr lang="en-US" altLang="ko-KR" dirty="0">
                <a:solidFill>
                  <a:srgbClr val="FF0000"/>
                </a:solidFill>
              </a:rPr>
              <a:t>4</a:t>
            </a:r>
            <a:r>
              <a:rPr lang="ko-KR" altLang="en-US" dirty="0">
                <a:solidFill>
                  <a:srgbClr val="FF0000"/>
                </a:solidFill>
              </a:rPr>
              <a:t>개 </a:t>
            </a:r>
            <a:r>
              <a:rPr lang="ko-KR" altLang="en-US" dirty="0" err="1">
                <a:solidFill>
                  <a:srgbClr val="FF0000"/>
                </a:solidFill>
              </a:rPr>
              <a:t>표까지만</a:t>
            </a:r>
            <a:r>
              <a:rPr lang="ko-KR" altLang="en-US" dirty="0">
                <a:solidFill>
                  <a:srgbClr val="FF0000"/>
                </a:solidFill>
              </a:rPr>
              <a:t> 노출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여러 건의 수정이 발생할 수 있으며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수정전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수정후를</a:t>
            </a:r>
            <a:r>
              <a:rPr lang="ko-KR" altLang="en-US" dirty="0" smtClean="0"/>
              <a:t> 반복적으로 노출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803363" y="1893756"/>
            <a:ext cx="2456098" cy="181140"/>
            <a:chOff x="763156" y="1527996"/>
            <a:chExt cx="2456098" cy="181140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156" y="1527996"/>
              <a:ext cx="122481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수정계약명세서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25244" y="1641327"/>
              <a:ext cx="94010" cy="47005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240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070760" y="4627511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1" name="타원 18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716366" y="3634104"/>
            <a:ext cx="2630093" cy="2190577"/>
            <a:chOff x="3865118" y="2694619"/>
            <a:chExt cx="2630093" cy="21905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– </a:t>
              </a:r>
              <a:r>
                <a:rPr lang="ko-KR" altLang="en-US" sz="700" dirty="0" smtClean="0">
                  <a:latin typeface="+mn-ea"/>
                </a:rPr>
                <a:t>으로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수정 후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일반우의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육군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장기국채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12771" y="2156618"/>
            <a:ext cx="2633688" cy="1374730"/>
            <a:chOff x="712771" y="2302158"/>
            <a:chExt cx="2633688" cy="13747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30215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수정항목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5537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24066" y="2553743"/>
              <a:ext cx="43472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연부액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품목추가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676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84581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품목취소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특수조건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예산전환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45096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05610" y="2553743"/>
              <a:ext cx="43472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원가확정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772169" y="2630090"/>
              <a:ext cx="107950" cy="958403"/>
              <a:chOff x="772169" y="2297325"/>
              <a:chExt cx="107950" cy="958403"/>
            </a:xfrm>
          </p:grpSpPr>
          <p:sp>
            <p:nvSpPr>
              <p:cNvPr id="76" name="직사각형 75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직사각형 127"/>
              <p:cNvSpPr/>
              <p:nvPr/>
            </p:nvSpPr>
            <p:spPr>
              <a:xfrm>
                <a:off x="772169" y="3147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12771" y="2802474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 smtClean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1421677" y="2630090"/>
              <a:ext cx="107950" cy="736927"/>
              <a:chOff x="772169" y="2297325"/>
              <a:chExt cx="107950" cy="736927"/>
            </a:xfrm>
          </p:grpSpPr>
          <p:sp>
            <p:nvSpPr>
              <p:cNvPr id="110" name="직사각형 109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2077483" y="2630090"/>
              <a:ext cx="107950" cy="736927"/>
              <a:chOff x="772169" y="2297325"/>
              <a:chExt cx="107950" cy="736927"/>
            </a:xfrm>
          </p:grpSpPr>
          <p:sp>
            <p:nvSpPr>
              <p:cNvPr id="117" name="직사각형 116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직사각형 118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2739067" y="2630090"/>
              <a:ext cx="107950" cy="736927"/>
              <a:chOff x="772169" y="2297325"/>
              <a:chExt cx="107950" cy="736927"/>
            </a:xfrm>
          </p:grpSpPr>
          <p:sp>
            <p:nvSpPr>
              <p:cNvPr id="123" name="직사각형 122"/>
              <p:cNvSpPr/>
              <p:nvPr/>
            </p:nvSpPr>
            <p:spPr>
              <a:xfrm>
                <a:off x="772169" y="229732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772169" y="251455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772169" y="2711641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772169" y="292630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/>
          <p:cNvGrpSpPr/>
          <p:nvPr/>
        </p:nvGrpSpPr>
        <p:grpSpPr>
          <a:xfrm>
            <a:off x="3836701" y="1893756"/>
            <a:ext cx="2630093" cy="2190577"/>
            <a:chOff x="3865118" y="2694619"/>
            <a:chExt cx="2630093" cy="2190577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5084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 </a:t>
              </a:r>
              <a:r>
                <a:rPr lang="en-US" altLang="ko-KR" sz="700" dirty="0" smtClean="0">
                  <a:latin typeface="+mn-ea"/>
                </a:rPr>
                <a:t>– </a:t>
              </a:r>
              <a:r>
                <a:rPr lang="ko-KR" altLang="en-US" sz="700" dirty="0" smtClean="0">
                  <a:latin typeface="+mn-ea"/>
                </a:rPr>
                <a:t>을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수정 전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3867211" y="2946203"/>
              <a:ext cx="792000" cy="19266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재고번호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예산구분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예산항목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승인일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MWDW…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8405…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일반우의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1700-0000-0000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1200-000-0000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78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17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15237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타원 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143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897" y="194619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2897" y="4350445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87" name="그룹 86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70493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1" name="그룹 90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15" name="타원 11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21" name="그룹 120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53" name="직선 연결선 15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직선 연결선 15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7" name="타원 126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42" name="직선 연결선 14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직선 연결선 15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2" name="그룹 91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55" name="그룹 154"/>
          <p:cNvGrpSpPr/>
          <p:nvPr/>
        </p:nvGrpSpPr>
        <p:grpSpPr>
          <a:xfrm>
            <a:off x="3838523" y="1493927"/>
            <a:ext cx="2626449" cy="354413"/>
            <a:chOff x="720490" y="4004429"/>
            <a:chExt cx="2626449" cy="354413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85891" y="4358842"/>
              <a:ext cx="670493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164" name="타원 163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5" name="그룹 164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0" name="직선 연결선 16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직선 연결선 17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6" name="타원 165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7" name="그룹 166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68" name="직선 연결선 1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직선 연결선 1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0" name="그룹 159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smtClean="0">
                    <a:latin typeface="+mn-ea"/>
                  </a:rPr>
                  <a:t>수정계약명세서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특수조건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6588392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특수조건</a:t>
            </a:r>
            <a:r>
              <a:rPr lang="ko-KR" altLang="en-US" dirty="0"/>
              <a:t> 데이터 영역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 </a:t>
            </a:r>
            <a:r>
              <a:rPr lang="ko-KR" altLang="en-US" dirty="0" err="1">
                <a:latin typeface="+mn-ea"/>
              </a:rPr>
              <a:t>상세조회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해지해제수정계약상세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해지해제수정계약상세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>
                <a:latin typeface="+mn-ea"/>
              </a:rPr>
              <a:t>특수조건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756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675399" y="1864201"/>
            <a:ext cx="2712026" cy="2185367"/>
            <a:chOff x="696358" y="1533275"/>
            <a:chExt cx="2712026" cy="21853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703" y="1533275"/>
              <a:ext cx="72887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특수조건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1" name="그룹 120"/>
            <p:cNvGrpSpPr/>
            <p:nvPr/>
          </p:nvGrpSpPr>
          <p:grpSpPr>
            <a:xfrm flipV="1">
              <a:off x="3140790" y="1646606"/>
              <a:ext cx="94010" cy="47005"/>
              <a:chOff x="6812560" y="3297172"/>
              <a:chExt cx="94010" cy="47005"/>
            </a:xfrm>
          </p:grpSpPr>
          <p:cxnSp>
            <p:nvCxnSpPr>
              <p:cNvPr id="122" name="직선 연결선 1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3" name="직선 연결선 1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96358" y="371864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9291" y="1847909"/>
              <a:ext cx="25326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용역계약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en-US" altLang="ko-KR" sz="700" dirty="0">
                  <a:latin typeface="+mn-ea"/>
                </a:rPr>
                <a:t>(XXX </a:t>
              </a:r>
              <a:r>
                <a:rPr lang="ko-KR" altLang="en-US" sz="700" dirty="0">
                  <a:latin typeface="+mn-ea"/>
                </a:rPr>
                <a:t>모델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조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계약당사자 등의 표시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이 특수조건에서 사용하는 계약당사자 동의 표시는 </a:t>
              </a:r>
              <a:r>
                <a:rPr lang="ko-KR" altLang="en-US" sz="700" dirty="0" smtClean="0">
                  <a:latin typeface="+mn-ea"/>
                </a:rPr>
                <a:t>다음과 </a:t>
              </a:r>
              <a:r>
                <a:rPr lang="ko-KR" altLang="en-US" sz="700" dirty="0">
                  <a:latin typeface="+mn-ea"/>
                </a:rPr>
                <a:t>같다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49450" y="18274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" name="그룹 17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964704" y="4358842"/>
              <a:ext cx="404454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" name="그룹 22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28" name="타원 2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9" name="그룹 2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4" name="직선 연결선 3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직선 연결선 3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0" name="타원 2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1" name="그룹 30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2" name="직선 연결선 31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직선 연결선 3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" name="그룹 23"/>
            <p:cNvGrpSpPr/>
            <p:nvPr/>
          </p:nvGrpSpPr>
          <p:grpSpPr>
            <a:xfrm>
              <a:off x="764169" y="4142235"/>
              <a:ext cx="1604989" cy="107722"/>
              <a:chOff x="764169" y="4142235"/>
              <a:chExt cx="1604989" cy="107722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상세정보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32958" y="4142235"/>
                <a:ext cx="6234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수정계약명세서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6470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특수조건</a:t>
                </a:r>
                <a:endParaRPr lang="ko-KR" altLang="en-US" sz="700" b="1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9113851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7952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계약 상세정보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78960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69768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732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mdfcnRncd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수정계약사유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:MRC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3108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mdfcnCtrtIncrsAmt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9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mdfcnCtrtCtbkAmt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감액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65994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36732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diffAmt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추가보증금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차액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582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depsSecd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보증금구분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111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기타사항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3994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150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6252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46850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797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223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orgctYmd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원계약일자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2328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계약담당공무원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3857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전화번호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219012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B6C0723-DD77-4C6C-BB69-AF4AC6094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476FC31-1E0C-15F2-0142-1F77BAD8593F}"/>
              </a:ext>
            </a:extLst>
          </p:cNvPr>
          <p:cNvSpPr txBox="1"/>
          <p:nvPr/>
        </p:nvSpPr>
        <p:spPr>
          <a:xfrm>
            <a:off x="458117" y="4929056"/>
            <a:ext cx="3063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수정항목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8ACE5CF-52D5-789C-9E2B-BABB825CCF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5011621"/>
              </p:ext>
            </p:extLst>
          </p:nvPr>
        </p:nvGraphicFramePr>
        <p:xfrm>
          <a:off x="452999" y="517688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mdfcnArtclNm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수정항목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2964722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11741F-A73C-5BF0-536E-3586DC8E2D8D}"/>
              </a:ext>
            </a:extLst>
          </p:cNvPr>
          <p:cNvSpPr txBox="1"/>
          <p:nvPr/>
        </p:nvSpPr>
        <p:spPr>
          <a:xfrm>
            <a:off x="458117" y="784391"/>
            <a:ext cx="33348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수정계약명세서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항목 수정내역 정보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7AA8D4D-3ED4-D7E9-4350-FC6B2EC0E0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2521130"/>
              </p:ext>
            </p:extLst>
          </p:nvPr>
        </p:nvGraphicFramePr>
        <p:xfrm>
          <a:off x="452999" y="1068145"/>
          <a:ext cx="8994883" cy="4388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:UZ03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7692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itemSecd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Flag – 1: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6959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조달요구번호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01865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invtNo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0005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WTB_PVB166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5970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unitCd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:UI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3716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473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ctrtUntprc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121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25502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qtyIcdcDsctn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12093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amtIcdcDsctn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증감내역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1127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prcmRqtInstCd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군구분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:RS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0133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bgtSecd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예산항목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:KB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1142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biz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사업명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08471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승인일자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718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spcfctNo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규격번호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2941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inspShp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검사형태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:ITC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64109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dudt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납기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829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3615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endParaRPr lang="ko-KR" altLang="en-US" sz="800" b="0" i="0" u="none" strike="noStrike" kern="120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plcdlvQty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납지수량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065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부품번호 조회결과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9797664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E07A1CA-547C-87B6-58E9-6C22BEA24272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5484541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FDCB975-CE66-B0AA-D829-73DA4D54EDC8}"/>
              </a:ext>
            </a:extLst>
          </p:cNvPr>
          <p:cNvSpPr txBox="1"/>
          <p:nvPr/>
        </p:nvSpPr>
        <p:spPr>
          <a:xfrm>
            <a:off x="443054" y="793523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</a:t>
            </a:r>
            <a:r>
              <a:rPr lang="ko-KR" altLang="en-US" sz="900" b="1" dirty="0"/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특수조건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5A714CD-50F6-7333-B50F-4EEBB6022A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7936" y="105601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spclCnd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특수조건 조회결과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759020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107F5B2-3078-70B4-1284-2A3CF7413DF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824131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D01F420-4BD1-01D2-23BE-6C3F4C1DC1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593323"/>
              </p:ext>
            </p:extLst>
          </p:nvPr>
        </p:nvGraphicFramePr>
        <p:xfrm>
          <a:off x="453000" y="100288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AC2E0DA-61A4-192E-7472-8603C13A7074}"/>
              </a:ext>
            </a:extLst>
          </p:cNvPr>
          <p:cNvSpPr txBox="1"/>
          <p:nvPr/>
        </p:nvSpPr>
        <p:spPr>
          <a:xfrm>
            <a:off x="458117" y="68665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850E93AB-D343-F172-4F98-1E13F4138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433676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해제공사계약상세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해지해제공사계약상세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>
                <a:solidFill>
                  <a:prstClr val="black"/>
                </a:solidFill>
              </a:rPr>
              <a:t> 공사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417918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67701" y="225061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상세정보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2077" y="2250612"/>
            <a:ext cx="36062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6721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9" name="그룹 208"/>
          <p:cNvGrpSpPr/>
          <p:nvPr/>
        </p:nvGrpSpPr>
        <p:grpSpPr>
          <a:xfrm>
            <a:off x="6027618" y="2212489"/>
            <a:ext cx="422853" cy="187961"/>
            <a:chOff x="3641308" y="2234886"/>
            <a:chExt cx="422853" cy="187961"/>
          </a:xfrm>
        </p:grpSpPr>
        <p:sp>
          <p:nvSpPr>
            <p:cNvPr id="210" name="타원 209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1" name="그룹 210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216" name="직선 연결선 21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7" name="직선 연결선 21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2" name="타원 211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13" name="그룹 212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235" name="모서리가 둥근 직사각형 234"/>
          <p:cNvSpPr/>
          <p:nvPr/>
        </p:nvSpPr>
        <p:spPr>
          <a:xfrm rot="5400000">
            <a:off x="6098765" y="3126805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3" name="TextBox 3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04" name="그룹 303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305" name="직선 연결선 3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6" name="직선 연결선 3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99261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3831550" y="4822263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940807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940807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급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모서리가 둥근 직사각형 153"/>
          <p:cNvSpPr/>
          <p:nvPr/>
        </p:nvSpPr>
        <p:spPr>
          <a:xfrm>
            <a:off x="4626322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grpSp>
        <p:nvGrpSpPr>
          <p:cNvPr id="155" name="그룹 154"/>
          <p:cNvGrpSpPr/>
          <p:nvPr/>
        </p:nvGrpSpPr>
        <p:grpSpPr>
          <a:xfrm>
            <a:off x="3836701" y="2493475"/>
            <a:ext cx="2630093" cy="1777166"/>
            <a:chOff x="3865118" y="2694619"/>
            <a:chExt cx="2630093" cy="177716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7" name="직사각형 15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1" name="그룹 15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2" name="그룹 15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3" name="직선 연결선 1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타원 1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2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상세정보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수정계약명세서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특수조건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24" name="직사각형 223"/>
          <p:cNvSpPr/>
          <p:nvPr/>
        </p:nvSpPr>
        <p:spPr>
          <a:xfrm>
            <a:off x="7066105" y="6072298"/>
            <a:ext cx="2325024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  </a:t>
            </a:r>
            <a:r>
              <a:rPr lang="ko-KR" altLang="en-US" sz="500" dirty="0" err="1" smtClean="0"/>
              <a:t>계약부대</a:t>
            </a:r>
            <a:r>
              <a:rPr lang="en-US" altLang="ko-KR" sz="500" dirty="0" smtClean="0"/>
              <a:t>(</a:t>
            </a:r>
            <a:r>
              <a:rPr lang="ko-KR" altLang="en-US" sz="500" dirty="0" err="1" smtClean="0"/>
              <a:t>명칭확인</a:t>
            </a:r>
            <a:r>
              <a:rPr lang="en-US" altLang="ko-KR" sz="500" dirty="0" smtClean="0"/>
              <a:t>), </a:t>
            </a:r>
            <a:r>
              <a:rPr lang="ko-KR" altLang="en-US" sz="500" dirty="0" smtClean="0"/>
              <a:t> 누락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99273221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해제공사계약상세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 smtClean="0"/>
              <a:t>해지해제공사계약상세</a:t>
            </a:r>
            <a:r>
              <a:rPr lang="ko-KR" altLang="en-US" dirty="0" smtClean="0"/>
              <a:t> </a:t>
            </a:r>
            <a:r>
              <a:rPr lang="ko-KR" altLang="en-US" dirty="0"/>
              <a:t>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</a:t>
            </a:r>
            <a:r>
              <a:rPr lang="ko-KR" altLang="en-US" dirty="0" smtClean="0">
                <a:latin typeface="+mn-ea"/>
              </a:rPr>
              <a:t>상세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출력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MUI-CT-03-M06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 </a:t>
            </a:r>
            <a:r>
              <a:rPr lang="ko-KR" altLang="en-US" sz="800" dirty="0" err="1">
                <a:latin typeface="+mn-ea"/>
              </a:rPr>
              <a:t>해지해제</a:t>
            </a:r>
            <a:r>
              <a:rPr lang="ko-KR" altLang="en-US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공사번호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2025000000 - 01</a:t>
            </a: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공사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6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461665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해지해제일자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57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596303" y="2782065"/>
            <a:ext cx="472886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2026-02-10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제</a:t>
            </a:r>
            <a:r>
              <a:rPr lang="en-US" altLang="ko-KR" sz="600" dirty="0">
                <a:latin typeface="+mn-ea"/>
              </a:rPr>
              <a:t>8385</a:t>
            </a:r>
            <a:r>
              <a:rPr lang="ko-KR" altLang="en-US" sz="600" dirty="0">
                <a:latin typeface="+mn-ea"/>
              </a:rPr>
              <a:t>부대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11,616,000 </a:t>
            </a:r>
            <a:r>
              <a:rPr lang="ko-KR" altLang="en-US" sz="600" dirty="0">
                <a:latin typeface="+mn-ea"/>
              </a:rPr>
              <a:t>원</a:t>
            </a:r>
            <a:endParaRPr lang="en-US" altLang="ko-KR" sz="600" dirty="0">
              <a:latin typeface="+mn-ea"/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75655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경쟁입찰</a:t>
            </a:r>
            <a:endParaRPr lang="ko-KR" altLang="en-US" sz="600" dirty="0"/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442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414223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상세정보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4142235"/>
            <a:ext cx="38562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첨부서류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1297" y="4465173"/>
            <a:ext cx="80392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상세정보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발주처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 0000 00 (01)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공사계약서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000000 </a:t>
            </a:r>
            <a:r>
              <a:rPr lang="ko-KR" altLang="en-US" sz="700" dirty="0">
                <a:latin typeface="+mn-ea"/>
              </a:rPr>
              <a:t>공사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1234 5678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</a:t>
            </a:r>
            <a:r>
              <a:rPr lang="en-US" altLang="ko-KR" sz="700" dirty="0">
                <a:latin typeface="+mn-ea"/>
              </a:rPr>
              <a:t>8385</a:t>
            </a:r>
            <a:r>
              <a:rPr lang="ko-KR" altLang="en-US" sz="700" dirty="0">
                <a:latin typeface="+mn-ea"/>
              </a:rPr>
              <a:t>부대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48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85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722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51" name="모서리가 둥근 직사각형 250"/>
          <p:cNvSpPr/>
          <p:nvPr/>
        </p:nvSpPr>
        <p:spPr>
          <a:xfrm>
            <a:off x="151673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계약해지</a:t>
            </a:r>
            <a:endParaRPr lang="ko-KR" altLang="en-US" sz="600" dirty="0"/>
          </a:p>
        </p:txBody>
      </p: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1" name="그룹 15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52" name="그룹 151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168" name="타원 167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70" name="그룹 169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171" name="타원 17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2" name="그룹 17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73" name="직선 연결선 1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23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endParaRPr lang="en-US" altLang="ko-KR" sz="800" dirty="0" smtClean="0"/>
          </a:p>
        </p:txBody>
      </p:sp>
      <p:sp>
        <p:nvSpPr>
          <p:cNvPr id="176" name="타원 175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7" name="그룹 17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78" name="직선 연결선 177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9" name="직선 연결선 178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0" name="직선 연결선 179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1" name="직선 연결선 180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5" name="타원 184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87" name="그룹 186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5" name="직선 연결선 224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6" name="타원 2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91685" y="5590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60997" y="1490952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8" name="직선 연결선 2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3370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36854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64240" y="4481875"/>
            <a:ext cx="94010" cy="47005"/>
            <a:chOff x="6812560" y="3297172"/>
            <a:chExt cx="94010" cy="47005"/>
          </a:xfrm>
        </p:grpSpPr>
        <p:cxnSp>
          <p:nvCxnSpPr>
            <p:cNvPr id="231" name="직선 연결선 2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2" name="직선 연결선 2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36" name="그룹 235"/>
          <p:cNvGrpSpPr/>
          <p:nvPr/>
        </p:nvGrpSpPr>
        <p:grpSpPr>
          <a:xfrm>
            <a:off x="3754378" y="3013814"/>
            <a:ext cx="2718997" cy="3269110"/>
            <a:chOff x="7087364" y="5599752"/>
            <a:chExt cx="2718997" cy="3269110"/>
          </a:xfrm>
        </p:grpSpPr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625129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59252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438749" y="6285043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공지사항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6" name="타원 245"/>
            <p:cNvSpPr/>
            <p:nvPr/>
          </p:nvSpPr>
          <p:spPr>
            <a:xfrm>
              <a:off x="7202621" y="631638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47" name="그룹 246"/>
            <p:cNvGrpSpPr/>
            <p:nvPr/>
          </p:nvGrpSpPr>
          <p:grpSpPr>
            <a:xfrm>
              <a:off x="9562483" y="6398374"/>
              <a:ext cx="94010" cy="47005"/>
              <a:chOff x="6812560" y="3297172"/>
              <a:chExt cx="94010" cy="47005"/>
            </a:xfrm>
          </p:grpSpPr>
          <p:cxnSp>
            <p:nvCxnSpPr>
              <p:cNvPr id="342" name="직선 연결선 3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43" name="직선 연결선 3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83104" y="6730334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37480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계약업체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6946941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53" name="그룹 252"/>
            <p:cNvGrpSpPr/>
            <p:nvPr/>
          </p:nvGrpSpPr>
          <p:grpSpPr>
            <a:xfrm>
              <a:off x="9343021" y="6692211"/>
              <a:ext cx="422853" cy="187961"/>
              <a:chOff x="3641308" y="2234886"/>
              <a:chExt cx="422853" cy="187961"/>
            </a:xfrm>
          </p:grpSpPr>
          <p:sp>
            <p:nvSpPr>
              <p:cNvPr id="331" name="타원 330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2" name="그룹 331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9" name="직선 연결선 338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1" name="직선 연결선 340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33" name="타원 332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34" name="그룹 333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35" name="직선 연결선 33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6" name="직선 연결선 33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00396" y="7053272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상세정보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55" name="그룹 254"/>
            <p:cNvGrpSpPr/>
            <p:nvPr/>
          </p:nvGrpSpPr>
          <p:grpSpPr>
            <a:xfrm flipV="1">
              <a:off x="9562483" y="7166603"/>
              <a:ext cx="94010" cy="47005"/>
              <a:chOff x="6812560" y="3297172"/>
              <a:chExt cx="94010" cy="47005"/>
            </a:xfrm>
          </p:grpSpPr>
          <p:cxnSp>
            <p:nvCxnSpPr>
              <p:cNvPr id="329" name="직선 연결선 32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30" name="직선 연결선 32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6" name="직사각형 255"/>
            <p:cNvSpPr/>
            <p:nvPr/>
          </p:nvSpPr>
          <p:spPr>
            <a:xfrm>
              <a:off x="7141518" y="7360757"/>
              <a:ext cx="792000" cy="145964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39425" y="736075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8582" y="7360757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계약서 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판단번호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85430" y="7360757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물품제조구매계약서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000000 </a:t>
              </a:r>
              <a:r>
                <a:rPr lang="ko-KR" altLang="en-US" sz="700" dirty="0" smtClean="0">
                  <a:latin typeface="+mn-ea"/>
                </a:rPr>
                <a:t>구매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</a:t>
              </a:r>
              <a:r>
                <a:rPr lang="en-US" altLang="ko-KR" sz="700" dirty="0">
                  <a:latin typeface="+mn-ea"/>
                </a:rPr>
                <a:t>8385</a:t>
              </a:r>
              <a:r>
                <a:rPr lang="ko-KR" altLang="en-US" sz="700" dirty="0" smtClean="0">
                  <a:latin typeface="+mn-ea"/>
                </a:rPr>
                <a:t>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제한경쟁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5918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78055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0192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2329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4466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41518" y="866039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94334" y="589361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67" name="그룹 266"/>
            <p:cNvGrpSpPr/>
            <p:nvPr/>
          </p:nvGrpSpPr>
          <p:grpSpPr>
            <a:xfrm rot="16200000">
              <a:off x="7669632" y="6046435"/>
              <a:ext cx="94010" cy="47005"/>
              <a:chOff x="6812560" y="3297172"/>
              <a:chExt cx="94010" cy="47005"/>
            </a:xfrm>
          </p:grpSpPr>
          <p:cxnSp>
            <p:nvCxnSpPr>
              <p:cNvPr id="327" name="직선 연결선 32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8" name="직선 연결선 32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23105" y="6016075"/>
              <a:ext cx="40086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입찰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69" name="타원 268"/>
            <p:cNvSpPr/>
            <p:nvPr/>
          </p:nvSpPr>
          <p:spPr>
            <a:xfrm>
              <a:off x="782297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7802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1" name="그룹 270"/>
            <p:cNvGrpSpPr/>
            <p:nvPr/>
          </p:nvGrpSpPr>
          <p:grpSpPr>
            <a:xfrm rot="16200000">
              <a:off x="8325743" y="6046435"/>
              <a:ext cx="94010" cy="47005"/>
              <a:chOff x="6812560" y="3297172"/>
              <a:chExt cx="94010" cy="47005"/>
            </a:xfrm>
          </p:grpSpPr>
          <p:cxnSp>
            <p:nvCxnSpPr>
              <p:cNvPr id="325" name="직선 연결선 3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6" name="직선 연결선 3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72" name="그룹 271"/>
            <p:cNvGrpSpPr/>
            <p:nvPr/>
          </p:nvGrpSpPr>
          <p:grpSpPr>
            <a:xfrm rot="16200000">
              <a:off x="8981855" y="6046435"/>
              <a:ext cx="94010" cy="47005"/>
              <a:chOff x="6812560" y="3297172"/>
              <a:chExt cx="94010" cy="47005"/>
            </a:xfrm>
          </p:grpSpPr>
          <p:cxnSp>
            <p:nvCxnSpPr>
              <p:cNvPr id="323" name="직선 연결선 3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4" name="직선 연결선 3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3" name="타원 272"/>
            <p:cNvSpPr/>
            <p:nvPr/>
          </p:nvSpPr>
          <p:spPr>
            <a:xfrm>
              <a:off x="7166860" y="5975956"/>
              <a:ext cx="187961" cy="187961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21917" y="6016075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370285" y="6016075"/>
              <a:ext cx="39757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조달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76" name="그룹 275"/>
            <p:cNvGrpSpPr/>
            <p:nvPr/>
          </p:nvGrpSpPr>
          <p:grpSpPr>
            <a:xfrm>
              <a:off x="8477684" y="5975956"/>
              <a:ext cx="603798" cy="187961"/>
              <a:chOff x="2058749" y="3237230"/>
              <a:chExt cx="603798" cy="187961"/>
            </a:xfrm>
          </p:grpSpPr>
          <p:grpSp>
            <p:nvGrpSpPr>
              <p:cNvPr id="319" name="그룹 318"/>
              <p:cNvGrpSpPr/>
              <p:nvPr/>
            </p:nvGrpSpPr>
            <p:grpSpPr>
              <a:xfrm>
                <a:off x="2058749" y="3237230"/>
                <a:ext cx="187961" cy="187961"/>
                <a:chOff x="2058749" y="3237230"/>
                <a:chExt cx="187961" cy="187961"/>
              </a:xfrm>
            </p:grpSpPr>
            <p:sp>
              <p:nvSpPr>
                <p:cNvPr id="321" name="타원 320"/>
                <p:cNvSpPr/>
                <p:nvPr/>
              </p:nvSpPr>
              <p:spPr>
                <a:xfrm>
                  <a:off x="2058749" y="3237230"/>
                  <a:ext cx="187961" cy="187961"/>
                </a:xfrm>
                <a:prstGeom prst="ellipse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2" name="TextBox 32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113806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solidFill>
                        <a:schemeClr val="bg1"/>
                      </a:solidFill>
                      <a:latin typeface="+mn-ea"/>
                    </a:rPr>
                    <a:t>3</a:t>
                  </a:r>
                  <a:endParaRPr lang="ko-KR" altLang="en-US" sz="7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263899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계약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116881" y="6730334"/>
              <a:ext cx="63061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반송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취소 사유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35481" y="6730334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첨부서류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82" name="그룹 281"/>
            <p:cNvGrpSpPr/>
            <p:nvPr/>
          </p:nvGrpSpPr>
          <p:grpSpPr>
            <a:xfrm>
              <a:off x="9133795" y="5975956"/>
              <a:ext cx="603798" cy="187961"/>
              <a:chOff x="2714860" y="3237230"/>
              <a:chExt cx="603798" cy="187961"/>
            </a:xfrm>
          </p:grpSpPr>
          <p:grpSp>
            <p:nvGrpSpPr>
              <p:cNvPr id="315" name="그룹 314"/>
              <p:cNvGrpSpPr/>
              <p:nvPr/>
            </p:nvGrpSpPr>
            <p:grpSpPr>
              <a:xfrm>
                <a:off x="2714860" y="3237230"/>
                <a:ext cx="187961" cy="187961"/>
                <a:chOff x="2714860" y="3237230"/>
                <a:chExt cx="187961" cy="187961"/>
              </a:xfrm>
            </p:grpSpPr>
            <p:sp>
              <p:nvSpPr>
                <p:cNvPr id="317" name="타원 316"/>
                <p:cNvSpPr/>
                <p:nvPr/>
              </p:nvSpPr>
              <p:spPr>
                <a:xfrm>
                  <a:off x="2714860" y="3237230"/>
                  <a:ext cx="187961" cy="18796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8" name="TextBox 317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769917" y="3277349"/>
                  <a:ext cx="77847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US" altLang="ko-KR" sz="700" dirty="0" smtClean="0">
                      <a:latin typeface="+mn-ea"/>
                    </a:rPr>
                    <a:t>4</a:t>
                  </a:r>
                  <a:endParaRPr lang="ko-KR" altLang="en-US" sz="700" dirty="0">
                    <a:latin typeface="+mn-ea"/>
                  </a:endParaRPr>
                </a:p>
              </p:txBody>
            </p:sp>
          </p:grpSp>
          <p:sp>
            <p:nvSpPr>
              <p:cNvPr id="316" name="TextBox 31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20010" y="3277349"/>
                <a:ext cx="39864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 smtClean="0">
                    <a:latin typeface="+mn-ea"/>
                  </a:rPr>
                  <a:t>이행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85" name="그룹 284"/>
            <p:cNvGrpSpPr/>
            <p:nvPr/>
          </p:nvGrpSpPr>
          <p:grpSpPr>
            <a:xfrm rot="5400000">
              <a:off x="9577913" y="5970247"/>
              <a:ext cx="187961" cy="187961"/>
              <a:chOff x="3876200" y="2234886"/>
              <a:chExt cx="187961" cy="187961"/>
            </a:xfrm>
          </p:grpSpPr>
          <p:sp>
            <p:nvSpPr>
              <p:cNvPr id="301" name="타원 30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08" name="그룹 307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310" name="직선 연결선 309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직선 연결선 312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6" name="양쪽 모서리가 둥근 사각형 285"/>
            <p:cNvSpPr/>
            <p:nvPr/>
          </p:nvSpPr>
          <p:spPr>
            <a:xfrm>
              <a:off x="7087364" y="5599752"/>
              <a:ext cx="2712027" cy="3215510"/>
            </a:xfrm>
            <a:prstGeom prst="round2SameRect">
              <a:avLst>
                <a:gd name="adj1" fmla="val 4887"/>
                <a:gd name="adj2" fmla="val 0"/>
              </a:avLst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ko-KR" altLang="en-US" sz="700">
                <a:solidFill>
                  <a:srgbClr val="0F4294"/>
                </a:solidFill>
              </a:endParaRPr>
            </a:p>
          </p:txBody>
        </p:sp>
        <p:sp>
          <p:nvSpPr>
            <p:cNvPr id="287" name="모서리가 둥근 직사각형 286"/>
            <p:cNvSpPr/>
            <p:nvPr/>
          </p:nvSpPr>
          <p:spPr>
            <a:xfrm>
              <a:off x="8173377" y="5636379"/>
              <a:ext cx="540000" cy="4571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tx1"/>
                </a:solidFill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9576303" y="5770795"/>
              <a:ext cx="94010" cy="94010"/>
              <a:chOff x="6812560" y="3297172"/>
              <a:chExt cx="94010" cy="94010"/>
            </a:xfrm>
          </p:grpSpPr>
          <p:cxnSp>
            <p:nvCxnSpPr>
              <p:cNvPr id="299" name="직선 연결선 29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0" name="직선 연결선 29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216441" y="5751474"/>
              <a:ext cx="1798758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900" dirty="0">
                  <a:latin typeface="+mn-ea"/>
                </a:rPr>
                <a:t> </a:t>
              </a:r>
              <a:endParaRPr lang="ko-KR" altLang="en-US" sz="900" dirty="0">
                <a:latin typeface="+mn-ea"/>
              </a:endParaRPr>
            </a:p>
          </p:txBody>
        </p: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87364" y="601287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22BC05EE-C648-7CA2-4CCC-6E1C1A7E9BDA}"/>
                </a:ext>
              </a:extLst>
            </p:cNvPr>
            <p:cNvGrpSpPr/>
            <p:nvPr/>
          </p:nvGrpSpPr>
          <p:grpSpPr>
            <a:xfrm>
              <a:off x="8424253" y="8281222"/>
              <a:ext cx="76863" cy="292489"/>
              <a:chOff x="3750067" y="4683795"/>
              <a:chExt cx="76863" cy="292489"/>
            </a:xfrm>
          </p:grpSpPr>
          <p:sp>
            <p:nvSpPr>
              <p:cNvPr id="296" name="타원 295">
                <a:extLst>
                  <a:ext uri="{FF2B5EF4-FFF2-40B4-BE49-F238E27FC236}">
                    <a16:creationId xmlns:a16="http://schemas.microsoft.com/office/drawing/2014/main" id="{B62EC5A9-8616-6B01-4FB1-D38CF6C29F0E}"/>
                  </a:ext>
                </a:extLst>
              </p:cNvPr>
              <p:cNvSpPr/>
              <p:nvPr/>
            </p:nvSpPr>
            <p:spPr>
              <a:xfrm>
                <a:off x="3750067" y="4683795"/>
                <a:ext cx="76863" cy="76863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297" name="타원 296">
                <a:extLst>
                  <a:ext uri="{FF2B5EF4-FFF2-40B4-BE49-F238E27FC236}">
                    <a16:creationId xmlns:a16="http://schemas.microsoft.com/office/drawing/2014/main" id="{0D32B1A6-219D-1D15-5FDD-889D3F5740C1}"/>
                  </a:ext>
                </a:extLst>
              </p:cNvPr>
              <p:cNvSpPr/>
              <p:nvPr/>
            </p:nvSpPr>
            <p:spPr>
              <a:xfrm>
                <a:off x="3750067" y="4791517"/>
                <a:ext cx="76863" cy="76863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  <p:sp>
            <p:nvSpPr>
              <p:cNvPr id="298" name="타원 297">
                <a:extLst>
                  <a:ext uri="{FF2B5EF4-FFF2-40B4-BE49-F238E27FC236}">
                    <a16:creationId xmlns:a16="http://schemas.microsoft.com/office/drawing/2014/main" id="{F347D62C-1828-433E-F5ED-51C6591859DD}"/>
                  </a:ext>
                </a:extLst>
              </p:cNvPr>
              <p:cNvSpPr/>
              <p:nvPr/>
            </p:nvSpPr>
            <p:spPr>
              <a:xfrm>
                <a:off x="3750067" y="4899421"/>
                <a:ext cx="76863" cy="76863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/>
              </a:p>
            </p:txBody>
          </p:sp>
        </p:grpSp>
        <p:sp>
          <p:nvSpPr>
            <p:cNvPr id="294" name="모서리가 둥근 직사각형 40">
              <a:extLst>
                <a:ext uri="{FF2B5EF4-FFF2-40B4-BE49-F238E27FC236}">
                  <a16:creationId xmlns:a16="http://schemas.microsoft.com/office/drawing/2014/main" id="{3BE5C28A-F0C3-8BA2-3AC1-EFA405ADE137}"/>
                </a:ext>
              </a:extLst>
            </p:cNvPr>
            <p:cNvSpPr/>
            <p:nvPr/>
          </p:nvSpPr>
          <p:spPr bwMode="auto">
            <a:xfrm>
              <a:off x="7179667" y="6134416"/>
              <a:ext cx="2522014" cy="244350"/>
            </a:xfrm>
            <a:prstGeom prst="roundRect">
              <a:avLst/>
            </a:prstGeom>
            <a:solidFill>
              <a:srgbClr val="0F4294"/>
            </a:solidFill>
            <a:ln w="6350">
              <a:solidFill>
                <a:srgbClr val="0F4294"/>
              </a:solidFill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lIns="36000" rIns="36000" anchor="ctr"/>
            <a:lstStyle/>
            <a:p>
              <a:pPr algn="ctr">
                <a:defRPr/>
              </a:pPr>
              <a:r>
                <a:rPr lang="ko-KR" altLang="en-US" sz="700" dirty="0" err="1">
                  <a:solidFill>
                    <a:schemeClr val="bg1"/>
                  </a:solidFill>
                  <a:latin typeface="+mn-ea"/>
                </a:rPr>
                <a:t>해지해제확정서출력물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44" name="타원 3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734" y="29070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4" name="TextBox 3"/>
          <p:cNvSpPr txBox="1"/>
          <p:nvPr/>
        </p:nvSpPr>
        <p:spPr>
          <a:xfrm>
            <a:off x="7079998" y="1510029"/>
            <a:ext cx="235525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 smtClean="0"/>
              <a:t>1. </a:t>
            </a:r>
            <a:r>
              <a:rPr lang="ko-KR" altLang="en-US" sz="700" dirty="0" smtClean="0"/>
              <a:t>기능 </a:t>
            </a:r>
            <a:r>
              <a:rPr lang="ko-KR" altLang="en-US" sz="700" dirty="0" err="1" smtClean="0"/>
              <a:t>바텀시트</a:t>
            </a:r>
            <a:r>
              <a:rPr lang="ko-KR" altLang="en-US" sz="700" dirty="0" smtClean="0"/>
              <a:t> 호출 버튼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 smtClean="0"/>
              <a:t>1-1</a:t>
            </a:r>
            <a:r>
              <a:rPr lang="en-US" altLang="ko-KR" sz="700" dirty="0"/>
              <a:t>] </a:t>
            </a:r>
            <a:r>
              <a:rPr lang="ko-KR" altLang="en-US" sz="700" dirty="0" err="1" smtClean="0"/>
              <a:t>해지해제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확정서</a:t>
            </a:r>
            <a:r>
              <a:rPr lang="ko-KR" altLang="en-US" sz="700" dirty="0"/>
              <a:t> </a:t>
            </a:r>
            <a:r>
              <a:rPr lang="ko-KR" altLang="en-US" sz="700" dirty="0" smtClean="0"/>
              <a:t>출력물</a:t>
            </a:r>
            <a:r>
              <a:rPr lang="en-US" altLang="ko-KR" sz="700" dirty="0" smtClean="0"/>
              <a:t>- </a:t>
            </a:r>
            <a:r>
              <a:rPr lang="en-US" altLang="ko-KR" sz="700" dirty="0" err="1" smtClean="0"/>
              <a:t>oz</a:t>
            </a:r>
            <a:r>
              <a:rPr lang="ko-KR" altLang="en-US" sz="700" dirty="0" err="1" smtClean="0"/>
              <a:t>리포트호출</a:t>
            </a:r>
            <a:endParaRPr lang="ko-KR" altLang="en-US" sz="700" dirty="0"/>
          </a:p>
        </p:txBody>
      </p:sp>
    </p:spTree>
    <p:extLst>
      <p:ext uri="{BB962C8B-B14F-4D97-AF65-F5344CB8AC3E}">
        <p14:creationId xmlns:p14="http://schemas.microsoft.com/office/powerpoint/2010/main" val="1170712253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공사계약해지해제상세 데이터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상세정보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937299"/>
            <a:ext cx="2630093" cy="3323695"/>
            <a:chOff x="701175" y="1527996"/>
            <a:chExt cx="2630093" cy="33236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3364" y="1527996"/>
              <a:ext cx="123984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장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단기 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수의계약사유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계약진행상태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해지해제확정사유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 0000 00 (01)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공사계약서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 </a:t>
              </a:r>
              <a:r>
                <a:rPr lang="en-US" altLang="ko-KR" sz="700" dirty="0">
                  <a:latin typeface="+mn-ea"/>
                </a:rPr>
                <a:t>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단기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계약체결의뢰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조달업체</a:t>
              </a:r>
              <a:r>
                <a:rPr lang="ko-KR" altLang="en-US" sz="700" dirty="0" smtClean="0">
                  <a:latin typeface="+mn-ea"/>
                </a:rPr>
                <a:t> 경영 상황으로 인한 계약해지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3006360"/>
              <a:chOff x="701175" y="1835481"/>
              <a:chExt cx="2630093" cy="30063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753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3" name="직선 연결선 1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828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976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1" name="직선 연결선 1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41236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2" name="직선 연결선 1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271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83" name="직선 연결선 18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8418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3228087"/>
              <a:ext cx="72555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물가변동계약금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조정방법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0800" y="3281948"/>
              <a:ext cx="72555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국계령</a:t>
              </a:r>
              <a:r>
                <a:rPr lang="ko-KR" altLang="en-US" sz="700" dirty="0">
                  <a:latin typeface="+mn-ea"/>
                </a:rPr>
                <a:t> 제</a:t>
              </a:r>
              <a:r>
                <a:rPr lang="en-US" altLang="ko-KR" sz="700" dirty="0">
                  <a:latin typeface="+mn-ea"/>
                </a:rPr>
                <a:t>XX</a:t>
              </a:r>
              <a:r>
                <a:rPr lang="ko-KR" altLang="en-US" sz="700" dirty="0">
                  <a:latin typeface="+mn-ea"/>
                </a:rPr>
                <a:t>조 </a:t>
              </a:r>
              <a:r>
                <a:rPr lang="en-US" altLang="ko-KR" sz="700" dirty="0">
                  <a:latin typeface="+mn-ea"/>
                </a:rPr>
                <a:t>... 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9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37905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3822043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64240" y="3935374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152760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4" y="4152760"/>
            <a:ext cx="162273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5" y="470290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3831550" y="4275762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94306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계약담당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40445"/>
            <a:ext cx="162273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제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8925 </a:t>
            </a:r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부대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홍길동 중사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836701" y="1937299"/>
            <a:ext cx="2630093" cy="1777166"/>
            <a:chOff x="3865118" y="2694619"/>
            <a:chExt cx="2630093" cy="1777166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15150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일반예산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품목별 합계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총공사부기금액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2,100,000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0.15 </a:t>
              </a:r>
              <a:r>
                <a:rPr lang="en-US" altLang="ko-KR" sz="700" dirty="0" smtClean="0">
                  <a:latin typeface="+mn-ea"/>
                </a:rPr>
                <a:t>%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5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717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" name="그룹 2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첨부서류</a:t>
              </a:r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7" name="그룹 66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8" name="타원 67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6" name="직선 연결선 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직선 연결선 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타원 69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3" name="그룹 7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4" name="직선 연결선 7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직선 연결선 7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7225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9" name="그룹 78"/>
          <p:cNvGrpSpPr/>
          <p:nvPr/>
        </p:nvGrpSpPr>
        <p:grpSpPr>
          <a:xfrm>
            <a:off x="3842316" y="1493927"/>
            <a:ext cx="2626449" cy="354413"/>
            <a:chOff x="720490" y="4004429"/>
            <a:chExt cx="2626449" cy="354413"/>
          </a:xfrm>
        </p:grpSpPr>
        <p:cxnSp>
          <p:nvCxnSpPr>
            <p:cNvPr id="80" name="직선 연결선 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latin typeface="+mn-ea"/>
                </a:rPr>
                <a:t>상세정보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첨부서류</a:t>
              </a:r>
            </a:p>
          </p:txBody>
        </p: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85" name="그룹 84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99" name="타원 9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0" name="그룹 9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5" name="직선 연결선 10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직선 연결선 10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1" name="타원 10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02" name="그룹 10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03" name="직선 연결선 10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직선 연결선 10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3236329661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해지해제</a:t>
            </a:r>
            <a:r>
              <a:rPr lang="ko-KR" altLang="en-US" dirty="0"/>
              <a:t> </a:t>
            </a:r>
            <a:r>
              <a:rPr lang="ko-KR" altLang="en-US" dirty="0" smtClean="0"/>
              <a:t>첨부서류 </a:t>
            </a:r>
            <a:r>
              <a:rPr lang="ko-KR" altLang="en-US" dirty="0"/>
              <a:t>데이터 </a:t>
            </a:r>
            <a:r>
              <a:rPr lang="ko-KR" altLang="en-US" dirty="0" smtClean="0"/>
              <a:t>영역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 해지 상세 </a:t>
            </a:r>
            <a:r>
              <a:rPr lang="en-US" altLang="ko-KR" dirty="0"/>
              <a:t>- </a:t>
            </a:r>
            <a:r>
              <a:rPr lang="ko-KR" altLang="en-US" dirty="0" err="1"/>
              <a:t>해지해제공사계약상세</a:t>
            </a:r>
            <a:r>
              <a:rPr lang="ko-KR" altLang="en-US" dirty="0"/>
              <a:t> 조회 </a:t>
            </a:r>
            <a:r>
              <a:rPr lang="ko-KR" altLang="en-US" dirty="0" smtClean="0"/>
              <a:t>화면 </a:t>
            </a:r>
            <a:r>
              <a:rPr lang="en-US" altLang="ko-KR" dirty="0"/>
              <a:t>– </a:t>
            </a:r>
            <a:r>
              <a:rPr lang="ko-KR" altLang="en-US" dirty="0" err="1" smtClean="0">
                <a:latin typeface="+mn-ea"/>
              </a:rPr>
              <a:t>해지해제</a:t>
            </a:r>
            <a:r>
              <a:rPr lang="ko-KR" altLang="en-US" dirty="0" smtClean="0">
                <a:latin typeface="+mn-ea"/>
              </a:rPr>
              <a:t> 정보</a:t>
            </a:r>
            <a:r>
              <a:rPr lang="ko-KR" altLang="en-US" dirty="0" smtClean="0"/>
              <a:t> </a:t>
            </a:r>
            <a:r>
              <a:rPr lang="ko-KR" altLang="en-US" dirty="0"/>
              <a:t>탭 조회 화면 </a:t>
            </a:r>
            <a:r>
              <a:rPr lang="en-US" altLang="ko-KR" dirty="0"/>
              <a:t>- </a:t>
            </a:r>
            <a:r>
              <a:rPr lang="ko-KR" altLang="en-US" dirty="0"/>
              <a:t>콘텐츠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계약해지해제목록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계약 해지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해제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MUI-CT-03-T14</a:t>
            </a:r>
            <a:endParaRPr lang="ko-KR" altLang="en-US" dirty="0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5399" y="1917403"/>
            <a:ext cx="2712026" cy="1602288"/>
            <a:chOff x="3795735" y="2878425"/>
            <a:chExt cx="2712026" cy="160228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해지해제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" name="그룹 29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31" name="모서리가 둥근 직사각형 30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4" name="타원 33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38" name="타원 37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9" name="직선 연결선 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675399" y="3579462"/>
            <a:ext cx="2712026" cy="1602288"/>
            <a:chOff x="3795735" y="2878425"/>
            <a:chExt cx="2712026" cy="1602288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1" name="직선 연결선 6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8" name="모서리가 둥근 직사각형 47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산출내역서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2" name="타원 5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13684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6" name="타원 5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8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840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</a:t>
            </a:r>
            <a:r>
              <a:rPr lang="en-US" altLang="ko-KR" sz="800" dirty="0"/>
              <a:t>) </a:t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아코디언 전체 펼침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업로드 기능 </a:t>
            </a:r>
            <a:r>
              <a:rPr lang="ko-KR" altLang="en-US" sz="800" dirty="0" err="1"/>
              <a:t>미지원</a:t>
            </a:r>
            <a:r>
              <a:rPr lang="ko-KR" altLang="en-US" sz="800" dirty="0"/>
              <a:t> </a:t>
            </a:r>
            <a:r>
              <a:rPr lang="en-US" altLang="ko-KR" sz="800" dirty="0"/>
              <a:t/>
            </a:r>
            <a:br>
              <a:rPr lang="en-US" altLang="ko-KR" sz="800" dirty="0"/>
            </a:br>
            <a:r>
              <a:rPr lang="en-US" altLang="ko-KR" sz="800" dirty="0"/>
              <a:t>- </a:t>
            </a:r>
            <a:r>
              <a:rPr lang="ko-KR" altLang="en-US" sz="800" dirty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</a:t>
            </a:r>
            <a:r>
              <a:rPr lang="ko-KR" altLang="en-US" dirty="0" err="1" smtClean="0"/>
              <a:t>노출시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목록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상동</a:t>
            </a:r>
            <a:r>
              <a:rPr lang="en-US" altLang="ko-KR" dirty="0" smtClean="0"/>
              <a:t>)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754629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871515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223169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760836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55508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8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720490" y="1493927"/>
            <a:ext cx="2626449" cy="354413"/>
            <a:chOff x="720490" y="4004429"/>
            <a:chExt cx="2626449" cy="354413"/>
          </a:xfrm>
        </p:grpSpPr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00442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3588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상세정보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8545" y="4142235"/>
              <a:ext cx="38562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첨부서류</a:t>
              </a:r>
            </a:p>
          </p:txBody>
        </p: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64955" y="4358842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8" name="그룹 67"/>
            <p:cNvGrpSpPr/>
            <p:nvPr/>
          </p:nvGrpSpPr>
          <p:grpSpPr>
            <a:xfrm>
              <a:off x="2924086" y="4104112"/>
              <a:ext cx="422853" cy="187961"/>
              <a:chOff x="3641308" y="2234886"/>
              <a:chExt cx="422853" cy="187961"/>
            </a:xfrm>
          </p:grpSpPr>
          <p:sp>
            <p:nvSpPr>
              <p:cNvPr id="69" name="타원 68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0" name="그룹 69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5" name="직선 연결선 7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직선 연결선 7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1" name="타원 70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2" name="그룹 71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73" name="직선 연결선 72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직선 연결선 73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666292021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B257CD-DFF9-C20A-42B1-86A5BD32A09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5271CA1-8B7B-01B8-8587-605BE3417C65}"/>
              </a:ext>
            </a:extLst>
          </p:cNvPr>
          <p:cNvSpPr txBox="1"/>
          <p:nvPr/>
        </p:nvSpPr>
        <p:spPr>
          <a:xfrm>
            <a:off x="458117" y="833306"/>
            <a:ext cx="21678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 정보상세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FC692424-6A27-FF04-83B1-DBDD428A58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303260"/>
              </p:ext>
            </p:extLst>
          </p:nvPr>
        </p:nvGraphicFramePr>
        <p:xfrm>
          <a:off x="452999" y="1117060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24124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prcmNo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9700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lshtmSecd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단기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:UB50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96610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bscbgtCtrtAmt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일반예산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036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govbndCtrtAmt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13956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sumAmt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합계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066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총공사부기금액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tcstrnBkpngAmt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총부기금액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172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grnteAmt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계약보증금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17,2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673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lqdmgRt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지체상금률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9,4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534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pfrAplcnMthdCd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물가변동계약금액조정방법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PARA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6713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68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yyyy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-mm-dd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5966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etcMttr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344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계약부대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67379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계약담당자 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98241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해지확정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해제확정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39866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cncltnRmvCfmtnRsn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 확정사유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4158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233F71D-2B30-B57D-B11B-74A019C159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    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672553B-0DCF-6A4F-E6F4-7EB1CAE54C9F}"/>
              </a:ext>
            </a:extLst>
          </p:cNvPr>
          <p:cNvSpPr txBox="1"/>
          <p:nvPr/>
        </p:nvSpPr>
        <p:spPr>
          <a:xfrm>
            <a:off x="458117" y="5164939"/>
            <a:ext cx="23986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해지해제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16647-05A1-9C2E-E2A5-A16179FE0D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544869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서류파일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해지해제첨부서류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09420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2024021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CFD9DB9D-BEE3-7D00-725F-B5ADE65B74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DE9AA4C-D963-36B3-1B0C-BA042EBA36E5}"/>
              </a:ext>
            </a:extLst>
          </p:cNvPr>
          <p:cNvSpPr txBox="1"/>
          <p:nvPr/>
        </p:nvSpPr>
        <p:spPr>
          <a:xfrm>
            <a:off x="458117" y="7406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89E1827E-1988-380A-F9F3-3955A79B0F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610801"/>
              </p:ext>
            </p:extLst>
          </p:nvPr>
        </p:nvGraphicFramePr>
        <p:xfrm>
          <a:off x="453000" y="1018830"/>
          <a:ext cx="8995591" cy="6412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3103963203"/>
                    </a:ext>
                  </a:extLst>
                </a:gridCol>
                <a:gridCol w="3702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4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 계약번호에 해당하는 계약 해지해제 상세 정보가 조회 표시된다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scwin.btn_otpt_onclick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해지해제확정서 출력물 출력 화면이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(UI-CT-03-R21)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해지해제확정서출력물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628649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B2B66F3-D091-2E15-91D3-79C6D7270E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828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7667882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국외 </a:t>
            </a:r>
            <a:r>
              <a:rPr lang="ko-KR" altLang="en-US" dirty="0" smtClean="0">
                <a:latin typeface="+mn-ea"/>
              </a:rPr>
              <a:t>계약 통합</a:t>
            </a:r>
            <a:r>
              <a:rPr lang="ko-KR" altLang="en-US" dirty="0" smtClean="0"/>
              <a:t> 목록</a:t>
            </a:r>
            <a:endParaRPr lang="en-US" altLang="ko-KR" dirty="0"/>
          </a:p>
          <a:p>
            <a:r>
              <a:rPr lang="en-US" altLang="ko-KR" dirty="0" smtClean="0"/>
              <a:t>2.1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(1/2)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639973"/>
              </p:ext>
            </p:extLst>
          </p:nvPr>
        </p:nvGraphicFramePr>
        <p:xfrm>
          <a:off x="635474" y="1413419"/>
          <a:ext cx="8701200" cy="30163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 smtClean="0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 smtClean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MUI-CT-01-M71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국외전자계약진행상세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UC-CT-01-06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UC-CT-02-04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UC-CT-02-05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UC-ZZ-19-03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2086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일반현황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ovsElctrCtrtPrgrsDtlTab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일반현황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ovsElctrCtrtPrgrsDtlTab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61568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계좌정보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ovsBacntInfoTab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계좌정보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OvsBacntInfoTab.tsx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04393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보증서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ovsWtgrTab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보증서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src/ui/biz/ct/ctrtIntgList/OvsWtgrTab.t 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404719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인지세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ovsStmtxTab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인지세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OvsStmtxTab.tsx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67498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ovsCtrtDtstTab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정보 조회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OvsCtrtDtstTab.tsx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UC-CT-03-01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311135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MUI-CT-01-T76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첨부서류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ovsElctrCtrtPrgrsDtlTab_Adoc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계약상세정보 중에서 첨부서류 정보 조회 화면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국내와 동일한 첨부서류 화면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직인등록사항이 추가되어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OvsElctrCtrtPrgrsDtlTab-Adoc.tsx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UC-CT-01-02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221164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5571978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국외 </a:t>
            </a:r>
            <a:r>
              <a:rPr lang="ko-KR" altLang="en-US" dirty="0" smtClean="0">
                <a:latin typeface="+mn-ea"/>
              </a:rPr>
              <a:t>계약 통합</a:t>
            </a:r>
            <a:r>
              <a:rPr lang="ko-KR" altLang="en-US" dirty="0" smtClean="0"/>
              <a:t> 목록</a:t>
            </a:r>
            <a:endParaRPr lang="en-US" altLang="ko-KR" dirty="0"/>
          </a:p>
          <a:p>
            <a:r>
              <a:rPr lang="en-US" altLang="ko-KR" dirty="0" smtClean="0"/>
              <a:t>2.1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(2/2)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1106038"/>
              </p:ext>
            </p:extLst>
          </p:nvPr>
        </p:nvGraphicFramePr>
        <p:xfrm>
          <a:off x="635474" y="1413419"/>
          <a:ext cx="8701200" cy="35039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smtClean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 smtClean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endParaRPr lang="en-US" altLang="ko-KR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smtClean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smtClean="0">
                          <a:latin typeface="+mn-ea"/>
                          <a:ea typeface="+mn-ea"/>
                        </a:rPr>
                        <a:t>유스케이스 </a:t>
                      </a:r>
                      <a:r>
                        <a:rPr lang="en-US" altLang="ko-KR" sz="800" b="1" smtClean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MUI-CT-01-M72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국외전자계약확정상세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ovsElctrCtrtCfmtnPage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계약확정상세정보 조회 화면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일반현황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계좌정보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보증서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인지세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계약명세서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탭은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국외전자계약진행상세와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동일함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UC-CT-01-06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UC-CT-02-04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UC-ZZ-19-03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MUI-CT-01-T80</a:t>
                      </a:r>
                      <a:endParaRPr 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첨부서류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ovsElctrCtrtPrgrsDtlTab_Adoc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계약상세정보 중에서 첨부서류 정보 조회 화면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국내와 동일한 첨부서류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CtrtIntgList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ovsElctrCtrtPrgrsDtlTab_Adoc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UC-CT-01-02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22116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MUI-CT-01-M77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상업계약서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상세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59101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MUI-CT-01-T77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계약현황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ovsCmbzCtrdocDtl_Stts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ovsCmbzCtrdocDtl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ovsCmbzCtrdocDtl_Stts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926247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MUI-CT-01-T78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계약명세서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ovsCmbzCtrdocDtl_Ctrt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ovsCmbzCtrdocDtl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ovsCmbzCtrdocDtl_Ctrt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466354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MUI-CT-01-T79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계약대상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ovsCmbzCtrdocDtl_Trgt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상업계약서의 상세정보를 조회하는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/biz/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ct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ovsCmbzCtrdocDtl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ovsCmbzCtrdocDtl_Trgt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457377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50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MUI-CT-01-P78</a:t>
                      </a:r>
                      <a:endParaRPr lang="en-US" sz="75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상업계약서명세서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OvsCmbzCtrtDtst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상업계약명세서 목록정보를 조회하는 화면</a:t>
                      </a:r>
                      <a:endParaRPr lang="ko-KR" altLang="en-US" sz="800" kern="120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ct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OvsCmbzCtrtDtst.tsx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UC-CT-02-05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329404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1254904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2.2</a:t>
            </a:r>
            <a:r>
              <a:rPr lang="en-US" altLang="ko-KR" dirty="0"/>
              <a:t>. </a:t>
            </a:r>
            <a:r>
              <a:rPr lang="ko-KR" altLang="en-US" dirty="0"/>
              <a:t>화면 </a:t>
            </a:r>
            <a:r>
              <a:rPr lang="ko-KR" altLang="en-US" dirty="0" smtClean="0"/>
              <a:t>흐름도</a:t>
            </a:r>
            <a:endParaRPr lang="ko-KR" altLang="en-US" dirty="0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632221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계약통합목록조회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94227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701087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3176794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933370"/>
            <a:ext cx="180000" cy="180000"/>
            <a:chOff x="5058274" y="2498299"/>
            <a:chExt cx="180000" cy="180000"/>
          </a:xfrm>
        </p:grpSpPr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63355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국외전자계약진행상세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23C86455-E84C-0CEA-5C6B-05BE50ADCEF5}"/>
              </a:ext>
            </a:extLst>
          </p:cNvPr>
          <p:cNvSpPr/>
          <p:nvPr/>
        </p:nvSpPr>
        <p:spPr>
          <a:xfrm>
            <a:off x="457199" y="1514853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 smtClean="0">
                <a:solidFill>
                  <a:schemeClr val="tx1"/>
                </a:solidFill>
              </a:rPr>
              <a:t>사용자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인지세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일반현황</a:t>
            </a:r>
          </a:p>
        </p:txBody>
      </p:sp>
      <p:sp>
        <p:nvSpPr>
          <p:cNvPr id="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22731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계좌정보</a:t>
            </a:r>
          </a:p>
        </p:txBody>
      </p:sp>
      <p:sp>
        <p:nvSpPr>
          <p:cNvPr id="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227314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63355" y="42467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상업계약서상세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3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34" idx="1"/>
          </p:cNvCxnSpPr>
          <p:nvPr/>
        </p:nvCxnSpPr>
        <p:spPr>
          <a:xfrm>
            <a:off x="2532221" y="1772964"/>
            <a:ext cx="931134" cy="261773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</p:cNvCxnSpPr>
          <p:nvPr/>
        </p:nvCxnSpPr>
        <p:spPr>
          <a:xfrm>
            <a:off x="4363355" y="4390700"/>
            <a:ext cx="722137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158" idx="2"/>
          </p:cNvCxnSpPr>
          <p:nvPr/>
        </p:nvCxnSpPr>
        <p:spPr>
          <a:xfrm flipV="1">
            <a:off x="8025623" y="3023370"/>
            <a:ext cx="1223704" cy="136733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162" idx="1"/>
          </p:cNvCxnSpPr>
          <p:nvPr/>
        </p:nvCxnSpPr>
        <p:spPr>
          <a:xfrm>
            <a:off x="2532221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29173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보증서</a:t>
            </a:r>
          </a:p>
        </p:txBody>
      </p: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29100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진행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첨부서류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63355" y="22675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국외전자계약확정상세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48" idx="1"/>
          </p:cNvCxnSpPr>
          <p:nvPr/>
        </p:nvCxnSpPr>
        <p:spPr>
          <a:xfrm>
            <a:off x="2532221" y="1772964"/>
            <a:ext cx="931134" cy="6385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66118" y="1430586"/>
            <a:ext cx="2314545" cy="2471097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125623" y="42467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상업계약서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</p:cNvCxnSpPr>
          <p:nvPr/>
        </p:nvCxnSpPr>
        <p:spPr>
          <a:xfrm>
            <a:off x="4363355" y="1772964"/>
            <a:ext cx="738874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8" idx="3"/>
          </p:cNvCxnSpPr>
          <p:nvPr/>
        </p:nvCxnSpPr>
        <p:spPr>
          <a:xfrm>
            <a:off x="4363355" y="2411552"/>
            <a:ext cx="722137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4" idx="3"/>
            <a:endCxn id="158" idx="2"/>
          </p:cNvCxnSpPr>
          <p:nvPr/>
        </p:nvCxnSpPr>
        <p:spPr>
          <a:xfrm>
            <a:off x="7480663" y="2666135"/>
            <a:ext cx="1768664" cy="35723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424670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489087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계약명세서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94489" y="553505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계약대상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66118" y="4048323"/>
            <a:ext cx="1165013" cy="1921370"/>
          </a:xfrm>
          <a:prstGeom prst="roundRect">
            <a:avLst>
              <a:gd name="adj" fmla="val 5227"/>
            </a:avLst>
          </a:prstGeom>
          <a:noFill/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/>
          <a:lstStyle/>
          <a:p>
            <a:r>
              <a:rPr lang="ko-KR" altLang="en-US" sz="800" b="1" dirty="0" smtClean="0">
                <a:solidFill>
                  <a:schemeClr val="tx1"/>
                </a:solidFill>
              </a:rPr>
              <a:t>상세 탭 목록</a:t>
            </a:r>
            <a:endParaRPr lang="ko-KR" altLang="en-US" sz="800" b="1" dirty="0">
              <a:solidFill>
                <a:schemeClr val="tx1"/>
              </a:solidFill>
            </a:endParaRPr>
          </a:p>
        </p:txBody>
      </p:sp>
      <p:cxnSp>
        <p:nvCxnSpPr>
          <p:cNvPr id="80" name="직선 화살표 연결선 7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57" idx="1"/>
          </p:cNvCxnSpPr>
          <p:nvPr/>
        </p:nvCxnSpPr>
        <p:spPr>
          <a:xfrm>
            <a:off x="6403486" y="4390700"/>
            <a:ext cx="722137" cy="0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그룹 80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83" name="그룹 82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0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439827" y="354168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확정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첨부서류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3119885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 smtClean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3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smtClean="0">
                <a:solidFill>
                  <a:schemeClr val="tx1"/>
                </a:solidFill>
              </a:rPr>
              <a:t>국외전자계약상세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244457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계좌정보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OvsBacntInfoTab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844775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보증서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OvsWtgrTab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 smtClean="0"/>
              <a:t>&lt;&lt;React Object&gt;&gt;</a:t>
            </a:r>
            <a:endParaRPr lang="en-US" altLang="ko-KR" sz="1100" dirty="0"/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smtClean="0"/>
              <a:t>계약 국외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65266"/>
            <a:ext cx="967509" cy="11249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465584"/>
            <a:ext cx="967509" cy="5245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 flipV="1">
            <a:off x="2992582" y="2990174"/>
            <a:ext cx="967509" cy="757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445093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인지세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OvsStmtxTab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04541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계약명세서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OvsCtrtDtstTab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45729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첨부파일</a:t>
            </a:r>
            <a:endParaRPr lang="en-US" altLang="ko-KR" sz="1000" dirty="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OvsElctrCtrtPrgrsDtlTab-Adoc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246050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상업계약서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OvsCmbzCtrdocDtlPage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6760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1276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18766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24770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 smtClean="0">
                <a:solidFill>
                  <a:schemeClr val="tx1"/>
                </a:solidFill>
              </a:rPr>
              <a:t>2.3.1 </a:t>
            </a:r>
            <a:r>
              <a:rPr lang="ko-KR" altLang="en-US" sz="1200" dirty="0" smtClean="0">
                <a:solidFill>
                  <a:schemeClr val="tx1"/>
                </a:solidFill>
              </a:rPr>
              <a:t>계약 국외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46371"/>
            <a:ext cx="1727200" cy="44225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dirty="0" smtClean="0">
                <a:solidFill>
                  <a:schemeClr val="tx1"/>
                </a:solidFill>
              </a:rPr>
              <a:t>&lt;&lt;App Page&gt;&gt;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상업계약서명세서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OvsCmbzCtrtDtst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30773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98410963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국외전자계약상세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일반정보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MUI-CT-01-M71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전자계약상세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</a:t>
            </a:r>
            <a:r>
              <a:rPr lang="en-US" altLang="ko-KR" sz="700" dirty="0" smtClean="0">
                <a:solidFill>
                  <a:prstClr val="black"/>
                </a:solidFill>
              </a:rPr>
              <a:t>)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MODEL-3</a:t>
            </a:r>
            <a:endParaRPr lang="en-US" altLang="ko-KR" sz="900" b="1" dirty="0">
              <a:solidFill>
                <a:prstClr val="black"/>
              </a:solidFill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일반현황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전체계약상태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 (00)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2025-03-03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서류요청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2310232" cy="107722"/>
            <a:chOff x="764169" y="4142235"/>
            <a:chExt cx="2310232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일반현황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88821" y="4142235"/>
              <a:ext cx="4014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55170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보증서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449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인지세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593819" y="4142235"/>
              <a:ext cx="480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계약진행</a:t>
            </a:r>
            <a:endParaRPr lang="ko-KR" altLang="en-US" sz="600" dirty="0"/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1924360"/>
            <a:ext cx="2630093" cy="919434"/>
            <a:chOff x="3865118" y="2694619"/>
            <a:chExt cx="2630093" cy="919434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8712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3910894"/>
            <a:ext cx="2630093" cy="1759690"/>
            <a:chOff x="3865118" y="2694619"/>
            <a:chExt cx="2630093" cy="1759690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4"/>
              <a:ext cx="792000" cy="1462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" name="그룹 13"/>
          <p:cNvGrpSpPr/>
          <p:nvPr/>
        </p:nvGrpSpPr>
        <p:grpSpPr>
          <a:xfrm>
            <a:off x="3795734" y="1500912"/>
            <a:ext cx="2712027" cy="354413"/>
            <a:chOff x="3671524" y="2151787"/>
            <a:chExt cx="2712027" cy="354413"/>
          </a:xfrm>
        </p:grpSpPr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1" name="그룹 230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계좌정보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보증서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61" name="그룹 260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262" name="타원 2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3" name="그룹 2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8" name="직선 연결선 2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직선 연결선 2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64" name="타원 2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5" name="그룹 26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6" name="직선 연결선 26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7" name="직선 연결선 26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78" name="그룹 277"/>
          <p:cNvGrpSpPr/>
          <p:nvPr/>
        </p:nvGrpSpPr>
        <p:grpSpPr>
          <a:xfrm>
            <a:off x="3836701" y="2917627"/>
            <a:ext cx="2630093" cy="919434"/>
            <a:chOff x="3865118" y="2694619"/>
            <a:chExt cx="2630093" cy="919434"/>
          </a:xfrm>
        </p:grpSpPr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직사각형 28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일반현황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계좌정보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보증서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인지세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09" name="직사각형 208"/>
          <p:cNvSpPr/>
          <p:nvPr/>
        </p:nvSpPr>
        <p:spPr>
          <a:xfrm>
            <a:off x="7052436" y="6067424"/>
            <a:ext cx="2314310" cy="2084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260624.</a:t>
            </a:r>
            <a:r>
              <a:rPr lang="ko-KR" altLang="en-US" sz="500" dirty="0" err="1" smtClean="0"/>
              <a:t>물품부호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인지세사용여부</a:t>
            </a:r>
            <a:r>
              <a:rPr lang="en-US" altLang="ko-KR" sz="500" dirty="0" smtClean="0"/>
              <a:t>/</a:t>
            </a:r>
            <a:r>
              <a:rPr lang="ko-KR" altLang="en-US" sz="500" dirty="0" err="1" smtClean="0"/>
              <a:t>인지세금액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endParaRPr lang="en-US" altLang="ko-KR" sz="500" dirty="0" smtClean="0"/>
          </a:p>
        </p:txBody>
      </p:sp>
      <p:sp>
        <p:nvSpPr>
          <p:cNvPr id="203" name="평행 사변형 202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4" name="TextBox 203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1425347812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일반현황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4704303"/>
            <a:chOff x="701175" y="1527996"/>
            <a:chExt cx="2630093" cy="4704303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상세정보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968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통합참조번호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전자계약상태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계약업체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보증기간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담당자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기능구분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일반조건코드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무역대리점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물품번호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2745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서류요청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육군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전력운영사업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1,000.00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제조계약서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24</a:t>
              </a:r>
              <a:r>
                <a:rPr lang="ko-KR" altLang="en-US" sz="700" dirty="0">
                  <a:latin typeface="+mn-ea"/>
                </a:rPr>
                <a:t>개월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최인선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수리부속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미국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D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0764"/>
              <a:chOff x="701175" y="1835481"/>
              <a:chExt cx="2630093" cy="4290764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9" name="직선 연결선 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4" name="직선 연결선 8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106" name="그룹 105"/>
          <p:cNvGrpSpPr/>
          <p:nvPr/>
        </p:nvGrpSpPr>
        <p:grpSpPr>
          <a:xfrm>
            <a:off x="3836701" y="1497099"/>
            <a:ext cx="2630093" cy="4739759"/>
            <a:chOff x="701175" y="1835481"/>
            <a:chExt cx="2630093" cy="4739759"/>
          </a:xfrm>
        </p:grpSpPr>
        <p:sp>
          <p:nvSpPr>
            <p:cNvPr id="111" name="직사각형 110"/>
            <p:cNvSpPr/>
            <p:nvPr/>
          </p:nvSpPr>
          <p:spPr>
            <a:xfrm>
              <a:off x="703268" y="1835481"/>
              <a:ext cx="792000" cy="47352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생산자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화폐구분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수의사유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지불조건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보증금예치율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품목수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예상납기일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사업승인일자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최종선적일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절충조건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절충사업관리번호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 CPC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납기월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분할선적유무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지체한도율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7397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미 달러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인수도조건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공급자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년 </a:t>
              </a:r>
              <a:r>
                <a:rPr lang="ko-KR" altLang="en-US" sz="700" dirty="0" err="1">
                  <a:latin typeface="+mn-ea"/>
                </a:rPr>
                <a:t>보증형태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구매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2025-03-30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10(%)</a:t>
              </a:r>
            </a:p>
          </p:txBody>
        </p:sp>
        <p:grpSp>
          <p:nvGrpSpPr>
            <p:cNvPr id="114" name="그룹 113"/>
            <p:cNvGrpSpPr/>
            <p:nvPr/>
          </p:nvGrpSpPr>
          <p:grpSpPr>
            <a:xfrm>
              <a:off x="701175" y="1835481"/>
              <a:ext cx="2630093" cy="4722912"/>
              <a:chOff x="701175" y="1835481"/>
              <a:chExt cx="2630093" cy="4722912"/>
            </a:xfrm>
          </p:grpSpPr>
          <p:cxnSp>
            <p:nvCxnSpPr>
              <p:cNvPr id="115" name="직선 연결선 1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6" name="직선 연결선 11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17" name="직선 연결선 11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6" name="직선 연결선 13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7" name="직선 연결선 13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0" name="직선 연결선 1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직선 연결선 14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2" name="직선 연결선 14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96724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1819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39672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7" name="직선 연결선 14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461146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4826207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9" name="직선 연결선 14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25568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2" name="직선 연결선 151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0490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3" name="직선 연결선 15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47396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4" name="직선 연결선 15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568870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5903445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0" name="직선 연결선 16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126245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4" name="직선 연결선 1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6335593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5" name="직선 연결선 17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6558393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48490125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일반현황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일반정보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MUI-CT-01-T71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493927"/>
            <a:ext cx="2630093" cy="1938992"/>
            <a:chOff x="701175" y="1835481"/>
            <a:chExt cx="2630093" cy="1938992"/>
          </a:xfrm>
        </p:grpSpPr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감가율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감가금액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계약보증금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납부방법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사용여부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0.15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0(%)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전자보증서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49890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6091" y="40294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2153" y="4050025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담당자 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9" name="그룹 108"/>
          <p:cNvGrpSpPr/>
          <p:nvPr/>
        </p:nvGrpSpPr>
        <p:grpSpPr>
          <a:xfrm flipV="1">
            <a:off x="6264240" y="4163356"/>
            <a:ext cx="94010" cy="47005"/>
            <a:chOff x="6812560" y="3297172"/>
            <a:chExt cx="94010" cy="47005"/>
          </a:xfrm>
        </p:grpSpPr>
        <p:cxnSp>
          <p:nvCxnSpPr>
            <p:cNvPr id="118" name="직선 연결선 1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직선 연결선 1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구분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380742"/>
            <a:ext cx="493904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성명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/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계급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3831550" y="4503744"/>
            <a:ext cx="2652743" cy="34481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63885" y="4622288"/>
            <a:ext cx="49390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-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735515" y="4622288"/>
            <a:ext cx="64751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최인선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70" name="그룹 69"/>
          <p:cNvGrpSpPr/>
          <p:nvPr/>
        </p:nvGrpSpPr>
        <p:grpSpPr>
          <a:xfrm>
            <a:off x="716366" y="3509105"/>
            <a:ext cx="2630093" cy="919434"/>
            <a:chOff x="3865118" y="2694619"/>
            <a:chExt cx="2630093" cy="919434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2" name="그룹 91"/>
          <p:cNvGrpSpPr/>
          <p:nvPr/>
        </p:nvGrpSpPr>
        <p:grpSpPr>
          <a:xfrm>
            <a:off x="716366" y="4502372"/>
            <a:ext cx="2630093" cy="919434"/>
            <a:chOff x="3865118" y="2694619"/>
            <a:chExt cx="2630093" cy="919434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42944" y="1547061"/>
            <a:ext cx="2630093" cy="2406021"/>
            <a:chOff x="3865118" y="2694619"/>
            <a:chExt cx="2630093" cy="2406021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1449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HSBC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TESLA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2025-03-03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보증보험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 USD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11111-11-111111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649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020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39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2703137241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151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7556965"/>
              </p:ext>
            </p:extLst>
          </p:nvPr>
        </p:nvGraphicFramePr>
        <p:xfrm>
          <a:off x="452999" y="982973"/>
          <a:ext cx="8994883" cy="5235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prcmRqtInstCd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grntePrdDayCnt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gnrlCndCd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ntnCd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pymtDfryCndCd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inspShpCd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expcDudtYmd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lastShpgYmd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prttnShpgYn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lqdmgRt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scrtNo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elctrCtrtPrgrsSttsCd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picId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gnrlCndCd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rgbClr val="FF0000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cmdtySgn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crncCd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1973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grnteAmtDepstRt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31197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15959210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152</a:t>
            </a:fld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7214647"/>
              </p:ext>
            </p:extLst>
          </p:nvPr>
        </p:nvGraphicFramePr>
        <p:xfrm>
          <a:off x="452999" y="983508"/>
          <a:ext cx="8994883" cy="49074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itemCnt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bizAprvYmd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ofstCndCd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dudtMm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orderInstNm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ctrtPrgrsCd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fwkSeCd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prdctnBzentyCd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pvctRsnCd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bizTypeCd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implTypeItemCd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ofstBizMngNo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aprvYmd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arrsLimRt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인지세사용여부</a:t>
                      </a:r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+mj-lt"/>
                          <a:ea typeface="+mn-ea"/>
                        </a:rPr>
                        <a:t>인지세금액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stmtxAplcnCd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stmtxPayAmt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 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 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1/22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9B8A2E0-54EA-67DA-D442-E68561AE350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51789A8-03CE-7936-84AE-2143CA92098F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8AA20ECF-26B3-51A7-2965-86A0B08E3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1372724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153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98037"/>
            <a:ext cx="22014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484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FBBDB464-E870-2D21-5267-3D3EE8896297}"/>
              </a:ext>
            </a:extLst>
          </p:cNvPr>
          <p:cNvSpPr txBox="1"/>
          <p:nvPr/>
        </p:nvSpPr>
        <p:spPr>
          <a:xfrm>
            <a:off x="452999" y="1946247"/>
            <a:ext cx="22832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구매형태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dm_prchsShp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35A44B-FA6E-B9CC-0416-DEBF0346724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20305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AOG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aog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항공기 비행불능 상태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납품기한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URGENT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emrg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긴급상황 발생시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ROUTINE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routn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일반적인 상황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5761D99-7A3E-7EF8-1B4C-8CE2AFB0D61F}"/>
              </a:ext>
            </a:extLst>
          </p:cNvPr>
          <p:cNvSpPr txBox="1"/>
          <p:nvPr/>
        </p:nvSpPr>
        <p:spPr>
          <a:xfrm>
            <a:off x="460151" y="3094457"/>
            <a:ext cx="22672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dl_ctrtBzenty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F82CA70-8CB4-3226-F907-FED98F0B3B6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7303" y="335126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9958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47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elsgnYmd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64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8115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3344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7095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03509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087ABC1-CCCB-F867-4DE5-37891D30A411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6" name="Text Box 73">
            <a:extLst>
              <a:ext uri="{FF2B5EF4-FFF2-40B4-BE49-F238E27FC236}">
                <a16:creationId xmlns:a16="http://schemas.microsoft.com/office/drawing/2014/main" id="{CFA12926-45C1-8A0F-BFC3-EB7B7B5E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1472865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154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9966533"/>
              </p:ext>
            </p:extLst>
          </p:nvPr>
        </p:nvGraphicFramePr>
        <p:xfrm>
          <a:off x="442609" y="822902"/>
          <a:ext cx="8995590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scwin.tacpgBacntInfo_ontabclick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5428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scwin.tacpgWtgr_ontabclick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77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scwin.tacpgStmtx_ontabclick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UI-CT-01-M76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71667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scwin.tacpgCtrtDtst_ontabclick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/>
                        <a:t>국외전자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UI-CT-01-M77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3052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첨부서류 탭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/>
                        <a:t>국외전자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계약상세 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첨부서류 화면으로 이동한다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947577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40933442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계좌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계좌정보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계좌정보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계좌정보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1169259"/>
            <a:chOff x="701175" y="1527996"/>
            <a:chExt cx="2630093" cy="1169259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8544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집행유형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MODEL-3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구매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858960"/>
              <a:chOff x="701175" y="1835481"/>
              <a:chExt cx="2630093" cy="85896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3842944" y="1547061"/>
            <a:ext cx="2630093" cy="1123811"/>
            <a:chOff x="3865118" y="2694619"/>
            <a:chExt cx="2630093" cy="1123811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지정운송인정보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3"/>
              <a:ext cx="792000" cy="8722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지정운송인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운송인주소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운송인전화번호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운송인팩스번호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701175" y="2812016"/>
            <a:ext cx="2630093" cy="1362570"/>
            <a:chOff x="3865118" y="2669567"/>
            <a:chExt cx="2630093" cy="1362570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0842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간이주소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Seoul, 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6" name="그룹 125"/>
          <p:cNvGrpSpPr/>
          <p:nvPr/>
        </p:nvGrpSpPr>
        <p:grpSpPr>
          <a:xfrm>
            <a:off x="701175" y="4293553"/>
            <a:ext cx="2630093" cy="1788455"/>
            <a:chOff x="3865118" y="2669567"/>
            <a:chExt cx="2630093" cy="1788455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3867211" y="2946203"/>
              <a:ext cx="792000" cy="1508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은행코드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은행사업자번호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은행명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결재방식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계좌실명번호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계좌번호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송금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11111-11-111111</a:t>
              </a:r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3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80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3704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6" name="그룹 175"/>
          <p:cNvGrpSpPr/>
          <p:nvPr/>
        </p:nvGrpSpPr>
        <p:grpSpPr>
          <a:xfrm>
            <a:off x="3842944" y="2812016"/>
            <a:ext cx="2630093" cy="696397"/>
            <a:chOff x="3865118" y="2694619"/>
            <a:chExt cx="2630093" cy="696397"/>
          </a:xfrm>
        </p:grpSpPr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8" name="직사각형 177"/>
            <p:cNvSpPr/>
            <p:nvPr/>
          </p:nvSpPr>
          <p:spPr>
            <a:xfrm>
              <a:off x="3867211" y="2946204"/>
              <a:ext cx="792000" cy="44144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제조사국가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SAMSUNG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86" name="직선 연결선 1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5551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24258162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156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6416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2097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240045"/>
            <a:ext cx="28026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9685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계약업체사업자등록번호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bzentyAddr2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업체주소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간이주소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54BC54CE-0804-7E53-09ED-4499CCF60260}"/>
              </a:ext>
            </a:extLst>
          </p:cNvPr>
          <p:cNvSpPr txBox="1"/>
          <p:nvPr/>
        </p:nvSpPr>
        <p:spPr>
          <a:xfrm>
            <a:off x="452999" y="3790389"/>
            <a:ext cx="23056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계좌정보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dm_bacntInfo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99983980-D43F-40E1-F860-CC8357AA4AC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404719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은행코드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은행사업자번호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은행명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결재방식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atrzMthCd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결재방식 선택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예금주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계좌실명번호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99235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 계좌번호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25799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739DD5-4050-E4BB-0AB3-52A39B688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731466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157</a:t>
            </a:fld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883621"/>
            <a:ext cx="25525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지정운송인정보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dm_dsgnPtr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4043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dsgnPtrNm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성명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주소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ptrEntlno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전화번호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1760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운송인팩스번호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ptrFxno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지정운송인 팩스번호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451666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2188165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제조사정보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dm_mkrPtr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449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mkrNm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제조사명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mkrNtnNm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제조사국가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63D0A7E-0394-6D27-749B-3986B543CAA8}"/>
              </a:ext>
            </a:extLst>
          </p:cNvPr>
          <p:cNvSpPr txBox="1"/>
          <p:nvPr/>
        </p:nvSpPr>
        <p:spPr>
          <a:xfrm>
            <a:off x="458117" y="606892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EF5AB992-B6F1-EEFE-E05D-531C32768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72289064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8EFE07E-9A54-478E-9315-CD17371E67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B2CA254-11F0-A7A2-2DC3-034CF53324AB}"/>
              </a:ext>
            </a:extLst>
          </p:cNvPr>
          <p:cNvSpPr txBox="1"/>
          <p:nvPr/>
        </p:nvSpPr>
        <p:spPr>
          <a:xfrm>
            <a:off x="458117" y="5701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35FB90A-0E03-A6C9-7A97-EEE104AC85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534012"/>
              </p:ext>
            </p:extLst>
          </p:nvPr>
        </p:nvGraphicFramePr>
        <p:xfrm>
          <a:off x="458117" y="799547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계좌정보를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30195F-E553-6647-D9A8-1CD8225BBC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00195576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보증서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보증서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smtClean="0"/>
              <a:t>보증서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/>
              <a:t>보증서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745387"/>
            <a:chOff x="701175" y="1527996"/>
            <a:chExt cx="2630093" cy="74538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43790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 (00)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2024-03-03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429480"/>
              <a:chOff x="701175" y="1835481"/>
              <a:chExt cx="2630093" cy="42948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420532"/>
            <a:ext cx="2630093" cy="2646759"/>
            <a:chOff x="3865118" y="2669567"/>
            <a:chExt cx="2630093" cy="264675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보증서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납부방법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보증서증권번호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보증시작일자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보증종료일자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보증기관명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보증금면제사유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전자보증서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12,300,000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서울보증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2026-03-05</a:t>
              </a: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6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3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64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260052297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160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1337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03076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5988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859109"/>
            <a:ext cx="23682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보증서정보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dm_wtgrInfo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11591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wtgrScrtNo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grnteEndYmd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보증서 보증종료일자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보증기관명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depsExmptnRsnCd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보증금면제사유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62524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331760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7273F6E-36C1-6F8D-2E9E-6AFA05654E57}"/>
              </a:ext>
            </a:extLst>
          </p:cNvPr>
          <p:cNvSpPr txBox="1"/>
          <p:nvPr/>
        </p:nvSpPr>
        <p:spPr>
          <a:xfrm>
            <a:off x="458117" y="45225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1E2C9BF-28FC-CA46-2146-0251588E95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1476189"/>
              </p:ext>
            </p:extLst>
          </p:nvPr>
        </p:nvGraphicFramePr>
        <p:xfrm>
          <a:off x="453000" y="480064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보증서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2F86FD4-163F-FB70-8768-6B80CB3570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8470551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인지세 </a:t>
            </a:r>
            <a:r>
              <a:rPr lang="ko-KR" altLang="en-US" dirty="0" smtClean="0"/>
              <a:t>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인지세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인지세</a:t>
            </a:r>
            <a:r>
              <a:rPr lang="ko-KR" altLang="en-US" dirty="0" smtClean="0"/>
              <a:t>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/>
              <a:t>인지세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MUI-CT-01-T74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960095"/>
            <a:chOff x="701175" y="1527996"/>
            <a:chExt cx="2630093" cy="960095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652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계약년도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계약차수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KD111111111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644081"/>
              <a:chOff x="701175" y="1835481"/>
              <a:chExt cx="2630093" cy="644081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0" name="직선 연결선 39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562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701175" y="2667156"/>
            <a:ext cx="2630093" cy="2219345"/>
            <a:chOff x="3865118" y="2669567"/>
            <a:chExt cx="2630093" cy="2219345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인지세 </a:t>
              </a:r>
              <a:r>
                <a:rPr lang="ko-KR" altLang="en-US" sz="700" dirty="0" smtClean="0">
                  <a:latin typeface="+mn-ea"/>
                </a:rPr>
                <a:t>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193899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비고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미사용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7001F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2011030000000001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2" name="그룹 41"/>
          <p:cNvGrpSpPr/>
          <p:nvPr/>
        </p:nvGrpSpPr>
        <p:grpSpPr>
          <a:xfrm>
            <a:off x="3836701" y="1527996"/>
            <a:ext cx="2630093" cy="919434"/>
            <a:chOff x="3865118" y="2694619"/>
            <a:chExt cx="2630093" cy="919434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납부금액</a:t>
              </a:r>
              <a:r>
                <a:rPr lang="ko-KR" altLang="en-US" sz="700" dirty="0" smtClean="0">
                  <a:latin typeface="+mn-ea"/>
                </a:rPr>
                <a:t>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4" name="직사각형 43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납부대상액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납부액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부족액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1315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3825376" y="2703232"/>
            <a:ext cx="2652743" cy="1912609"/>
            <a:chOff x="3809964" y="3015861"/>
            <a:chExt cx="2652743" cy="1912609"/>
          </a:xfrm>
        </p:grpSpPr>
        <p:sp>
          <p:nvSpPr>
            <p:cNvPr id="57" name="모서리가 둥근 직사각형 56"/>
            <p:cNvSpPr/>
            <p:nvPr/>
          </p:nvSpPr>
          <p:spPr>
            <a:xfrm>
              <a:off x="3809964" y="3015861"/>
              <a:ext cx="2652743" cy="1912609"/>
            </a:xfrm>
            <a:prstGeom prst="roundRect">
              <a:avLst>
                <a:gd name="adj" fmla="val 546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734" y="3114145"/>
              <a:ext cx="2475203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유의사항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납부방법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납부는 전자수입인지구매 또는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전자수입인지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구매사이트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</a:t>
              </a:r>
              <a:r>
                <a:rPr lang="en-US" altLang="ko-KR" sz="700" dirty="0">
                  <a:solidFill>
                    <a:srgbClr val="0070C0"/>
                  </a:solidFill>
                  <a:latin typeface="맑은 고딕" panose="020B0503020000020004" pitchFamily="50" charset="-127"/>
                </a:rPr>
                <a:t>www.edoc-revenuestamp.or.kr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필독</a:t>
              </a:r>
              <a:r>
                <a:rPr lang="en-US" altLang="ko-KR" sz="700" dirty="0">
                  <a:solidFill>
                    <a:srgbClr val="FF0000"/>
                  </a:solidFill>
                  <a:latin typeface="맑은 고딕" panose="020B0503020000020004" pitchFamily="50" charset="-127"/>
                </a:rPr>
                <a:t>]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기획재정부에 납부하신 경우 전자수입인지구매 버튼 클릭 시 구매요청서에서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기납부금액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확인 후 닫기를 하셔야 정상납부처리가 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/>
              </a:r>
              <a:b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</a:b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[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환급방법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국외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인지세관리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인지세 미사용 관리 탭 에서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환급처리를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 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전산처리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후 환급은 관할세무서에서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인지세 업무는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버전에서 사용할 수 있습니다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맑은 고딕" panose="020B0503020000020004" pitchFamily="50" charset="-127"/>
                </a:rPr>
                <a:t>.</a:t>
              </a:r>
              <a:endPara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3894776" y="310449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0" name="그룹 59"/>
            <p:cNvGrpSpPr/>
            <p:nvPr/>
          </p:nvGrpSpPr>
          <p:grpSpPr>
            <a:xfrm flipV="1">
              <a:off x="6243597" y="3152992"/>
              <a:ext cx="94010" cy="47005"/>
              <a:chOff x="6812560" y="3297172"/>
              <a:chExt cx="94010" cy="47005"/>
            </a:xfrm>
          </p:grpSpPr>
          <p:cxnSp>
            <p:nvCxnSpPr>
              <p:cNvPr id="61" name="직선 연결선 6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06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900060988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162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5518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76191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11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계약년도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계약차수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ctrtOd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전자계약 차수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1783953"/>
            <a:ext cx="27785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인지세납부정보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dl_stmtxPayInfo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0094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useYn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사용여부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계약서 사업자번호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payAmt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비고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4823493E-8C07-B6ED-DB49-A51D91E3C7CC}"/>
              </a:ext>
            </a:extLst>
          </p:cNvPr>
          <p:cNvSpPr txBox="1"/>
          <p:nvPr/>
        </p:nvSpPr>
        <p:spPr>
          <a:xfrm>
            <a:off x="452999" y="3963250"/>
            <a:ext cx="209248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납부액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dm_payAmt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058A987-E8B7-D0E3-488B-9B6F943E140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418874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payTrgtAmt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납부대상액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납부액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payAmt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납부금액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부족액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unpaidAmt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인지세 부족금액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499850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843949"/>
              </p:ext>
            </p:extLst>
          </p:nvPr>
        </p:nvGraphicFramePr>
        <p:xfrm>
          <a:off x="453000" y="521400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878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인지세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F2C6D5AC-9CAA-4CA8-C0DE-40E8058A4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961886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계약명세서</a:t>
            </a:r>
            <a:r>
              <a:rPr lang="ko-KR" altLang="en-US" dirty="0"/>
              <a:t> </a:t>
            </a:r>
            <a:r>
              <a:rPr lang="ko-KR" altLang="en-US" dirty="0" smtClean="0"/>
              <a:t>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</a:t>
            </a:r>
            <a:r>
              <a:rPr lang="ko-KR" altLang="en-US" dirty="0" err="1"/>
              <a:t>계약명세서</a:t>
            </a:r>
            <a:r>
              <a:rPr lang="ko-KR" altLang="en-US" dirty="0" smtClean="0"/>
              <a:t> </a:t>
            </a:r>
            <a:r>
              <a:rPr lang="ko-KR" altLang="en-US" dirty="0"/>
              <a:t>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/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MUI-CT-01-T75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1527996"/>
            <a:ext cx="128106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 </a:t>
            </a:r>
            <a:r>
              <a:rPr lang="ko-KR" altLang="en-US" sz="700" dirty="0" smtClean="0">
                <a:latin typeface="+mn-ea"/>
              </a:rPr>
              <a:t>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57" name="그룹 156"/>
          <p:cNvGrpSpPr/>
          <p:nvPr/>
        </p:nvGrpSpPr>
        <p:grpSpPr>
          <a:xfrm flipV="1">
            <a:off x="3124233" y="1641327"/>
            <a:ext cx="94010" cy="47005"/>
            <a:chOff x="6812560" y="3297172"/>
            <a:chExt cx="94010" cy="47005"/>
          </a:xfrm>
        </p:grpSpPr>
        <p:cxnSp>
          <p:nvCxnSpPr>
            <p:cNvPr id="158" name="직선 연결선 15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9" name="직선 연결선 15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0" name="직사각형 159"/>
          <p:cNvSpPr/>
          <p:nvPr/>
        </p:nvSpPr>
        <p:spPr>
          <a:xfrm>
            <a:off x="703268" y="1835480"/>
            <a:ext cx="792000" cy="171983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1835481"/>
            <a:ext cx="725552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판단번호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집행유형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계약금원화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계약금외화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계약금달러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47180" y="1835481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KD111111111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AAA12345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구매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￦</a:t>
            </a:r>
            <a:r>
              <a:rPr lang="en-US" altLang="ko-KR" sz="700" dirty="0" smtClean="0">
                <a:latin typeface="+mn-ea"/>
              </a:rPr>
              <a:t>3,000,000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[USD] 3,000.00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$ 3,000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7" name="그룹 16"/>
          <p:cNvGrpSpPr/>
          <p:nvPr/>
        </p:nvGrpSpPr>
        <p:grpSpPr>
          <a:xfrm>
            <a:off x="701175" y="1835481"/>
            <a:ext cx="2630093" cy="1723549"/>
            <a:chOff x="701175" y="1835481"/>
            <a:chExt cx="2630093" cy="172354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183548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0502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264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4795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1175" y="269141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2906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1208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3354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8" name="직선 연결선 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03268" y="35590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3833646" y="1527996"/>
            <a:ext cx="2630093" cy="3292847"/>
            <a:chOff x="3865118" y="2669567"/>
            <a:chExt cx="2630093" cy="3292847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계약품목</a:t>
              </a:r>
              <a:r>
                <a:rPr lang="ko-KR" altLang="en-US" sz="700" dirty="0" smtClean="0">
                  <a:latin typeface="+mn-ea"/>
                </a:rPr>
                <a:t> 내역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직사각형 100"/>
            <p:cNvSpPr/>
            <p:nvPr/>
          </p:nvSpPr>
          <p:spPr>
            <a:xfrm>
              <a:off x="3867211" y="2946204"/>
              <a:ext cx="792000" cy="30162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9819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항목번호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조달요구번호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</a:t>
              </a:r>
              <a:r>
                <a:rPr lang="en-US" altLang="ko-KR" sz="700" dirty="0">
                  <a:latin typeface="+mn-ea"/>
                </a:rPr>
                <a:t>-</a:t>
              </a:r>
              <a:r>
                <a:rPr lang="ko-KR" altLang="en-US" sz="700" dirty="0" err="1">
                  <a:latin typeface="+mn-ea"/>
                </a:rPr>
                <a:t>재고번호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부품번호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적용장비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단가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예산구분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납기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30162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MBC123456789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</a:p>
            <a:p>
              <a:pPr lvl="0"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0000-123456789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1234567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-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1,000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3,000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07" name="직선 연결선 1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42303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4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52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9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998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529812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9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742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956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3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267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0261" y="5521336"/>
            <a:ext cx="76863" cy="292489"/>
            <a:chOff x="3750067" y="4683795"/>
            <a:chExt cx="76863" cy="292489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716366" y="3681658"/>
            <a:ext cx="2630093" cy="513195"/>
            <a:chOff x="3865118" y="2669567"/>
            <a:chExt cx="2630093" cy="51319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69567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품목 단가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3867211" y="2946204"/>
              <a:ext cx="792000" cy="2365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합계 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 flipV="1">
            <a:off x="6238614" y="1641327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63514840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164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63300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581690-9658-C448-1E32-6F0590D4D27C}"/>
              </a:ext>
            </a:extLst>
          </p:cNvPr>
          <p:cNvSpPr txBox="1"/>
          <p:nvPr/>
        </p:nvSpPr>
        <p:spPr>
          <a:xfrm>
            <a:off x="445847" y="956463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69F0AA5-92A8-827B-754B-945F8F3B846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7569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2393051584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jdgmtNo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판단번호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2601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orderInstNm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31260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crtrNm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7186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bizTypeCd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003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0355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20558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163278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3029088"/>
            <a:ext cx="24499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계약품목별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32545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280499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909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55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451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05521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fscCdInvtNo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2787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0720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aplcnEqpmnt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적용장비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166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plcdlvCd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납지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96114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8996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21267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8288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납기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63356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80445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sumAmt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단가 합계금액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25,3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9579057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417A15F4-E673-CB3A-A6A8-0C977EF2D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710096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55356217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165</a:t>
            </a:fld>
            <a:endParaRPr lang="ko-KR" alt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4665FAB-B145-9E9D-B889-8546B8B1911F}"/>
              </a:ext>
            </a:extLst>
          </p:cNvPr>
          <p:cNvSpPr txBox="1"/>
          <p:nvPr/>
        </p:nvSpPr>
        <p:spPr>
          <a:xfrm>
            <a:off x="458117" y="5916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F63F5C-07DE-3A62-6FE5-A5B484403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833827"/>
              </p:ext>
            </p:extLst>
          </p:nvPr>
        </p:nvGraphicFramePr>
        <p:xfrm>
          <a:off x="453000" y="807104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 err="1"/>
                        <a:t>계약명세서정보를</a:t>
                      </a:r>
                      <a:r>
                        <a:rPr lang="ko-KR" altLang="en-US" sz="800" dirty="0"/>
                        <a:t>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F744379-2680-5432-3E4B-8E79FB1B95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6883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2964651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첨부서류 정보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- </a:t>
            </a:r>
            <a:r>
              <a:rPr lang="ko-KR" altLang="en-US" dirty="0"/>
              <a:t>국내와 동일한 </a:t>
            </a:r>
            <a:r>
              <a:rPr lang="ko-KR" altLang="en-US" dirty="0" smtClean="0"/>
              <a:t>첨부서류 </a:t>
            </a:r>
            <a:r>
              <a:rPr lang="ko-KR" altLang="en-US" dirty="0"/>
              <a:t>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MUI-CT-01-T76</a:t>
            </a:r>
            <a:endParaRPr lang="ko-KR" altLang="en-US" dirty="0"/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4" name="그룹 83"/>
          <p:cNvGrpSpPr/>
          <p:nvPr/>
        </p:nvGrpSpPr>
        <p:grpSpPr>
          <a:xfrm>
            <a:off x="675399" y="1533275"/>
            <a:ext cx="2712026" cy="2709136"/>
            <a:chOff x="3795735" y="2878425"/>
            <a:chExt cx="2712026" cy="2709136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6" name="그룹 8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7" name="모서리가 둥근 직사각형 86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8" name="타원 107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모서리가 둥근 직사각형 108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2" name="타원 111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4965431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5372117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</p:grpSp>
      <p:sp>
        <p:nvSpPr>
          <p:cNvPr id="12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default) 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아코디언 전체 펼침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업로드 기능 </a:t>
            </a:r>
            <a:r>
              <a:rPr lang="ko-KR" altLang="en-US" sz="800" dirty="0" err="1" smtClean="0"/>
              <a:t>미지원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첨부파일 클릭 시 뷰어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직인등록정보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첨부파일 클릭 시 뷰어 호출</a:t>
            </a:r>
            <a:endParaRPr lang="en-US" altLang="ko-KR" dirty="0" smtClean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683973" y="3136639"/>
            <a:ext cx="2712026" cy="1602288"/>
            <a:chOff x="3795735" y="2878425"/>
            <a:chExt cx="2712026" cy="160228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8" name="그룹 167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9" name="모서리가 둥근 직사각형 1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2" name="타원 1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모서리가 둥근 직사각형 1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6" name="타원 1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267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2" name="그룹 51"/>
          <p:cNvGrpSpPr/>
          <p:nvPr/>
        </p:nvGrpSpPr>
        <p:grpSpPr>
          <a:xfrm>
            <a:off x="3792680" y="1533275"/>
            <a:ext cx="2712026" cy="886509"/>
            <a:chOff x="3795735" y="2878425"/>
            <a:chExt cx="2712026" cy="8865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직인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65" name="직선 연결선 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6" name="직선 연결선 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5" name="모서리가 둥근 직사각형 54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376493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업체명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등록여부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3977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Y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85828" y="2021689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TESLA</a:t>
            </a:r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.jpg [</a:t>
            </a:r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69" name="그룹 6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0" name="직사각형 6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직인 등록 정보 추가</a:t>
              </a:r>
              <a:endParaRPr lang="ko-KR" altLang="en-US" sz="700" dirty="0"/>
            </a:p>
          </p:txBody>
        </p:sp>
      </p:grpSp>
      <p:sp>
        <p:nvSpPr>
          <p:cNvPr id="72" name="타원 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188" y="155364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58931665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167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78017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dl_ctrtRfrncDcmnt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1919585"/>
            <a:ext cx="28571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dl_ctrtSbmsnDcmnt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17639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C31C148-322D-495C-4D84-EC5A17BE2266}"/>
              </a:ext>
            </a:extLst>
          </p:cNvPr>
          <p:cNvSpPr txBox="1"/>
          <p:nvPr/>
        </p:nvSpPr>
        <p:spPr>
          <a:xfrm>
            <a:off x="460151" y="4216473"/>
            <a:ext cx="21149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직인등록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dl_ofslReg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3BF00A0-575D-3FF5-91B1-8260C850A8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8893101"/>
              </p:ext>
            </p:extLst>
          </p:nvPr>
        </p:nvGraphicFramePr>
        <p:xfrm>
          <a:off x="467303" y="447328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 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ofslFileNm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직인파일 등록여부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ofslFileRegYn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직인파일 등록여부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0440267"/>
                  </a:ext>
                </a:extLst>
              </a:tr>
            </a:tbl>
          </a:graphicData>
        </a:graphic>
      </p:graphicFrame>
      <p:grpSp>
        <p:nvGrpSpPr>
          <p:cNvPr id="14" name="그룹 1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5" name="직사각형 1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" name="직사각형 1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직인 등록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8786989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168</a:t>
            </a:fld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E80AC4-82B9-2DAC-735D-39626437ABA7}"/>
              </a:ext>
            </a:extLst>
          </p:cNvPr>
          <p:cNvSpPr txBox="1"/>
          <p:nvPr/>
        </p:nvSpPr>
        <p:spPr>
          <a:xfrm>
            <a:off x="447726" y="5879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2F95BDF9-C1C9-A214-43C2-526EF8D786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406002"/>
              </p:ext>
            </p:extLst>
          </p:nvPr>
        </p:nvGraphicFramePr>
        <p:xfrm>
          <a:off x="442609" y="822902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계약상세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첨부서류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687D2DB-DB19-6637-C850-4AD6ED520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0102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65003530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국외전자계약확정상세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일반현황 정보 조회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전자계약확정상세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MUI-CT-01-M72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 smtClean="0">
                <a:latin typeface="+mn-ea"/>
              </a:rPr>
              <a:t>전자계약</a:t>
            </a:r>
            <a:r>
              <a:rPr lang="ko-KR" altLang="en-US" sz="800" dirty="0" smtClean="0">
                <a:latin typeface="+mn-ea"/>
              </a:rPr>
              <a:t> </a:t>
            </a:r>
            <a:r>
              <a:rPr lang="ko-KR" altLang="en-US" sz="800" dirty="0" err="1" smtClean="0">
                <a:latin typeface="+mn-ea"/>
              </a:rPr>
              <a:t>확정상세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 (00</a:t>
            </a:r>
            <a:r>
              <a:rPr lang="en-US" altLang="ko-KR" sz="700" dirty="0" smtClean="0">
                <a:solidFill>
                  <a:prstClr val="black"/>
                </a:solidFill>
              </a:rPr>
              <a:t>)</a:t>
            </a:r>
          </a:p>
          <a:p>
            <a:pPr lvl="0"/>
            <a:r>
              <a:rPr lang="en-US" altLang="ko-KR" sz="900" b="1" dirty="0" smtClean="0">
                <a:solidFill>
                  <a:prstClr val="black"/>
                </a:solidFill>
              </a:rPr>
              <a:t>MODEL-3</a:t>
            </a:r>
            <a:endParaRPr lang="en-US" altLang="ko-KR" sz="900" b="1" dirty="0">
              <a:solidFill>
                <a:prstClr val="black"/>
              </a:solidFill>
            </a:endParaRP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65173"/>
            <a:ext cx="84376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일반현황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78504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72658"/>
            <a:ext cx="792000" cy="14596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726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72658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통합참조번호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계약건명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전체계약상태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7265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 (00)</a:t>
            </a: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MODEL-3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2025-03-03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확정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국제확정전력운영계약팀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⁞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0037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2174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4311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764169" y="4142235"/>
            <a:ext cx="2310232" cy="107722"/>
            <a:chOff x="764169" y="4142235"/>
            <a:chExt cx="2310232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일반현황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88821" y="4142235"/>
              <a:ext cx="4014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계좌정보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655170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보증서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4494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인지세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593819" y="4142235"/>
              <a:ext cx="480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/>
              <a:t>계약확정</a:t>
            </a:r>
            <a:endParaRPr lang="ko-KR" altLang="en-US" sz="600" dirty="0"/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1924360"/>
            <a:ext cx="2630093" cy="919434"/>
            <a:chOff x="3865118" y="2694619"/>
            <a:chExt cx="2630093" cy="919434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계약금액외화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계약금액원화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계약금액달러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123,456.00 NTD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5,771,427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3,933.29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4768712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3910894"/>
            <a:ext cx="2630093" cy="1759690"/>
            <a:chOff x="3865118" y="2694619"/>
            <a:chExt cx="2630093" cy="1759690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업체정보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4"/>
              <a:ext cx="792000" cy="1462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금융기관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예금주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전자서명일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111-11-11111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02-1234-6789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⁞</a:t>
              </a: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402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539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676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3" name="그룹 92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4" name="직선 연결선 9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5" name="직선 연결선 9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타원 96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" name="그룹 13"/>
          <p:cNvGrpSpPr/>
          <p:nvPr/>
        </p:nvGrpSpPr>
        <p:grpSpPr>
          <a:xfrm>
            <a:off x="3795734" y="1500912"/>
            <a:ext cx="2712027" cy="354413"/>
            <a:chOff x="3671524" y="2151787"/>
            <a:chExt cx="2712027" cy="354413"/>
          </a:xfrm>
        </p:grpSpPr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1" name="그룹 230"/>
            <p:cNvGrpSpPr/>
            <p:nvPr/>
          </p:nvGrpSpPr>
          <p:grpSpPr>
            <a:xfrm>
              <a:off x="3760294" y="2289593"/>
              <a:ext cx="2310232" cy="107722"/>
              <a:chOff x="764169" y="4142235"/>
              <a:chExt cx="2310232" cy="107722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>
                    <a:latin typeface="+mn-ea"/>
                  </a:rPr>
                  <a:t>일반현황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계좌정보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655170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보증서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4494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인지세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593819" y="4142235"/>
                <a:ext cx="480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261" name="그룹 260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262" name="타원 261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3" name="그룹 262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8" name="직선 연결선 26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직선 연결선 26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64" name="타원 263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65" name="그룹 264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66" name="직선 연결선 26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67" name="직선 연결선 26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78" name="그룹 277"/>
          <p:cNvGrpSpPr/>
          <p:nvPr/>
        </p:nvGrpSpPr>
        <p:grpSpPr>
          <a:xfrm>
            <a:off x="3836701" y="2917627"/>
            <a:ext cx="2630093" cy="919434"/>
            <a:chOff x="3865118" y="2694619"/>
            <a:chExt cx="2630093" cy="919434"/>
          </a:xfrm>
        </p:grpSpPr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구매형태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82" name="직사각형 281"/>
            <p:cNvSpPr/>
            <p:nvPr/>
          </p:nvSpPr>
          <p:spPr>
            <a:xfrm>
              <a:off x="3867211" y="2946204"/>
              <a:ext cx="792000" cy="66784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AOG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URGENT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ROUTINE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</a:t>
              </a: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45906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(%)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80689" y="2946204"/>
              <a:ext cx="504855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en-US" altLang="ko-KR" sz="700" dirty="0">
                  <a:latin typeface="+mn-ea"/>
                </a:rPr>
                <a:t> (%)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(%)</a:t>
              </a:r>
            </a:p>
          </p:txBody>
        </p:sp>
      </p:grp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08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66462" y="1493926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smtClean="0"/>
              <a:t>일반현황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계좌정보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보증서</a:t>
            </a:r>
            <a:r>
              <a:rPr lang="en-US" altLang="ko-KR" sz="800" dirty="0" smtClean="0"/>
              <a:t>, </a:t>
            </a:r>
            <a:r>
              <a:rPr lang="ko-KR" altLang="en-US" sz="800" dirty="0" smtClean="0"/>
              <a:t>인지세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전자계약진행상세와 동일한 </a:t>
            </a:r>
            <a:r>
              <a:rPr lang="ko-KR" altLang="en-US" sz="800" dirty="0" err="1" smtClean="0"/>
              <a:t>항목임</a:t>
            </a:r>
            <a:r>
              <a:rPr lang="en-US" altLang="ko-KR" sz="800" dirty="0" smtClean="0"/>
              <a:t>.</a:t>
            </a:r>
            <a:br>
              <a:rPr lang="en-US" altLang="ko-KR" sz="800" dirty="0" smtClean="0"/>
            </a:br>
            <a:r>
              <a:rPr lang="en-US" altLang="ko-KR" sz="800" dirty="0" smtClean="0"/>
              <a:t>  &gt; </a:t>
            </a:r>
            <a:r>
              <a:rPr lang="ko-KR" altLang="en-US" sz="800" dirty="0" smtClean="0"/>
              <a:t>첨부서류 항목이 달라 다음 페이지에 첨부서류 항목 작성 참고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  <p:sp>
        <p:nvSpPr>
          <p:cNvPr id="209" name="직사각형 208"/>
          <p:cNvSpPr/>
          <p:nvPr/>
        </p:nvSpPr>
        <p:spPr>
          <a:xfrm>
            <a:off x="7052436" y="6067424"/>
            <a:ext cx="2314310" cy="2084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260624.</a:t>
            </a:r>
            <a:r>
              <a:rPr lang="ko-KR" altLang="en-US" sz="500" dirty="0" err="1" smtClean="0"/>
              <a:t>물품부호</a:t>
            </a:r>
            <a:r>
              <a:rPr lang="en-US" altLang="ko-KR" sz="500" dirty="0" smtClean="0"/>
              <a:t>,</a:t>
            </a:r>
            <a:r>
              <a:rPr lang="ko-KR" altLang="en-US" sz="500" dirty="0" smtClean="0"/>
              <a:t>인지세사용여부</a:t>
            </a:r>
            <a:r>
              <a:rPr lang="en-US" altLang="ko-KR" sz="500" dirty="0" smtClean="0"/>
              <a:t>/</a:t>
            </a:r>
            <a:r>
              <a:rPr lang="ko-KR" altLang="en-US" sz="500" dirty="0" err="1" smtClean="0"/>
              <a:t>인지세금액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endParaRPr lang="en-US" altLang="ko-KR" sz="500" dirty="0" smtClean="0"/>
          </a:p>
        </p:txBody>
      </p:sp>
      <p:sp>
        <p:nvSpPr>
          <p:cNvPr id="203" name="평행 사변형 202"/>
          <p:cNvSpPr/>
          <p:nvPr/>
        </p:nvSpPr>
        <p:spPr>
          <a:xfrm rot="16200000" flipH="1">
            <a:off x="2159125" y="2722230"/>
            <a:ext cx="2864915" cy="408308"/>
          </a:xfrm>
          <a:prstGeom prst="parallelogram">
            <a:avLst>
              <a:gd name="adj" fmla="val 59784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4" name="TextBox 203"/>
          <p:cNvSpPr txBox="1"/>
          <p:nvPr/>
        </p:nvSpPr>
        <p:spPr>
          <a:xfrm rot="16668901">
            <a:off x="3310330" y="2677468"/>
            <a:ext cx="44114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 err="1" smtClean="0"/>
              <a:t>상단고정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1565928417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국외전자계약확정상세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첨부서류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계약상세정보 중에서 첨부서류 정보 조회 </a:t>
            </a:r>
            <a:r>
              <a:rPr lang="ko-KR" altLang="en-US" dirty="0" smtClean="0"/>
              <a:t>화면 </a:t>
            </a:r>
            <a:r>
              <a:rPr lang="en-US" altLang="ko-KR" dirty="0" smtClean="0"/>
              <a:t>- </a:t>
            </a:r>
            <a:r>
              <a:rPr lang="ko-KR" altLang="en-US" dirty="0"/>
              <a:t>국내와 동일한 </a:t>
            </a:r>
            <a:r>
              <a:rPr lang="ko-KR" altLang="en-US" dirty="0" smtClean="0"/>
              <a:t>첨부서류 </a:t>
            </a:r>
            <a:r>
              <a:rPr lang="ko-KR" altLang="en-US" dirty="0"/>
              <a:t>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전자계약상세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첨부서류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MUI-CT-01-T80</a:t>
            </a:r>
            <a:endParaRPr lang="ko-KR" altLang="en-US" dirty="0"/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4" name="그룹 83"/>
          <p:cNvGrpSpPr/>
          <p:nvPr/>
        </p:nvGrpSpPr>
        <p:grpSpPr>
          <a:xfrm>
            <a:off x="675399" y="1533275"/>
            <a:ext cx="2712026" cy="2709136"/>
            <a:chOff x="3795735" y="2878425"/>
            <a:chExt cx="2712026" cy="2709136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 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6" name="그룹 85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7" name="모서리가 둥근 직사각형 86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351332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08" name="타원 107"/>
            <p:cNvSpPr/>
            <p:nvPr/>
          </p:nvSpPr>
          <p:spPr>
            <a:xfrm>
              <a:off x="6240167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모서리가 둥근 직사각형 108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3758018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2" name="타원 111"/>
            <p:cNvSpPr/>
            <p:nvPr/>
          </p:nvSpPr>
          <p:spPr>
            <a:xfrm>
              <a:off x="6240167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4965431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물품제조구매계약서</a:t>
              </a:r>
              <a:endPara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r>
                <a:rPr lang="en-US" altLang="ko-KR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hwp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08115" y="5372117"/>
              <a:ext cx="168273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계약명세서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첨부파일명이너무길면어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…zip [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파일크기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]</a:t>
              </a:r>
            </a:p>
          </p:txBody>
        </p:sp>
      </p:grpSp>
      <p:sp>
        <p:nvSpPr>
          <p:cNvPr id="12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40045" y="148738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계약에 등록된 </a:t>
            </a:r>
            <a:r>
              <a:rPr lang="ko-KR" altLang="en-US" dirty="0" err="1" smtClean="0"/>
              <a:t>계약관</a:t>
            </a:r>
            <a:r>
              <a:rPr lang="ko-KR" altLang="en-US" dirty="0" smtClean="0"/>
              <a:t> 첨부서류 </a:t>
            </a:r>
            <a:r>
              <a:rPr lang="ko-KR" altLang="en-US" dirty="0" err="1" smtClean="0"/>
              <a:t>목록조회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800" dirty="0" smtClean="0"/>
              <a:t>default) </a:t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아코디언 전체 펼침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업로드 기능 </a:t>
            </a:r>
            <a:r>
              <a:rPr lang="ko-KR" altLang="en-US" sz="800" dirty="0" err="1" smtClean="0"/>
              <a:t>미지원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계약 첨부서류에 첨부된 파일이 있는 경우에만 목록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첨부된 항목 건 수 노출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목록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파일 업로드 시점의 </a:t>
            </a:r>
            <a:r>
              <a:rPr lang="ko-KR" altLang="en-US" dirty="0" err="1" smtClean="0"/>
              <a:t>등록일시</a:t>
            </a:r>
            <a:r>
              <a:rPr lang="ko-KR" altLang="en-US" dirty="0" smtClean="0"/>
              <a:t> 내림차순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계약서류명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첨부파일명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크기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크기 정보가 없거나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첨부서류 파일명이 없는 경우 </a:t>
            </a:r>
            <a:r>
              <a:rPr lang="en-US" altLang="ko-KR" dirty="0" smtClean="0"/>
              <a:t>“-”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파일명이 긴 경우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첨부파일 클릭 시 뷰어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다운로드 아이콘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다운로드 </a:t>
            </a:r>
            <a:r>
              <a:rPr lang="ko-KR" altLang="en-US" dirty="0" err="1" smtClean="0"/>
              <a:t>클릭시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즉시 다운로드 실행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다운로드 </a:t>
            </a:r>
            <a:r>
              <a:rPr lang="ko-KR" altLang="en-US" dirty="0" err="1" smtClean="0"/>
              <a:t>실패시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다운로드에 실패했습니다 토스트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계약업체 첨부서류 </a:t>
            </a:r>
            <a:r>
              <a:rPr lang="ko-KR" altLang="en-US" dirty="0" smtClean="0"/>
              <a:t>표시</a:t>
            </a:r>
            <a:endParaRPr lang="en-US" altLang="ko-KR" dirty="0" smtClean="0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5048" y="1370501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600165" y="1487387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17978" y="1847563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015859" y="2376708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6826" y="3170954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25536" y="593355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실패했습니다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108628" y="5726035"/>
            <a:ext cx="1890323" cy="186790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다운로드에 성공했습니다</a:t>
            </a:r>
            <a:r>
              <a:rPr kumimoji="1" lang="en-US" altLang="ko-KR" sz="7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66" name="그룹 165"/>
          <p:cNvGrpSpPr/>
          <p:nvPr/>
        </p:nvGrpSpPr>
        <p:grpSpPr>
          <a:xfrm>
            <a:off x="683973" y="3136639"/>
            <a:ext cx="2712026" cy="1602288"/>
            <a:chOff x="3795735" y="2878425"/>
            <a:chExt cx="2712026" cy="1602288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8080" y="2878425"/>
              <a:ext cx="125217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spc="-52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계약업체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첨부서류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- 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총 </a:t>
              </a:r>
              <a:r>
                <a:rPr lang="en-US" altLang="ko-KR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0</a:t>
              </a:r>
              <a:r>
                <a:rPr lang="ko-KR" altLang="en-US" sz="700" spc="-52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anose="020B0503020000020004" pitchFamily="50" charset="-127"/>
                </a:rPr>
                <a:t>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8" name="그룹 167"/>
            <p:cNvGrpSpPr/>
            <p:nvPr/>
          </p:nvGrpSpPr>
          <p:grpSpPr>
            <a:xfrm flipV="1">
              <a:off x="6240167" y="2991756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9" name="모서리가 둥근 직사각형 168"/>
            <p:cNvSpPr/>
            <p:nvPr/>
          </p:nvSpPr>
          <p:spPr>
            <a:xfrm>
              <a:off x="3831550" y="3276811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405193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1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2" name="타원 171"/>
            <p:cNvSpPr/>
            <p:nvPr/>
          </p:nvSpPr>
          <p:spPr>
            <a:xfrm>
              <a:off x="6191669" y="3387054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모서리가 둥근 직사각형 172"/>
            <p:cNvSpPr/>
            <p:nvPr/>
          </p:nvSpPr>
          <p:spPr>
            <a:xfrm>
              <a:off x="3831550" y="3683497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09746" y="3811879"/>
              <a:ext cx="24778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2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6" name="타원 175"/>
            <p:cNvSpPr/>
            <p:nvPr/>
          </p:nvSpPr>
          <p:spPr>
            <a:xfrm>
              <a:off x="6191669" y="379374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5" y="448071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332218" y="3141693"/>
              <a:ext cx="47434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6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계약서류명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6101185" y="3141693"/>
              <a:ext cx="32496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다운로드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38314" y="3141693"/>
              <a:ext cx="390650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번호</a:t>
              </a:r>
              <a:endPara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0" name="직사각형 6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직인 등록 정보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85497684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171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(1/5)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2973"/>
          <a:ext cx="8994883" cy="55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계약서 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prcmRqtInstCd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군구분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66925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grntePrdDayCnt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1175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gnrlCndCd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일반조건코드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수리부속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한도액해외정비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한도액부품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무기체계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기술용역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일반장비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성과기반군수지원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7257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ntnCd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국가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086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일반경쟁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복수경쟁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협상에의한계약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서류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)/2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단계경쟁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동시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)/2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단계경쟁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분리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종합낙찰제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협상에의한계약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전자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역경매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3718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pymtDfryCndCd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지불조건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일람불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인수도조건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신용장에 기재된 조건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현금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대체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406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inspShpCd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단순품질보증형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(I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자율품질보증형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(Ⅱ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표준품질보증형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(Ⅲ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체계품질보증형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(Ⅳ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)/5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특수검사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소요군검사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소요군검수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연구개발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공급자 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년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공급자 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년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제작자 사후 확인형태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제작자 사전 확인형태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표준 품질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설치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통합시험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국제 협정 보증형태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국내 검정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상업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제작자 검정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상업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국제 검정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상업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86094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expcDudtYmd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예상납기일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2740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lastShpgYmd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최종선적일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3125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UN CPC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6062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prttnShpgYn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분할선적유무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4346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lqdmgRt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지체상금율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5026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계약보증금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scrtNo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증권번호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intgRfrncNo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통합참조번호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elctrCtrtPrgrsSttsCd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전자계약상태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방위력개선사업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통합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전력운영사업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18229191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172</a:t>
            </a:fld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7AC0E-9A18-AEA0-304B-B086A7C06CE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(2/5)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2973"/>
          <a:ext cx="8994883" cy="5241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ctrtRsnCd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계약사유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picId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gnrlCndCd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일반조건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cmdtySgn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물품부호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crncCd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화폐구분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1973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grnteAmtDepstRt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보증금예치율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73119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itemCnt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86713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bizAprvYmd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074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ofstCndCd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7377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dudtMm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납기월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72309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rdprcRt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7713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보증보험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주식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증권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채권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전자보증서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예금증서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금융기관지급보증서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세입세출외현금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자본재공제조합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/Stand By L/C/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공제조합보증서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신용보증기금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보증금면제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방진회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계약보증금 지급 확약서 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오천만원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 미만 적용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중소기업중앙회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이전발행한보증서대체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63680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0639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orderInstNm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발주기관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01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94811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ctrtPrgrsCd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도급계약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설계용역계약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감리용역계약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안전진단용역계약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물품제조설치계약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기타공사계약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제조계약서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임대차계약서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공사계약서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관급계약서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리스계약서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물품구매계약서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용역계약서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94413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fwkSeCd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기능구분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0337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bzentyCd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8424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prdctnBzentyCd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생산자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64076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pvctRsnCd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수의사유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8470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047EBE0-4549-DC75-12C3-7B8C61A70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13028210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173</a:t>
            </a:fld>
            <a:endParaRPr lang="ko-KR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83508"/>
          <a:ext cx="8994883" cy="50466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Cost and Insurance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 지불인도조건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Cost and Freight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운임포함 인도조건</a:t>
                      </a:r>
                    </a:p>
                    <a:p>
                      <a:pPr algn="l" latinLnBrk="1"/>
                      <a:r>
                        <a:rPr lang="en-US" altLang="ko-KR" sz="800" dirty="0" err="1">
                          <a:latin typeface="+mj-lt"/>
                          <a:ea typeface="+mn-ea"/>
                        </a:rPr>
                        <a:t>Cost,Insurance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 and Freight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보험료포함인도조건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Carriage and Insurance Paid To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운송비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 지불인도조건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Cost &amp; Freight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운임포함인도 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Carriage Paid To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운송비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보험료 지불인도조건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Frontier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국경인도조건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Place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Terminal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Duty Paid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관세지급 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Duty Unpaid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관세 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미집급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 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EX Quay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부두인도조건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EX Ship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착선인도조건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Delivered at Place Unloaded : 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도착지양하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 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EX Works        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작업장인도조건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Free Alongside Ship            : </a:t>
                      </a:r>
                      <a:r>
                        <a:rPr lang="ko-KR" altLang="en-US" sz="800" dirty="0" err="1">
                          <a:latin typeface="+mj-lt"/>
                          <a:ea typeface="+mn-ea"/>
                        </a:rPr>
                        <a:t>선측인도조건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Free Carrier    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운송인인도조건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Free On Board                  : 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본선인도조건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6402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bizTypeCd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집행유형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공급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리스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구매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구매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903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implTypeItemCd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9771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ofstBizMngNo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절충사업관리번호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477549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aprvYmd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arrsLimRt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5909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rdprcAmt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00324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항공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선박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항공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선박</a:t>
                      </a:r>
                      <a:r>
                        <a:rPr lang="en-US" altLang="ko-KR" sz="800" dirty="0">
                          <a:latin typeface="+mj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j-lt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6993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stmtxAplcnCd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stmtxPayAmt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인지세 사용여부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</a:rPr>
                        <a:t>인지세 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1/22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598249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29B8A2E0-54EA-67DA-D442-E68561AE350D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(3/5)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51789A8-03CE-7936-84AE-2143CA92098F}"/>
              </a:ext>
            </a:extLst>
          </p:cNvPr>
          <p:cNvSpPr txBox="1"/>
          <p:nvPr/>
        </p:nvSpPr>
        <p:spPr>
          <a:xfrm>
            <a:off x="445847" y="75858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 Box 73">
            <a:extLst>
              <a:ext uri="{FF2B5EF4-FFF2-40B4-BE49-F238E27FC236}">
                <a16:creationId xmlns:a16="http://schemas.microsoft.com/office/drawing/2014/main" id="{8AA20ECF-26B3-51A7-2965-86A0B08E3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215629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174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798037"/>
            <a:ext cx="22014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484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ctrtFrcncyAmt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계약금액원화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사업승인일자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계약금액달러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ctrtUsdAmt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계약서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절충조건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FBBDB464-E870-2D21-5267-3D3EE8896297}"/>
              </a:ext>
            </a:extLst>
          </p:cNvPr>
          <p:cNvSpPr txBox="1"/>
          <p:nvPr/>
        </p:nvSpPr>
        <p:spPr>
          <a:xfrm>
            <a:off x="452999" y="1946247"/>
            <a:ext cx="22832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구매형태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dm_prchsShp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B35A44B-FA6E-B9CC-0416-DEBF03467240}"/>
              </a:ext>
            </a:extLst>
          </p:cNvPr>
          <p:cNvGraphicFramePr>
            <a:graphicFrameLocks noGrp="1"/>
          </p:cNvGraphicFramePr>
          <p:nvPr/>
        </p:nvGraphicFramePr>
        <p:xfrm>
          <a:off x="460151" y="220305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AOG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aog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항공기 비행불능 상태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납품기한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지체한도율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감가율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URGENT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emrg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긴급상황 발생시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ROUTINE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routn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일반적인 상황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납품기한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지체한도율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감가율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A5761D99-7A3E-7EF8-1B4C-8CE2AFB0D61F}"/>
              </a:ext>
            </a:extLst>
          </p:cNvPr>
          <p:cNvSpPr txBox="1"/>
          <p:nvPr/>
        </p:nvSpPr>
        <p:spPr>
          <a:xfrm>
            <a:off x="460151" y="3094457"/>
            <a:ext cx="226721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계약업체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dl_ctrtBzenty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F82CA70-8CB4-3226-F907-FED98F0B3B6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7303" y="3351266"/>
          <a:ext cx="8994883" cy="274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enbrno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fnstCd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9958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dpstrNm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예금주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47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elsgnYmd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전자서명일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664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depsPayMthdCd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보증금납부방법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보증보험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주식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증권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채권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전자보증서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예금증서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금융기관지급보증서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세입세출외현금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자본재공제조합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/Stand By L/C/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공제조합보증서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신용보증기금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보증금면제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방진회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계약보증금 지급 확약서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오천만원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미만 적용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중소기업중앙회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이전발행한보증서대체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8115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grnteAmt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보증금액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3344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bacntRlnmNo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계좌실명번호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7095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enacno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03509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087ABC1-CCCB-F867-4DE5-37891D30A411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(4/5)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6" name="Text Box 73">
            <a:extLst>
              <a:ext uri="{FF2B5EF4-FFF2-40B4-BE49-F238E27FC236}">
                <a16:creationId xmlns:a16="http://schemas.microsoft.com/office/drawing/2014/main" id="{CFA12926-45C1-8A0F-BFC3-EB7B7B5E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06849562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175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78017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계약참조서류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dl_ctrtRfrncDcmnt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계약관이 제공한 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1919585"/>
            <a:ext cx="28571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>
                <a:solidFill>
                  <a:prstClr val="black"/>
                </a:solidFill>
              </a:rPr>
              <a:t>계약제출서류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dl_ctrtSbmsnDcmnt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176394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첩부파일 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계약서류파일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ctrtDcmntFile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업체에서 제출한 계약서류파일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07938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(5/5)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30177561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36C7BAB1-4DBF-1BB0-0616-90DE773A1D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176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B14A8B4-3C4E-1BE1-0D0E-C1CF0BCDA0FE}"/>
              </a:ext>
            </a:extLst>
          </p:cNvPr>
          <p:cNvSpPr txBox="1"/>
          <p:nvPr/>
        </p:nvSpPr>
        <p:spPr>
          <a:xfrm>
            <a:off x="458117" y="5701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E719B54-F7D9-5296-1108-928E7079CFC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799547"/>
          <a:ext cx="8995591" cy="2548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278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1922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200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481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계좌정보조회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scwin.tacpgBacntInfo_ontabclick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계좌정보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UI-CT-01-M73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133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보증서조회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scwin.tacpgWtgr_ontabclick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588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인지세조회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scwin.tacpgStmtx_ontabclick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인지세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UI-CT-01-M76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86693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계약명세서조회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scwin.tacpgCtrtDtst_ontabclick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계약진행상세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계약명세서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UI-CT-01-M77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19989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전자서명일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scwin.grd_ctrtBzenty_oncellclick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전자서명검증상세조회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팝업창을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UI-CT-01-P78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77741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scwin.btn_moveList_onclick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계약통합조회목록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UI-CT-01-M01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20666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해지해제요청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scwin.btn_cncltnRmvDmnd_onclick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계약서를 해지해제요청 상태로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2278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해지해제취소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scwin.btn_cncltnRmvRtrcn_onclick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계약서를 해지해제취소 상태로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404730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801B347-F01E-A29A-70F7-551912EBC9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7339516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상업계약서상세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MUI-CT-01-M77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상업계약서</a:t>
            </a:r>
            <a:r>
              <a:rPr lang="ko-KR" altLang="en-US" sz="800" dirty="0">
                <a:latin typeface="+mn-ea"/>
              </a:rPr>
              <a:t>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462389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 smtClean="0">
                <a:solidFill>
                  <a:prstClr val="black"/>
                </a:solidFill>
              </a:rPr>
              <a:t>공고번호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계약번호</a:t>
            </a:r>
            <a:r>
              <a:rPr lang="ko-KR" altLang="en-US" sz="700" dirty="0" smtClean="0">
                <a:solidFill>
                  <a:prstClr val="black"/>
                </a:solidFill>
              </a:rPr>
              <a:t> </a:t>
            </a:r>
            <a:r>
              <a:rPr lang="en-US" altLang="ko-KR" sz="700" dirty="0" smtClean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781461" y="227805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국외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631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3696944"/>
            <a:ext cx="45225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공지사항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37282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3810275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0" name="타원 79"/>
          <p:cNvSpPr/>
          <p:nvPr/>
        </p:nvSpPr>
        <p:spPr>
          <a:xfrm>
            <a:off x="2926040" y="226165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3070040" y="2278058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431218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 현황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4544549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4738703"/>
            <a:ext cx="792000" cy="14935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3870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4738703"/>
            <a:ext cx="67077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계약담당부서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담당자성명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P.R.NO.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품목명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사업구분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4738703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국제확정전력운영계약팀</a:t>
            </a:r>
            <a:endParaRPr lang="ko-KR" altLang="en-US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KD111111111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AAA12345 </a:t>
            </a:r>
            <a:r>
              <a:rPr lang="ko-KR" altLang="en-US" sz="700" dirty="0">
                <a:latin typeface="+mn-ea"/>
              </a:rPr>
              <a:t>등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IX3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O </a:t>
            </a:r>
            <a:r>
              <a:rPr lang="ko-KR" altLang="en-US" sz="700" dirty="0" smtClean="0">
                <a:latin typeface="+mn-ea"/>
              </a:rPr>
              <a:t>전력운영사업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49698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1835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3972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공고번호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99001 / </a:t>
            </a:r>
            <a:r>
              <a:rPr lang="ko-KR" altLang="en-US" sz="700" dirty="0" err="1">
                <a:solidFill>
                  <a:prstClr val="black"/>
                </a:solidFill>
              </a:rPr>
              <a:t>계약번호</a:t>
            </a:r>
            <a:r>
              <a:rPr lang="ko-KR" altLang="en-US" sz="700" dirty="0">
                <a:solidFill>
                  <a:prstClr val="black"/>
                </a:solidFill>
              </a:rPr>
              <a:t> </a:t>
            </a:r>
            <a:r>
              <a:rPr lang="en-US" altLang="ko-KR" sz="700" dirty="0">
                <a:solidFill>
                  <a:prstClr val="black"/>
                </a:solidFill>
              </a:rPr>
              <a:t>KD111111111</a:t>
            </a:r>
          </a:p>
          <a:p>
            <a:pPr lvl="0"/>
            <a:r>
              <a:rPr lang="en-US" altLang="ko-KR" sz="900" b="1" dirty="0">
                <a:solidFill>
                  <a:prstClr val="black"/>
                </a:solidFill>
              </a:rPr>
              <a:t>IX3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3884993" y="1602341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국외</a:t>
            </a:r>
          </a:p>
        </p:txBody>
      </p:sp>
      <p:sp>
        <p:nvSpPr>
          <p:cNvPr id="201" name="타원 200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출력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055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 rot="16200000">
            <a:off x="1250697" y="3458336"/>
            <a:ext cx="94010" cy="47005"/>
            <a:chOff x="6812560" y="3297172"/>
            <a:chExt cx="94010" cy="47005"/>
          </a:xfrm>
        </p:grpSpPr>
        <p:cxnSp>
          <p:nvCxnSpPr>
            <p:cNvPr id="183" name="직선 연결선 18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4" name="직선 연결선 1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04170" y="3427976"/>
            <a:ext cx="40086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입찰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타원 188"/>
          <p:cNvSpPr/>
          <p:nvPr/>
        </p:nvSpPr>
        <p:spPr>
          <a:xfrm>
            <a:off x="140403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45909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2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4" name="그룹 193"/>
          <p:cNvGrpSpPr/>
          <p:nvPr/>
        </p:nvGrpSpPr>
        <p:grpSpPr>
          <a:xfrm rot="16200000">
            <a:off x="1906808" y="3458336"/>
            <a:ext cx="94010" cy="47005"/>
            <a:chOff x="6812560" y="3297172"/>
            <a:chExt cx="94010" cy="47005"/>
          </a:xfrm>
        </p:grpSpPr>
        <p:cxnSp>
          <p:nvCxnSpPr>
            <p:cNvPr id="195" name="직선 연결선 1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6" name="직선 연결선 1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7" name="그룹 196"/>
          <p:cNvGrpSpPr/>
          <p:nvPr/>
        </p:nvGrpSpPr>
        <p:grpSpPr>
          <a:xfrm rot="16200000">
            <a:off x="2562920" y="3458336"/>
            <a:ext cx="94010" cy="47005"/>
            <a:chOff x="6812560" y="3297172"/>
            <a:chExt cx="94010" cy="47005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9" name="직선 연결선 19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4" name="타원 233"/>
          <p:cNvSpPr/>
          <p:nvPr/>
        </p:nvSpPr>
        <p:spPr>
          <a:xfrm>
            <a:off x="747925" y="3387857"/>
            <a:ext cx="187961" cy="187961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2982" y="3427976"/>
            <a:ext cx="7784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1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51350" y="3427976"/>
            <a:ext cx="3975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조달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2058749" y="3387857"/>
            <a:ext cx="603798" cy="187961"/>
            <a:chOff x="2058749" y="3237230"/>
            <a:chExt cx="603798" cy="187961"/>
          </a:xfrm>
        </p:grpSpPr>
        <p:grpSp>
          <p:nvGrpSpPr>
            <p:cNvPr id="242" name="그룹 241"/>
            <p:cNvGrpSpPr/>
            <p:nvPr/>
          </p:nvGrpSpPr>
          <p:grpSpPr>
            <a:xfrm>
              <a:off x="2058749" y="3237230"/>
              <a:ext cx="187961" cy="187961"/>
              <a:chOff x="2058749" y="3237230"/>
              <a:chExt cx="187961" cy="187961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63899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37" name="모서리가 둥근 직사각형 336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smtClean="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계약 진행</a:t>
            </a:r>
            <a:r>
              <a:rPr lang="en-US" altLang="ko-KR" sz="700" dirty="0" smtClean="0">
                <a:solidFill>
                  <a:prstClr val="black"/>
                </a:solidFill>
              </a:rPr>
              <a:t>, </a:t>
            </a:r>
            <a:r>
              <a:rPr lang="ko-KR" altLang="en-US" sz="700" dirty="0" smtClean="0">
                <a:solidFill>
                  <a:prstClr val="black"/>
                </a:solidFill>
              </a:rPr>
              <a:t>정보 등록 변경은 </a:t>
            </a:r>
            <a:r>
              <a:rPr lang="en-US" altLang="ko-KR" sz="700" dirty="0" smtClean="0">
                <a:solidFill>
                  <a:prstClr val="black"/>
                </a:solidFill>
              </a:rPr>
              <a:t>PC </a:t>
            </a:r>
            <a:r>
              <a:rPr lang="ko-KR" altLang="en-US" sz="700" dirty="0" smtClean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모서리가 둥근 직사각형 154"/>
          <p:cNvSpPr/>
          <p:nvPr/>
        </p:nvSpPr>
        <p:spPr>
          <a:xfrm>
            <a:off x="1075990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상업계약</a:t>
            </a:r>
            <a:endParaRPr lang="ko-KR" altLang="en-US" sz="600" dirty="0"/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181805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상업계약</a:t>
            </a:r>
          </a:p>
        </p:txBody>
      </p:sp>
      <p:grpSp>
        <p:nvGrpSpPr>
          <p:cNvPr id="173" name="그룹 172"/>
          <p:cNvGrpSpPr/>
          <p:nvPr/>
        </p:nvGrpSpPr>
        <p:grpSpPr>
          <a:xfrm>
            <a:off x="3836701" y="2491279"/>
            <a:ext cx="2630093" cy="1104323"/>
            <a:chOff x="3865118" y="2694619"/>
            <a:chExt cx="2630093" cy="1104323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5" name="직사각형 174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07" name="모서리가 둥근 직사각형 206"/>
          <p:cNvSpPr/>
          <p:nvPr/>
        </p:nvSpPr>
        <p:spPr>
          <a:xfrm rot="5400000">
            <a:off x="6098765" y="5031547"/>
            <a:ext cx="720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05" name="그룹 204"/>
          <p:cNvGrpSpPr/>
          <p:nvPr/>
        </p:nvGrpSpPr>
        <p:grpSpPr>
          <a:xfrm>
            <a:off x="3842944" y="4873064"/>
            <a:ext cx="2630093" cy="1549496"/>
            <a:chOff x="3865118" y="2694619"/>
            <a:chExt cx="2630093" cy="1549496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3867211" y="2946203"/>
              <a:ext cx="792000" cy="129253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선급금율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100,000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⁞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6062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58199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60336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1" name="그룹 180"/>
          <p:cNvGrpSpPr/>
          <p:nvPr/>
        </p:nvGrpSpPr>
        <p:grpSpPr>
          <a:xfrm>
            <a:off x="2714860" y="3387857"/>
            <a:ext cx="603798" cy="187961"/>
            <a:chOff x="2714860" y="3237230"/>
            <a:chExt cx="603798" cy="187961"/>
          </a:xfrm>
        </p:grpSpPr>
        <p:grpSp>
          <p:nvGrpSpPr>
            <p:cNvPr id="185" name="그룹 184"/>
            <p:cNvGrpSpPr/>
            <p:nvPr/>
          </p:nvGrpSpPr>
          <p:grpSpPr>
            <a:xfrm>
              <a:off x="2714860" y="3237230"/>
              <a:ext cx="187961" cy="187961"/>
              <a:chOff x="2714860" y="3237230"/>
              <a:chExt cx="187961" cy="187961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4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920010" y="3277349"/>
              <a:ext cx="39864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이행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219" name="그룹 218"/>
          <p:cNvGrpSpPr/>
          <p:nvPr/>
        </p:nvGrpSpPr>
        <p:grpSpPr>
          <a:xfrm rot="5400000">
            <a:off x="3158978" y="3382148"/>
            <a:ext cx="187961" cy="187961"/>
            <a:chOff x="3876200" y="2234886"/>
            <a:chExt cx="187961" cy="187961"/>
          </a:xfrm>
        </p:grpSpPr>
        <p:sp>
          <p:nvSpPr>
            <p:cNvPr id="220" name="타원 21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1" name="그룹 220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222" name="직선 연결선 22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3" name="직선 연결선 22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797454"/>
            <a:ext cx="307777" cy="39767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계약일자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발주기관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계약금액</a:t>
            </a:r>
            <a:endParaRPr lang="en-US" altLang="ko-KR" sz="600" dirty="0">
              <a:latin typeface="+mn-ea"/>
            </a:endParaRPr>
          </a:p>
        </p:txBody>
      </p:sp>
      <p:sp>
        <p:nvSpPr>
          <p:cNvPr id="224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2383856" y="2782065"/>
            <a:ext cx="846386" cy="4154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2025-03-03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국제확정전력운영계약팀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3,933.29 </a:t>
            </a:r>
            <a:r>
              <a:rPr lang="en-US" altLang="ko-KR" sz="600" dirty="0" smtClean="0">
                <a:latin typeface="+mn-ea"/>
              </a:rPr>
              <a:t>USD</a:t>
            </a:r>
            <a:endParaRPr lang="en-US" altLang="ko-KR" sz="600" dirty="0">
              <a:latin typeface="+mn-ea"/>
            </a:endParaRP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153386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일반경쟁</a:t>
            </a:r>
            <a:endParaRPr lang="ko-KR" altLang="en-US" sz="600" dirty="0"/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4639681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일반경쟁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079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0" name="그룹 169"/>
          <p:cNvGrpSpPr/>
          <p:nvPr/>
        </p:nvGrpSpPr>
        <p:grpSpPr>
          <a:xfrm>
            <a:off x="3836701" y="3682937"/>
            <a:ext cx="2630093" cy="1116634"/>
            <a:chOff x="3865118" y="2694619"/>
            <a:chExt cx="2630093" cy="1116634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72" name="직사각형 171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en-US" altLang="ko-KR" sz="700" dirty="0" smtClean="0">
                  <a:latin typeface="+mn-ea"/>
                </a:rPr>
                <a:t>KRW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1,000,000,000 </a:t>
              </a:r>
              <a:r>
                <a:rPr lang="en-US" altLang="ko-KR" sz="700" dirty="0">
                  <a:latin typeface="+mn-ea"/>
                </a:rPr>
                <a:t>KRW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6" name="모서리가 둥근 직사각형 135"/>
          <p:cNvSpPr/>
          <p:nvPr/>
        </p:nvSpPr>
        <p:spPr>
          <a:xfrm>
            <a:off x="1977316" y="2278058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sp>
        <p:nvSpPr>
          <p:cNvPr id="137" name="모서리가 둥근 직사각형 136"/>
          <p:cNvSpPr/>
          <p:nvPr/>
        </p:nvSpPr>
        <p:spPr>
          <a:xfrm>
            <a:off x="5090317" y="1602341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/>
              <a:t>확정계약</a:t>
            </a:r>
            <a:endParaRPr lang="ko-KR" altLang="en-US" sz="600" dirty="0"/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044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358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58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2" name="그룹 141"/>
          <p:cNvGrpSpPr/>
          <p:nvPr/>
        </p:nvGrpSpPr>
        <p:grpSpPr>
          <a:xfrm>
            <a:off x="764169" y="4142235"/>
            <a:ext cx="1482541" cy="107722"/>
            <a:chOff x="764169" y="4142235"/>
            <a:chExt cx="1482541" cy="107722"/>
          </a:xfrm>
        </p:grpSpPr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9" y="4142235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계약현황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55140" y="4142235"/>
              <a:ext cx="45592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계약명세서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842256" y="4142235"/>
              <a:ext cx="40445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계약대상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48" name="그룹 147"/>
          <p:cNvGrpSpPr/>
          <p:nvPr/>
        </p:nvGrpSpPr>
        <p:grpSpPr>
          <a:xfrm>
            <a:off x="2924086" y="4104112"/>
            <a:ext cx="422853" cy="187961"/>
            <a:chOff x="3641308" y="2234886"/>
            <a:chExt cx="422853" cy="187961"/>
          </a:xfrm>
        </p:grpSpPr>
        <p:sp>
          <p:nvSpPr>
            <p:cNvPr id="149" name="타원 148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0" name="그룹 149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156" name="직선 연결선 15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1" name="타원 150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2" name="그룹 15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153" name="직선 연결선 15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8" name="그룹 157"/>
          <p:cNvGrpSpPr/>
          <p:nvPr/>
        </p:nvGrpSpPr>
        <p:grpSpPr>
          <a:xfrm>
            <a:off x="3795734" y="2107946"/>
            <a:ext cx="2712027" cy="354413"/>
            <a:chOff x="3671524" y="2151787"/>
            <a:chExt cx="2712027" cy="354413"/>
          </a:xfrm>
        </p:grpSpPr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15178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671524" y="2506200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16615" y="2506200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3" name="그룹 162"/>
            <p:cNvGrpSpPr/>
            <p:nvPr/>
          </p:nvGrpSpPr>
          <p:grpSpPr>
            <a:xfrm>
              <a:off x="3760294" y="2289593"/>
              <a:ext cx="1623210" cy="107722"/>
              <a:chOff x="764169" y="4142235"/>
              <a:chExt cx="1623210" cy="107722"/>
            </a:xfrm>
          </p:grpSpPr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64169" y="4142235"/>
                <a:ext cx="3597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 smtClean="0">
                    <a:latin typeface="+mn-ea"/>
                  </a:rPr>
                  <a:t>계약현황</a:t>
                </a:r>
                <a:endParaRPr lang="ko-KR" altLang="en-US" sz="700" b="1" dirty="0">
                  <a:latin typeface="+mn-ea"/>
                </a:endParaRPr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88821" y="4142235"/>
                <a:ext cx="401479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244736" y="4142235"/>
                <a:ext cx="625615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계약명세서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982925" y="4142235"/>
                <a:ext cx="40445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계약대상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4" name="그룹 163"/>
            <p:cNvGrpSpPr/>
            <p:nvPr/>
          </p:nvGrpSpPr>
          <p:grpSpPr>
            <a:xfrm>
              <a:off x="5920211" y="2251470"/>
              <a:ext cx="422853" cy="187961"/>
              <a:chOff x="3641308" y="2234886"/>
              <a:chExt cx="422853" cy="187961"/>
            </a:xfrm>
          </p:grpSpPr>
          <p:sp>
            <p:nvSpPr>
              <p:cNvPr id="165" name="타원 164"/>
              <p:cNvSpPr/>
              <p:nvPr/>
            </p:nvSpPr>
            <p:spPr>
              <a:xfrm flipH="1">
                <a:off x="3641308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6" name="그룹 165"/>
              <p:cNvGrpSpPr/>
              <p:nvPr/>
            </p:nvGrpSpPr>
            <p:grpSpPr>
              <a:xfrm rot="5400000" flipH="1">
                <a:off x="3679895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6" name="직선 연결선 21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직선 연결선 21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2" name="타원 211"/>
              <p:cNvSpPr/>
              <p:nvPr/>
            </p:nvSpPr>
            <p:spPr>
              <a:xfrm>
                <a:off x="3876200" y="2234886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3" name="그룹 212"/>
              <p:cNvGrpSpPr/>
              <p:nvPr/>
            </p:nvGrpSpPr>
            <p:grpSpPr>
              <a:xfrm rot="16200000">
                <a:off x="3931564" y="2305364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4" name="직선 연결선 213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5" name="직선 연결선 214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230" name="직사각형 229"/>
          <p:cNvSpPr/>
          <p:nvPr/>
        </p:nvSpPr>
        <p:spPr>
          <a:xfrm>
            <a:off x="7892005" y="0"/>
            <a:ext cx="2013995" cy="2199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260625 </a:t>
            </a:r>
            <a:r>
              <a:rPr lang="ko-KR" altLang="en-US" sz="500" dirty="0" smtClean="0"/>
              <a:t>구매요청번호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19867" y="51504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smtClean="0"/>
              <a:t>5</a:t>
            </a:r>
            <a:endParaRPr lang="ko-KR" altLang="en-US" sz="900" b="1" dirty="0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5035" y="20463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47" name="타원 2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282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06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49" name="타원 2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958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50" name="타원 2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490" y="22328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1-1</a:t>
            </a:r>
            <a:endParaRPr lang="ko-KR" altLang="en-US" sz="600" b="1" dirty="0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418040" y="23476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1-2</a:t>
            </a:r>
            <a:endParaRPr lang="ko-KR" altLang="en-US" sz="600" b="1" dirty="0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7016" y="26000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 smtClean="0"/>
              <a:t>1-3</a:t>
            </a:r>
            <a:endParaRPr lang="ko-KR" altLang="en-US" sz="600" b="1" dirty="0"/>
          </a:p>
        </p:txBody>
      </p:sp>
      <p:sp>
        <p:nvSpPr>
          <p:cNvPr id="261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 txBox="1">
            <a:spLocks/>
          </p:cNvSpPr>
          <p:nvPr/>
        </p:nvSpPr>
        <p:spPr>
          <a:xfrm>
            <a:off x="7074711" y="1483462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 algn="l" defTabSz="914400" rtl="0" eaLnBrk="1" latinLnBrk="1" hangingPunct="1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타이틀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1-1] </a:t>
            </a:r>
            <a:r>
              <a:rPr lang="ko-KR" altLang="en-US" sz="800" dirty="0" smtClean="0"/>
              <a:t>레이블이 화면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 넘치는 경우 드래그하여 확인 가능 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  <a:br>
              <a:rPr lang="en-US" altLang="ko-KR" sz="800" dirty="0" smtClean="0"/>
            </a:br>
            <a:r>
              <a:rPr lang="en-US" altLang="ko-KR" sz="800" dirty="0" smtClean="0"/>
              <a:t>1-2] </a:t>
            </a:r>
            <a:r>
              <a:rPr lang="ko-KR" altLang="en-US" sz="800" dirty="0" smtClean="0"/>
              <a:t>문서 정보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, 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노출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공사번호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전체노출</a:t>
            </a:r>
            <a:r>
              <a:rPr lang="ko-KR" altLang="en-US" sz="800" dirty="0" smtClean="0"/>
              <a:t> </a:t>
            </a:r>
            <a:r>
              <a:rPr lang="en-US" altLang="ko-KR" sz="800" dirty="0" smtClean="0"/>
              <a:t>/ </a:t>
            </a:r>
            <a:r>
              <a:rPr lang="ko-KR" altLang="en-US" sz="800" dirty="0" err="1" smtClean="0"/>
              <a:t>계약번호</a:t>
            </a:r>
            <a:r>
              <a:rPr lang="ko-KR" altLang="en-US" sz="800" dirty="0" smtClean="0"/>
              <a:t> </a:t>
            </a:r>
            <a:r>
              <a:rPr lang="ko-KR" altLang="en-US" sz="800" dirty="0" err="1" smtClean="0"/>
              <a:t>노출시</a:t>
            </a:r>
            <a:r>
              <a:rPr lang="ko-KR" altLang="en-US" sz="800" dirty="0" smtClean="0"/>
              <a:t> 해당 라인을 넘어가면 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1-3] </a:t>
            </a:r>
            <a:r>
              <a:rPr lang="ko-KR" altLang="en-US" sz="800" dirty="0" smtClean="0"/>
              <a:t>문서 제목 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제목은 </a:t>
            </a:r>
            <a:r>
              <a:rPr lang="en-US" altLang="ko-KR" sz="800" dirty="0" smtClean="0"/>
              <a:t>2</a:t>
            </a:r>
            <a:r>
              <a:rPr lang="ko-KR" altLang="en-US" sz="800" dirty="0" smtClean="0"/>
              <a:t>줄 까지 노출 이후</a:t>
            </a:r>
            <a:r>
              <a:rPr lang="en-US" altLang="ko-KR" sz="800" dirty="0" smtClean="0"/>
              <a:t>(…) </a:t>
            </a:r>
            <a:r>
              <a:rPr lang="ko-KR" altLang="en-US" sz="800" dirty="0" err="1" smtClean="0"/>
              <a:t>말줄임</a:t>
            </a:r>
            <a:r>
              <a:rPr lang="ko-KR" altLang="en-US" sz="800" dirty="0" smtClean="0"/>
              <a:t>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기본값 </a:t>
            </a:r>
            <a:r>
              <a:rPr lang="en-US" altLang="ko-KR" sz="800" dirty="0" smtClean="0"/>
              <a:t>: </a:t>
            </a:r>
            <a:r>
              <a:rPr lang="ko-KR" altLang="en-US" sz="800" dirty="0" smtClean="0"/>
              <a:t>접힘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클릭시</a:t>
            </a:r>
            <a:r>
              <a:rPr lang="ko-KR" altLang="en-US" sz="800" dirty="0" smtClean="0"/>
              <a:t> 확장하여 정보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</a:t>
            </a:r>
            <a:r>
              <a:rPr lang="ko-KR" altLang="en-US" sz="800" dirty="0" err="1" smtClean="0"/>
              <a:t>업무도움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내역이 있는 경우 만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탭 영역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상세내용 </a:t>
            </a:r>
            <a:r>
              <a:rPr lang="en-US" altLang="ko-KR" sz="800" dirty="0" smtClean="0"/>
              <a:t>Tab</a:t>
            </a:r>
            <a:r>
              <a:rPr lang="ko-KR" altLang="en-US" sz="800" dirty="0" smtClean="0"/>
              <a:t>은 진입 시 고정 노출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탭 내용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ko-KR" altLang="en-US" sz="800" dirty="0" err="1" smtClean="0"/>
              <a:t>계약현황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계약명세서</a:t>
            </a:r>
            <a:r>
              <a:rPr lang="en-US" altLang="ko-KR" sz="800" dirty="0" smtClean="0"/>
              <a:t>, </a:t>
            </a:r>
            <a:r>
              <a:rPr lang="ko-KR" altLang="en-US" sz="800" dirty="0" err="1" smtClean="0"/>
              <a:t>계약대상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&gt; </a:t>
            </a:r>
            <a:r>
              <a:rPr lang="ko-KR" altLang="en-US" sz="800" dirty="0" smtClean="0"/>
              <a:t>로그인 필요 서비스 안내 표시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화면을 </a:t>
            </a:r>
            <a:r>
              <a:rPr lang="ko-KR" altLang="en-US" sz="800" dirty="0" err="1" smtClean="0"/>
              <a:t>넘치는경우</a:t>
            </a:r>
            <a:r>
              <a:rPr lang="ko-KR" altLang="en-US" sz="800" dirty="0" smtClean="0"/>
              <a:t> 드래그하여 확인</a:t>
            </a:r>
            <a:r>
              <a:rPr lang="en-US" altLang="ko-KR" sz="800" dirty="0" smtClean="0"/>
              <a:t>(</a:t>
            </a:r>
            <a:r>
              <a:rPr lang="ko-KR" altLang="en-US" sz="800" dirty="0" err="1" smtClean="0"/>
              <a:t>스와이프기능</a:t>
            </a:r>
            <a:r>
              <a:rPr lang="ko-KR" altLang="en-US" sz="800" dirty="0" smtClean="0"/>
              <a:t> 반영 필요</a:t>
            </a:r>
            <a:r>
              <a:rPr lang="en-US" altLang="ko-KR" sz="800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계약 상세 정보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smtClean="0"/>
              <a:t>각 공고에 맞춰 폼 변화에 유의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r>
              <a:rPr lang="en-US" altLang="ko-KR" sz="800" dirty="0" smtClean="0"/>
              <a:t>- </a:t>
            </a:r>
            <a:r>
              <a:rPr lang="ko-KR" altLang="en-US" sz="800" dirty="0" err="1" smtClean="0"/>
              <a:t>상세내용에</a:t>
            </a:r>
            <a:r>
              <a:rPr lang="ko-KR" altLang="en-US" sz="800" dirty="0" smtClean="0"/>
              <a:t> 포함된 정보 표시</a:t>
            </a:r>
            <a:endParaRPr lang="en-US" altLang="ko-KR" sz="8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800" dirty="0" smtClean="0"/>
              <a:t>기본값은 상단 이동 버튼</a:t>
            </a:r>
            <a:r>
              <a:rPr lang="en-US" altLang="ko-KR" sz="800" dirty="0" smtClean="0"/>
              <a:t/>
            </a:r>
            <a:br>
              <a:rPr lang="en-US" altLang="ko-KR" sz="800" dirty="0" smtClean="0"/>
            </a:br>
            <a:endParaRPr lang="en-US" altLang="ko-KR" sz="800" dirty="0" smtClean="0"/>
          </a:p>
        </p:txBody>
      </p:sp>
    </p:spTree>
    <p:extLst>
      <p:ext uri="{BB962C8B-B14F-4D97-AF65-F5344CB8AC3E}">
        <p14:creationId xmlns:p14="http://schemas.microsoft.com/office/powerpoint/2010/main" val="1590049781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계약현황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2224511"/>
            <a:chOff x="701175" y="1527996"/>
            <a:chExt cx="2630093" cy="2224511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현황</a:t>
              </a: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19170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계약담당부서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P.R.NO.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계약형태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화폐단위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90468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국제확정전력운영계약팀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KD111111111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AAA12345 </a:t>
              </a:r>
              <a:r>
                <a:rPr lang="ko-KR" altLang="en-US" sz="700" dirty="0">
                  <a:latin typeface="+mn-ea"/>
                </a:rPr>
                <a:t>등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IX3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O </a:t>
              </a:r>
              <a:r>
                <a:rPr lang="ko-KR" altLang="en-US" sz="700" dirty="0">
                  <a:latin typeface="+mn-ea"/>
                </a:rPr>
                <a:t>전력운영사업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일반경쟁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확정계약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USD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1917026"/>
              <a:chOff x="701175" y="1835481"/>
              <a:chExt cx="2630093" cy="1917026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5" name="직선 연결선 16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26496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4797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69444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90918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312392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55340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3467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3752507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우측에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716366" y="3832038"/>
            <a:ext cx="2630093" cy="1113359"/>
            <a:chOff x="3865118" y="2694619"/>
            <a:chExt cx="2630093" cy="1113359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867211" y="2946204"/>
              <a:ext cx="792000" cy="8527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USD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USD</a:t>
              </a:r>
            </a:p>
          </p:txBody>
        </p: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16366" y="5023696"/>
            <a:ext cx="2630093" cy="1116634"/>
            <a:chOff x="3865118" y="2694619"/>
            <a:chExt cx="2630093" cy="1116634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원화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3867211" y="2946204"/>
              <a:ext cx="792000" cy="8650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본조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당년국채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장기국채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2747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1,000,000,000 KRW</a:t>
              </a: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12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3" name="그룹 102"/>
          <p:cNvGrpSpPr/>
          <p:nvPr/>
        </p:nvGrpSpPr>
        <p:grpSpPr>
          <a:xfrm>
            <a:off x="3842944" y="1527996"/>
            <a:ext cx="2630093" cy="2836908"/>
            <a:chOff x="3865118" y="2694619"/>
            <a:chExt cx="2630093" cy="2836908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추가 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7" name="직사각형 106"/>
            <p:cNvSpPr/>
            <p:nvPr/>
          </p:nvSpPr>
          <p:spPr>
            <a:xfrm>
              <a:off x="3867211" y="2946203"/>
              <a:ext cx="792000" cy="258183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계약보증금율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지체상금율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선급금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선급금율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품질보증기간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운송방법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선적지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가격조건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최종납기일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예상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검사조건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분할선적횟수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100,000 KRW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10.00 %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0.00 %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</a:t>
              </a:r>
              <a:r>
                <a:rPr lang="ko-KR" altLang="en-US" sz="700" dirty="0" smtClean="0">
                  <a:latin typeface="+mn-ea"/>
                </a:rPr>
                <a:t>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GR01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Free Carrier : </a:t>
              </a:r>
              <a:r>
                <a:rPr lang="ko-KR" altLang="en-US" sz="700" dirty="0">
                  <a:latin typeface="+mn-ea"/>
                </a:rPr>
                <a:t>운송인인도조건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2026-03-03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04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8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32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4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61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74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8864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10234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31605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5280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3842944" y="4448646"/>
            <a:ext cx="2630093" cy="2069248"/>
            <a:chOff x="3865118" y="2694619"/>
            <a:chExt cx="2630093" cy="2069248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안내 사항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86457"/>
              <a:ext cx="2487488" cy="17774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계약담당</a:t>
              </a:r>
              <a:r>
                <a:rPr lang="ko-KR" altLang="en-US" sz="700" dirty="0">
                  <a:latin typeface="+mn-ea"/>
                </a:rPr>
                <a:t> 공무원과 계약상대자는 붙임의 </a:t>
              </a:r>
              <a:r>
                <a:rPr lang="ko-KR" altLang="en-US" sz="700" dirty="0" err="1">
                  <a:latin typeface="+mn-ea"/>
                </a:rPr>
                <a:t>계약문서에</a:t>
              </a:r>
              <a:r>
                <a:rPr lang="ko-KR" altLang="en-US" sz="700" dirty="0">
                  <a:latin typeface="+mn-ea"/>
                </a:rPr>
                <a:t> 의하여 위 물품에 대한 구매계약을 체결하고 신의에 따라 성실히 계약상의 의무를 이행할 것을 확인하며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smtClean="0">
                  <a:latin typeface="+mn-ea"/>
                </a:rPr>
                <a:t>이 </a:t>
              </a:r>
              <a:r>
                <a:rPr lang="ko-KR" altLang="en-US" sz="700" dirty="0">
                  <a:latin typeface="+mn-ea"/>
                </a:rPr>
                <a:t>계약의 증거로 계약서를 작성하며 당사자가 기명 날인 후 각각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통씩 보관한다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붙임서류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1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 err="1">
                  <a:latin typeface="+mn-ea"/>
                </a:rPr>
                <a:t>계약서표지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2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계약 일반조건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3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계약 </a:t>
              </a:r>
              <a:r>
                <a:rPr lang="ko-KR" altLang="en-US" sz="700" dirty="0" err="1">
                  <a:latin typeface="+mn-ea"/>
                </a:rPr>
                <a:t>특수조건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4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 err="1">
                  <a:latin typeface="+mn-ea"/>
                </a:rPr>
                <a:t>물품명세서</a:t>
              </a:r>
              <a:r>
                <a:rPr lang="ko-KR" altLang="en-US" sz="700" dirty="0">
                  <a:latin typeface="+mn-ea"/>
                </a:rPr>
                <a:t> 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 5</a:t>
              </a:r>
              <a:r>
                <a:rPr lang="en-US" altLang="ko-KR" sz="700" dirty="0">
                  <a:latin typeface="+mn-ea"/>
                </a:rPr>
                <a:t>. </a:t>
              </a:r>
              <a:r>
                <a:rPr lang="ko-KR" altLang="en-US" sz="700" dirty="0">
                  <a:latin typeface="+mn-ea"/>
                </a:rPr>
                <a:t>기타 증거 자료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763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987572024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상업계약명세서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MUI-CT-01-P78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계약명세서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</a:t>
            </a:r>
            <a:r>
              <a:rPr lang="ko-KR" altLang="en-US" dirty="0" err="1">
                <a:latin typeface="+mn-ea"/>
              </a:rPr>
              <a:t>계약명세서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/>
          <p:cNvGrpSpPr/>
          <p:nvPr/>
        </p:nvGrpSpPr>
        <p:grpSpPr>
          <a:xfrm>
            <a:off x="701175" y="1527996"/>
            <a:ext cx="2630093" cy="528448"/>
            <a:chOff x="701175" y="1527996"/>
            <a:chExt cx="2630093" cy="528448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27996"/>
              <a:ext cx="128106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명세서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24233" y="1641327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03268" y="1835481"/>
              <a:ext cx="792000" cy="2209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90331" y="1835481"/>
              <a:ext cx="72555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GRAND-TOTAL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47180" y="1835481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100.00 USD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701175" y="1835481"/>
              <a:ext cx="2630093" cy="214740"/>
              <a:chOff x="701175" y="1835481"/>
              <a:chExt cx="2630093" cy="214740"/>
            </a:xfrm>
          </p:grpSpPr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1175" y="1835481"/>
                <a:ext cx="2621844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64" name="직선 연결선 163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703268" y="2050221"/>
                <a:ext cx="2628000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 smtClean="0">
                <a:solidFill>
                  <a:srgbClr val="0070C0"/>
                </a:solidFill>
                <a:latin typeface="+mn-ea"/>
              </a:rPr>
              <a:t>다음에 계속</a:t>
            </a:r>
            <a:endParaRPr lang="ko-KR" altLang="en-US" sz="9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7744" y="2138609"/>
            <a:ext cx="125217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명세서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목록 </a:t>
            </a:r>
            <a:r>
              <a:rPr lang="en-US" altLang="ko-KR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flipV="1">
            <a:off x="3119831" y="2251940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9" name="모서리가 둥근 직사각형 78"/>
          <p:cNvSpPr/>
          <p:nvPr/>
        </p:nvSpPr>
        <p:spPr>
          <a:xfrm>
            <a:off x="711214" y="253699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611516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001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266537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6511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2401877"/>
            <a:ext cx="13058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PR No</a:t>
            </a:r>
            <a:r>
              <a:rPr lang="en-US" altLang="ko-KR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/ Group No.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0986" y="2401877"/>
            <a:ext cx="411197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SUB-TOTAL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7978" y="2401877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2665377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74" name="그룹 173"/>
          <p:cNvGrpSpPr/>
          <p:nvPr/>
        </p:nvGrpSpPr>
        <p:grpSpPr>
          <a:xfrm rot="5400000" flipV="1">
            <a:off x="3124235" y="2707417"/>
            <a:ext cx="94010" cy="47005"/>
            <a:chOff x="6812560" y="3297172"/>
            <a:chExt cx="94010" cy="47005"/>
          </a:xfrm>
        </p:grpSpPr>
        <p:cxnSp>
          <p:nvCxnSpPr>
            <p:cNvPr id="181" name="직선 연결선 1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2" name="직선 연결선 1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64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4" name="모서리가 둥근 직사각형 183"/>
          <p:cNvSpPr/>
          <p:nvPr/>
        </p:nvSpPr>
        <p:spPr>
          <a:xfrm>
            <a:off x="711214" y="293825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1882" y="3012774"/>
            <a:ext cx="1017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AAA12345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002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410" y="306663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69643" y="3066635"/>
            <a:ext cx="86253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100.00</a:t>
            </a:r>
          </a:p>
        </p:txBody>
      </p:sp>
      <p:grpSp>
        <p:nvGrpSpPr>
          <p:cNvPr id="188" name="그룹 187"/>
          <p:cNvGrpSpPr/>
          <p:nvPr/>
        </p:nvGrpSpPr>
        <p:grpSpPr>
          <a:xfrm rot="5400000" flipV="1">
            <a:off x="3124235" y="3108675"/>
            <a:ext cx="94010" cy="47005"/>
            <a:chOff x="6812560" y="3297172"/>
            <a:chExt cx="94010" cy="47005"/>
          </a:xfrm>
        </p:grpSpPr>
        <p:cxnSp>
          <p:nvCxnSpPr>
            <p:cNvPr id="189" name="직선 연결선 1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0" name="직선 연결선 1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331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18417679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계약 상세정보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계약대상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상업계약서의 상세정보를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MUI-CT-01-T79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66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1531505"/>
            <a:ext cx="2712026" cy="659791"/>
            <a:chOff x="675399" y="2138609"/>
            <a:chExt cx="2712026" cy="659791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57744" y="2138609"/>
              <a:ext cx="1252172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계약담당</a:t>
              </a:r>
              <a:r>
                <a:rPr lang="ko-KR" altLang="en-US" sz="700" dirty="0" smtClean="0">
                  <a:latin typeface="+mn-ea"/>
                </a:rPr>
                <a:t> 공무원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78" name="그룹 77"/>
            <p:cNvGrpSpPr/>
            <p:nvPr/>
          </p:nvGrpSpPr>
          <p:grpSpPr>
            <a:xfrm flipV="1">
              <a:off x="3119831" y="2251940"/>
              <a:ext cx="94010" cy="47005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9" name="모서리가 둥근 직사각형 78"/>
            <p:cNvSpPr/>
            <p:nvPr/>
          </p:nvSpPr>
          <p:spPr>
            <a:xfrm>
              <a:off x="711214" y="2452531"/>
              <a:ext cx="2652743" cy="27287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62428" y="2535108"/>
              <a:ext cx="101775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방위사업청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계약관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7984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49" name="그룹 48"/>
          <p:cNvGrpSpPr/>
          <p:nvPr/>
        </p:nvGrpSpPr>
        <p:grpSpPr>
          <a:xfrm flipV="1">
            <a:off x="3119831" y="2357428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1" name="그룹 70"/>
          <p:cNvGrpSpPr/>
          <p:nvPr/>
        </p:nvGrpSpPr>
        <p:grpSpPr>
          <a:xfrm>
            <a:off x="716366" y="2264290"/>
            <a:ext cx="2630093" cy="1551998"/>
            <a:chOff x="3865118" y="2694619"/>
            <a:chExt cx="2630093" cy="1551998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9" y="2694619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상대자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3867211" y="2946204"/>
              <a:ext cx="792000" cy="13004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[7001F] </a:t>
              </a:r>
              <a:r>
                <a:rPr lang="en-US" altLang="ko-KR" sz="700" dirty="0" smtClean="0">
                  <a:latin typeface="+mn-ea"/>
                </a:rPr>
                <a:t>TESLA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3601347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DUNS NO</a:t>
              </a:r>
              <a:r>
                <a:rPr lang="en-US" altLang="ko-KR" sz="700" dirty="0" smtClean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35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4661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0" name="그룹 89"/>
          <p:cNvGrpSpPr/>
          <p:nvPr/>
        </p:nvGrpSpPr>
        <p:grpSpPr>
          <a:xfrm>
            <a:off x="716366" y="3940799"/>
            <a:ext cx="2630093" cy="1113360"/>
            <a:chOff x="3865118" y="2694619"/>
            <a:chExt cx="2630093" cy="1113360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6088" y="2694619"/>
              <a:ext cx="123257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무역대리점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smtClean="0">
                  <a:latin typeface="+mn-ea"/>
                </a:rPr>
                <a:t>연대보증인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3867211" y="2946205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TEL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연락처 </a:t>
              </a:r>
              <a:r>
                <a:rPr lang="en-US" altLang="ko-KR" sz="700" dirty="0">
                  <a:latin typeface="+mn-ea"/>
                </a:rPr>
                <a:t>FAX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테스트업체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7989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86311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 flipV="1">
            <a:off x="3119831" y="4006087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6" name="직선 연결선 1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" name="직사각형 49"/>
          <p:cNvSpPr/>
          <p:nvPr/>
        </p:nvSpPr>
        <p:spPr>
          <a:xfrm>
            <a:off x="7067736" y="5913120"/>
            <a:ext cx="2323393" cy="15928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260625 </a:t>
            </a:r>
            <a:r>
              <a:rPr lang="ko-KR" altLang="en-US" sz="500" dirty="0" smtClean="0"/>
              <a:t>구매요청번호</a:t>
            </a:r>
            <a:r>
              <a:rPr lang="en-US" altLang="ko-KR" sz="500" dirty="0" smtClean="0"/>
              <a:t> </a:t>
            </a:r>
            <a:r>
              <a:rPr lang="ko-KR" altLang="en-US" sz="500" dirty="0" smtClean="0"/>
              <a:t>누락</a:t>
            </a:r>
            <a:r>
              <a:rPr lang="en-US" altLang="ko-KR" sz="500" dirty="0" smtClean="0"/>
              <a:t> </a:t>
            </a:r>
          </a:p>
        </p:txBody>
      </p:sp>
      <p:sp>
        <p:nvSpPr>
          <p:cNvPr id="52" name="직사각형 51"/>
          <p:cNvSpPr/>
          <p:nvPr/>
        </p:nvSpPr>
        <p:spPr>
          <a:xfrm>
            <a:off x="7067736" y="6072406"/>
            <a:ext cx="2335834" cy="15989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500" dirty="0" smtClean="0"/>
              <a:t>PC</a:t>
            </a:r>
            <a:r>
              <a:rPr lang="ko-KR" altLang="en-US" sz="500" dirty="0" smtClean="0"/>
              <a:t>에 항목설명 메뉴 없음</a:t>
            </a:r>
            <a:endParaRPr lang="en-US" altLang="ko-KR" sz="500" dirty="0" smtClean="0"/>
          </a:p>
        </p:txBody>
      </p:sp>
    </p:spTree>
    <p:extLst>
      <p:ext uri="{BB962C8B-B14F-4D97-AF65-F5344CB8AC3E}">
        <p14:creationId xmlns:p14="http://schemas.microsoft.com/office/powerpoint/2010/main" val="217681481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181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584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계약상세정보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542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ofcctrDeptNm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계약담당부서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picNm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담당자성명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prchsDmndNo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4052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10139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bizSeCd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사업구분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5937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ctrtMthdNm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19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ctrtShpCd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계약형태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99575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807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bscbgtFrcncyAmt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본조금액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7466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thsyrGovbndFrcncyAmt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55895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ltrmGovbndFrcncyAmt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2410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gramtFrcncy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974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원화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bscbgtAmt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본조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6166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thsyrGovbndAmt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당년국채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29873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ltrmGovbndAmt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장기국채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302020204030204"/>
                          <a:ea typeface="맑은 고딕" panose="020B0503020000020004" pitchFamily="50" charset="-127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59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원화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총 원화금액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67062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ctrtGrnteAmtRt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계약보증금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33843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lqdmgRt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지체상금율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9,4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695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prpamtRt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선급금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5,2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59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qltyGrntePrd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품질보증기간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84905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trnsMthdCd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운송방법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8900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shplc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선적지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1502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prcCndCd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가격조건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1514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lastDudtYmd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최종납기일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예상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34228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inspShpCd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검사조건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2739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prttnShpgNmtm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분할선적횟수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8505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57365282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182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2367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계약상대자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dm_ctrtRlt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7819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상호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상호명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zentyAddr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대표자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rprsvNm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대표자명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enbrno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사업자등록번호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TEL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ctrtBzentyEntlno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FAX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계약업체 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</a:t>
                      </a:r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zentyNm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797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주소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무역대리점 주소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42296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TEL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bzentyEntlno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전화번호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96005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FAX(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</a:t>
                      </a: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b</a:t>
                      </a:r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zentyFxno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무역대리점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팩스번호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40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000242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3443586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370039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순번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명세서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54046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  <a:r>
              <a:rPr lang="en-US" altLang="ko-KR" sz="1000" b="1" dirty="0">
                <a:solidFill>
                  <a:prstClr val="black"/>
                </a:solidFill>
              </a:rPr>
              <a:t> 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4739560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996369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GRAND-TOTAL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0416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5C5ABF10-68D6-D8DD-5586-3607BC39B9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183</a:t>
            </a:fld>
            <a:endParaRPr lang="ko-KR" alt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A0056F0-DEF0-7CF7-A556-CC8B6D3196A9}"/>
              </a:ext>
            </a:extLst>
          </p:cNvPr>
          <p:cNvSpPr txBox="1"/>
          <p:nvPr/>
        </p:nvSpPr>
        <p:spPr>
          <a:xfrm>
            <a:off x="458117" y="5828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E3F835A-06FC-90FB-1710-AD9A6D0EA7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293142"/>
              </p:ext>
            </p:extLst>
          </p:nvPr>
        </p:nvGraphicFramePr>
        <p:xfrm>
          <a:off x="458117" y="812247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59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257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242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상업계약서상세정보를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scwin.grd_cmbzCtrtDtst_oncellclick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팝업창을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MUI-CT-01-P78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904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scwin.btn_report_onclick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상업계약서출력물 화면을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UI-CT-01-R84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946956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B39DCD8-1F17-31D2-8A37-C4CB6B438A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514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9982554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목록 데이터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L/I </a:t>
            </a:r>
            <a:r>
              <a:rPr lang="ko-KR" altLang="en-US" dirty="0" err="1" smtClean="0"/>
              <a:t>항목번호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Stock-No </a:t>
            </a:r>
            <a:r>
              <a:rPr lang="ko-KR" altLang="en-US" dirty="0" err="1" smtClean="0"/>
              <a:t>재고번호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Part-No </a:t>
            </a:r>
            <a:r>
              <a:rPr lang="ko-KR" altLang="en-US" dirty="0" err="1" smtClean="0"/>
              <a:t>부품번호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Nomencalature</a:t>
            </a:r>
            <a:r>
              <a:rPr lang="en-US" altLang="ko-KR" dirty="0" smtClean="0"/>
              <a:t> </a:t>
            </a:r>
            <a:r>
              <a:rPr lang="ko-KR" altLang="en-US" dirty="0" smtClean="0"/>
              <a:t>품명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Budge </a:t>
            </a:r>
            <a:r>
              <a:rPr lang="ko-KR" altLang="en-US" dirty="0" err="1" smtClean="0"/>
              <a:t>예산구분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Unit </a:t>
            </a:r>
            <a:r>
              <a:rPr lang="ko-KR" altLang="en-US" dirty="0" smtClean="0"/>
              <a:t>단위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QNty</a:t>
            </a:r>
            <a:r>
              <a:rPr lang="en-US" altLang="ko-KR" dirty="0" smtClean="0"/>
              <a:t> </a:t>
            </a:r>
            <a:r>
              <a:rPr lang="ko-KR" altLang="en-US" dirty="0" smtClean="0"/>
              <a:t>수량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UnitPrice</a:t>
            </a:r>
            <a:r>
              <a:rPr lang="en-US" altLang="ko-KR" dirty="0" smtClean="0"/>
              <a:t> </a:t>
            </a:r>
            <a:r>
              <a:rPr lang="ko-KR" altLang="en-US" dirty="0" smtClean="0"/>
              <a:t>단가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Total </a:t>
            </a:r>
            <a:r>
              <a:rPr lang="ko-KR" altLang="en-US" dirty="0" err="1" smtClean="0"/>
              <a:t>총금액</a:t>
            </a:r>
            <a:r>
              <a:rPr lang="ko-KR" altLang="en-US" dirty="0" smtClean="0"/>
              <a:t>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상업계약서명세서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상업계약명세서 </a:t>
            </a:r>
            <a:r>
              <a:rPr lang="ko-KR" altLang="en-US" dirty="0" err="1">
                <a:latin typeface="+mn-ea"/>
              </a:rPr>
              <a:t>목록정보를</a:t>
            </a:r>
            <a:r>
              <a:rPr lang="ko-KR" altLang="en-US" dirty="0">
                <a:latin typeface="+mn-ea"/>
              </a:rPr>
              <a:t> 조회하는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smtClean="0">
                <a:latin typeface="+mn-ea"/>
              </a:rPr>
              <a:t>계약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상업계약서</a:t>
            </a:r>
            <a:r>
              <a:rPr lang="ko-KR" altLang="en-US" dirty="0">
                <a:latin typeface="+mn-ea"/>
              </a:rPr>
              <a:t>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상업계약서명세서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MUI-CT-01-P78</a:t>
            </a:r>
            <a:endParaRPr lang="ko-KR" altLang="en-US" dirty="0"/>
          </a:p>
        </p:txBody>
      </p:sp>
      <p:sp>
        <p:nvSpPr>
          <p:cNvPr id="65" name="양쪽 모서리가 둥근 사각형 64"/>
          <p:cNvSpPr/>
          <p:nvPr/>
        </p:nvSpPr>
        <p:spPr>
          <a:xfrm>
            <a:off x="669777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755790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58716" y="2273335"/>
            <a:ext cx="94010" cy="94010"/>
            <a:chOff x="6812560" y="3297172"/>
            <a:chExt cx="94010" cy="94010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854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계약명세서</a:t>
            </a:r>
            <a:r>
              <a:rPr lang="ko-KR" altLang="en-US" sz="900" dirty="0" smtClean="0">
                <a:latin typeface="+mn-ea"/>
              </a:rPr>
              <a:t> 상세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9777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8" name="그룹 37"/>
          <p:cNvGrpSpPr/>
          <p:nvPr/>
        </p:nvGrpSpPr>
        <p:grpSpPr>
          <a:xfrm>
            <a:off x="716366" y="3617463"/>
            <a:ext cx="2630093" cy="2154436"/>
            <a:chOff x="3865118" y="2946204"/>
            <a:chExt cx="2630093" cy="2154436"/>
          </a:xfrm>
        </p:grpSpPr>
        <p:sp>
          <p:nvSpPr>
            <p:cNvPr id="40" name="직사각형 39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 smtClean="0">
                  <a:latin typeface="+mn-ea"/>
                </a:rPr>
                <a:t>Qnty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</a:t>
              </a:r>
              <a:r>
                <a:rPr lang="en-US" altLang="ko-KR" sz="700" dirty="0" smtClean="0">
                  <a:latin typeface="+mn-ea"/>
                </a:rPr>
                <a:t>Price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44" name="직선 연결선 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2546367"/>
            <a:ext cx="12868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명세서 품목 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 rot="5400000">
            <a:off x="2656620" y="324678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11214" y="2938870"/>
            <a:ext cx="2652743" cy="364486"/>
            <a:chOff x="711214" y="2744368"/>
            <a:chExt cx="2652743" cy="36448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711214" y="2744368"/>
              <a:ext cx="2652743" cy="364486"/>
            </a:xfrm>
            <a:prstGeom prst="roundRect">
              <a:avLst>
                <a:gd name="adj" fmla="val 9062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7430" y="2872750"/>
              <a:ext cx="101775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SUB-TOTAL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305563" y="2872750"/>
              <a:ext cx="862539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340.00</a:t>
              </a:r>
              <a:endParaRPr lang="en-US" altLang="ko-KR" sz="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6209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375528"/>
            <a:ext cx="128688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명세서 목록 </a:t>
            </a:r>
            <a:r>
              <a:rPr lang="en-US" altLang="ko-KR" sz="700" dirty="0" smtClean="0">
                <a:latin typeface="+mn-ea"/>
              </a:rPr>
              <a:t>– </a:t>
            </a:r>
            <a:r>
              <a:rPr lang="ko-KR" altLang="en-US" sz="700" dirty="0" smtClean="0">
                <a:latin typeface="+mn-ea"/>
              </a:rPr>
              <a:t>총</a:t>
            </a:r>
            <a:r>
              <a:rPr lang="en-US" altLang="ko-KR" sz="700" dirty="0" smtClean="0">
                <a:latin typeface="+mn-ea"/>
              </a:rPr>
              <a:t> 00</a:t>
            </a:r>
            <a:r>
              <a:rPr lang="ko-KR" altLang="en-US" sz="700" dirty="0" smtClean="0">
                <a:latin typeface="+mn-ea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solidFill>
            <a:srgbClr val="000000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양쪽 모서리가 둥근 사각형 80"/>
          <p:cNvSpPr/>
          <p:nvPr/>
        </p:nvSpPr>
        <p:spPr>
          <a:xfrm>
            <a:off x="3795734" y="2108521"/>
            <a:ext cx="2712027" cy="412377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2" name="모서리가 둥근 직사각형 81"/>
          <p:cNvSpPr/>
          <p:nvPr/>
        </p:nvSpPr>
        <p:spPr>
          <a:xfrm>
            <a:off x="4881747" y="213891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3" name="그룹 82"/>
          <p:cNvGrpSpPr/>
          <p:nvPr/>
        </p:nvGrpSpPr>
        <p:grpSpPr>
          <a:xfrm>
            <a:off x="6284673" y="2273335"/>
            <a:ext cx="94010" cy="94010"/>
            <a:chOff x="6812560" y="3297172"/>
            <a:chExt cx="94010" cy="94010"/>
          </a:xfrm>
        </p:grpSpPr>
        <p:cxnSp>
          <p:nvCxnSpPr>
            <p:cNvPr id="100" name="직선 연결선 99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25401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계약명세서</a:t>
            </a:r>
            <a:r>
              <a:rPr lang="ko-KR" altLang="en-US" sz="900" dirty="0" smtClean="0">
                <a:latin typeface="+mn-ea"/>
              </a:rPr>
              <a:t> 상세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5154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4" name="그룹 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836701" y="2663484"/>
            <a:ext cx="2630093" cy="2154436"/>
            <a:chOff x="3865118" y="2946204"/>
            <a:chExt cx="2630093" cy="2154436"/>
          </a:xfrm>
        </p:grpSpPr>
        <p:sp>
          <p:nvSpPr>
            <p:cNvPr id="105" name="직사각형 104"/>
            <p:cNvSpPr/>
            <p:nvPr/>
          </p:nvSpPr>
          <p:spPr>
            <a:xfrm>
              <a:off x="3867211" y="2946204"/>
              <a:ext cx="792000" cy="21315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6" name="직선 연결선 1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5118" y="294620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54275" y="2946204"/>
              <a:ext cx="670770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L/I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조달요구번호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Stock-No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Part-No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Nomenclature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Budget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Unit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err="1" smtClean="0">
                  <a:latin typeface="+mn-ea"/>
                </a:rPr>
                <a:t>Qnty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Unit Price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Total </a:t>
              </a:r>
              <a:r>
                <a:rPr lang="en-US" altLang="ko-KR" sz="700" dirty="0" smtClean="0">
                  <a:latin typeface="+mn-ea"/>
                </a:rPr>
                <a:t>Price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11123" y="2946204"/>
              <a:ext cx="1775839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MBCLMH13630691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012305317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958AS535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LAUNCHER,ROCKET,AI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16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EA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10.00 USD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prstClr val="black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170.00 USD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1773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3910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6140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38177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0227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2364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4594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663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48728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67211" y="5082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021597"/>
            <a:ext cx="76863" cy="292489"/>
            <a:chOff x="3750067" y="4683795"/>
            <a:chExt cx="76863" cy="292489"/>
          </a:xfrm>
        </p:grpSpPr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82369340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185</a:t>
            </a:fld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61425E-CF8F-335C-6D5E-594D854BAAC5}"/>
              </a:ext>
            </a:extLst>
          </p:cNvPr>
          <p:cNvSpPr txBox="1"/>
          <p:nvPr/>
        </p:nvSpPr>
        <p:spPr>
          <a:xfrm>
            <a:off x="445847" y="811010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8CB41F3-B133-1F18-71DD-16ECE1B660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2424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ctrtNo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PR.NO.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prchsDmndNo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구매요청번호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Project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계약건명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Group 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groupNo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그룹번호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14820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Firm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ctrtBzentyNm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계약업체명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3315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Type of Bid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ctrtMthdNm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계약방법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0567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crncCd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계약서 화폐단위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233093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D0768753-46F4-1DC6-E7D8-8BFBF91A96CE}"/>
              </a:ext>
            </a:extLst>
          </p:cNvPr>
          <p:cNvSpPr txBox="1"/>
          <p:nvPr/>
        </p:nvSpPr>
        <p:spPr>
          <a:xfrm>
            <a:off x="452999" y="2594037"/>
            <a:ext cx="22399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계약명세서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dl_ctrtDtst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E92F946-6974-6D8B-EB48-6240F853E3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151" y="2895486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artclNo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항목번호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prcmRqtNo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조달요구번호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4873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invtNo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재고번호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5401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prtsNo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부품번호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5447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979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bgtSeCd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예산구분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7248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unitNm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48718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itemQty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수량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664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itemUntprc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단가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053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gramt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56147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95870D7F-3846-2458-4D5A-E19AAB837F74}"/>
              </a:ext>
            </a:extLst>
          </p:cNvPr>
          <p:cNvSpPr txBox="1"/>
          <p:nvPr/>
        </p:nvSpPr>
        <p:spPr>
          <a:xfrm>
            <a:off x="458117" y="587437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0" name="Text Box 73">
            <a:extLst>
              <a:ext uri="{FF2B5EF4-FFF2-40B4-BE49-F238E27FC236}">
                <a16:creationId xmlns:a16="http://schemas.microsoft.com/office/drawing/2014/main" id="{1DAFEAE9-E73F-4EB2-B316-CAF3B6FE2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907AB4-8D30-10E9-A8C9-506363A5E3C0}"/>
              </a:ext>
            </a:extLst>
          </p:cNvPr>
          <p:cNvSpPr txBox="1"/>
          <p:nvPr/>
        </p:nvSpPr>
        <p:spPr>
          <a:xfrm>
            <a:off x="447726" y="57137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6E9635-F462-79E3-9DE6-409E59C8DA6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2609" y="5948701"/>
          <a:ext cx="8995590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540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4042">
                  <a:extLst>
                    <a:ext uri="{9D8B030D-6E8A-4147-A177-3AD203B41FA5}">
                      <a16:colId xmlns:a16="http://schemas.microsoft.com/office/drawing/2014/main" val="3466128933"/>
                    </a:ext>
                  </a:extLst>
                </a:gridCol>
                <a:gridCol w="2923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4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페이지 로딩 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상업계약명세서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2FBDA98-9B1A-DE89-E4A7-226960FD3D0E}"/>
              </a:ext>
            </a:extLst>
          </p:cNvPr>
          <p:cNvSpPr txBox="1"/>
          <p:nvPr/>
        </p:nvSpPr>
        <p:spPr>
          <a:xfrm>
            <a:off x="448406" y="5010721"/>
            <a:ext cx="199310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총금액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dm_gramt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D6DACC6-0AC9-2109-DEA4-A24CE6B59FD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526753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272419500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j-lt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lt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SUB-TOTAL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itemGramt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품목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맑은 고딕" panose="020B0503020000020004" pitchFamily="50" charset="-127"/>
                        </a:rPr>
                        <a:t>총금액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j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646649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17587</TotalTime>
  <Words>25939</Words>
  <Application>Microsoft Office PowerPoint</Application>
  <PresentationFormat>A4 용지(210x297mm)</PresentationFormat>
  <Paragraphs>14697</Paragraphs>
  <Slides>186</Slides>
  <Notes>25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186</vt:i4>
      </vt:variant>
    </vt:vector>
  </HeadingPairs>
  <TitlesOfParts>
    <vt:vector size="194" baseType="lpstr">
      <vt:lpstr>Pretendard Medium</vt:lpstr>
      <vt:lpstr>맑은 고딕</vt:lpstr>
      <vt:lpstr>맑은 고딕 (본문)</vt:lpstr>
      <vt:lpstr>Arial</vt:lpstr>
      <vt:lpstr>Segoe UI</vt:lpstr>
      <vt:lpstr>Times New Roman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1023</cp:revision>
  <cp:lastPrinted>2016-10-27T08:57:39Z</cp:lastPrinted>
  <dcterms:created xsi:type="dcterms:W3CDTF">2016-10-27T07:41:55Z</dcterms:created>
  <dcterms:modified xsi:type="dcterms:W3CDTF">2026-07-21T04:23:31Z</dcterms:modified>
  <cp:category>서브시스템/업무명</cp:category>
  <cp:contentStatus>0.1</cp:contentStatus>
</cp:coreProperties>
</file>