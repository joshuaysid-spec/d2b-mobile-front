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88"/>
  </p:notesMasterIdLst>
  <p:handoutMasterIdLst>
    <p:handoutMasterId r:id="rId89"/>
  </p:handoutMasterIdLst>
  <p:sldIdLst>
    <p:sldId id="256" r:id="rId2"/>
    <p:sldId id="300" r:id="rId3"/>
    <p:sldId id="656" r:id="rId4"/>
    <p:sldId id="356" r:id="rId5"/>
    <p:sldId id="260" r:id="rId6"/>
    <p:sldId id="728" r:id="rId7"/>
    <p:sldId id="729" r:id="rId8"/>
    <p:sldId id="291" r:id="rId9"/>
    <p:sldId id="358" r:id="rId10"/>
    <p:sldId id="731" r:id="rId11"/>
    <p:sldId id="730" r:id="rId12"/>
    <p:sldId id="727" r:id="rId13"/>
    <p:sldId id="733" r:id="rId14"/>
    <p:sldId id="657" r:id="rId15"/>
    <p:sldId id="658" r:id="rId16"/>
    <p:sldId id="292" r:id="rId17"/>
    <p:sldId id="620" r:id="rId18"/>
    <p:sldId id="623" r:id="rId19"/>
    <p:sldId id="686" r:id="rId20"/>
    <p:sldId id="687" r:id="rId21"/>
    <p:sldId id="688" r:id="rId22"/>
    <p:sldId id="689" r:id="rId23"/>
    <p:sldId id="690" r:id="rId24"/>
    <p:sldId id="306" r:id="rId25"/>
    <p:sldId id="645" r:id="rId26"/>
    <p:sldId id="314" r:id="rId27"/>
    <p:sldId id="629" r:id="rId28"/>
    <p:sldId id="315" r:id="rId29"/>
    <p:sldId id="734" r:id="rId30"/>
    <p:sldId id="630" r:id="rId31"/>
    <p:sldId id="639" r:id="rId32"/>
    <p:sldId id="701" r:id="rId33"/>
    <p:sldId id="643" r:id="rId34"/>
    <p:sldId id="702" r:id="rId35"/>
    <p:sldId id="640" r:id="rId36"/>
    <p:sldId id="703" r:id="rId37"/>
    <p:sldId id="332" r:id="rId38"/>
    <p:sldId id="631" r:id="rId39"/>
    <p:sldId id="705" r:id="rId40"/>
    <p:sldId id="691" r:id="rId41"/>
    <p:sldId id="692" r:id="rId42"/>
    <p:sldId id="693" r:id="rId43"/>
    <p:sldId id="694" r:id="rId44"/>
    <p:sldId id="695" r:id="rId45"/>
    <p:sldId id="696" r:id="rId46"/>
    <p:sldId id="697" r:id="rId47"/>
    <p:sldId id="646" r:id="rId48"/>
    <p:sldId id="735" r:id="rId49"/>
    <p:sldId id="719" r:id="rId50"/>
    <p:sldId id="720" r:id="rId51"/>
    <p:sldId id="721" r:id="rId52"/>
    <p:sldId id="722" r:id="rId53"/>
    <p:sldId id="723" r:id="rId54"/>
    <p:sldId id="724" r:id="rId55"/>
    <p:sldId id="698" r:id="rId56"/>
    <p:sldId id="699" r:id="rId57"/>
    <p:sldId id="700" r:id="rId58"/>
    <p:sldId id="706" r:id="rId59"/>
    <p:sldId id="732" r:id="rId60"/>
    <p:sldId id="661" r:id="rId61"/>
    <p:sldId id="665" r:id="rId62"/>
    <p:sldId id="707" r:id="rId63"/>
    <p:sldId id="668" r:id="rId64"/>
    <p:sldId id="708" r:id="rId65"/>
    <p:sldId id="672" r:id="rId66"/>
    <p:sldId id="663" r:id="rId67"/>
    <p:sldId id="736" r:id="rId68"/>
    <p:sldId id="664" r:id="rId69"/>
    <p:sldId id="709" r:id="rId70"/>
    <p:sldId id="710" r:id="rId71"/>
    <p:sldId id="711" r:id="rId72"/>
    <p:sldId id="682" r:id="rId73"/>
    <p:sldId id="712" r:id="rId74"/>
    <p:sldId id="713" r:id="rId75"/>
    <p:sldId id="714" r:id="rId76"/>
    <p:sldId id="670" r:id="rId77"/>
    <p:sldId id="738" r:id="rId78"/>
    <p:sldId id="726" r:id="rId79"/>
    <p:sldId id="737" r:id="rId80"/>
    <p:sldId id="673" r:id="rId81"/>
    <p:sldId id="674" r:id="rId82"/>
    <p:sldId id="685" r:id="rId83"/>
    <p:sldId id="715" r:id="rId84"/>
    <p:sldId id="716" r:id="rId85"/>
    <p:sldId id="717" r:id="rId86"/>
    <p:sldId id="718" r:id="rId87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300"/>
            <p14:sldId id="656"/>
            <p14:sldId id="356"/>
            <p14:sldId id="260"/>
          </p14:sldIdLst>
        </p14:section>
        <p14:section name="1.조달계획 통합 목록" id="{A88D8C4A-42D5-488C-851B-9A15CEB54A60}">
          <p14:sldIdLst>
            <p14:sldId id="728"/>
            <p14:sldId id="729"/>
            <p14:sldId id="291"/>
            <p14:sldId id="358"/>
            <p14:sldId id="731"/>
            <p14:sldId id="730"/>
            <p14:sldId id="727"/>
            <p14:sldId id="733"/>
            <p14:sldId id="657"/>
            <p14:sldId id="658"/>
            <p14:sldId id="292"/>
            <p14:sldId id="620"/>
            <p14:sldId id="623"/>
            <p14:sldId id="686"/>
            <p14:sldId id="687"/>
            <p14:sldId id="688"/>
            <p14:sldId id="689"/>
            <p14:sldId id="690"/>
          </p14:sldIdLst>
        </p14:section>
        <p14:section name="2.조달계획상세조회" id="{019FD015-75A8-4452-8691-168FACA46FB5}">
          <p14:sldIdLst>
            <p14:sldId id="306"/>
            <p14:sldId id="645"/>
            <p14:sldId id="314"/>
            <p14:sldId id="629"/>
            <p14:sldId id="315"/>
            <p14:sldId id="734"/>
            <p14:sldId id="630"/>
            <p14:sldId id="639"/>
            <p14:sldId id="701"/>
            <p14:sldId id="643"/>
            <p14:sldId id="702"/>
            <p14:sldId id="640"/>
            <p14:sldId id="703"/>
            <p14:sldId id="332"/>
            <p14:sldId id="631"/>
            <p14:sldId id="705"/>
            <p14:sldId id="691"/>
            <p14:sldId id="692"/>
            <p14:sldId id="693"/>
            <p14:sldId id="694"/>
            <p14:sldId id="695"/>
            <p14:sldId id="696"/>
            <p14:sldId id="697"/>
            <p14:sldId id="646"/>
            <p14:sldId id="735"/>
            <p14:sldId id="719"/>
            <p14:sldId id="720"/>
            <p14:sldId id="721"/>
            <p14:sldId id="722"/>
            <p14:sldId id="723"/>
            <p14:sldId id="724"/>
            <p14:sldId id="698"/>
            <p14:sldId id="699"/>
            <p14:sldId id="700"/>
          </p14:sldIdLst>
        </p14:section>
        <p14:section name="[국외] 조달계획 상세" id="{0F550730-724B-41A3-91AD-127384FAF47D}">
          <p14:sldIdLst>
            <p14:sldId id="706"/>
            <p14:sldId id="732"/>
            <p14:sldId id="661"/>
            <p14:sldId id="665"/>
            <p14:sldId id="707"/>
            <p14:sldId id="668"/>
            <p14:sldId id="708"/>
            <p14:sldId id="672"/>
            <p14:sldId id="663"/>
            <p14:sldId id="736"/>
            <p14:sldId id="664"/>
            <p14:sldId id="709"/>
            <p14:sldId id="710"/>
            <p14:sldId id="711"/>
            <p14:sldId id="682"/>
            <p14:sldId id="712"/>
            <p14:sldId id="713"/>
            <p14:sldId id="714"/>
            <p14:sldId id="670"/>
            <p14:sldId id="738"/>
            <p14:sldId id="726"/>
            <p14:sldId id="737"/>
            <p14:sldId id="673"/>
            <p14:sldId id="674"/>
            <p14:sldId id="685"/>
            <p14:sldId id="715"/>
            <p14:sldId id="716"/>
            <p14:sldId id="717"/>
            <p14:sldId id="7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948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2026-08-26 (Wednesday)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2026-08-26 (Wednesday)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7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91678796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제개정일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01.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조달계획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01.</a:t>
            </a:r>
            <a:r>
              <a:rPr lang="ko-KR" altLang="en-US" dirty="0"/>
              <a:t>조달계획</a:t>
            </a:r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21A837-6853-B5CA-5641-F9A516F3B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8D2BE-3FE8-714A-457C-A4A1521A282B}"/>
              </a:ext>
            </a:extLst>
          </p:cNvPr>
          <p:cNvSpPr/>
          <p:nvPr/>
        </p:nvSpPr>
        <p:spPr>
          <a:xfrm>
            <a:off x="3079266" y="1809750"/>
            <a:ext cx="3771900" cy="3400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국방전자조달시스템 고도화 구축 사업 이외의 어떠한 목적에도 사용을 금하며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사업관리기관 및 개발업체  요원 이외의 열람을 통제한다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방위사업청의 승인없이 발췌 및 복사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배포를 금지하며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방위사업청  문서관리규정에 의하여 관리한다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3A35A62-3F88-2F9F-9F03-E16DFE92E11E}"/>
              </a:ext>
            </a:extLst>
          </p:cNvPr>
          <p:cNvSpPr txBox="1">
            <a:spLocks/>
          </p:cNvSpPr>
          <p:nvPr/>
        </p:nvSpPr>
        <p:spPr>
          <a:xfrm>
            <a:off x="2265216" y="978498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/>
              <a:t>경 고 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1223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99876"/>
              </p:ext>
            </p:extLst>
          </p:nvPr>
        </p:nvGraphicFramePr>
        <p:xfrm>
          <a:off x="652374" y="1286787"/>
          <a:ext cx="8782571" cy="3980190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85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3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881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723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94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132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144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4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5676608D-A60D-BA94-7D8E-64B4323E3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634942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698922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조달계획 </a:t>
                      </a: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통합목록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/>
                        <a:t>국외 </a:t>
                      </a:r>
                      <a:r>
                        <a:rPr lang="ko-KR" altLang="en-US" sz="1200" dirty="0">
                          <a:latin typeface="+mn-ea"/>
                        </a:rPr>
                        <a:t>조달계획 통합</a:t>
                      </a:r>
                      <a:r>
                        <a:rPr lang="ko-KR" altLang="en-US" sz="1200" dirty="0"/>
                        <a:t> 목록 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53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55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조달계획 통합</a:t>
            </a:r>
            <a:r>
              <a:rPr lang="ko-KR" altLang="en-US" dirty="0"/>
              <a:t> 목록 메뉴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605230"/>
              </p:ext>
            </p:extLst>
          </p:nvPr>
        </p:nvGraphicFramePr>
        <p:xfrm>
          <a:off x="635474" y="1253620"/>
          <a:ext cx="8701200" cy="53990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MUI-OP-01-M01</a:t>
                      </a:r>
                      <a:endParaRPr lang="en-US" sz="75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 smtClean="0">
                          <a:latin typeface="+mn-ea"/>
                          <a:ea typeface="+mn-ea"/>
                        </a:rPr>
                        <a:t>조달계획통합목록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PrcmIPlanntgListPage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통합 목록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PrcmPlanIntgListPage.tsx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UC-OP-02-01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UC-OP-03-01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MUI-OP-01-T01</a:t>
                      </a:r>
                      <a:endParaRPr lang="en-US" sz="75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PrcmIPlanntgTab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latin typeface="+mn-ea"/>
                          <a:ea typeface="+mn-ea"/>
                        </a:rPr>
                        <a:t>통합 목록 조회 화면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목록</a:t>
                      </a:r>
                      <a:endParaRPr lang="ko-KR" altLang="en-US" sz="800" b="0" dirty="0" smtClean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PrcmIPlanntgTab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28204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MUI-OP-01-T02</a:t>
                      </a:r>
                      <a:endParaRPr lang="en-US" sz="75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BfhdSpcfctTab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latin typeface="+mn-ea"/>
                          <a:ea typeface="+mn-ea"/>
                        </a:rPr>
                        <a:t>통합 목록 조회 화면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목록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BfhdSpcfctTab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4225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MUI-OP-01-T03</a:t>
                      </a:r>
                      <a:endParaRPr lang="en-US" sz="75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연간조달계획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OvsPrcmPlanTab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smtClean="0">
                          <a:latin typeface="+mn-ea"/>
                          <a:ea typeface="+mn-ea"/>
                        </a:rPr>
                        <a:t>통합 목록 조회 화면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연간조달계획 목록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OvsPrcmPlanTab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2016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PrcmIPlanntgTab_SrchFilter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PrcmPlanIntgList_SrchFilter.tsx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UC-OP-02-01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UC-OP-03-01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BfhdSpcfctTab_SrchFilter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BfhdSpcfctTab_SrchFilter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12795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연간조달계획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OvsPrcmPlanTab_SrchFilter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연간조달계획</a:t>
                      </a: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prcmPlanIntgList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OvsPrcmPlanTab_SrchFilter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UC-OP-02-01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89549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조달계획상세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PrcmPlanDtlPage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 중 상세 내용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PrcmPlanDtlPage.tsx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2458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상세내용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내용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품목명세서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PrcmPlanDtl_PrdList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품목명세서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PrcmPlanDtl_PrdList.tsx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PrcmPlanDtl_OpnnList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UC-OP-01-02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업체의견상세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상세내용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1479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업체의견답변상세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PrcmPlanDtl_OpnnAnsDtl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관리자의 답변 내용 상세내용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PrcmPlanDtl_OpnnAnsDtl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35823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0676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958109"/>
              </p:ext>
            </p:extLst>
          </p:nvPr>
        </p:nvGraphicFramePr>
        <p:xfrm>
          <a:off x="635474" y="1253620"/>
          <a:ext cx="8701200" cy="47894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업체의견등록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PrcmPlanDtl_OpnnReg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내용 작성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PrcmPlanDtl_OpnnReg.tsx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계약특수조건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PrcmPlanDtl_spclCtrt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계약특수조건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PrcmPlanDtl_spclCtrt.tsx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93972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PrcmPlanDtl_Doc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PrcmPlanDtl_Doc.tsx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5733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입찰공고알림신청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PrcmPlan_NotiAply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조달계획에서 입찰공고 이후 알림을 신청하는 팝업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PrcmPlan_NotiAply.tsx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6619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연관조달계획상세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AnlPrcmPlanDtl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외 업무 상세화면에서 연관 된 조달계획 정보를 조회한다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AnlPrcmPlanDtl.tsx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70157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MUI-OP-01-M11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BfhdSpcfctDtlPage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ko-KR" altLang="en-US" sz="8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중 상세 내용 탭 표시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8511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MUI-OP-01-T09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상세내용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ko-KR" altLang="en-US" sz="8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중 상세 내용 탭 표시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9233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MUI-OP-01-T10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BfhdSpcfctDtl_OpnnList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상세의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탭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상세와 동일한 화면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UC-OP-01-02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8844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BfhdSpcfctDtl_OpnnDtl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상세의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탭 목록에서 상세내용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상세와 동일한 화면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OpnnDtl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PrcmPlanDtl_OpnnDtl.tsx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6345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답변 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BfhdSpcfctDtl_OpnnAnsDtl</a:t>
                      </a:r>
                      <a:endParaRPr lang="en-US" sz="8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상세의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탭 목록에서 관리자의 답변 내용 상세내용 조회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상세와 동일한 화면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OpnnDtl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PrcmPlanDtl_OpnnAnsDtl.tsx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21025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등록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BfhdSpcfctDtl_OpnnReg</a:t>
                      </a:r>
                      <a:endParaRPr 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상세의 </a:t>
                      </a:r>
                      <a:r>
                        <a:rPr kumimoji="0" lang="ko-KR" altLang="en-US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업체의견</a:t>
                      </a: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탭 목록에서 내용 작성 화면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상세와 동일한 화면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_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OpnnDtl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PrcmPlanDtl_OpnnReg.tsx</a:t>
                      </a:r>
                      <a:endParaRPr kumimoji="0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UC-OP-01-01</a:t>
                      </a:r>
                      <a:endParaRPr lang="ko-KR" altLang="en-US" dirty="0"/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5579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MUI-OP-01-T11</a:t>
                      </a:r>
                      <a:endParaRPr lang="en-US" sz="75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BfhdSpcfctDtl_Doc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 탭 표시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BfhdSpcfctDtl_Doc.tsx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1157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연관 사전규격상세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AnlBfhdSpcfctDtl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타메뉴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상세화면에서 연관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사전규격을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조회할 경우 열리는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AnlBfhdSpcfctDtl.tsx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994649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939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071925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조달계획</a:t>
            </a:r>
            <a:r>
              <a:rPr lang="en-US" altLang="ko-KR" sz="800" dirty="0" smtClean="0">
                <a:solidFill>
                  <a:schemeClr val="tx1"/>
                </a:solidFill>
              </a:rPr>
              <a:t/>
            </a:r>
            <a:br>
              <a:rPr lang="en-US" altLang="ko-KR" sz="800" dirty="0" smtClean="0">
                <a:solidFill>
                  <a:schemeClr val="tx1"/>
                </a:solidFill>
              </a:rPr>
            </a:br>
            <a:r>
              <a:rPr lang="ko-KR" altLang="en-US" sz="800" dirty="0" err="1" smtClean="0">
                <a:solidFill>
                  <a:schemeClr val="tx1"/>
                </a:solidFill>
              </a:rPr>
              <a:t>통합목록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493266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700126" y="1772964"/>
            <a:ext cx="3717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619C48D-7E22-9D49-50C5-2404458A47CE}"/>
              </a:ext>
            </a:extLst>
          </p:cNvPr>
          <p:cNvSpPr txBox="1"/>
          <p:nvPr/>
        </p:nvSpPr>
        <p:spPr>
          <a:xfrm>
            <a:off x="777742" y="6257756"/>
            <a:ext cx="8640000" cy="2696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87313" lvl="0" indent="-87313" fontAlgn="base" latinLnBrk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 진입 시 </a:t>
            </a:r>
            <a:r>
              <a:rPr lang="ko-KR" altLang="en-US" sz="800" kern="0" dirty="0" err="1" smtClean="0">
                <a:solidFill>
                  <a:srgbClr val="0000FF"/>
                </a:solidFill>
                <a:latin typeface="+mn-ea"/>
              </a:rPr>
              <a:t>조달계획이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먼저 노출되며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유형 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 err="1">
                <a:solidFill>
                  <a:srgbClr val="0000FF"/>
                </a:solidFill>
                <a:latin typeface="+mn-ea"/>
              </a:rPr>
              <a:t>사전규격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연간조달계획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을 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설정하여 목록을 변경함</a:t>
            </a:r>
            <a:endParaRPr lang="ko-KR" altLang="en-US" sz="800" kern="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검색필터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smtClean="0">
                <a:solidFill>
                  <a:schemeClr val="tx1"/>
                </a:solidFill>
              </a:rPr>
              <a:t>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220330" y="284441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249327" y="2636921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6" idx="0"/>
          </p:cNvCxnSpPr>
          <p:nvPr/>
        </p:nvCxnSpPr>
        <p:spPr>
          <a:xfrm rot="16200000" flipV="1">
            <a:off x="2950342" y="1665171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456237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2176318"/>
            <a:ext cx="45044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</a:t>
            </a:r>
            <a:r>
              <a:rPr lang="en-US" altLang="ko-KR" sz="800" dirty="0" smtClean="0">
                <a:solidFill>
                  <a:schemeClr val="tx1"/>
                </a:solidFill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</a:rPr>
              <a:t>국외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571017" y="2653244"/>
            <a:ext cx="97622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국내 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공사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국외 조달판단내역</a:t>
            </a:r>
          </a:p>
        </p:txBody>
      </p:sp>
      <p:sp>
        <p:nvSpPr>
          <p:cNvPr id="6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조달계획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66" idx="1"/>
          </p:cNvCxnSpPr>
          <p:nvPr/>
        </p:nvCxnSpPr>
        <p:spPr>
          <a:xfrm rot="16200000" flipH="1">
            <a:off x="1419664" y="2019224"/>
            <a:ext cx="537573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355606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47977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연간조달계획</a:t>
            </a:r>
          </a:p>
        </p:txBody>
      </p: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76" idx="1"/>
          </p:cNvCxnSpPr>
          <p:nvPr/>
        </p:nvCxnSpPr>
        <p:spPr>
          <a:xfrm rot="16200000" flipH="1">
            <a:off x="796898" y="2641990"/>
            <a:ext cx="1783105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77" idx="1"/>
          </p:cNvCxnSpPr>
          <p:nvPr/>
        </p:nvCxnSpPr>
        <p:spPr>
          <a:xfrm rot="16200000" flipH="1">
            <a:off x="176061" y="3262827"/>
            <a:ext cx="3024779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355606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9" idx="0"/>
            <a:endCxn id="76" idx="0"/>
          </p:cNvCxnSpPr>
          <p:nvPr/>
        </p:nvCxnSpPr>
        <p:spPr>
          <a:xfrm rot="16200000" flipV="1">
            <a:off x="2950342" y="2910703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47977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2" idx="0"/>
            <a:endCxn id="77" idx="0"/>
          </p:cNvCxnSpPr>
          <p:nvPr/>
        </p:nvCxnSpPr>
        <p:spPr>
          <a:xfrm rot="16200000" flipV="1">
            <a:off x="2950342" y="4152377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6" idx="3"/>
            <a:endCxn id="69" idx="1"/>
          </p:cNvCxnSpPr>
          <p:nvPr/>
        </p:nvCxnSpPr>
        <p:spPr>
          <a:xfrm>
            <a:off x="2754976" y="2454537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6" idx="3"/>
            <a:endCxn id="99" idx="1"/>
          </p:cNvCxnSpPr>
          <p:nvPr/>
        </p:nvCxnSpPr>
        <p:spPr>
          <a:xfrm>
            <a:off x="2754976" y="3700069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7" idx="3"/>
            <a:endCxn id="102" idx="1"/>
          </p:cNvCxnSpPr>
          <p:nvPr/>
        </p:nvCxnSpPr>
        <p:spPr>
          <a:xfrm>
            <a:off x="2754976" y="4941743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293330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조달계획상세</a:t>
            </a:r>
          </a:p>
        </p:txBody>
      </p:sp>
      <p:cxnSp>
        <p:nvCxnSpPr>
          <p:cNvPr id="11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6" idx="3"/>
            <a:endCxn id="116" idx="1"/>
          </p:cNvCxnSpPr>
          <p:nvPr/>
        </p:nvCxnSpPr>
        <p:spPr>
          <a:xfrm>
            <a:off x="2754976" y="2454537"/>
            <a:ext cx="390731" cy="622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417690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사전규격상세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2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6" idx="3"/>
            <a:endCxn id="120" idx="1"/>
          </p:cNvCxnSpPr>
          <p:nvPr/>
        </p:nvCxnSpPr>
        <p:spPr>
          <a:xfrm>
            <a:off x="2754976" y="3700069"/>
            <a:ext cx="390731" cy="62083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3435669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4678056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5418580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목록정보조회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3145707" y="5717435"/>
            <a:ext cx="68929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국외 화면 설계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2108013"/>
            <a:ext cx="3310257" cy="1241674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국내 조달계획상세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23687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13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296586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계약특수조건</a:t>
            </a:r>
          </a:p>
        </p:txBody>
      </p:sp>
      <p:sp>
        <p:nvSpPr>
          <p:cNvPr id="13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23687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품목명세서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296586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첨부서류</a:t>
            </a:r>
          </a:p>
        </p:txBody>
      </p:sp>
      <p:sp>
        <p:nvSpPr>
          <p:cNvPr id="1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757266" y="236903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6" idx="3"/>
            <a:endCxn id="140" idx="1"/>
          </p:cNvCxnSpPr>
          <p:nvPr/>
        </p:nvCxnSpPr>
        <p:spPr>
          <a:xfrm flipV="1">
            <a:off x="4045707" y="2728850"/>
            <a:ext cx="398705" cy="34845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306168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등록</a:t>
            </a:r>
          </a:p>
        </p:txBody>
      </p:sp>
      <p:sp>
        <p:nvSpPr>
          <p:cNvPr id="16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258292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</a:rPr>
              <a:t>답변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210415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16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4" idx="3"/>
            <a:endCxn id="163" idx="1"/>
          </p:cNvCxnSpPr>
          <p:nvPr/>
        </p:nvCxnSpPr>
        <p:spPr>
          <a:xfrm flipV="1">
            <a:off x="7657266" y="2248155"/>
            <a:ext cx="399243" cy="26488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4" idx="3"/>
            <a:endCxn id="161" idx="1"/>
          </p:cNvCxnSpPr>
          <p:nvPr/>
        </p:nvCxnSpPr>
        <p:spPr>
          <a:xfrm>
            <a:off x="7657266" y="2513036"/>
            <a:ext cx="399243" cy="2138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4" idx="3"/>
            <a:endCxn id="144" idx="1"/>
          </p:cNvCxnSpPr>
          <p:nvPr/>
        </p:nvCxnSpPr>
        <p:spPr>
          <a:xfrm>
            <a:off x="7657266" y="2513036"/>
            <a:ext cx="399243" cy="69265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354971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사전규격상세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8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30" idx="3"/>
            <a:endCxn id="180" idx="1"/>
          </p:cNvCxnSpPr>
          <p:nvPr/>
        </p:nvCxnSpPr>
        <p:spPr>
          <a:xfrm>
            <a:off x="5468072" y="2512739"/>
            <a:ext cx="194597" cy="11809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3" idx="3"/>
            <a:endCxn id="158" idx="2"/>
          </p:cNvCxnSpPr>
          <p:nvPr/>
        </p:nvCxnSpPr>
        <p:spPr>
          <a:xfrm>
            <a:off x="8956509" y="2248155"/>
            <a:ext cx="292818" cy="478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44" idx="3"/>
            <a:endCxn id="158" idx="2"/>
          </p:cNvCxnSpPr>
          <p:nvPr/>
        </p:nvCxnSpPr>
        <p:spPr>
          <a:xfrm flipV="1">
            <a:off x="8956509" y="2726921"/>
            <a:ext cx="292818" cy="478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1" idx="3"/>
            <a:endCxn id="158" idx="2"/>
          </p:cNvCxnSpPr>
          <p:nvPr/>
        </p:nvCxnSpPr>
        <p:spPr>
          <a:xfrm>
            <a:off x="8956509" y="2726921"/>
            <a:ext cx="29281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220330" y="5114100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249327" y="4906608"/>
            <a:ext cx="180000" cy="180000"/>
            <a:chOff x="5058274" y="2498299"/>
            <a:chExt cx="180000" cy="180000"/>
          </a:xfrm>
        </p:grpSpPr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3" y="4377700"/>
            <a:ext cx="2192336" cy="1241674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사전규격상세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20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463842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20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523554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첨부서류</a:t>
            </a:r>
          </a:p>
        </p:txBody>
      </p:sp>
      <p:sp>
        <p:nvSpPr>
          <p:cNvPr id="20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51211" y="463872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533137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등록</a:t>
            </a:r>
          </a:p>
        </p:txBody>
      </p:sp>
      <p:sp>
        <p:nvSpPr>
          <p:cNvPr id="20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485260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</a:rPr>
              <a:t>답변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8056509" y="437384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21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7" idx="3"/>
            <a:endCxn id="210" idx="1"/>
          </p:cNvCxnSpPr>
          <p:nvPr/>
        </p:nvCxnSpPr>
        <p:spPr>
          <a:xfrm flipV="1">
            <a:off x="6551211" y="4517842"/>
            <a:ext cx="1505298" cy="26488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>
            <a:off x="6551211" y="4782723"/>
            <a:ext cx="1505298" cy="2138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>
            <a:off x="6551211" y="4782723"/>
            <a:ext cx="1505298" cy="69265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581940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연관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조달계획상세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1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3" idx="3"/>
            <a:endCxn id="214" idx="1"/>
          </p:cNvCxnSpPr>
          <p:nvPr/>
        </p:nvCxnSpPr>
        <p:spPr>
          <a:xfrm>
            <a:off x="5468072" y="4782426"/>
            <a:ext cx="194597" cy="11809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10" idx="3"/>
            <a:endCxn id="200" idx="2"/>
          </p:cNvCxnSpPr>
          <p:nvPr/>
        </p:nvCxnSpPr>
        <p:spPr>
          <a:xfrm>
            <a:off x="8956509" y="4517842"/>
            <a:ext cx="292818" cy="478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8" idx="3"/>
            <a:endCxn id="200" idx="2"/>
          </p:cNvCxnSpPr>
          <p:nvPr/>
        </p:nvCxnSpPr>
        <p:spPr>
          <a:xfrm flipV="1">
            <a:off x="8956509" y="4996608"/>
            <a:ext cx="292818" cy="478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09" idx="3"/>
            <a:endCxn id="200" idx="2"/>
          </p:cNvCxnSpPr>
          <p:nvPr/>
        </p:nvCxnSpPr>
        <p:spPr>
          <a:xfrm>
            <a:off x="8956509" y="4996608"/>
            <a:ext cx="29281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0" idx="3"/>
            <a:endCxn id="202" idx="1"/>
          </p:cNvCxnSpPr>
          <p:nvPr/>
        </p:nvCxnSpPr>
        <p:spPr>
          <a:xfrm>
            <a:off x="4045707" y="4320906"/>
            <a:ext cx="398706" cy="67763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163142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+mn-ea"/>
              </a:rPr>
              <a:t>입찰공고</a:t>
            </a:r>
            <a:endParaRPr lang="en-US" altLang="ko-KR" sz="8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latin typeface="+mn-ea"/>
              </a:rPr>
              <a:t>알림신청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3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6" idx="3"/>
            <a:endCxn id="233" idx="1"/>
          </p:cNvCxnSpPr>
          <p:nvPr/>
        </p:nvCxnSpPr>
        <p:spPr>
          <a:xfrm flipV="1">
            <a:off x="4045707" y="1775429"/>
            <a:ext cx="398705" cy="130187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3" idx="3"/>
            <a:endCxn id="158" idx="0"/>
          </p:cNvCxnSpPr>
          <p:nvPr/>
        </p:nvCxnSpPr>
        <p:spPr>
          <a:xfrm>
            <a:off x="5344412" y="1775429"/>
            <a:ext cx="3994915" cy="86149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393083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+mn-ea"/>
              </a:rPr>
              <a:t>입찰공고</a:t>
            </a:r>
            <a:endParaRPr lang="en-US" altLang="ko-KR" sz="8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latin typeface="+mn-ea"/>
              </a:rPr>
              <a:t>알림신청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4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0" idx="3"/>
            <a:endCxn id="243" idx="1"/>
          </p:cNvCxnSpPr>
          <p:nvPr/>
        </p:nvCxnSpPr>
        <p:spPr>
          <a:xfrm flipV="1">
            <a:off x="4045707" y="4074838"/>
            <a:ext cx="398705" cy="24606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43" idx="3"/>
            <a:endCxn id="200" idx="0"/>
          </p:cNvCxnSpPr>
          <p:nvPr/>
        </p:nvCxnSpPr>
        <p:spPr>
          <a:xfrm>
            <a:off x="5344412" y="4074838"/>
            <a:ext cx="3994915" cy="83177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40" idx="0"/>
            <a:endCxn id="158" idx="0"/>
          </p:cNvCxnSpPr>
          <p:nvPr/>
        </p:nvCxnSpPr>
        <p:spPr>
          <a:xfrm rot="16200000" flipH="1">
            <a:off x="7454980" y="752574"/>
            <a:ext cx="528908" cy="3239786"/>
          </a:xfrm>
          <a:prstGeom prst="bentConnector3">
            <a:avLst>
              <a:gd name="adj1" fmla="val -6133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02" idx="0"/>
            <a:endCxn id="200" idx="0"/>
          </p:cNvCxnSpPr>
          <p:nvPr/>
        </p:nvCxnSpPr>
        <p:spPr>
          <a:xfrm rot="16200000" flipH="1">
            <a:off x="7175500" y="2742781"/>
            <a:ext cx="528908" cy="3798746"/>
          </a:xfrm>
          <a:prstGeom prst="bentConnector3">
            <a:avLst>
              <a:gd name="adj1" fmla="val -5804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9" name="그룹 88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94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9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5418580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국외연간조달계획상세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7" idx="2"/>
            <a:endCxn id="98" idx="0"/>
          </p:cNvCxnSpPr>
          <p:nvPr/>
        </p:nvCxnSpPr>
        <p:spPr>
          <a:xfrm>
            <a:off x="2304976" y="5085743"/>
            <a:ext cx="0" cy="33283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8" idx="3"/>
            <a:endCxn id="125" idx="1"/>
          </p:cNvCxnSpPr>
          <p:nvPr/>
        </p:nvCxnSpPr>
        <p:spPr>
          <a:xfrm>
            <a:off x="2754976" y="5562580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757266" y="354971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품목별가격자료</a:t>
            </a:r>
          </a:p>
        </p:txBody>
      </p:sp>
      <p:sp>
        <p:nvSpPr>
          <p:cNvPr id="10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51863" y="354971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목록정보조회</a:t>
            </a:r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32" idx="3"/>
            <a:endCxn id="107" idx="0"/>
          </p:cNvCxnSpPr>
          <p:nvPr/>
        </p:nvCxnSpPr>
        <p:spPr>
          <a:xfrm>
            <a:off x="6562669" y="2512739"/>
            <a:ext cx="644597" cy="10369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32" idx="3"/>
            <a:endCxn id="109" idx="0"/>
          </p:cNvCxnSpPr>
          <p:nvPr/>
        </p:nvCxnSpPr>
        <p:spPr>
          <a:xfrm>
            <a:off x="6562669" y="2512739"/>
            <a:ext cx="1739194" cy="10369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7207266" y="3410052"/>
            <a:ext cx="299762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실적 </a:t>
            </a:r>
            <a:r>
              <a:rPr lang="en-US" altLang="ko-KR" sz="800" dirty="0" smtClean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8329424" y="3410052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실적 </a:t>
            </a:r>
            <a:r>
              <a:rPr lang="en-US" altLang="ko-KR" sz="800" dirty="0" smtClean="0">
                <a:solidFill>
                  <a:schemeClr val="tx1"/>
                </a:solidFill>
              </a:rPr>
              <a:t>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35" name="직사각형 134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6" name="직사각형 13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품목별가격자료</a:t>
              </a:r>
              <a:r>
                <a:rPr lang="en-US" altLang="ko-KR" sz="700" dirty="0" smtClean="0"/>
                <a:t>, </a:t>
              </a:r>
              <a:r>
                <a:rPr lang="ko-KR" altLang="en-US" sz="700" dirty="0" smtClean="0"/>
                <a:t>목록정보조회 흐름 추가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7096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</a:t>
            </a:r>
            <a:r>
              <a:rPr lang="ko-KR" altLang="en-US" dirty="0" smtClean="0"/>
              <a:t>다이어그램</a:t>
            </a:r>
            <a:r>
              <a:rPr lang="en-US" altLang="ko-KR" dirty="0" smtClean="0"/>
              <a:t> (1/3)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8700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</a:rPr>
              <a:t>조달계획통합목록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PrcmIPlanntgListPage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8700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조달계획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PrcmIPlanntgTab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사전규격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BfhdSpcfctTab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조달계획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PrcmPlanController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55900" y="1865266"/>
            <a:ext cx="1204191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55900" y="2465584"/>
            <a:ext cx="1204191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755900" y="2990174"/>
            <a:ext cx="1204191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연간조달계획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OvsPrcmPlanTab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조달계획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PrcmIPlanntgTab_SrchFilter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사전규격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BfhdSpcfctTab_SrchFilter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55900" y="2990174"/>
            <a:ext cx="1204191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55900" y="2990174"/>
            <a:ext cx="1204191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55900" y="2990174"/>
            <a:ext cx="1204191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9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연간조달계획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OvsPrcmPlanTab_SrchFilter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755900" y="2990174"/>
            <a:ext cx="1204191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817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</a:t>
            </a:r>
            <a:r>
              <a:rPr lang="ko-KR" altLang="en-US" dirty="0" smtClean="0"/>
              <a:t>다이어그램</a:t>
            </a:r>
            <a:r>
              <a:rPr lang="en-US" altLang="ko-KR" dirty="0"/>
              <a:t> </a:t>
            </a:r>
            <a:r>
              <a:rPr lang="en-US" altLang="ko-KR" dirty="0" smtClean="0"/>
              <a:t>(2/3)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8700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조달계획상세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PrcmPlanDtlPage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8700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상세내용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품목명세서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PrcmPlanDtl_PrdList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조달계획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PrcmPlanController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55900" y="1865266"/>
            <a:ext cx="1204191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55900" y="2465584"/>
            <a:ext cx="1204191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755900" y="2990174"/>
            <a:ext cx="1204191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PrcmPlanDtl_OpnnList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업체의견상세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PrcmPlanDtl_OpnnDtl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업체의견답변상세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 smtClean="0">
                <a:solidFill>
                  <a:schemeClr val="tx1"/>
                </a:solidFill>
                <a:latin typeface="+mn-ea"/>
              </a:rPr>
              <a:t>PrcmPlanDtl_OpnnAnsDtl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55900" y="2990174"/>
            <a:ext cx="1204191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55900" y="2990174"/>
            <a:ext cx="1204191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55900" y="2990174"/>
            <a:ext cx="1204191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업체의견등록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PrcmPlanDtl_OpnnReg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4" idx="3"/>
            <a:endCxn id="9" idx="1"/>
          </p:cNvCxnSpPr>
          <p:nvPr/>
        </p:nvCxnSpPr>
        <p:spPr>
          <a:xfrm flipV="1">
            <a:off x="2755900" y="2990174"/>
            <a:ext cx="1204191" cy="3077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84636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계약특수조건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PrcmPlanDtl_spclCtrt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755900" y="2990174"/>
            <a:ext cx="1204191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88867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연관조달계획상세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AnlPrcmPlanDtl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49703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첨부서류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PrcmPlanDtl_Doc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9" idx="0"/>
            <a:endCxn id="9" idx="2"/>
          </p:cNvCxnSpPr>
          <p:nvPr/>
        </p:nvCxnSpPr>
        <p:spPr>
          <a:xfrm flipV="1">
            <a:off x="3627197" y="3810190"/>
            <a:ext cx="1196494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0"/>
            <a:endCxn id="9" idx="2"/>
          </p:cNvCxnSpPr>
          <p:nvPr/>
        </p:nvCxnSpPr>
        <p:spPr>
          <a:xfrm flipH="1" flipV="1">
            <a:off x="4823691" y="3810190"/>
            <a:ext cx="411866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020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</a:t>
            </a:r>
            <a:r>
              <a:rPr lang="ko-KR" altLang="en-US" dirty="0" smtClean="0"/>
              <a:t>다이어그램</a:t>
            </a:r>
            <a:r>
              <a:rPr lang="en-US" altLang="ko-KR" dirty="0"/>
              <a:t> </a:t>
            </a:r>
            <a:r>
              <a:rPr lang="en-US" altLang="ko-KR" dirty="0" smtClean="0"/>
              <a:t>(3/3)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8700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사전규격상세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BfhdSpcfctDtlPage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8700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상세내용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BfhdSpcfctDtl_OpnnList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조달계획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PrcmPlanController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55900" y="1865266"/>
            <a:ext cx="1204191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55900" y="2465584"/>
            <a:ext cx="1204191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755900" y="2990174"/>
            <a:ext cx="1204191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BfhdSpcfctDtl_OpnnDtl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답변 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BfhdSpcfctDtl_OpnnAnsDtl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업체의견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등록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BfhdSpcfctDtl_OpnnReg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55900" y="2990174"/>
            <a:ext cx="1204191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55900" y="2990174"/>
            <a:ext cx="1204191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55900" y="2990174"/>
            <a:ext cx="1204191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첨부서류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BfhdSpcfctDtl_Doc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4" idx="3"/>
            <a:endCxn id="9" idx="1"/>
          </p:cNvCxnSpPr>
          <p:nvPr/>
        </p:nvCxnSpPr>
        <p:spPr>
          <a:xfrm flipV="1">
            <a:off x="2755900" y="2990174"/>
            <a:ext cx="1204191" cy="3077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84636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연관 사전규격상세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AnlBfhdSpcfctDtl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755900" y="2990174"/>
            <a:ext cx="1204191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88867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입찰공고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알림신청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PrcmPlan_NotiAply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9" idx="0"/>
            <a:endCxn id="9" idx="2"/>
          </p:cNvCxnSpPr>
          <p:nvPr/>
        </p:nvCxnSpPr>
        <p:spPr>
          <a:xfrm flipV="1">
            <a:off x="3627197" y="3810190"/>
            <a:ext cx="1196494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744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 err="1" smtClean="0"/>
              <a:t>앱바</a:t>
            </a:r>
            <a:r>
              <a:rPr lang="ko-KR" altLang="en-US" dirty="0" smtClean="0"/>
              <a:t> 타이틀 영역에 </a:t>
            </a:r>
            <a:r>
              <a:rPr lang="ko-KR" altLang="en-US" dirty="0" err="1" smtClean="0"/>
              <a:t>메인과</a:t>
            </a:r>
            <a:r>
              <a:rPr lang="ko-KR" altLang="en-US" dirty="0" smtClean="0"/>
              <a:t> 동일한 </a:t>
            </a:r>
            <a:r>
              <a:rPr lang="ko-KR" altLang="en-US" dirty="0" err="1" smtClean="0"/>
              <a:t>앱바</a:t>
            </a:r>
            <a:r>
              <a:rPr lang="ko-KR" altLang="en-US" dirty="0" smtClean="0"/>
              <a:t> 노출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- 2</a:t>
            </a:r>
            <a:r>
              <a:rPr lang="ko-KR" altLang="en-US" dirty="0" err="1" smtClean="0"/>
              <a:t>뎁스</a:t>
            </a:r>
            <a:r>
              <a:rPr lang="ko-KR" altLang="en-US" dirty="0" smtClean="0"/>
              <a:t> 이하에서 페이지 별 </a:t>
            </a:r>
            <a:r>
              <a:rPr lang="ko-KR" altLang="en-US" dirty="0" err="1" smtClean="0"/>
              <a:t>뒤로가기와</a:t>
            </a:r>
            <a:r>
              <a:rPr lang="ko-KR" altLang="en-US" dirty="0" smtClean="0"/>
              <a:t> 페이지 타이틀 영역을 </a:t>
            </a:r>
            <a:r>
              <a:rPr lang="ko-KR" altLang="en-US" dirty="0" err="1" smtClean="0"/>
              <a:t>앱바</a:t>
            </a:r>
            <a:r>
              <a:rPr lang="ko-KR" altLang="en-US" dirty="0" smtClean="0"/>
              <a:t> 바로 하단 헤더에 배치하여 현재 페이지를 인지하기 쉽도록 함</a:t>
            </a:r>
            <a:r>
              <a:rPr lang="en-US" altLang="ko-KR" dirty="0" smtClean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en-US" altLang="ko-KR" dirty="0"/>
              <a:t>[</a:t>
            </a:r>
            <a:r>
              <a:rPr lang="ko-KR" altLang="en-US" dirty="0"/>
              <a:t>공지사항</a:t>
            </a:r>
            <a:r>
              <a:rPr lang="en-US" altLang="ko-KR" dirty="0"/>
              <a:t>] </a:t>
            </a:r>
            <a:r>
              <a:rPr lang="ko-KR" altLang="en-US" dirty="0"/>
              <a:t>및 </a:t>
            </a:r>
            <a:r>
              <a:rPr lang="en-US" altLang="ko-KR" dirty="0"/>
              <a:t>[</a:t>
            </a:r>
            <a:r>
              <a:rPr lang="ko-KR" altLang="en-US" dirty="0" err="1"/>
              <a:t>업무도움</a:t>
            </a:r>
            <a:r>
              <a:rPr lang="en-US" altLang="ko-KR" dirty="0"/>
              <a:t>]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</a:t>
            </a:r>
            <a:r>
              <a:rPr lang="en-US" altLang="ko-KR" dirty="0"/>
              <a:t>, 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두가지가 노출될 수 있음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내역이 있는 경우 표시</a:t>
            </a:r>
            <a:r>
              <a:rPr lang="en-US" altLang="ko-KR" dirty="0"/>
              <a:t>, </a:t>
            </a:r>
            <a:r>
              <a:rPr lang="ko-KR" altLang="en-US" dirty="0"/>
              <a:t>내역이 없으면 항목을 표시하지 않음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>
                <a:solidFill>
                  <a:srgbClr val="FF0000"/>
                </a:solidFill>
              </a:rPr>
              <a:t>입찰공고는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공지사항</a:t>
            </a:r>
            <a:r>
              <a:rPr lang="en-US" altLang="ko-KR" dirty="0">
                <a:solidFill>
                  <a:srgbClr val="FF0000"/>
                </a:solidFill>
              </a:rPr>
              <a:t>], 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</a:t>
            </a:r>
            <a:r>
              <a:rPr lang="ko-KR" altLang="en-US" dirty="0">
                <a:solidFill>
                  <a:srgbClr val="FF0000"/>
                </a:solidFill>
              </a:rPr>
              <a:t>이 존재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다른 목록 화면에서는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 1</a:t>
            </a:r>
            <a:r>
              <a:rPr lang="ko-KR" altLang="en-US" dirty="0">
                <a:solidFill>
                  <a:srgbClr val="FF0000"/>
                </a:solidFill>
              </a:rPr>
              <a:t>종만 존재함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유형 선택에 따라 콘텐츠 변경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유형은 단일 선택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이전 정보 저장하지 않음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 err="1"/>
              <a:t>조달명</a:t>
            </a:r>
            <a:r>
              <a:rPr lang="ko-KR" altLang="en-US" dirty="0"/>
              <a:t>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있는 경우 초기화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 버튼 클릭 시 즉시 목록 초기화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버튼은 표준에 </a:t>
            </a:r>
            <a:r>
              <a:rPr lang="ko-KR" altLang="en-US" dirty="0" smtClean="0"/>
              <a:t>따름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>
                <a:solidFill>
                  <a:srgbClr val="FF0000"/>
                </a:solidFill>
              </a:rPr>
              <a:t>- [0820] </a:t>
            </a:r>
            <a:r>
              <a:rPr lang="ko-KR" altLang="en-US" dirty="0" smtClean="0">
                <a:solidFill>
                  <a:srgbClr val="FF0000"/>
                </a:solidFill>
              </a:rPr>
              <a:t>빠른 검색 시 </a:t>
            </a:r>
            <a:r>
              <a:rPr lang="ko-KR" altLang="en-US" dirty="0" err="1" smtClean="0">
                <a:solidFill>
                  <a:srgbClr val="FF0000"/>
                </a:solidFill>
              </a:rPr>
              <a:t>검색필터는</a:t>
            </a:r>
            <a:r>
              <a:rPr lang="ko-KR" altLang="en-US" dirty="0" smtClean="0">
                <a:solidFill>
                  <a:srgbClr val="FF0000"/>
                </a:solidFill>
              </a:rPr>
              <a:t> 초기화 처리</a:t>
            </a:r>
            <a:endParaRPr lang="en-US" altLang="ko-KR" dirty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건수</a:t>
            </a:r>
            <a:r>
              <a:rPr lang="en-US" altLang="ko-KR" dirty="0"/>
              <a:t>, </a:t>
            </a:r>
            <a:r>
              <a:rPr lang="ko-KR" altLang="en-US" dirty="0"/>
              <a:t>개수 </a:t>
            </a:r>
            <a:r>
              <a:rPr lang="ko-KR" altLang="en-US" dirty="0" smtClean="0"/>
              <a:t>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</a:t>
            </a:r>
            <a:r>
              <a:rPr lang="ko-KR" altLang="en-US" dirty="0" smtClean="0"/>
              <a:t>로드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 smtClean="0"/>
              <a:t>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781461" y="4065071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6000A</a:t>
              </a:r>
            </a:p>
            <a:p>
              <a:r>
                <a:rPr lang="en-US" altLang="ko-KR" sz="900" b="1" dirty="0"/>
                <a:t>‘26</a:t>
              </a:r>
              <a:r>
                <a:rPr lang="ko-KR" altLang="en-US" sz="900" b="1" dirty="0"/>
                <a:t>년 </a:t>
              </a:r>
              <a:r>
                <a:rPr lang="en-US" altLang="ko-KR" sz="900" b="1" dirty="0"/>
                <a:t>K5</a:t>
              </a:r>
              <a:r>
                <a:rPr lang="ko-KR" altLang="en-US" sz="900" b="1" dirty="0"/>
                <a:t>방독면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53860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화력총괄계약팀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6185925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5364400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2026-00590</a:t>
              </a:r>
            </a:p>
            <a:p>
              <a:r>
                <a:rPr lang="en-US" altLang="ko-KR" sz="900" b="1" dirty="0"/>
                <a:t>26-</a:t>
              </a:r>
              <a:r>
                <a:rPr lang="ko-KR" altLang="en-US" sz="900" b="1" dirty="0"/>
                <a:t>평 절개지 복구공사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9911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92,472,000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4587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118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24769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2356114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438100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3832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3427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3427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2" name="그룹 191"/>
          <p:cNvGrpSpPr/>
          <p:nvPr/>
        </p:nvGrpSpPr>
        <p:grpSpPr>
          <a:xfrm>
            <a:off x="3143548" y="3746640"/>
            <a:ext cx="94010" cy="47005"/>
            <a:chOff x="6812560" y="3297172"/>
            <a:chExt cx="94010" cy="47005"/>
          </a:xfrm>
        </p:grpSpPr>
        <p:cxnSp>
          <p:nvCxnSpPr>
            <p:cNvPr id="193" name="직선 연결선 19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직선 연결선 19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5" name="그룹 194"/>
          <p:cNvGrpSpPr/>
          <p:nvPr/>
        </p:nvGrpSpPr>
        <p:grpSpPr>
          <a:xfrm>
            <a:off x="767702" y="3033884"/>
            <a:ext cx="2527420" cy="477995"/>
            <a:chOff x="786326" y="2270279"/>
            <a:chExt cx="2527420" cy="477995"/>
          </a:xfrm>
        </p:grpSpPr>
        <p:sp>
          <p:nvSpPr>
            <p:cNvPr id="196" name="모서리가 둥근 직사각형 1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타원 1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99" name="그룹 198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0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0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00" name="타원 1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2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02" name="타원 2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3" name="그룹 2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04" name="직선 연결선 2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6322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99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772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2743200"/>
            <a:ext cx="66385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b="1" dirty="0" smtClean="0">
                <a:latin typeface="+mn-ea"/>
              </a:rPr>
              <a:t>유형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104835" y="2711058"/>
            <a:ext cx="685866" cy="187200"/>
          </a:xfrm>
          <a:prstGeom prst="roundRect">
            <a:avLst>
              <a:gd name="adj" fmla="val 17463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 dirty="0" smtClean="0">
                <a:solidFill>
                  <a:schemeClr val="bg1"/>
                </a:solidFill>
              </a:rPr>
              <a:t>조달계획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5" name="직사각형 124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2026-06-30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탭을 감싸는 프레임 영역 화면 추가</a:t>
              </a:r>
              <a:endParaRPr lang="ko-KR" altLang="en-US" sz="700" dirty="0"/>
            </a:p>
          </p:txBody>
        </p:sp>
      </p:grpSp>
      <p:sp>
        <p:nvSpPr>
          <p:cNvPr id="133" name="모서리가 둥근 직사각형 132"/>
          <p:cNvSpPr/>
          <p:nvPr/>
        </p:nvSpPr>
        <p:spPr>
          <a:xfrm>
            <a:off x="1857752" y="2711058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6" name="모서리가 둥근 직사각형 135"/>
          <p:cNvSpPr/>
          <p:nvPr/>
        </p:nvSpPr>
        <p:spPr>
          <a:xfrm>
            <a:off x="2604380" y="2711058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25398" y="3983544"/>
            <a:ext cx="2564847" cy="2461591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9" name="그룹 178"/>
          <p:cNvGrpSpPr/>
          <p:nvPr/>
        </p:nvGrpSpPr>
        <p:grpSpPr>
          <a:xfrm>
            <a:off x="3024315" y="3857058"/>
            <a:ext cx="776938" cy="1131139"/>
            <a:chOff x="3004764" y="2490533"/>
            <a:chExt cx="776938" cy="1131139"/>
          </a:xfrm>
        </p:grpSpPr>
        <p:sp>
          <p:nvSpPr>
            <p:cNvPr id="182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4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185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186" name="그룹 185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809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5761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637888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705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4048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7" name="그룹 6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5" name="그룹 44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46" name="직선 연결선 4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" name="그룹 4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86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8" name="타원 87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9" name="타원 88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타원 89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2" name="타원 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884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93" name="그룹 92"/>
          <p:cNvGrpSpPr/>
          <p:nvPr/>
        </p:nvGrpSpPr>
        <p:grpSpPr>
          <a:xfrm>
            <a:off x="8223250" y="872240"/>
            <a:ext cx="3365500" cy="634511"/>
            <a:chOff x="8223250" y="569392"/>
            <a:chExt cx="3365500" cy="634511"/>
          </a:xfrm>
        </p:grpSpPr>
        <p:sp>
          <p:nvSpPr>
            <p:cNvPr id="94" name="직사각형 9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2026-07-06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앱바</a:t>
              </a:r>
              <a:r>
                <a:rPr lang="ko-KR" altLang="en-US" sz="700" dirty="0" smtClean="0"/>
                <a:t> 영역 변경</a:t>
              </a:r>
              <a:r>
                <a:rPr lang="en-US" altLang="ko-KR" sz="700" dirty="0" smtClean="0"/>
                <a:t/>
              </a:r>
              <a:br>
                <a:rPr lang="en-US" altLang="ko-KR" sz="700" dirty="0" smtClean="0"/>
              </a:br>
              <a:r>
                <a:rPr lang="en-US" altLang="ko-KR" sz="700" dirty="0" smtClean="0"/>
                <a:t>- </a:t>
              </a:r>
              <a:r>
                <a:rPr lang="ko-KR" altLang="en-US" sz="700" dirty="0" err="1" smtClean="0"/>
                <a:t>앱바는</a:t>
              </a:r>
              <a:r>
                <a:rPr lang="ko-KR" altLang="en-US" sz="700" dirty="0" smtClean="0"/>
                <a:t> </a:t>
              </a:r>
              <a:r>
                <a:rPr lang="ko-KR" altLang="en-US" sz="700" dirty="0" err="1" smtClean="0"/>
                <a:t>메인과</a:t>
              </a:r>
              <a:r>
                <a:rPr lang="ko-KR" altLang="en-US" sz="700" dirty="0" smtClean="0"/>
                <a:t> 동일하게 표시</a:t>
              </a:r>
              <a:r>
                <a:rPr lang="en-US" altLang="ko-KR" sz="700" dirty="0" smtClean="0"/>
                <a:t/>
              </a:r>
              <a:br>
                <a:rPr lang="en-US" altLang="ko-KR" sz="700" dirty="0" smtClean="0"/>
              </a:br>
              <a:r>
                <a:rPr lang="en-US" altLang="ko-KR" sz="700" dirty="0" smtClean="0"/>
                <a:t>- </a:t>
              </a:r>
              <a:r>
                <a:rPr lang="ko-KR" altLang="en-US" sz="700" dirty="0" smtClean="0"/>
                <a:t>하단에 페이지 </a:t>
              </a:r>
              <a:r>
                <a:rPr lang="ko-KR" altLang="en-US" sz="700" dirty="0" err="1" smtClean="0"/>
                <a:t>뒤로가기</a:t>
              </a:r>
              <a:r>
                <a:rPr lang="ko-KR" altLang="en-US" sz="700" dirty="0" smtClean="0"/>
                <a:t> 및 페이지 타이틀 영역 추가</a:t>
              </a:r>
              <a:endParaRPr lang="ko-KR" altLang="en-US" sz="700" dirty="0"/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8223250" y="1118622"/>
            <a:ext cx="3365500" cy="634511"/>
            <a:chOff x="8223250" y="569392"/>
            <a:chExt cx="3365500" cy="634511"/>
          </a:xfrm>
        </p:grpSpPr>
        <p:sp>
          <p:nvSpPr>
            <p:cNvPr id="96" name="직사각형 9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2026-08-20 </a:t>
              </a:r>
              <a:r>
                <a:rPr lang="ko-KR" altLang="en-US" dirty="0" smtClean="0"/>
                <a:t>설명 수정</a:t>
              </a:r>
              <a:endParaRPr lang="ko-KR" altLang="en-US" dirty="0"/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빠른 검색 시 </a:t>
              </a:r>
              <a:r>
                <a:rPr lang="ko-KR" altLang="en-US" sz="700" dirty="0" err="1" smtClean="0"/>
                <a:t>검색필터는</a:t>
              </a:r>
              <a:r>
                <a:rPr lang="ko-KR" altLang="en-US" sz="700" dirty="0" smtClean="0"/>
                <a:t> 초기화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12487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 smtClean="0"/>
              <a:t>조달명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판단번호를</a:t>
            </a:r>
            <a:r>
              <a:rPr lang="ko-KR" altLang="en-US" dirty="0" smtClean="0"/>
              <a:t> 선택하여 검색</a:t>
            </a:r>
            <a:r>
              <a:rPr lang="en-US" altLang="ko-KR" dirty="0">
                <a:solidFill>
                  <a:srgbClr val="FF0000"/>
                </a:solidFill>
              </a:rPr>
              <a:t> - [</a:t>
            </a:r>
            <a:r>
              <a:rPr lang="en-US" altLang="ko-KR" dirty="0" smtClean="0">
                <a:solidFill>
                  <a:srgbClr val="FF0000"/>
                </a:solidFill>
              </a:rPr>
              <a:t>0820] </a:t>
            </a:r>
            <a:r>
              <a:rPr lang="ko-KR" altLang="en-US" dirty="0">
                <a:solidFill>
                  <a:srgbClr val="FF0000"/>
                </a:solidFill>
              </a:rPr>
              <a:t>빠른 검색 시 </a:t>
            </a:r>
            <a:r>
              <a:rPr lang="ko-KR" altLang="en-US" dirty="0" err="1">
                <a:solidFill>
                  <a:srgbClr val="FF0000"/>
                </a:solidFill>
              </a:rPr>
              <a:t>검색필터는</a:t>
            </a:r>
            <a:r>
              <a:rPr lang="ko-KR" altLang="en-US" dirty="0">
                <a:solidFill>
                  <a:srgbClr val="FF0000"/>
                </a:solidFill>
              </a:rPr>
              <a:t> 초기화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</a:t>
            </a:r>
            <a:r>
              <a:rPr lang="ko-KR" altLang="en-US" dirty="0" smtClean="0"/>
              <a:t>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(</a:t>
            </a:r>
            <a:r>
              <a:rPr lang="ko-KR" altLang="en-US" dirty="0" err="1"/>
              <a:t>검색필터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조달계획 </a:t>
            </a:r>
            <a:r>
              <a:rPr lang="en-US" altLang="ko-KR" dirty="0"/>
              <a:t>MUI-OP-01-P02)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필터 설정이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</a:t>
            </a:r>
            <a:r>
              <a:rPr lang="en-US" altLang="ko-KR" dirty="0"/>
              <a:t>(4</a:t>
            </a:r>
            <a:r>
              <a:rPr lang="ko-KR" altLang="en-US" dirty="0" err="1"/>
              <a:t>번항</a:t>
            </a:r>
            <a:r>
              <a:rPr lang="en-US" altLang="ko-KR" dirty="0"/>
              <a:t>)</a:t>
            </a:r>
            <a:r>
              <a:rPr lang="ko-KR" altLang="en-US" dirty="0"/>
              <a:t>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카드 클릭으로 상세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국내 </a:t>
            </a:r>
            <a:r>
              <a:rPr lang="en-US" altLang="ko-KR" dirty="0"/>
              <a:t>(</a:t>
            </a:r>
            <a:r>
              <a:rPr lang="ko-KR" altLang="en-US" dirty="0"/>
              <a:t>조달계획상세 </a:t>
            </a:r>
            <a:r>
              <a:rPr lang="en-US" altLang="ko-KR" dirty="0"/>
              <a:t>MUI-OP-01-M05)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국외 </a:t>
            </a:r>
            <a:r>
              <a:rPr lang="en-US" altLang="ko-KR" dirty="0"/>
              <a:t>(</a:t>
            </a:r>
            <a:r>
              <a:rPr lang="ko-KR" altLang="en-US" dirty="0"/>
              <a:t>국외조달계획상세 </a:t>
            </a:r>
            <a:r>
              <a:rPr lang="en-US" altLang="ko-KR" dirty="0"/>
              <a:t>MUI-OP-01-M73)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</a:t>
            </a:r>
            <a:r>
              <a:rPr lang="ko-KR" altLang="en-US" dirty="0" smtClean="0"/>
              <a:t>가능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>
                <a:solidFill>
                  <a:srgbClr val="FF0000"/>
                </a:solidFill>
              </a:rPr>
              <a:t>- </a:t>
            </a:r>
            <a:r>
              <a:rPr lang="ko-KR" altLang="en-US" dirty="0" err="1" smtClean="0">
                <a:solidFill>
                  <a:srgbClr val="FF0000"/>
                </a:solidFill>
              </a:rPr>
              <a:t>업무구분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계약방법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입찰방법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진행상태 </a:t>
            </a:r>
            <a:r>
              <a:rPr lang="en-US" altLang="ko-KR" dirty="0" smtClean="0">
                <a:solidFill>
                  <a:srgbClr val="FF0000"/>
                </a:solidFill>
              </a:rPr>
              <a:t>4</a:t>
            </a:r>
            <a:r>
              <a:rPr lang="ko-KR" altLang="en-US" dirty="0" smtClean="0">
                <a:solidFill>
                  <a:srgbClr val="FF0000"/>
                </a:solidFill>
              </a:rPr>
              <a:t>가지 </a:t>
            </a:r>
            <a:r>
              <a:rPr lang="ko-KR" altLang="en-US" dirty="0" err="1" smtClean="0">
                <a:solidFill>
                  <a:srgbClr val="FF0000"/>
                </a:solidFill>
              </a:rPr>
              <a:t>뱃지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레이블</a:t>
            </a:r>
            <a:r>
              <a:rPr lang="en-US" altLang="ko-KR" dirty="0" smtClean="0">
                <a:solidFill>
                  <a:srgbClr val="FF0000"/>
                </a:solidFill>
              </a:rPr>
              <a:t>) </a:t>
            </a:r>
            <a:r>
              <a:rPr lang="ko-KR" altLang="en-US" dirty="0" smtClean="0">
                <a:solidFill>
                  <a:srgbClr val="FF0000"/>
                </a:solidFill>
              </a:rPr>
              <a:t>표시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조달계획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/>
              <a:t>조달계획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MUI-OP-01-T01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135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781461" y="4067396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6000A</a:t>
              </a:r>
            </a:p>
            <a:p>
              <a:r>
                <a:rPr lang="en-US" altLang="ko-KR" sz="900" b="1" dirty="0"/>
                <a:t>‘26</a:t>
              </a:r>
              <a:r>
                <a:rPr lang="ko-KR" altLang="en-US" sz="900" b="1" dirty="0"/>
                <a:t>년 </a:t>
              </a:r>
              <a:r>
                <a:rPr lang="en-US" altLang="ko-KR" sz="900" b="1" dirty="0"/>
                <a:t>K5</a:t>
              </a:r>
              <a:r>
                <a:rPr lang="ko-KR" altLang="en-US" sz="900" b="1" dirty="0"/>
                <a:t>방독면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53860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화력총괄계약팀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smtClean="0"/>
                <a:t>일반경쟁</a:t>
              </a:r>
              <a:endParaRPr lang="ko-KR" altLang="en-US" sz="600" dirty="0"/>
            </a:p>
          </p:txBody>
        </p:sp>
        <p:sp>
          <p:nvSpPr>
            <p:cNvPr id="213" name="모서리가 둥근 직사각형 212"/>
            <p:cNvSpPr/>
            <p:nvPr/>
          </p:nvSpPr>
          <p:spPr>
            <a:xfrm>
              <a:off x="1537787" y="2610063"/>
              <a:ext cx="31996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총액제</a:t>
              </a:r>
              <a:endParaRPr lang="ko-KR" altLang="en-US" sz="600" dirty="0"/>
            </a:p>
          </p:txBody>
        </p:sp>
        <p:sp>
          <p:nvSpPr>
            <p:cNvPr id="214" name="모서리가 둥근 직사각형 213"/>
            <p:cNvSpPr/>
            <p:nvPr/>
          </p:nvSpPr>
          <p:spPr>
            <a:xfrm>
              <a:off x="1910757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>
                  <a:latin typeface="+mn-ea"/>
                </a:rPr>
                <a:t>공고게시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6188250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5366725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2026-00590</a:t>
              </a:r>
            </a:p>
            <a:p>
              <a:r>
                <a:rPr lang="en-US" altLang="ko-KR" sz="900" b="1" dirty="0"/>
                <a:t>26-</a:t>
              </a:r>
              <a:r>
                <a:rPr lang="ko-KR" altLang="en-US" sz="900" b="1" dirty="0"/>
                <a:t>평 절개지 복구공사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9911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92,472,000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  <p:sp>
          <p:nvSpPr>
            <p:cNvPr id="215" name="모서리가 둥근 직사각형 214"/>
            <p:cNvSpPr/>
            <p:nvPr/>
          </p:nvSpPr>
          <p:spPr>
            <a:xfrm>
              <a:off x="1514339" y="2610063"/>
              <a:ext cx="32081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단가제</a:t>
              </a:r>
              <a:endParaRPr lang="ko-KR" altLang="en-US" sz="600" dirty="0"/>
            </a:p>
          </p:txBody>
        </p:sp>
        <p:sp>
          <p:nvSpPr>
            <p:cNvPr id="216" name="모서리가 둥근 직사각형 215"/>
            <p:cNvSpPr/>
            <p:nvPr/>
          </p:nvSpPr>
          <p:spPr>
            <a:xfrm>
              <a:off x="1881787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>
                  <a:latin typeface="+mn-ea"/>
                </a:rPr>
                <a:t>계약대기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4820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350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270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23584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44042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3327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7" name="그룹 6"/>
          <p:cNvGrpSpPr/>
          <p:nvPr/>
        </p:nvGrpSpPr>
        <p:grpSpPr>
          <a:xfrm>
            <a:off x="11698650" y="698879"/>
            <a:ext cx="3140940" cy="2169757"/>
            <a:chOff x="10194360" y="1811816"/>
            <a:chExt cx="3140940" cy="2169757"/>
          </a:xfrm>
        </p:grpSpPr>
        <p:sp>
          <p:nvSpPr>
            <p:cNvPr id="80" name="모서리가 둥근 직사각형 79"/>
            <p:cNvSpPr/>
            <p:nvPr/>
          </p:nvSpPr>
          <p:spPr>
            <a:xfrm>
              <a:off x="10967973" y="233101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0672548" y="1811816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표시 레이블</a:t>
              </a:r>
            </a:p>
          </p:txBody>
        </p:sp>
        <p:sp>
          <p:nvSpPr>
            <p:cNvPr id="84" name="모서리가 둥근 직사각형 83"/>
            <p:cNvSpPr/>
            <p:nvPr/>
          </p:nvSpPr>
          <p:spPr>
            <a:xfrm>
              <a:off x="11268899" y="233101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용역</a:t>
              </a:r>
            </a:p>
          </p:txBody>
        </p:sp>
        <p:sp>
          <p:nvSpPr>
            <p:cNvPr id="85" name="모서리가 둥근 직사각형 84"/>
            <p:cNvSpPr/>
            <p:nvPr/>
          </p:nvSpPr>
          <p:spPr>
            <a:xfrm>
              <a:off x="11569888" y="233101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11872960" y="233101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87" name="모서리가 둥근 직사각형 86"/>
            <p:cNvSpPr/>
            <p:nvPr/>
          </p:nvSpPr>
          <p:spPr>
            <a:xfrm>
              <a:off x="10672548" y="2331011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전체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0194360" y="2336850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업무구분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45" name="모서리가 둥근 직사각형 144"/>
            <p:cNvSpPr/>
            <p:nvPr/>
          </p:nvSpPr>
          <p:spPr>
            <a:xfrm>
              <a:off x="10672548" y="2986711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일반경쟁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0194360" y="2992550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계약방법</a:t>
              </a:r>
            </a:p>
          </p:txBody>
        </p:sp>
        <p:sp>
          <p:nvSpPr>
            <p:cNvPr id="147" name="모서리가 둥근 직사각형 146"/>
            <p:cNvSpPr/>
            <p:nvPr/>
          </p:nvSpPr>
          <p:spPr>
            <a:xfrm>
              <a:off x="11130010" y="2986711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지명경쟁</a:t>
              </a:r>
            </a:p>
          </p:txBody>
        </p:sp>
        <p:sp>
          <p:nvSpPr>
            <p:cNvPr id="149" name="모서리가 둥근 직사각형 148"/>
            <p:cNvSpPr/>
            <p:nvPr/>
          </p:nvSpPr>
          <p:spPr>
            <a:xfrm>
              <a:off x="11586678" y="2986711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  <p:sp>
          <p:nvSpPr>
            <p:cNvPr id="150" name="모서리가 둥근 직사각형 149"/>
            <p:cNvSpPr/>
            <p:nvPr/>
          </p:nvSpPr>
          <p:spPr>
            <a:xfrm>
              <a:off x="12044140" y="2986711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복수경쟁</a:t>
              </a:r>
              <a:endParaRPr lang="ko-KR" altLang="en-US" sz="600" dirty="0"/>
            </a:p>
          </p:txBody>
        </p:sp>
        <p:sp>
          <p:nvSpPr>
            <p:cNvPr id="151" name="모서리가 둥근 직사각형 150"/>
            <p:cNvSpPr/>
            <p:nvPr/>
          </p:nvSpPr>
          <p:spPr>
            <a:xfrm>
              <a:off x="12501489" y="2986711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  <p:sp>
          <p:nvSpPr>
            <p:cNvPr id="152" name="모서리가 둥근 직사각형 151"/>
            <p:cNvSpPr/>
            <p:nvPr/>
          </p:nvSpPr>
          <p:spPr>
            <a:xfrm>
              <a:off x="10672548" y="3159090"/>
              <a:ext cx="834071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협상에의한</a:t>
              </a:r>
              <a:r>
                <a:rPr lang="ko-KR" altLang="en-US" sz="600" dirty="0"/>
                <a:t> 계약</a:t>
              </a:r>
              <a:r>
                <a:rPr lang="en-US" altLang="ko-KR" sz="600" dirty="0"/>
                <a:t>(</a:t>
              </a:r>
              <a:r>
                <a:rPr lang="ko-KR" altLang="en-US" sz="600" dirty="0"/>
                <a:t>서류</a:t>
              </a:r>
              <a:r>
                <a:rPr lang="en-US" altLang="ko-KR" sz="600" dirty="0"/>
                <a:t>)</a:t>
              </a:r>
              <a:endParaRPr lang="ko-KR" altLang="en-US" sz="600" dirty="0"/>
            </a:p>
          </p:txBody>
        </p:sp>
        <p:sp>
          <p:nvSpPr>
            <p:cNvPr id="153" name="모서리가 둥근 직사각형 152"/>
            <p:cNvSpPr/>
            <p:nvPr/>
          </p:nvSpPr>
          <p:spPr>
            <a:xfrm>
              <a:off x="11553454" y="3159090"/>
              <a:ext cx="644591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600" dirty="0"/>
                <a:t>2</a:t>
              </a:r>
              <a:r>
                <a:rPr lang="ko-KR" altLang="en-US" sz="600" dirty="0"/>
                <a:t>단계 경쟁</a:t>
              </a:r>
              <a:r>
                <a:rPr lang="en-US" altLang="ko-KR" sz="600" dirty="0"/>
                <a:t>(</a:t>
              </a:r>
              <a:r>
                <a:rPr lang="ko-KR" altLang="en-US" sz="600" dirty="0"/>
                <a:t>동시</a:t>
              </a:r>
              <a:r>
                <a:rPr lang="en-US" altLang="ko-KR" sz="600" dirty="0"/>
                <a:t>)</a:t>
              </a:r>
              <a:endParaRPr lang="ko-KR" altLang="en-US" sz="600" dirty="0"/>
            </a:p>
          </p:txBody>
        </p:sp>
        <p:sp>
          <p:nvSpPr>
            <p:cNvPr id="154" name="모서리가 둥근 직사각형 153"/>
            <p:cNvSpPr/>
            <p:nvPr/>
          </p:nvSpPr>
          <p:spPr>
            <a:xfrm>
              <a:off x="12238941" y="3159090"/>
              <a:ext cx="644591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600" dirty="0"/>
                <a:t>2</a:t>
              </a:r>
              <a:r>
                <a:rPr lang="ko-KR" altLang="en-US" sz="600" dirty="0"/>
                <a:t>단계 경쟁</a:t>
              </a:r>
              <a:r>
                <a:rPr lang="en-US" altLang="ko-KR" sz="600" dirty="0"/>
                <a:t>(</a:t>
              </a:r>
              <a:r>
                <a:rPr lang="ko-KR" altLang="en-US" sz="600" dirty="0"/>
                <a:t>분리</a:t>
              </a:r>
              <a:r>
                <a:rPr lang="en-US" altLang="ko-KR" sz="600" dirty="0"/>
                <a:t>)</a:t>
              </a:r>
              <a:endParaRPr lang="ko-KR" altLang="en-US" sz="600" dirty="0"/>
            </a:p>
          </p:txBody>
        </p:sp>
        <p:sp>
          <p:nvSpPr>
            <p:cNvPr id="155" name="모서리가 둥근 직사각형 154"/>
            <p:cNvSpPr/>
            <p:nvPr/>
          </p:nvSpPr>
          <p:spPr>
            <a:xfrm>
              <a:off x="10672548" y="3327059"/>
              <a:ext cx="50131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종합낙찰제</a:t>
              </a:r>
              <a:endParaRPr lang="ko-KR" altLang="en-US" sz="600" dirty="0"/>
            </a:p>
          </p:txBody>
        </p:sp>
        <p:sp>
          <p:nvSpPr>
            <p:cNvPr id="157" name="모서리가 둥근 직사각형 156"/>
            <p:cNvSpPr/>
            <p:nvPr/>
          </p:nvSpPr>
          <p:spPr>
            <a:xfrm>
              <a:off x="11230803" y="3327059"/>
              <a:ext cx="834071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협상에의한</a:t>
              </a:r>
              <a:r>
                <a:rPr lang="ko-KR" altLang="en-US" sz="600" dirty="0"/>
                <a:t> 계약</a:t>
              </a:r>
              <a:r>
                <a:rPr lang="en-US" altLang="ko-KR" sz="600" dirty="0"/>
                <a:t>(</a:t>
              </a:r>
              <a:r>
                <a:rPr lang="ko-KR" altLang="en-US" sz="600" dirty="0"/>
                <a:t>전자</a:t>
              </a:r>
              <a:r>
                <a:rPr lang="en-US" altLang="ko-KR" sz="600" dirty="0"/>
                <a:t>)</a:t>
              </a:r>
              <a:endParaRPr lang="ko-KR" altLang="en-US" sz="600" dirty="0"/>
            </a:p>
          </p:txBody>
        </p:sp>
        <p:sp>
          <p:nvSpPr>
            <p:cNvPr id="158" name="모서리가 둥근 직사각형 157"/>
            <p:cNvSpPr/>
            <p:nvPr/>
          </p:nvSpPr>
          <p:spPr>
            <a:xfrm>
              <a:off x="12121398" y="3327059"/>
              <a:ext cx="3232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역경매</a:t>
              </a:r>
              <a:endParaRPr lang="ko-KR" altLang="en-US" sz="600" dirty="0"/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10672548" y="3698380"/>
              <a:ext cx="57991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발주기관 전체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0194360" y="3704219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발주기관</a:t>
              </a:r>
            </a:p>
          </p:txBody>
        </p:sp>
        <p:sp>
          <p:nvSpPr>
            <p:cNvPr id="163" name="모서리가 둥근 직사각형 162"/>
            <p:cNvSpPr/>
            <p:nvPr/>
          </p:nvSpPr>
          <p:spPr>
            <a:xfrm>
              <a:off x="11300504" y="3698380"/>
              <a:ext cx="47052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방위사업청</a:t>
              </a:r>
              <a:endParaRPr lang="ko-KR" altLang="en-US" sz="600" dirty="0"/>
            </a:p>
          </p:txBody>
        </p:sp>
        <p:sp>
          <p:nvSpPr>
            <p:cNvPr id="164" name="모서리가 둥근 직사각형 163"/>
            <p:cNvSpPr/>
            <p:nvPr/>
          </p:nvSpPr>
          <p:spPr>
            <a:xfrm>
              <a:off x="11816548" y="3698380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조달본부</a:t>
              </a:r>
            </a:p>
          </p:txBody>
        </p:sp>
        <p:sp>
          <p:nvSpPr>
            <p:cNvPr id="165" name="모서리가 둥근 직사각형 164"/>
            <p:cNvSpPr/>
            <p:nvPr/>
          </p:nvSpPr>
          <p:spPr>
            <a:xfrm>
              <a:off x="12263281" y="3700655"/>
              <a:ext cx="3232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경리단</a:t>
              </a:r>
              <a:endParaRPr lang="ko-KR" altLang="en-US" sz="600" dirty="0"/>
            </a:p>
          </p:txBody>
        </p:sp>
        <p:sp>
          <p:nvSpPr>
            <p:cNvPr id="166" name="모서리가 둥근 직사각형 165"/>
            <p:cNvSpPr/>
            <p:nvPr/>
          </p:nvSpPr>
          <p:spPr>
            <a:xfrm>
              <a:off x="12636834" y="3700655"/>
              <a:ext cx="3232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군수사</a:t>
              </a:r>
              <a:endParaRPr lang="ko-KR" altLang="en-US" sz="600" dirty="0"/>
            </a:p>
          </p:txBody>
        </p:sp>
        <p:sp>
          <p:nvSpPr>
            <p:cNvPr id="167" name="모서리가 둥근 직사각형 166"/>
            <p:cNvSpPr/>
            <p:nvPr/>
          </p:nvSpPr>
          <p:spPr>
            <a:xfrm>
              <a:off x="13012061" y="3700655"/>
              <a:ext cx="3232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교육사</a:t>
              </a:r>
            </a:p>
          </p:txBody>
        </p:sp>
        <p:sp>
          <p:nvSpPr>
            <p:cNvPr id="168" name="모서리가 둥근 직사각형 167"/>
            <p:cNvSpPr/>
            <p:nvPr/>
          </p:nvSpPr>
          <p:spPr>
            <a:xfrm>
              <a:off x="10675362" y="3862173"/>
              <a:ext cx="25083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학교</a:t>
              </a:r>
            </a:p>
          </p:txBody>
        </p:sp>
        <p:sp>
          <p:nvSpPr>
            <p:cNvPr id="169" name="모서리가 둥근 직사각형 168"/>
            <p:cNvSpPr/>
            <p:nvPr/>
          </p:nvSpPr>
          <p:spPr>
            <a:xfrm>
              <a:off x="10993830" y="3862173"/>
              <a:ext cx="3232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근지단</a:t>
              </a:r>
              <a:endParaRPr lang="ko-KR" altLang="en-US" sz="600" dirty="0"/>
            </a:p>
          </p:txBody>
        </p:sp>
        <p:sp>
          <p:nvSpPr>
            <p:cNvPr id="170" name="모서리가 둥근 직사각형 169"/>
            <p:cNvSpPr/>
            <p:nvPr/>
          </p:nvSpPr>
          <p:spPr>
            <a:xfrm>
              <a:off x="11379457" y="3862173"/>
              <a:ext cx="3232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군병원</a:t>
              </a:r>
              <a:endParaRPr lang="ko-KR" altLang="en-US" sz="600" dirty="0"/>
            </a:p>
          </p:txBody>
        </p:sp>
        <p:sp>
          <p:nvSpPr>
            <p:cNvPr id="172" name="모서리가 둥근 직사각형 171"/>
            <p:cNvSpPr/>
            <p:nvPr/>
          </p:nvSpPr>
          <p:spPr>
            <a:xfrm>
              <a:off x="11767908" y="3862173"/>
              <a:ext cx="25083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본부</a:t>
              </a:r>
            </a:p>
          </p:txBody>
        </p:sp>
        <p:sp>
          <p:nvSpPr>
            <p:cNvPr id="173" name="모서리가 둥근 직사각형 172"/>
            <p:cNvSpPr/>
            <p:nvPr/>
          </p:nvSpPr>
          <p:spPr>
            <a:xfrm>
              <a:off x="12081036" y="3862173"/>
              <a:ext cx="40761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국방부</a:t>
              </a:r>
              <a:r>
                <a:rPr lang="en-US" altLang="ko-KR" sz="600" dirty="0"/>
                <a:t>-9</a:t>
              </a:r>
              <a:endParaRPr lang="ko-KR" altLang="en-US" sz="600" dirty="0"/>
            </a:p>
          </p:txBody>
        </p:sp>
        <p:sp>
          <p:nvSpPr>
            <p:cNvPr id="174" name="모서리가 둥근 직사각형 173"/>
            <p:cNvSpPr/>
            <p:nvPr/>
          </p:nvSpPr>
          <p:spPr>
            <a:xfrm>
              <a:off x="12552455" y="3862173"/>
              <a:ext cx="40761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국방부</a:t>
              </a:r>
              <a:r>
                <a:rPr lang="en-US" altLang="ko-KR" sz="600" dirty="0"/>
                <a:t>-A</a:t>
              </a:r>
              <a:endParaRPr lang="ko-KR" altLang="en-US" sz="600" dirty="0"/>
            </a:p>
          </p:txBody>
        </p:sp>
        <p:sp>
          <p:nvSpPr>
            <p:cNvPr id="175" name="모서리가 둥근 직사각형 174"/>
            <p:cNvSpPr/>
            <p:nvPr/>
          </p:nvSpPr>
          <p:spPr>
            <a:xfrm>
              <a:off x="13023874" y="3862173"/>
              <a:ext cx="25083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기타</a:t>
              </a:r>
            </a:p>
          </p:txBody>
        </p:sp>
        <p:sp>
          <p:nvSpPr>
            <p:cNvPr id="148" name="모서리가 둥근 직사각형 147"/>
            <p:cNvSpPr/>
            <p:nvPr/>
          </p:nvSpPr>
          <p:spPr>
            <a:xfrm>
              <a:off x="10674969" y="1990054"/>
              <a:ext cx="39399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조달계획</a:t>
              </a:r>
            </a:p>
          </p:txBody>
        </p:sp>
        <p:sp>
          <p:nvSpPr>
            <p:cNvPr id="156" name="모서리가 둥근 직사각형 155"/>
            <p:cNvSpPr/>
            <p:nvPr/>
          </p:nvSpPr>
          <p:spPr>
            <a:xfrm>
              <a:off x="11116031" y="1990054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사전규격</a:t>
              </a:r>
              <a:endParaRPr lang="ko-KR" altLang="en-US" sz="600" dirty="0"/>
            </a:p>
          </p:txBody>
        </p:sp>
        <p:sp>
          <p:nvSpPr>
            <p:cNvPr id="159" name="모서리가 둥근 직사각형 158"/>
            <p:cNvSpPr/>
            <p:nvPr/>
          </p:nvSpPr>
          <p:spPr>
            <a:xfrm>
              <a:off x="11575254" y="1990054"/>
              <a:ext cx="565151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연간조달계획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0194360" y="1995893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검색유형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모서리가 둥근 직사각형 179"/>
            <p:cNvSpPr/>
            <p:nvPr/>
          </p:nvSpPr>
          <p:spPr>
            <a:xfrm>
              <a:off x="10672548" y="2663542"/>
              <a:ext cx="32583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총액제</a:t>
              </a:r>
              <a:endParaRPr lang="ko-KR" altLang="en-US" sz="600" dirty="0"/>
            </a:p>
          </p:txBody>
        </p:sp>
        <p:sp>
          <p:nvSpPr>
            <p:cNvPr id="181" name="모서리가 둥근 직사각형 180"/>
            <p:cNvSpPr/>
            <p:nvPr/>
          </p:nvSpPr>
          <p:spPr>
            <a:xfrm>
              <a:off x="11049796" y="2664990"/>
              <a:ext cx="325832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단가제</a:t>
              </a:r>
              <a:endParaRPr lang="ko-KR" altLang="en-US" sz="600" dirty="0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0194360" y="2669381"/>
              <a:ext cx="54734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입찰구분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065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3659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3659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2" name="그룹 191"/>
          <p:cNvGrpSpPr/>
          <p:nvPr/>
        </p:nvGrpSpPr>
        <p:grpSpPr>
          <a:xfrm>
            <a:off x="3143548" y="3748965"/>
            <a:ext cx="94010" cy="47005"/>
            <a:chOff x="6812560" y="3297172"/>
            <a:chExt cx="94010" cy="47005"/>
          </a:xfrm>
        </p:grpSpPr>
        <p:cxnSp>
          <p:nvCxnSpPr>
            <p:cNvPr id="193" name="직선 연결선 19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직선 연결선 19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5" name="그룹 194"/>
          <p:cNvGrpSpPr/>
          <p:nvPr/>
        </p:nvGrpSpPr>
        <p:grpSpPr>
          <a:xfrm>
            <a:off x="767702" y="3036209"/>
            <a:ext cx="2527420" cy="477995"/>
            <a:chOff x="786326" y="2270279"/>
            <a:chExt cx="2527420" cy="477995"/>
          </a:xfrm>
        </p:grpSpPr>
        <p:sp>
          <p:nvSpPr>
            <p:cNvPr id="196" name="모서리가 둥근 직사각형 1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타원 1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99" name="그룹 198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0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0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00" name="타원 1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2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02" name="타원 2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3" name="그룹 2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04" name="직선 연결선 2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6345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0143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883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301623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795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2745525"/>
            <a:ext cx="66385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b="1" dirty="0" smtClean="0">
                <a:latin typeface="+mn-ea"/>
              </a:rPr>
              <a:t>유형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104835" y="2713383"/>
            <a:ext cx="685866" cy="187200"/>
          </a:xfrm>
          <a:prstGeom prst="roundRect">
            <a:avLst>
              <a:gd name="adj" fmla="val 17463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 dirty="0" smtClean="0">
                <a:solidFill>
                  <a:schemeClr val="bg1"/>
                </a:solidFill>
              </a:rPr>
              <a:t>조달계획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5" name="직사각형 124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유형 추가</a:t>
              </a:r>
              <a:endParaRPr lang="ko-KR" altLang="en-US" sz="700" dirty="0"/>
            </a:p>
          </p:txBody>
        </p:sp>
      </p:grpSp>
      <p:sp>
        <p:nvSpPr>
          <p:cNvPr id="133" name="모서리가 둥근 직사각형 132"/>
          <p:cNvSpPr/>
          <p:nvPr/>
        </p:nvSpPr>
        <p:spPr>
          <a:xfrm>
            <a:off x="1857752" y="2713383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6" name="모서리가 둥근 직사각형 135"/>
          <p:cNvSpPr/>
          <p:nvPr/>
        </p:nvSpPr>
        <p:spPr>
          <a:xfrm>
            <a:off x="2604380" y="2713383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38" name="그룹 137"/>
          <p:cNvGrpSpPr/>
          <p:nvPr/>
        </p:nvGrpSpPr>
        <p:grpSpPr>
          <a:xfrm>
            <a:off x="8223250" y="790026"/>
            <a:ext cx="3365500" cy="634511"/>
            <a:chOff x="8223250" y="569392"/>
            <a:chExt cx="3365500" cy="634511"/>
          </a:xfrm>
        </p:grpSpPr>
        <p:sp>
          <p:nvSpPr>
            <p:cNvPr id="139" name="직사각형 13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2026-06-30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40" name="직사각형 13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설명 분리 및 수정</a:t>
              </a:r>
              <a:endParaRPr lang="ko-KR" altLang="en-US" sz="700" dirty="0"/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5" name="그룹 134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76" name="직선 연결선 17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그룹 136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41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42" name="직선 연결선 14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타원 142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타원 143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1" name="타원 170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79" name="TextBox 1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182" name="표 1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414538"/>
              </p:ext>
            </p:extLst>
          </p:nvPr>
        </p:nvGraphicFramePr>
        <p:xfrm>
          <a:off x="3801286" y="1616448"/>
          <a:ext cx="3069778" cy="40995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물품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용역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공사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국외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계약방법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ctrtMthdCd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As-Is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일반경쟁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지명경쟁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제한경쟁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수의계약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역경매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복수경쟁</a:t>
                      </a:r>
                      <a:r>
                        <a:rPr lang="en-US" altLang="ko-KR" sz="700" dirty="0" smtClean="0"/>
                        <a:t>, 2</a:t>
                      </a:r>
                      <a:r>
                        <a:rPr lang="ko-KR" altLang="en-US" sz="700" dirty="0" err="1" smtClean="0"/>
                        <a:t>단계경쟁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동시</a:t>
                      </a:r>
                      <a:r>
                        <a:rPr lang="en-US" altLang="ko-KR" sz="700" dirty="0" smtClean="0"/>
                        <a:t>), 2</a:t>
                      </a:r>
                      <a:r>
                        <a:rPr lang="ko-KR" altLang="en-US" sz="700" dirty="0" err="1" smtClean="0"/>
                        <a:t>단계경쟁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분리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협상에의한계약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서류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협상에의한계약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전자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종합낙찰제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08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계약방법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ctrtMthdCd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7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To-Be</a:t>
                      </a:r>
                      <a:endParaRPr lang="ko-KR" altLang="en-US" sz="7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일반경쟁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지명경쟁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제한경쟁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수의계약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565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입찰방법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As-Is</a:t>
                      </a:r>
                      <a:endParaRPr lang="ko-KR" altLang="en-US" sz="7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총액제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단가제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리스입찰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단가제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최저가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최저가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적격심사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err="1" smtClean="0"/>
                        <a:t>종합심사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내역입찰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설계시공일괄입찰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552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/>
                        <a:t>입찰방법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dirty="0" err="1" smtClean="0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To-Be</a:t>
                      </a:r>
                      <a:endParaRPr lang="ko-KR" altLang="en-US" sz="7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/>
                        <a:t>총액제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단가제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리스입찰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640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낙찰방법</a:t>
                      </a:r>
                      <a:endParaRPr lang="en-US" altLang="ko-KR" sz="7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As-Is</a:t>
                      </a:r>
                      <a:endParaRPr lang="ko-KR" altLang="en-US" sz="700" dirty="0" smtClean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제한적최저가격제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적격심사제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협상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최저가격제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289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err="1" smtClean="0"/>
                        <a:t>낙찰방법</a:t>
                      </a:r>
                      <a:endParaRPr lang="en-US" altLang="ko-KR" sz="700" dirty="0" smtClean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To-Be</a:t>
                      </a:r>
                      <a:endParaRPr lang="ko-KR" altLang="en-US" sz="700" dirty="0" smtClean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제한적최저가격제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적격심사제</a:t>
                      </a:r>
                      <a:r>
                        <a:rPr lang="en-US" altLang="ko-KR" sz="700" dirty="0" smtClean="0"/>
                        <a:t>, 2</a:t>
                      </a:r>
                      <a:r>
                        <a:rPr lang="ko-KR" altLang="en-US" sz="700" dirty="0" err="1" smtClean="0"/>
                        <a:t>단계경쟁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동시</a:t>
                      </a:r>
                      <a:r>
                        <a:rPr lang="en-US" altLang="ko-KR" sz="700" dirty="0" smtClean="0"/>
                        <a:t>), 2</a:t>
                      </a:r>
                      <a:r>
                        <a:rPr lang="ko-KR" altLang="en-US" sz="700" dirty="0" err="1" smtClean="0"/>
                        <a:t>단계경쟁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분리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역경매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협상에의한계약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서류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협상에의한계약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전자</a:t>
                      </a:r>
                      <a:r>
                        <a:rPr lang="en-US" altLang="ko-KR" sz="700" dirty="0" smtClean="0"/>
                        <a:t>), </a:t>
                      </a:r>
                      <a:r>
                        <a:rPr lang="ko-KR" altLang="en-US" sz="700" dirty="0" err="1" smtClean="0"/>
                        <a:t>종합낙찰제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err="1" smtClean="0"/>
                        <a:t>종합심사제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설계시공일괄입찰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공개수의협상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ko-KR" altLang="en-US" sz="700" dirty="0" smtClean="0"/>
                        <a:t>가칭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05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진행상태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implPrgrsStcd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계약완료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675074"/>
                  </a:ext>
                </a:extLst>
              </a:tr>
            </a:tbl>
          </a:graphicData>
        </a:graphic>
      </p:graphicFrame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07860" y="14007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B522DA37-28F9-9CCB-AF10-E2C7941DD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143855"/>
              </p:ext>
            </p:extLst>
          </p:nvPr>
        </p:nvGraphicFramePr>
        <p:xfrm>
          <a:off x="10179512" y="3920563"/>
          <a:ext cx="2995706" cy="27687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4674">
                  <a:extLst>
                    <a:ext uri="{9D8B030D-6E8A-4147-A177-3AD203B41FA5}">
                      <a16:colId xmlns:a16="http://schemas.microsoft.com/office/drawing/2014/main" val="4063926960"/>
                    </a:ext>
                  </a:extLst>
                </a:gridCol>
                <a:gridCol w="966358">
                  <a:extLst>
                    <a:ext uri="{9D8B030D-6E8A-4147-A177-3AD203B41FA5}">
                      <a16:colId xmlns:a16="http://schemas.microsoft.com/office/drawing/2014/main" val="2948377824"/>
                    </a:ext>
                  </a:extLst>
                </a:gridCol>
                <a:gridCol w="1014674">
                  <a:extLst>
                    <a:ext uri="{9D8B030D-6E8A-4147-A177-3AD203B41FA5}">
                      <a16:colId xmlns:a16="http://schemas.microsoft.com/office/drawing/2014/main" val="3761576444"/>
                    </a:ext>
                  </a:extLst>
                </a:gridCol>
              </a:tblGrid>
              <a:tr h="2206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계약방법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(CTMC)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입찰방법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(BDTC)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낙찰방법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(CCMT)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76900"/>
                  </a:ext>
                </a:extLst>
              </a:tr>
              <a:tr h="1547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일반경쟁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총액제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제한적최저가격제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699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지명경쟁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단가제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적격심사제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304345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제한경쟁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리스입찰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243502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수의계약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단가제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최저가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최저가격제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888237"/>
                  </a:ext>
                </a:extLst>
              </a:tr>
              <a:tr h="27234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역경매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최저가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588190"/>
                  </a:ext>
                </a:extLst>
              </a:tr>
              <a:tr h="27234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복수경쟁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적격심사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50853"/>
                  </a:ext>
                </a:extLst>
              </a:tr>
              <a:tr h="239581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동시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종합심사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13884"/>
                  </a:ext>
                </a:extLst>
              </a:tr>
              <a:tr h="272480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분리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내역입찰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설계시공일괄입찰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59089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서류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829222"/>
                  </a:ext>
                </a:extLst>
              </a:tr>
              <a:tr h="27234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전자</a:t>
                      </a:r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270891"/>
                  </a:ext>
                </a:extLst>
              </a:tr>
              <a:tr h="212833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lang="ko-KR" altLang="en-US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종합낙찰제</a:t>
                      </a: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3422"/>
                  </a:ext>
                </a:extLst>
              </a:tr>
            </a:tbl>
          </a:graphicData>
        </a:graphic>
      </p:graphicFrame>
      <p:graphicFrame>
        <p:nvGraphicFramePr>
          <p:cNvPr id="186" name="표 185">
            <a:extLst>
              <a:ext uri="{FF2B5EF4-FFF2-40B4-BE49-F238E27FC236}">
                <a16:creationId xmlns:a16="http://schemas.microsoft.com/office/drawing/2014/main" id="{7CCF8D95-8489-327A-F2B5-78561D8A9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50617"/>
              </p:ext>
            </p:extLst>
          </p:nvPr>
        </p:nvGraphicFramePr>
        <p:xfrm>
          <a:off x="13190302" y="3920563"/>
          <a:ext cx="2995705" cy="27687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0203">
                  <a:extLst>
                    <a:ext uri="{9D8B030D-6E8A-4147-A177-3AD203B41FA5}">
                      <a16:colId xmlns:a16="http://schemas.microsoft.com/office/drawing/2014/main" val="4063926960"/>
                    </a:ext>
                  </a:extLst>
                </a:gridCol>
                <a:gridCol w="880203">
                  <a:extLst>
                    <a:ext uri="{9D8B030D-6E8A-4147-A177-3AD203B41FA5}">
                      <a16:colId xmlns:a16="http://schemas.microsoft.com/office/drawing/2014/main" val="2948377824"/>
                    </a:ext>
                  </a:extLst>
                </a:gridCol>
                <a:gridCol w="1235299">
                  <a:extLst>
                    <a:ext uri="{9D8B030D-6E8A-4147-A177-3AD203B41FA5}">
                      <a16:colId xmlns:a16="http://schemas.microsoft.com/office/drawing/2014/main" val="3761576444"/>
                    </a:ext>
                  </a:extLst>
                </a:gridCol>
              </a:tblGrid>
              <a:tr h="222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계약방법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(CTMC)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입찰방법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(BDTC)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낙찰방법</a:t>
                      </a:r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(CCMT)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76900"/>
                  </a:ext>
                </a:extLst>
              </a:tr>
              <a:tr h="15788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일반경쟁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총액제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제한적최저가격제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699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지명경쟁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단가제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적격심사제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304345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제한경쟁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리스입찰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동시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243502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수의계약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2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단계경쟁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분리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888237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+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산출내역서적용여부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역경매</a:t>
                      </a:r>
                      <a:endParaRPr lang="en-US" altLang="ko-KR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588190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서류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50853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협상에의한계약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전자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218" marR="3218" marT="32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13884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종합낙찰제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59089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종합심사제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829222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설계시공일괄입찰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270891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공개수의협상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가칭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3422"/>
                  </a:ext>
                </a:extLst>
              </a:tr>
              <a:tr h="217086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비공개수의협상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가칭</a:t>
                      </a:r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HG꼬딕씨_Pro 40g" panose="02020603020101020101" pitchFamily="18" charset="-127"/>
                          <a:ea typeface="HG꼬딕씨_Pro 40g" panose="02020603020101020101" pitchFamily="18" charset="-127"/>
                          <a:cs typeface="+mn-cs"/>
                        </a:rPr>
                        <a:t>)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G꼬딕씨_Pro 40g" panose="02020603020101020101" pitchFamily="18" charset="-127"/>
                        <a:ea typeface="HG꼬딕씨_Pro 40g" panose="02020603020101020101" pitchFamily="18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014058"/>
                  </a:ext>
                </a:extLst>
              </a:tr>
            </a:tbl>
          </a:graphicData>
        </a:graphic>
      </p:graphicFrame>
      <p:sp>
        <p:nvSpPr>
          <p:cNvPr id="187" name="TextBox 186"/>
          <p:cNvSpPr txBox="1"/>
          <p:nvPr/>
        </p:nvSpPr>
        <p:spPr>
          <a:xfrm>
            <a:off x="11270650" y="360175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AS-IS</a:t>
            </a:r>
            <a:endParaRPr lang="ko-KR" altLang="en-US" dirty="0"/>
          </a:p>
        </p:txBody>
      </p:sp>
      <p:sp>
        <p:nvSpPr>
          <p:cNvPr id="188" name="TextBox 187"/>
          <p:cNvSpPr txBox="1"/>
          <p:nvPr/>
        </p:nvSpPr>
        <p:spPr>
          <a:xfrm>
            <a:off x="14182526" y="3601752"/>
            <a:ext cx="822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TO-BE</a:t>
            </a:r>
            <a:endParaRPr lang="ko-KR" altLang="en-US" dirty="0"/>
          </a:p>
        </p:txBody>
      </p:sp>
      <p:sp>
        <p:nvSpPr>
          <p:cNvPr id="209" name="직사각형 208"/>
          <p:cNvSpPr/>
          <p:nvPr/>
        </p:nvSpPr>
        <p:spPr>
          <a:xfrm>
            <a:off x="9999345" y="3148635"/>
            <a:ext cx="2122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계약방법</a:t>
            </a:r>
            <a:r>
              <a:rPr lang="en-US" altLang="ko-KR" dirty="0"/>
              <a:t>/</a:t>
            </a:r>
            <a:r>
              <a:rPr lang="ko-KR" altLang="en-US" dirty="0" err="1"/>
              <a:t>낙찰방법</a:t>
            </a:r>
            <a:endParaRPr lang="ko-KR" altLang="en-US" dirty="0"/>
          </a:p>
        </p:txBody>
      </p:sp>
      <p:grpSp>
        <p:nvGrpSpPr>
          <p:cNvPr id="210" name="그룹 209"/>
          <p:cNvGrpSpPr/>
          <p:nvPr/>
        </p:nvGrpSpPr>
        <p:grpSpPr>
          <a:xfrm>
            <a:off x="8223250" y="1019023"/>
            <a:ext cx="3365500" cy="634511"/>
            <a:chOff x="8223250" y="569392"/>
            <a:chExt cx="3365500" cy="634511"/>
          </a:xfrm>
        </p:grpSpPr>
        <p:sp>
          <p:nvSpPr>
            <p:cNvPr id="211" name="직사각형 210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2026-08-06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212" name="직사각형 211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표시 레이블 정리</a:t>
              </a:r>
              <a:endParaRPr lang="ko-KR" altLang="en-US" sz="700" dirty="0"/>
            </a:p>
          </p:txBody>
        </p:sp>
      </p:grpSp>
      <p:grpSp>
        <p:nvGrpSpPr>
          <p:cNvPr id="160" name="그룹 159"/>
          <p:cNvGrpSpPr/>
          <p:nvPr/>
        </p:nvGrpSpPr>
        <p:grpSpPr>
          <a:xfrm>
            <a:off x="8223250" y="1245062"/>
            <a:ext cx="3365500" cy="634511"/>
            <a:chOff x="8223250" y="569392"/>
            <a:chExt cx="3365500" cy="634511"/>
          </a:xfrm>
        </p:grpSpPr>
        <p:sp>
          <p:nvSpPr>
            <p:cNvPr id="217" name="직사각형 216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2026-08-20 </a:t>
              </a:r>
              <a:r>
                <a:rPr lang="ko-KR" altLang="en-US" dirty="0" smtClean="0"/>
                <a:t>설명 수정</a:t>
              </a:r>
              <a:endParaRPr lang="ko-KR" altLang="en-US" dirty="0"/>
            </a:p>
          </p:txBody>
        </p:sp>
        <p:sp>
          <p:nvSpPr>
            <p:cNvPr id="218" name="직사각형 217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빠른 검색 시 </a:t>
              </a:r>
              <a:r>
                <a:rPr lang="ko-KR" altLang="en-US" sz="700" dirty="0" err="1" smtClean="0"/>
                <a:t>검색필터는</a:t>
              </a:r>
              <a:r>
                <a:rPr lang="ko-KR" altLang="en-US" sz="700" dirty="0" smtClean="0"/>
                <a:t> 초기화</a:t>
              </a:r>
              <a:endParaRPr lang="ko-KR" altLang="en-US" sz="700" dirty="0"/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720" y="5458447"/>
            <a:ext cx="2130880" cy="96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0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조달명</a:t>
            </a:r>
            <a:r>
              <a:rPr lang="en-US" altLang="ko-KR" dirty="0"/>
              <a:t>, </a:t>
            </a:r>
            <a:r>
              <a:rPr lang="ko-KR" altLang="en-US" dirty="0" err="1"/>
              <a:t>판단번호를</a:t>
            </a:r>
            <a:r>
              <a:rPr lang="ko-KR" altLang="en-US" dirty="0"/>
              <a:t> 선택하여 </a:t>
            </a:r>
            <a:r>
              <a:rPr lang="ko-KR" altLang="en-US" dirty="0" smtClean="0"/>
              <a:t>검색</a:t>
            </a:r>
            <a:r>
              <a:rPr lang="en-US" altLang="ko-KR" dirty="0">
                <a:solidFill>
                  <a:srgbClr val="FF0000"/>
                </a:solidFill>
              </a:rPr>
              <a:t> - [</a:t>
            </a:r>
            <a:r>
              <a:rPr lang="en-US" altLang="ko-KR" dirty="0" smtClean="0">
                <a:solidFill>
                  <a:srgbClr val="FF0000"/>
                </a:solidFill>
              </a:rPr>
              <a:t>0820] </a:t>
            </a:r>
            <a:r>
              <a:rPr lang="ko-KR" altLang="en-US" dirty="0">
                <a:solidFill>
                  <a:srgbClr val="FF0000"/>
                </a:solidFill>
              </a:rPr>
              <a:t>빠른 검색 시 </a:t>
            </a:r>
            <a:r>
              <a:rPr lang="ko-KR" altLang="en-US" dirty="0" err="1">
                <a:solidFill>
                  <a:srgbClr val="FF0000"/>
                </a:solidFill>
              </a:rPr>
              <a:t>검색필터는</a:t>
            </a:r>
            <a:r>
              <a:rPr lang="ko-KR" altLang="en-US" dirty="0">
                <a:solidFill>
                  <a:srgbClr val="FF0000"/>
                </a:solidFill>
              </a:rPr>
              <a:t> 초기화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 err="1"/>
              <a:t>검색필터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 err="1"/>
              <a:t>사전규격</a:t>
            </a:r>
            <a:r>
              <a:rPr lang="ko-KR" altLang="en-US" dirty="0"/>
              <a:t> </a:t>
            </a:r>
            <a:r>
              <a:rPr lang="en-US" altLang="ko-KR" dirty="0"/>
              <a:t>MUI-OP-01-P03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필터 설정이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</a:t>
            </a:r>
            <a:r>
              <a:rPr lang="en-US" altLang="ko-KR" dirty="0" smtClean="0"/>
              <a:t>(4</a:t>
            </a:r>
            <a:r>
              <a:rPr lang="ko-KR" altLang="en-US" dirty="0" err="1" smtClean="0"/>
              <a:t>번항</a:t>
            </a:r>
            <a:r>
              <a:rPr lang="en-US" altLang="ko-KR" dirty="0"/>
              <a:t>)</a:t>
            </a:r>
            <a:r>
              <a:rPr lang="ko-KR" altLang="en-US" dirty="0"/>
              <a:t>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카드 클릭으로 상세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사전규격상세 </a:t>
            </a:r>
            <a:r>
              <a:rPr lang="en-US" altLang="ko-KR" dirty="0"/>
              <a:t>MUI-OP-01-M11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</a:t>
            </a:r>
            <a:r>
              <a:rPr lang="ko-KR" altLang="en-US" dirty="0" smtClean="0"/>
              <a:t>가능</a:t>
            </a:r>
            <a:br>
              <a:rPr lang="ko-KR" altLang="en-US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 err="1" smtClean="0">
                <a:solidFill>
                  <a:srgbClr val="FF0000"/>
                </a:solidFill>
              </a:rPr>
              <a:t>업무구분</a:t>
            </a:r>
            <a:r>
              <a:rPr lang="en-US" altLang="ko-KR" dirty="0" smtClean="0">
                <a:solidFill>
                  <a:srgbClr val="FF0000"/>
                </a:solidFill>
              </a:rPr>
              <a:t> 1</a:t>
            </a:r>
            <a:r>
              <a:rPr lang="ko-KR" altLang="en-US" dirty="0" smtClean="0">
                <a:solidFill>
                  <a:srgbClr val="FF0000"/>
                </a:solidFill>
              </a:rPr>
              <a:t>가지 </a:t>
            </a:r>
            <a:r>
              <a:rPr lang="ko-KR" altLang="en-US" dirty="0" err="1">
                <a:solidFill>
                  <a:srgbClr val="FF0000"/>
                </a:solidFill>
              </a:rPr>
              <a:t>뱃지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레이블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  <a:r>
              <a:rPr lang="ko-KR" altLang="en-US" dirty="0">
                <a:solidFill>
                  <a:srgbClr val="FF0000"/>
                </a:solidFill>
              </a:rPr>
              <a:t>표시</a:t>
            </a:r>
            <a:endParaRPr lang="en-US" altLang="ko-KR" dirty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 smtClean="0">
                <a:latin typeface="+mn-ea"/>
              </a:rPr>
              <a:t>사전규격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 err="1"/>
              <a:t>사전계획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MUI-OP-01-T02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49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781461" y="4041441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99001</a:t>
              </a:r>
            </a:p>
            <a:p>
              <a:r>
                <a:rPr lang="ko-KR" altLang="en-US" sz="900" b="1" dirty="0" err="1"/>
                <a:t>공마대</a:t>
              </a:r>
              <a:r>
                <a:rPr lang="ko-KR" altLang="en-US" sz="900" b="1" dirty="0"/>
                <a:t> 등 </a:t>
              </a:r>
              <a:r>
                <a:rPr lang="en-US" altLang="ko-KR" sz="900" b="1" dirty="0"/>
                <a:t>41</a:t>
              </a:r>
              <a:r>
                <a:rPr lang="ko-KR" altLang="en-US" sz="900" b="1" dirty="0"/>
                <a:t>종 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공개일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3346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2026-02-12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915101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5340770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03665</a:t>
              </a:r>
            </a:p>
            <a:p>
              <a:r>
                <a:rPr lang="en-US" altLang="ko-KR" sz="900" b="1" dirty="0"/>
                <a:t>26~27-N-</a:t>
              </a:r>
              <a:r>
                <a:rPr lang="ko-KR" altLang="en-US" sz="900" b="1" dirty="0"/>
                <a:t>정보체계 </a:t>
              </a:r>
              <a:r>
                <a:rPr lang="en-US" altLang="ko-KR" sz="900" b="1" dirty="0"/>
                <a:t>2</a:t>
              </a:r>
              <a:r>
                <a:rPr lang="ko-KR" altLang="en-US" sz="900" b="1" dirty="0"/>
                <a:t>차 재개발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공개일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34219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국군재정관리단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2,596,060,616,000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2026-01-14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용역</a:t>
              </a: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222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420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98263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3068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236202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444013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7194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4314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4314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3143548" y="3755507"/>
            <a:ext cx="94010" cy="47005"/>
            <a:chOff x="6812560" y="3297172"/>
            <a:chExt cx="94010" cy="47005"/>
          </a:xfrm>
        </p:grpSpPr>
        <p:cxnSp>
          <p:nvCxnSpPr>
            <p:cNvPr id="111" name="직선 연결선 1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" name="그룹 112"/>
          <p:cNvGrpSpPr/>
          <p:nvPr/>
        </p:nvGrpSpPr>
        <p:grpSpPr>
          <a:xfrm>
            <a:off x="767702" y="3042751"/>
            <a:ext cx="2527420" cy="477995"/>
            <a:chOff x="786326" y="2270279"/>
            <a:chExt cx="2527420" cy="477995"/>
          </a:xfrm>
        </p:grpSpPr>
        <p:sp>
          <p:nvSpPr>
            <p:cNvPr id="114" name="모서리가 둥근 직사각형 113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7" name="그룹 116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2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33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8" name="타원 11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0" name="타원 11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0797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2" name="그룹 121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34" name="직사각형 13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5" name="직사각형 13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유형 추가</a:t>
              </a:r>
              <a:endParaRPr lang="ko-KR" altLang="en-US" sz="700" dirty="0"/>
            </a:p>
          </p:txBody>
        </p:sp>
      </p:grp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675399" y="2638167"/>
            <a:ext cx="2712027" cy="345002"/>
            <a:chOff x="675399" y="2210158"/>
            <a:chExt cx="2712027" cy="345002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210158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55516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2321104"/>
              <a:ext cx="663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b="1" dirty="0" smtClean="0">
                  <a:latin typeface="+mn-ea"/>
                </a:rPr>
                <a:t>유형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40" name="모서리가 둥근 직사각형 139"/>
            <p:cNvSpPr/>
            <p:nvPr/>
          </p:nvSpPr>
          <p:spPr>
            <a:xfrm>
              <a:off x="1104835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조달계획</a:t>
              </a:r>
            </a:p>
          </p:txBody>
        </p:sp>
        <p:sp>
          <p:nvSpPr>
            <p:cNvPr id="160" name="모서리가 둥근 직사각형 159"/>
            <p:cNvSpPr/>
            <p:nvPr/>
          </p:nvSpPr>
          <p:spPr>
            <a:xfrm>
              <a:off x="1857752" y="2288962"/>
              <a:ext cx="685866" cy="187200"/>
            </a:xfrm>
            <a:prstGeom prst="roundRect">
              <a:avLst>
                <a:gd name="adj" fmla="val 17463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mtClean="0">
                  <a:solidFill>
                    <a:schemeClr val="bg1"/>
                  </a:solidFill>
                </a:rPr>
                <a:t>사전규격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85" name="모서리가 둥근 직사각형 184"/>
            <p:cNvSpPr/>
            <p:nvPr/>
          </p:nvSpPr>
          <p:spPr>
            <a:xfrm>
              <a:off x="2604380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</a:rPr>
                <a:t>연간조달계획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8" name="그룹 187"/>
          <p:cNvGrpSpPr/>
          <p:nvPr/>
        </p:nvGrpSpPr>
        <p:grpSpPr>
          <a:xfrm>
            <a:off x="8223250" y="790026"/>
            <a:ext cx="3365500" cy="634511"/>
            <a:chOff x="8223250" y="569392"/>
            <a:chExt cx="3365500" cy="634511"/>
          </a:xfrm>
        </p:grpSpPr>
        <p:sp>
          <p:nvSpPr>
            <p:cNvPr id="189" name="직사각형 18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2026-06-30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설명 분리 및 수정</a:t>
              </a:r>
            </a:p>
          </p:txBody>
        </p:sp>
      </p:grpSp>
      <p:sp>
        <p:nvSpPr>
          <p:cNvPr id="191" name="타원 1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368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9195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301982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144" name="그룹 143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78" name="그룹 177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97" name="직선 연결선 19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8" name="직선 연결선 19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그룹 178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82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6" name="타원 185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타원 194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타원 195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142" name="표 1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751656"/>
              </p:ext>
            </p:extLst>
          </p:nvPr>
        </p:nvGraphicFramePr>
        <p:xfrm>
          <a:off x="3801286" y="1616448"/>
          <a:ext cx="3069778" cy="7823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ko-KR" altLang="en-US" sz="700" dirty="0" smtClean="0"/>
                        <a:t> </a:t>
                      </a:r>
                      <a:r>
                        <a:rPr lang="en-US" altLang="ko-KR" sz="700" dirty="0" smtClean="0"/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r>
                        <a:rPr lang="en-US" altLang="ko-KR" sz="700" dirty="0" smtClean="0"/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물품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용역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dirty="0" smtClean="0"/>
                        <a:t>공사</a:t>
                      </a:r>
                      <a:r>
                        <a:rPr lang="en-US" altLang="ko-KR" sz="700" dirty="0" smtClean="0"/>
                        <a:t>, </a:t>
                      </a:r>
                      <a:r>
                        <a:rPr lang="ko-KR" altLang="en-US" sz="700" strike="sngStrike" dirty="0" smtClean="0"/>
                        <a:t>국외</a:t>
                      </a:r>
                      <a:endParaRPr lang="en-US" altLang="ko-KR" sz="700" strike="sngStrike" dirty="0" smtClean="0"/>
                    </a:p>
                    <a:p>
                      <a:pPr algn="ctr" latinLnBrk="1"/>
                      <a:endParaRPr lang="en-US" altLang="ko-KR" sz="700" strike="sngStrike" dirty="0" smtClean="0"/>
                    </a:p>
                    <a:p>
                      <a:pPr algn="ctr" latinLnBrk="1"/>
                      <a:r>
                        <a:rPr lang="en-US" altLang="ko-KR" sz="700" strike="noStrike" dirty="0" smtClean="0">
                          <a:solidFill>
                            <a:srgbClr val="FF0000"/>
                          </a:solidFill>
                        </a:rPr>
                        <a:t>- </a:t>
                      </a:r>
                      <a:r>
                        <a:rPr lang="ko-KR" altLang="en-US" sz="700" strike="noStrike" dirty="0" smtClean="0">
                          <a:solidFill>
                            <a:srgbClr val="FF0000"/>
                          </a:solidFill>
                        </a:rPr>
                        <a:t>국외는 </a:t>
                      </a:r>
                      <a:r>
                        <a:rPr lang="ko-KR" altLang="en-US" sz="700" strike="noStrike" dirty="0" err="1" smtClean="0">
                          <a:solidFill>
                            <a:srgbClr val="FF0000"/>
                          </a:solidFill>
                        </a:rPr>
                        <a:t>사전규격이</a:t>
                      </a:r>
                      <a:r>
                        <a:rPr lang="ko-KR" altLang="en-US" sz="700" strike="noStrike" dirty="0" smtClean="0">
                          <a:solidFill>
                            <a:srgbClr val="FF0000"/>
                          </a:solidFill>
                        </a:rPr>
                        <a:t> 없음</a:t>
                      </a:r>
                      <a:endParaRPr lang="ko-KR" altLang="en-US" sz="700" strike="noStrike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</a:tbl>
          </a:graphicData>
        </a:graphic>
      </p:graphicFrame>
      <p:sp>
        <p:nvSpPr>
          <p:cNvPr id="143" name="타원 14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07860" y="14007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187" name="그룹 186"/>
          <p:cNvGrpSpPr/>
          <p:nvPr/>
        </p:nvGrpSpPr>
        <p:grpSpPr>
          <a:xfrm>
            <a:off x="8223250" y="1019023"/>
            <a:ext cx="3365500" cy="634511"/>
            <a:chOff x="8223250" y="569392"/>
            <a:chExt cx="3365500" cy="634511"/>
          </a:xfrm>
        </p:grpSpPr>
        <p:sp>
          <p:nvSpPr>
            <p:cNvPr id="199" name="직사각형 19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2026-08-06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200" name="직사각형 19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표시 레이블 정리</a:t>
              </a:r>
              <a:endParaRPr lang="ko-KR" altLang="en-US" sz="700" dirty="0"/>
            </a:p>
          </p:txBody>
        </p:sp>
      </p:grpSp>
      <p:grpSp>
        <p:nvGrpSpPr>
          <p:cNvPr id="87" name="그룹 86"/>
          <p:cNvGrpSpPr/>
          <p:nvPr/>
        </p:nvGrpSpPr>
        <p:grpSpPr>
          <a:xfrm>
            <a:off x="8223250" y="1245062"/>
            <a:ext cx="3365500" cy="634511"/>
            <a:chOff x="8223250" y="569392"/>
            <a:chExt cx="3365500" cy="634511"/>
          </a:xfrm>
        </p:grpSpPr>
        <p:sp>
          <p:nvSpPr>
            <p:cNvPr id="88" name="직사각형 8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2026-08-20 </a:t>
              </a:r>
              <a:r>
                <a:rPr lang="ko-KR" altLang="en-US" dirty="0" smtClean="0"/>
                <a:t>설명 수정</a:t>
              </a:r>
              <a:endParaRPr lang="ko-KR" altLang="en-US" dirty="0"/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빠른 검색 시 </a:t>
              </a:r>
              <a:r>
                <a:rPr lang="ko-KR" altLang="en-US" sz="700" dirty="0" err="1" smtClean="0"/>
                <a:t>검색필터는</a:t>
              </a:r>
              <a:r>
                <a:rPr lang="ko-KR" altLang="en-US" sz="700" dirty="0" smtClean="0"/>
                <a:t> 초기화</a:t>
              </a:r>
              <a:endParaRPr lang="ko-KR" altLang="en-US" sz="700" dirty="0"/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577" y="5228495"/>
            <a:ext cx="2340168" cy="120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6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</a:t>
            </a:r>
            <a:r>
              <a:rPr lang="ko-KR" altLang="en-US" dirty="0"/>
              <a:t>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 smtClean="0"/>
              <a:t>재고번호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조달요구번호 검색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/>
            </a:r>
            <a:br>
              <a:rPr lang="en-US" altLang="ko-KR" dirty="0" smtClean="0">
                <a:solidFill>
                  <a:srgbClr val="FF0000"/>
                </a:solidFill>
              </a:rPr>
            </a:br>
            <a:r>
              <a:rPr lang="en-US" altLang="ko-KR" dirty="0" smtClean="0">
                <a:solidFill>
                  <a:srgbClr val="FF0000"/>
                </a:solidFill>
              </a:rPr>
              <a:t>-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en-US" altLang="ko-KR" dirty="0" smtClean="0">
                <a:solidFill>
                  <a:srgbClr val="FF0000"/>
                </a:solidFill>
              </a:rPr>
              <a:t>0820] </a:t>
            </a:r>
            <a:r>
              <a:rPr lang="ko-KR" altLang="en-US" dirty="0">
                <a:solidFill>
                  <a:srgbClr val="FF0000"/>
                </a:solidFill>
              </a:rPr>
              <a:t>빠른 검색 시 </a:t>
            </a:r>
            <a:r>
              <a:rPr lang="ko-KR" altLang="en-US" dirty="0" err="1">
                <a:solidFill>
                  <a:srgbClr val="FF0000"/>
                </a:solidFill>
              </a:rPr>
              <a:t>검색필터는</a:t>
            </a:r>
            <a:r>
              <a:rPr lang="ko-KR" altLang="en-US" dirty="0">
                <a:solidFill>
                  <a:srgbClr val="FF0000"/>
                </a:solidFill>
              </a:rPr>
              <a:t> 초기화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 err="1"/>
              <a:t>검색필터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연간조달계획 </a:t>
            </a:r>
            <a:r>
              <a:rPr lang="en-US" altLang="ko-KR" dirty="0"/>
              <a:t>MUI-OP-01-P04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필터 설정이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</a:t>
            </a:r>
            <a:r>
              <a:rPr lang="en-US" altLang="ko-KR" dirty="0" smtClean="0"/>
              <a:t>(4</a:t>
            </a:r>
            <a:r>
              <a:rPr lang="ko-KR" altLang="en-US" dirty="0" err="1" smtClean="0"/>
              <a:t>번항</a:t>
            </a:r>
            <a:r>
              <a:rPr lang="en-US" altLang="ko-KR" dirty="0"/>
              <a:t>)</a:t>
            </a:r>
            <a:r>
              <a:rPr lang="ko-KR" altLang="en-US" dirty="0"/>
              <a:t>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카드 클릭으로 상세 </a:t>
            </a:r>
            <a:r>
              <a:rPr lang="ko-KR" altLang="en-US" dirty="0" smtClean="0"/>
              <a:t>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trike="sngStrike" dirty="0"/>
              <a:t>  &gt; </a:t>
            </a:r>
            <a:r>
              <a:rPr lang="en-US" altLang="ko-KR" strike="sngStrike" dirty="0" smtClean="0"/>
              <a:t>[</a:t>
            </a:r>
            <a:r>
              <a:rPr lang="ko-KR" altLang="en-US" strike="sngStrike" dirty="0" smtClean="0"/>
              <a:t>경로 변경</a:t>
            </a:r>
            <a:r>
              <a:rPr lang="en-US" altLang="ko-KR" strike="sngStrike" dirty="0" smtClean="0"/>
              <a:t>] </a:t>
            </a:r>
            <a:r>
              <a:rPr lang="ko-KR" altLang="en-US" strike="sngStrike" dirty="0" smtClean="0"/>
              <a:t>목록정보조회 </a:t>
            </a:r>
            <a:r>
              <a:rPr lang="en-US" altLang="ko-KR" strike="sngStrike" dirty="0" smtClean="0"/>
              <a:t>MUI-OP-01-P76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[</a:t>
            </a:r>
            <a:r>
              <a:rPr lang="ko-KR" altLang="en-US" dirty="0"/>
              <a:t>경로 </a:t>
            </a:r>
            <a:r>
              <a:rPr lang="ko-KR" altLang="en-US" dirty="0" smtClean="0"/>
              <a:t>변경</a:t>
            </a:r>
            <a:r>
              <a:rPr lang="en-US" altLang="ko-KR" dirty="0" smtClean="0"/>
              <a:t>0814] </a:t>
            </a:r>
            <a:r>
              <a:rPr lang="ko-KR" altLang="en-US" dirty="0" err="1" smtClean="0"/>
              <a:t>국외연간조달계획상세</a:t>
            </a:r>
            <a:r>
              <a:rPr lang="ko-KR" altLang="en-US" dirty="0" smtClean="0"/>
              <a:t> </a:t>
            </a:r>
            <a:r>
              <a:rPr lang="en-US" altLang="ko-KR" dirty="0"/>
              <a:t>MUI-OP-01-M78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연간조달계획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– </a:t>
            </a:r>
            <a:r>
              <a:rPr lang="ko-KR" altLang="en-US" dirty="0"/>
              <a:t>연간조달계획 </a:t>
            </a:r>
            <a:r>
              <a:rPr lang="en-US" altLang="ko-KR" dirty="0"/>
              <a:t>– [</a:t>
            </a:r>
            <a:r>
              <a:rPr lang="ko-KR" altLang="en-US" dirty="0"/>
              <a:t>국외</a:t>
            </a:r>
            <a:r>
              <a:rPr lang="en-US" altLang="ko-KR" dirty="0"/>
              <a:t>] </a:t>
            </a:r>
            <a:r>
              <a:rPr lang="ko-KR" altLang="en-US" dirty="0"/>
              <a:t>조달계획 섹션 참조 </a:t>
            </a:r>
            <a:r>
              <a:rPr lang="en-US" altLang="ko-KR" dirty="0"/>
              <a:t>69p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MUI-OP-01-T03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60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781461" y="4085841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조달요구번호 </a:t>
              </a:r>
              <a:r>
                <a:rPr lang="en-US" altLang="ko-KR" sz="700" dirty="0"/>
                <a:t>ABCD1234</a:t>
              </a:r>
            </a:p>
            <a:p>
              <a:r>
                <a:rPr lang="ko-KR" altLang="en-US" sz="900" b="1" dirty="0" err="1"/>
                <a:t>재고번호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A1234567890</a:t>
              </a:r>
              <a:endParaRPr lang="ko-KR" altLang="en-US" sz="900" b="1" dirty="0"/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2026-02-12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육군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942537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5385170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dirty="0"/>
                <a:t>조달요구번호 </a:t>
              </a:r>
              <a:r>
                <a:rPr lang="en-US" altLang="ko-KR" sz="600" dirty="0"/>
                <a:t>EFGH1234</a:t>
              </a:r>
            </a:p>
            <a:p>
              <a:r>
                <a:rPr lang="ko-KR" altLang="en-US" sz="800" b="1" dirty="0" err="1"/>
                <a:t>재고번호</a:t>
              </a:r>
              <a:r>
                <a:rPr lang="ko-KR" altLang="en-US" sz="800" b="1" dirty="0"/>
                <a:t> </a:t>
              </a:r>
              <a:r>
                <a:rPr lang="en-US" altLang="ko-KR" sz="800" b="1" dirty="0"/>
                <a:t>F987654123</a:t>
              </a:r>
              <a:endParaRPr lang="ko-KR" altLang="en-US" sz="800" b="1" dirty="0"/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BB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2026-01-14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공군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666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9848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31780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2363125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445111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642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9414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4536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4536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3143548" y="3757727"/>
            <a:ext cx="94010" cy="47005"/>
            <a:chOff x="6812560" y="3297172"/>
            <a:chExt cx="94010" cy="47005"/>
          </a:xfrm>
        </p:grpSpPr>
        <p:cxnSp>
          <p:nvCxnSpPr>
            <p:cNvPr id="111" name="직선 연결선 1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" name="그룹 112"/>
          <p:cNvGrpSpPr/>
          <p:nvPr/>
        </p:nvGrpSpPr>
        <p:grpSpPr>
          <a:xfrm>
            <a:off x="767702" y="3044971"/>
            <a:ext cx="2527420" cy="477995"/>
            <a:chOff x="786326" y="2270279"/>
            <a:chExt cx="2527420" cy="477995"/>
          </a:xfrm>
        </p:grpSpPr>
        <p:sp>
          <p:nvSpPr>
            <p:cNvPr id="114" name="모서리가 둥근 직사각형 113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7" name="그룹 116"/>
            <p:cNvGrpSpPr/>
            <p:nvPr/>
          </p:nvGrpSpPr>
          <p:grpSpPr>
            <a:xfrm>
              <a:off x="795624" y="2274581"/>
              <a:ext cx="1318157" cy="155984"/>
              <a:chOff x="808107" y="2288229"/>
              <a:chExt cx="1207003" cy="168318"/>
            </a:xfrm>
          </p:grpSpPr>
          <p:sp>
            <p:nvSpPr>
              <p:cNvPr id="12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33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80758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>
                    <a:latin typeface="맑은 고딕"/>
                    <a:ea typeface="맑은 고딕" panose="020B0503020000020004" pitchFamily="50" charset="-127"/>
                  </a:rPr>
                  <a:t>조달요구번호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8" name="타원 11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0" name="타원 11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101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1" name="그룹 120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2" name="직사각형 12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4" name="직사각형 13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유형 추가</a:t>
              </a:r>
              <a:endParaRPr lang="ko-KR" altLang="en-US" sz="700" dirty="0"/>
            </a:p>
          </p:txBody>
        </p:sp>
      </p:grpSp>
      <p:grpSp>
        <p:nvGrpSpPr>
          <p:cNvPr id="135" name="그룹 134"/>
          <p:cNvGrpSpPr/>
          <p:nvPr/>
        </p:nvGrpSpPr>
        <p:grpSpPr>
          <a:xfrm>
            <a:off x="675399" y="2639265"/>
            <a:ext cx="2712027" cy="345002"/>
            <a:chOff x="675399" y="2210158"/>
            <a:chExt cx="2712027" cy="345002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210158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55516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2321104"/>
              <a:ext cx="663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b="1" dirty="0" smtClean="0">
                  <a:latin typeface="+mn-ea"/>
                </a:rPr>
                <a:t>유형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82" name="모서리가 둥근 직사각형 181"/>
            <p:cNvSpPr/>
            <p:nvPr/>
          </p:nvSpPr>
          <p:spPr>
            <a:xfrm>
              <a:off x="1104835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조달계획</a:t>
              </a:r>
            </a:p>
          </p:txBody>
        </p:sp>
        <p:sp>
          <p:nvSpPr>
            <p:cNvPr id="184" name="모서리가 둥근 직사각형 183"/>
            <p:cNvSpPr/>
            <p:nvPr/>
          </p:nvSpPr>
          <p:spPr>
            <a:xfrm>
              <a:off x="1857752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 err="1">
                  <a:solidFill>
                    <a:schemeClr val="tx1"/>
                  </a:solidFill>
                </a:rPr>
                <a:t>사전규격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5" name="모서리가 둥근 직사각형 184"/>
            <p:cNvSpPr/>
            <p:nvPr/>
          </p:nvSpPr>
          <p:spPr>
            <a:xfrm>
              <a:off x="2604380" y="2288962"/>
              <a:ext cx="685866" cy="187200"/>
            </a:xfrm>
            <a:prstGeom prst="roundRect">
              <a:avLst>
                <a:gd name="adj" fmla="val 17463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연간조달계획</a:t>
              </a:r>
            </a:p>
          </p:txBody>
        </p:sp>
      </p:grp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88" name="그룹 187"/>
          <p:cNvGrpSpPr/>
          <p:nvPr/>
        </p:nvGrpSpPr>
        <p:grpSpPr>
          <a:xfrm>
            <a:off x="8223250" y="790026"/>
            <a:ext cx="3365500" cy="634511"/>
            <a:chOff x="8223250" y="569392"/>
            <a:chExt cx="3365500" cy="634511"/>
          </a:xfrm>
        </p:grpSpPr>
        <p:sp>
          <p:nvSpPr>
            <p:cNvPr id="189" name="직사각형 18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2026-06-30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설명 분리 및 수정</a:t>
              </a:r>
            </a:p>
          </p:txBody>
        </p:sp>
      </p:grpSp>
      <p:sp>
        <p:nvSpPr>
          <p:cNvPr id="191" name="타원 1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379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9305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302092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141" name="그룹 140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4" name="그룹 143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97" name="직선 연결선 19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8" name="직선 연결선 19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1" name="그룹 170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76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8" name="직선 연결선 17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6" name="타원 185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타원 194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타원 195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10036" y="13493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latin typeface="+mn-ea"/>
              </a:rPr>
              <a:t>표시 레이블</a:t>
            </a:r>
            <a:endParaRPr lang="ko-KR" altLang="en-US" sz="700" dirty="0">
              <a:latin typeface="+mn-ea"/>
            </a:endParaRPr>
          </a:p>
        </p:txBody>
      </p:sp>
      <p:graphicFrame>
        <p:nvGraphicFramePr>
          <p:cNvPr id="139" name="표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622141"/>
              </p:ext>
            </p:extLst>
          </p:nvPr>
        </p:nvGraphicFramePr>
        <p:xfrm>
          <a:off x="3801286" y="1616448"/>
          <a:ext cx="306977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en-US" altLang="ko-KR" sz="700" dirty="0" smtClean="0"/>
                        <a:t> – </a:t>
                      </a:r>
                      <a:r>
                        <a:rPr lang="ko-KR" altLang="en-US" sz="700" dirty="0" smtClean="0"/>
                        <a:t>기본 노출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국외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군구분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prcmRqtInstCd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개발 시 확인 필요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08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진행상태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frcptlItemMsprgStcd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개발 시 확인 필요</a:t>
                      </a:r>
                      <a:endParaRPr lang="ko-KR" altLang="en-US" sz="7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675074"/>
                  </a:ext>
                </a:extLst>
              </a:tr>
            </a:tbl>
          </a:graphicData>
        </a:graphic>
      </p:graphicFrame>
      <p:sp>
        <p:nvSpPr>
          <p:cNvPr id="140" name="타원 1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07860" y="14007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187" name="그룹 186"/>
          <p:cNvGrpSpPr/>
          <p:nvPr/>
        </p:nvGrpSpPr>
        <p:grpSpPr>
          <a:xfrm>
            <a:off x="8223250" y="1019023"/>
            <a:ext cx="3365500" cy="634511"/>
            <a:chOff x="8223250" y="569392"/>
            <a:chExt cx="3365500" cy="634511"/>
          </a:xfrm>
        </p:grpSpPr>
        <p:sp>
          <p:nvSpPr>
            <p:cNvPr id="199" name="직사각형 19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2026-08-06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200" name="직사각형 19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표시 레이블 정리</a:t>
              </a:r>
              <a:endParaRPr lang="ko-KR" altLang="en-US" sz="700" dirty="0"/>
            </a:p>
          </p:txBody>
        </p:sp>
      </p:grpSp>
      <p:grpSp>
        <p:nvGrpSpPr>
          <p:cNvPr id="90" name="그룹 89"/>
          <p:cNvGrpSpPr/>
          <p:nvPr/>
        </p:nvGrpSpPr>
        <p:grpSpPr>
          <a:xfrm>
            <a:off x="8223250" y="1243821"/>
            <a:ext cx="3365500" cy="634511"/>
            <a:chOff x="8223250" y="569392"/>
            <a:chExt cx="3365500" cy="634511"/>
          </a:xfrm>
        </p:grpSpPr>
        <p:sp>
          <p:nvSpPr>
            <p:cNvPr id="91" name="직사각형 90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 smtClean="0"/>
                <a:t>문구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카드 클릭 상세 페이지 이동 경로 추가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기존 목록정보조회 이동 경로 </a:t>
              </a:r>
              <a:r>
                <a:rPr lang="ko-KR" altLang="en-US" sz="700" dirty="0" err="1" smtClean="0"/>
                <a:t>취소선으로</a:t>
              </a:r>
              <a:r>
                <a:rPr lang="ko-KR" altLang="en-US" sz="700" dirty="0" smtClean="0"/>
                <a:t> 표시</a:t>
              </a:r>
              <a:endParaRPr lang="ko-KR" altLang="en-US" sz="700" dirty="0"/>
            </a:p>
          </p:txBody>
        </p:sp>
      </p:grpSp>
      <p:grpSp>
        <p:nvGrpSpPr>
          <p:cNvPr id="93" name="그룹 92"/>
          <p:cNvGrpSpPr/>
          <p:nvPr/>
        </p:nvGrpSpPr>
        <p:grpSpPr>
          <a:xfrm>
            <a:off x="8223250" y="1463286"/>
            <a:ext cx="3365500" cy="634511"/>
            <a:chOff x="8223250" y="569392"/>
            <a:chExt cx="3365500" cy="634511"/>
          </a:xfrm>
        </p:grpSpPr>
        <p:sp>
          <p:nvSpPr>
            <p:cNvPr id="94" name="직사각형 9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2026-08-20 </a:t>
              </a:r>
              <a:r>
                <a:rPr lang="ko-KR" altLang="en-US" dirty="0" smtClean="0"/>
                <a:t>설명 수정</a:t>
              </a:r>
              <a:endParaRPr lang="ko-KR" altLang="en-US" dirty="0"/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빠른 검색 시 </a:t>
              </a:r>
              <a:r>
                <a:rPr lang="ko-KR" altLang="en-US" sz="700" dirty="0" err="1" smtClean="0"/>
                <a:t>검색필터는</a:t>
              </a:r>
              <a:r>
                <a:rPr lang="ko-KR" altLang="en-US" sz="700" dirty="0" smtClean="0"/>
                <a:t> 초기화</a:t>
              </a:r>
              <a:endParaRPr lang="ko-KR" altLang="en-US" sz="700" dirty="0"/>
            </a:p>
          </p:txBody>
        </p: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533" y="5320673"/>
            <a:ext cx="2198157" cy="113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603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 </a:t>
            </a:r>
            <a:r>
              <a:rPr lang="ko-KR" altLang="en-US" dirty="0" err="1"/>
              <a:t>상태값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검색유형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조달계획</a:t>
            </a:r>
            <a:r>
              <a:rPr lang="en-US" altLang="ko-KR" dirty="0"/>
              <a:t>, </a:t>
            </a:r>
            <a:r>
              <a:rPr lang="ko-KR" altLang="en-US" dirty="0" err="1"/>
              <a:t>업무구분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전체</a:t>
            </a:r>
            <a:r>
              <a:rPr lang="en-US" altLang="ko-KR" dirty="0"/>
              <a:t>, </a:t>
            </a:r>
            <a:r>
              <a:rPr lang="ko-KR" altLang="en-US" dirty="0"/>
              <a:t>기간 </a:t>
            </a:r>
            <a:r>
              <a:rPr lang="en-US" altLang="ko-KR" dirty="0"/>
              <a:t>– </a:t>
            </a:r>
            <a:r>
              <a:rPr lang="ko-KR" altLang="en-US" dirty="0"/>
              <a:t>최근 </a:t>
            </a:r>
            <a:r>
              <a:rPr lang="en-US" altLang="ko-KR" dirty="0"/>
              <a:t>1</a:t>
            </a:r>
            <a:r>
              <a:rPr lang="ko-KR" altLang="en-US" dirty="0"/>
              <a:t>개월</a:t>
            </a:r>
            <a:r>
              <a:rPr lang="en-US" altLang="ko-KR" dirty="0"/>
              <a:t>, </a:t>
            </a:r>
            <a:r>
              <a:rPr lang="ko-KR" altLang="en-US" dirty="0" err="1"/>
              <a:t>검색어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 err="1"/>
              <a:t>빈값</a:t>
            </a:r>
            <a:r>
              <a:rPr lang="en-US" altLang="ko-KR" dirty="0"/>
              <a:t>, </a:t>
            </a:r>
            <a:r>
              <a:rPr lang="ko-KR" altLang="en-US" dirty="0"/>
              <a:t>진행상태 </a:t>
            </a:r>
            <a:r>
              <a:rPr lang="en-US" altLang="ko-KR" dirty="0"/>
              <a:t>– </a:t>
            </a:r>
            <a:r>
              <a:rPr lang="ko-KR" altLang="en-US" dirty="0"/>
              <a:t>전체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업무 </a:t>
            </a:r>
            <a:r>
              <a:rPr lang="ko-KR" altLang="en-US" dirty="0"/>
              <a:t>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월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최근 </a:t>
            </a:r>
            <a:r>
              <a:rPr lang="en-US" altLang="ko-KR" dirty="0"/>
              <a:t>1</a:t>
            </a:r>
            <a:r>
              <a:rPr lang="ko-KR" altLang="en-US" dirty="0"/>
              <a:t>개월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빠른 설정으로 날짜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>
                <a:sym typeface="Wingdings" panose="05000000000000000000" pitchFamily="2" charset="2"/>
              </a:rPr>
              <a:t>대표품명</a:t>
            </a:r>
            <a:r>
              <a:rPr lang="ko-KR" altLang="en-US" dirty="0">
                <a:sym typeface="Wingdings" panose="05000000000000000000" pitchFamily="2" charset="2"/>
              </a:rPr>
              <a:t> 클릭 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[</a:t>
            </a:r>
            <a:r>
              <a:rPr lang="ko-KR" altLang="en-US" dirty="0">
                <a:sym typeface="Wingdings" panose="05000000000000000000" pitchFamily="2" charset="2"/>
              </a:rPr>
              <a:t>조달</a:t>
            </a:r>
            <a:r>
              <a:rPr lang="en-US" altLang="ko-KR" dirty="0">
                <a:sym typeface="Wingdings" panose="05000000000000000000" pitchFamily="2" charset="2"/>
              </a:rPr>
              <a:t>]</a:t>
            </a:r>
            <a:r>
              <a:rPr lang="ko-KR" altLang="en-US" dirty="0">
                <a:sym typeface="Wingdings" panose="05000000000000000000" pitchFamily="2" charset="2"/>
              </a:rPr>
              <a:t> 품목별 검색 </a:t>
            </a:r>
            <a:r>
              <a:rPr lang="en-US" altLang="ko-KR" dirty="0">
                <a:sym typeface="Wingdings" panose="05000000000000000000" pitchFamily="2" charset="2"/>
              </a:rPr>
              <a:t>(MUI-OP-01-P71</a:t>
            </a:r>
            <a:r>
              <a:rPr lang="en-US" altLang="ko-KR" dirty="0" smtClean="0">
                <a:sym typeface="Wingdings" panose="05000000000000000000" pitchFamily="2" charset="2"/>
              </a:rPr>
              <a:t>)</a:t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olidFill>
                  <a:srgbClr val="FF0000"/>
                </a:solidFill>
                <a:sym typeface="Wingdings" panose="05000000000000000000" pitchFamily="2" charset="2"/>
              </a:rPr>
              <a:t>  &gt; [0820] </a:t>
            </a:r>
            <a:r>
              <a:rPr lang="ko-KR" altLang="en-US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업무구분이</a:t>
            </a:r>
            <a:r>
              <a:rPr lang="ko-KR" alt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 물품 단독 선택된 경우 </a:t>
            </a:r>
            <a:r>
              <a:rPr lang="ko-KR" altLang="en-US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대표품명</a:t>
            </a:r>
            <a:r>
              <a:rPr lang="ko-KR" alt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 입력 활성화</a:t>
            </a:r>
            <a:r>
              <a:rPr lang="en-US" altLang="ko-KR" dirty="0" smtClean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다른 항목과 중복 선택된 경우 비활성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발주기관 클릭 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[</a:t>
            </a:r>
            <a:r>
              <a:rPr lang="ko-KR" altLang="en-US" dirty="0">
                <a:sym typeface="Wingdings" panose="05000000000000000000" pitchFamily="2" charset="2"/>
              </a:rPr>
              <a:t>입찰</a:t>
            </a:r>
            <a:r>
              <a:rPr lang="en-US" altLang="ko-KR" dirty="0">
                <a:sym typeface="Wingdings" panose="05000000000000000000" pitchFamily="2" charset="2"/>
              </a:rPr>
              <a:t>]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발주부서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기관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검색 </a:t>
            </a:r>
            <a:r>
              <a:rPr lang="en-US" altLang="ko-KR" dirty="0">
                <a:sym typeface="Wingdings" panose="05000000000000000000" pitchFamily="2" charset="2"/>
              </a:rPr>
              <a:t>(MUI-BD-01-P04)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구분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드롭 다운으로 각 </a:t>
            </a:r>
            <a:r>
              <a:rPr lang="ko-KR" altLang="en-US" dirty="0" err="1">
                <a:sym typeface="Wingdings" panose="05000000000000000000" pitchFamily="2" charset="2"/>
              </a:rPr>
              <a:t>구분값</a:t>
            </a:r>
            <a:r>
              <a:rPr lang="ko-KR" altLang="en-US" dirty="0">
                <a:sym typeface="Wingdings" panose="05000000000000000000" pitchFamily="2" charset="2"/>
              </a:rPr>
              <a:t> 설정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 err="1">
                <a:sym typeface="Wingdings" panose="05000000000000000000" pitchFamily="2" charset="2"/>
              </a:rPr>
              <a:t>항목설정</a:t>
            </a:r>
            <a:r>
              <a:rPr lang="ko-KR" altLang="en-US" dirty="0">
                <a:sym typeface="Wingdings" panose="05000000000000000000" pitchFamily="2" charset="2"/>
              </a:rPr>
              <a:t> 참조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dirty="0">
                <a:sym typeface="Wingdings" panose="05000000000000000000" pitchFamily="2" charset="2"/>
              </a:rPr>
              <a:t>[</a:t>
            </a:r>
            <a:r>
              <a:rPr lang="ko-KR" altLang="en-US" dirty="0">
                <a:sym typeface="Wingdings" panose="05000000000000000000" pitchFamily="2" charset="2"/>
              </a:rPr>
              <a:t>공통</a:t>
            </a:r>
            <a:r>
              <a:rPr lang="en-US" altLang="ko-KR" dirty="0">
                <a:sym typeface="Wingdings" panose="05000000000000000000" pitchFamily="2" charset="2"/>
              </a:rPr>
              <a:t>] </a:t>
            </a: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검색 클릭 시 목록에 </a:t>
            </a:r>
            <a:r>
              <a:rPr lang="ko-KR" altLang="en-US" dirty="0" err="1">
                <a:sym typeface="Wingdings" panose="05000000000000000000" pitchFamily="2" charset="2"/>
              </a:rPr>
              <a:t>검색값</a:t>
            </a:r>
            <a:r>
              <a:rPr lang="ko-KR" altLang="en-US" dirty="0">
                <a:sym typeface="Wingdings" panose="05000000000000000000" pitchFamily="2" charset="2"/>
              </a:rPr>
              <a:t> 표시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>
                <a:sym typeface="Wingdings" panose="05000000000000000000" pitchFamily="2" charset="2"/>
              </a:rPr>
              <a:t>검색필터에</a:t>
            </a:r>
            <a:r>
              <a:rPr lang="ko-KR" altLang="en-US" dirty="0">
                <a:sym typeface="Wingdings" panose="05000000000000000000" pitchFamily="2" charset="2"/>
              </a:rPr>
              <a:t> 설정 표시 추가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필터 재진입 시 설정된 정보 </a:t>
            </a:r>
            <a:r>
              <a:rPr lang="ko-KR" altLang="en-US" dirty="0" smtClean="0">
                <a:sym typeface="Wingdings" panose="05000000000000000000" pitchFamily="2" charset="2"/>
              </a:rPr>
              <a:t>표시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 smtClean="0">
                <a:solidFill>
                  <a:srgbClr val="FF0000"/>
                </a:solidFill>
                <a:sym typeface="Wingdings" panose="05000000000000000000" pitchFamily="2" charset="2"/>
              </a:rPr>
              <a:t>- [0820] </a:t>
            </a:r>
            <a:r>
              <a:rPr lang="ko-KR" alt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닫기 버튼 클릭 시 </a:t>
            </a:r>
            <a:r>
              <a:rPr lang="ko-KR" altLang="en-US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입력항목</a:t>
            </a:r>
            <a:r>
              <a:rPr lang="ko-KR" alt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 초기화 </a:t>
            </a:r>
            <a:r>
              <a:rPr lang="en-US" altLang="ko-KR" dirty="0" smtClean="0">
                <a:solidFill>
                  <a:srgbClr val="FF0000"/>
                </a:solidFill>
                <a:sym typeface="Wingdings" panose="05000000000000000000" pitchFamily="2" charset="2"/>
              </a:rPr>
              <a:t>(</a:t>
            </a:r>
            <a:r>
              <a:rPr lang="ko-KR" altLang="en-US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검색필터</a:t>
            </a:r>
            <a:r>
              <a:rPr lang="ko-KR" alt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사용안함</a:t>
            </a:r>
            <a:r>
              <a:rPr lang="ko-KR" alt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 상태</a:t>
            </a:r>
            <a:r>
              <a:rPr lang="en-US" altLang="ko-KR" dirty="0" smtClean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조달계획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MUI-OP-01-P02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7777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1904790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업무구분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용역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2471275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675399" y="3473542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월 설정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1" name="모서리가 둥근 직사각형 170"/>
            <p:cNvSpPr/>
            <p:nvPr/>
          </p:nvSpPr>
          <p:spPr>
            <a:xfrm>
              <a:off x="1467219" y="3532735"/>
              <a:ext cx="529856" cy="149124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800" kern="0">
                <a:solidFill>
                  <a:prstClr val="white"/>
                </a:solidFill>
                <a:latin typeface="맑은 고딕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03890" y="3559275"/>
              <a:ext cx="45651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solidFill>
                    <a:schemeClr val="bg1"/>
                  </a:solidFill>
                  <a:latin typeface="+mn-ea"/>
                </a:rPr>
                <a:t>발주예정월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45475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226" name="그룹 225"/>
          <p:cNvGrpSpPr/>
          <p:nvPr/>
        </p:nvGrpSpPr>
        <p:grpSpPr>
          <a:xfrm flipV="1">
            <a:off x="6261284" y="3552443"/>
            <a:ext cx="91438" cy="45719"/>
            <a:chOff x="6812560" y="3297172"/>
            <a:chExt cx="94010" cy="47005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모서리가 둥근 직사각형 228"/>
          <p:cNvSpPr/>
          <p:nvPr/>
        </p:nvSpPr>
        <p:spPr>
          <a:xfrm>
            <a:off x="4569619" y="373524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683118"/>
            <a:ext cx="670770" cy="189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247" name="그룹 246"/>
          <p:cNvGrpSpPr/>
          <p:nvPr/>
        </p:nvGrpSpPr>
        <p:grpSpPr>
          <a:xfrm>
            <a:off x="6261284" y="3805984"/>
            <a:ext cx="91438" cy="45719"/>
            <a:chOff x="6812560" y="3297172"/>
            <a:chExt cx="94010" cy="47005"/>
          </a:xfrm>
        </p:grpSpPr>
        <p:cxnSp>
          <p:nvCxnSpPr>
            <p:cNvPr id="248" name="직선 연결선 24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4173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5152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3903622" y="1956581"/>
            <a:ext cx="2519558" cy="1370836"/>
            <a:chOff x="778515" y="4388257"/>
            <a:chExt cx="2519558" cy="1370836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55417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담당자을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품명을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41" name="그룹 140"/>
            <p:cNvGrpSpPr/>
            <p:nvPr/>
          </p:nvGrpSpPr>
          <p:grpSpPr>
            <a:xfrm rot="16200000">
              <a:off x="3140951" y="5406408"/>
              <a:ext cx="91438" cy="45719"/>
              <a:chOff x="6812560" y="3297172"/>
              <a:chExt cx="94010" cy="47005"/>
            </a:xfrm>
          </p:grpSpPr>
          <p:cxnSp>
            <p:nvCxnSpPr>
              <p:cNvPr id="142" name="직선 연결선 1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grpSp>
        <p:nvGrpSpPr>
          <p:cNvPr id="15" name="그룹 14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4" name="직사각형 1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2026-05-26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필수 항목 표시 </a:t>
              </a:r>
              <a:r>
                <a:rPr lang="en-US" altLang="ko-KR" sz="700" dirty="0"/>
                <a:t>* </a:t>
              </a:r>
              <a:r>
                <a:rPr lang="ko-KR" altLang="en-US" sz="700" dirty="0"/>
                <a:t>표 추가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검색어</a:t>
              </a:r>
              <a:r>
                <a:rPr lang="en-US" altLang="ko-KR" sz="700" dirty="0"/>
                <a:t>, </a:t>
              </a:r>
              <a:r>
                <a:rPr lang="ko-KR" altLang="en-US" sz="700" dirty="0" err="1"/>
                <a:t>구분설정</a:t>
              </a:r>
              <a:r>
                <a:rPr lang="ko-KR" altLang="en-US" sz="700" dirty="0"/>
                <a:t> 수정</a:t>
              </a: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8223250" y="786075"/>
            <a:ext cx="3365500" cy="634511"/>
            <a:chOff x="8223250" y="569392"/>
            <a:chExt cx="3365500" cy="634511"/>
          </a:xfrm>
        </p:grpSpPr>
        <p:sp>
          <p:nvSpPr>
            <p:cNvPr id="110" name="직사각형 10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검색 유형 삭제</a:t>
              </a:r>
              <a:endParaRPr lang="ko-KR" altLang="en-US" sz="700" dirty="0"/>
            </a:p>
          </p:txBody>
        </p:sp>
      </p:grpSp>
      <p:sp>
        <p:nvSpPr>
          <p:cNvPr id="101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 txBox="1">
            <a:spLocks/>
          </p:cNvSpPr>
          <p:nvPr/>
        </p:nvSpPr>
        <p:spPr>
          <a:xfrm>
            <a:off x="675399" y="1304425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n-ea"/>
              </a:rPr>
              <a:t>MUI-OP-01-M02-01</a:t>
            </a:r>
            <a:endParaRPr lang="ko-KR" altLang="en-US" dirty="0"/>
          </a:p>
        </p:txBody>
      </p:sp>
      <p:grpSp>
        <p:nvGrpSpPr>
          <p:cNvPr id="102" name="그룹 101"/>
          <p:cNvGrpSpPr/>
          <p:nvPr/>
        </p:nvGrpSpPr>
        <p:grpSpPr>
          <a:xfrm>
            <a:off x="8223250" y="1011645"/>
            <a:ext cx="3365500" cy="634511"/>
            <a:chOff x="8223250" y="569392"/>
            <a:chExt cx="3365500" cy="634511"/>
          </a:xfrm>
        </p:grpSpPr>
        <p:sp>
          <p:nvSpPr>
            <p:cNvPr id="103" name="직사각형 10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2026-08-20 </a:t>
              </a:r>
              <a:r>
                <a:rPr lang="ko-KR" altLang="en-US" dirty="0" smtClean="0"/>
                <a:t>설명 수정</a:t>
              </a:r>
              <a:endParaRPr lang="ko-KR" altLang="en-US" dirty="0"/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대표품명</a:t>
              </a:r>
              <a:r>
                <a:rPr lang="ko-KR" altLang="en-US" sz="700" dirty="0" smtClean="0"/>
                <a:t> 노출 조건 추가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검색유형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사전규격</a:t>
            </a:r>
            <a:r>
              <a:rPr lang="ko-KR" altLang="en-US" dirty="0"/>
              <a:t> 선택 시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업무 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사전규격은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dirty="0"/>
              <a:t>국외</a:t>
            </a:r>
            <a:r>
              <a:rPr lang="en-US" altLang="ko-KR" dirty="0"/>
              <a:t>]</a:t>
            </a:r>
            <a:r>
              <a:rPr lang="ko-KR" altLang="en-US" dirty="0"/>
              <a:t> 없음</a:t>
            </a:r>
            <a:r>
              <a:rPr lang="en-US" altLang="ko-KR" dirty="0"/>
              <a:t>. </a:t>
            </a:r>
            <a:r>
              <a:rPr lang="ko-KR" altLang="en-US" dirty="0"/>
              <a:t>비활성화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일자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최근 </a:t>
            </a:r>
            <a:r>
              <a:rPr lang="en-US" altLang="ko-KR" dirty="0"/>
              <a:t>1</a:t>
            </a:r>
            <a:r>
              <a:rPr lang="ko-KR" altLang="en-US" dirty="0"/>
              <a:t>개월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빠른 설정으로 날짜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발주기관 클릭 시 </a:t>
            </a:r>
            <a:r>
              <a:rPr lang="en-US" altLang="ko-KR" dirty="0">
                <a:sym typeface="Wingdings" panose="05000000000000000000" pitchFamily="2" charset="2"/>
              </a:rPr>
              <a:t>– [</a:t>
            </a:r>
            <a:r>
              <a:rPr lang="ko-KR" altLang="en-US" dirty="0">
                <a:sym typeface="Wingdings" panose="05000000000000000000" pitchFamily="2" charset="2"/>
              </a:rPr>
              <a:t>입찰</a:t>
            </a:r>
            <a:r>
              <a:rPr lang="en-US" altLang="ko-KR" dirty="0">
                <a:sym typeface="Wingdings" panose="05000000000000000000" pitchFamily="2" charset="2"/>
              </a:rPr>
              <a:t>]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발주부서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기관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검색 </a:t>
            </a:r>
            <a:r>
              <a:rPr lang="en-US" altLang="ko-KR" dirty="0">
                <a:sym typeface="Wingdings" panose="05000000000000000000" pitchFamily="2" charset="2"/>
              </a:rPr>
              <a:t>(MUI-BD-01-P04)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공개일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기본값 없음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단일 날짜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아이콘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클릭 시 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사전규격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사전규격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MUI-OP-01-P03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1906107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업무구분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용역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국외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2471275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474859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일자 설정 </a:t>
            </a:r>
            <a:r>
              <a:rPr lang="en-US" altLang="ko-KR" sz="700" b="1" dirty="0">
                <a:solidFill>
                  <a:srgbClr val="FF0000"/>
                </a:solidFill>
                <a:latin typeface="+mn-ea"/>
              </a:rPr>
              <a:t>*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97397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일자 설정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3572549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1" name="모서리가 둥근 직사각형 170"/>
          <p:cNvSpPr/>
          <p:nvPr/>
        </p:nvSpPr>
        <p:spPr>
          <a:xfrm>
            <a:off x="1467219" y="3517041"/>
            <a:ext cx="529856" cy="14912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800" kern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03890" y="3543581"/>
            <a:ext cx="45651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접수기간</a:t>
            </a: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3725028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2025-10-10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3744975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3955697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3725028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2026-01-10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528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3903622" y="1956581"/>
            <a:ext cx="2516607" cy="1134611"/>
            <a:chOff x="778515" y="4388257"/>
            <a:chExt cx="2516607" cy="1134611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담당자를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그룹 13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0" name="직사각형 11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2026-05-26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필수 항목 표시 </a:t>
              </a:r>
              <a:r>
                <a:rPr lang="en-US" altLang="ko-KR" sz="700" dirty="0"/>
                <a:t>* </a:t>
              </a:r>
              <a:r>
                <a:rPr lang="ko-KR" altLang="en-US" sz="700" dirty="0"/>
                <a:t>표 추가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/>
                <a:t>품명 검색 </a:t>
              </a:r>
              <a:r>
                <a:rPr lang="ko-KR" altLang="en-US" sz="700" dirty="0">
                  <a:sym typeface="Wingdings" panose="05000000000000000000" pitchFamily="2" charset="2"/>
                </a:rPr>
                <a:t>삭제</a:t>
              </a:r>
              <a:endParaRPr lang="ko-KR" altLang="en-US" sz="700" dirty="0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795734" y="3260182"/>
            <a:ext cx="2712027" cy="602717"/>
            <a:chOff x="675399" y="5310826"/>
            <a:chExt cx="2712027" cy="602717"/>
          </a:xfrm>
        </p:grpSpPr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91354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5358082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공개일 설정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5580620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일자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0" y="5608251"/>
              <a:ext cx="1845146" cy="188244"/>
              <a:chOff x="5613534" y="2854836"/>
              <a:chExt cx="1727805" cy="188244"/>
            </a:xfrm>
          </p:grpSpPr>
          <p:sp>
            <p:nvSpPr>
              <p:cNvPr id="145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1727805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46" name="그림 145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88784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3108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24650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4025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102" name="그룹 101"/>
          <p:cNvGrpSpPr/>
          <p:nvPr/>
        </p:nvGrpSpPr>
        <p:grpSpPr>
          <a:xfrm>
            <a:off x="8223250" y="786075"/>
            <a:ext cx="3365500" cy="634511"/>
            <a:chOff x="8223250" y="569392"/>
            <a:chExt cx="3365500" cy="634511"/>
          </a:xfrm>
        </p:grpSpPr>
        <p:sp>
          <p:nvSpPr>
            <p:cNvPr id="104" name="직사각형 10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검색 유형 삭제</a:t>
              </a:r>
              <a:endParaRPr lang="ko-KR" altLang="en-US" sz="700" dirty="0"/>
            </a:p>
          </p:txBody>
        </p:sp>
      </p:grpSp>
      <p:sp>
        <p:nvSpPr>
          <p:cNvPr id="92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 txBox="1">
            <a:spLocks/>
          </p:cNvSpPr>
          <p:nvPr/>
        </p:nvSpPr>
        <p:spPr>
          <a:xfrm>
            <a:off x="675399" y="1304425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n-ea"/>
              </a:rPr>
              <a:t>MUI-OP-01-M02-02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4503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업무 </a:t>
            </a:r>
            <a:r>
              <a:rPr lang="ko-KR" altLang="en-US" dirty="0"/>
              <a:t>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국외 활성화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 버튼 비활성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연도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재고번호조회 클릭 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품목별 검색 </a:t>
            </a:r>
            <a:r>
              <a:rPr lang="en-US" altLang="ko-KR" dirty="0">
                <a:sym typeface="Wingdings" panose="05000000000000000000" pitchFamily="2" charset="2"/>
              </a:rPr>
              <a:t>(MUI-OP-01-P71)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품목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생산자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로그인 사용자에게 표시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품목 클릭 시 </a:t>
            </a:r>
            <a:r>
              <a:rPr lang="en-US" altLang="ko-KR" dirty="0">
                <a:sym typeface="Wingdings" panose="05000000000000000000" pitchFamily="2" charset="2"/>
              </a:rPr>
              <a:t>&gt;</a:t>
            </a:r>
            <a:r>
              <a:rPr lang="ko-KR" altLang="en-US" dirty="0">
                <a:sym typeface="Wingdings" panose="05000000000000000000" pitchFamily="2" charset="2"/>
              </a:rPr>
              <a:t> 품목별 검색 </a:t>
            </a:r>
            <a:r>
              <a:rPr lang="en-US" altLang="ko-KR" dirty="0">
                <a:sym typeface="Wingdings" panose="05000000000000000000" pitchFamily="2" charset="2"/>
              </a:rPr>
              <a:t>(MUI-OP-01-P71)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생산자 클릭 시 </a:t>
            </a:r>
            <a:r>
              <a:rPr lang="en-US" altLang="ko-KR" dirty="0">
                <a:sym typeface="Wingdings" panose="05000000000000000000" pitchFamily="2" charset="2"/>
              </a:rPr>
              <a:t>&gt; </a:t>
            </a:r>
            <a:r>
              <a:rPr lang="ko-KR" altLang="en-US" dirty="0">
                <a:sym typeface="Wingdings" panose="05000000000000000000" pitchFamily="2" charset="2"/>
              </a:rPr>
              <a:t>생산자 검색</a:t>
            </a:r>
            <a:r>
              <a:rPr lang="en-US" altLang="ko-KR" dirty="0">
                <a:sym typeface="Wingdings" panose="05000000000000000000" pitchFamily="2" charset="2"/>
              </a:rPr>
              <a:t>(MUI-OP-01-P72)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구분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드롭 다운으로 각 </a:t>
            </a:r>
            <a:r>
              <a:rPr lang="ko-KR" altLang="en-US" dirty="0" err="1">
                <a:sym typeface="Wingdings" panose="05000000000000000000" pitchFamily="2" charset="2"/>
              </a:rPr>
              <a:t>구분값</a:t>
            </a:r>
            <a:r>
              <a:rPr lang="ko-KR" altLang="en-US" dirty="0">
                <a:sym typeface="Wingdings" panose="05000000000000000000" pitchFamily="2" charset="2"/>
              </a:rPr>
              <a:t>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각 </a:t>
            </a:r>
            <a:r>
              <a:rPr lang="ko-KR" altLang="en-US" dirty="0" err="1">
                <a:sym typeface="Wingdings" panose="05000000000000000000" pitchFamily="2" charset="2"/>
              </a:rPr>
              <a:t>구분값은</a:t>
            </a:r>
            <a:r>
              <a:rPr lang="ko-KR" altLang="en-US" dirty="0">
                <a:sym typeface="Wingdings" panose="05000000000000000000" pitchFamily="2" charset="2"/>
              </a:rPr>
              <a:t> 항목 설명 확인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검색필터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연간조달계획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연간조달계획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MUI-OP-01-P04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5162" y="38276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1906107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업무구분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전체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물품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용역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공사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3096396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675399" y="3468520"/>
            <a:ext cx="2712027" cy="619619"/>
            <a:chOff x="675399" y="3490553"/>
            <a:chExt cx="2712027" cy="61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연도 설정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지시년도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1464781" y="3740722"/>
              <a:ext cx="1845146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7000" y="3761890"/>
              <a:ext cx="134873" cy="137278"/>
            </a:xfrm>
            <a:prstGeom prst="rect">
              <a:avLst/>
            </a:prstGeom>
          </p:spPr>
        </p:pic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11017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742892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226" name="그룹 225"/>
          <p:cNvGrpSpPr/>
          <p:nvPr/>
        </p:nvGrpSpPr>
        <p:grpSpPr>
          <a:xfrm flipV="1">
            <a:off x="6261284" y="3840582"/>
            <a:ext cx="91438" cy="45719"/>
            <a:chOff x="6812560" y="3297172"/>
            <a:chExt cx="94010" cy="47005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모서리가 둥근 직사각형 228"/>
          <p:cNvSpPr/>
          <p:nvPr/>
        </p:nvSpPr>
        <p:spPr>
          <a:xfrm>
            <a:off x="4569619" y="4023383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971257"/>
            <a:ext cx="670770" cy="904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부서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기능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 err="1">
                <a:latin typeface="+mn-ea"/>
              </a:rPr>
              <a:t>품류</a:t>
            </a:r>
            <a:endParaRPr lang="en-US" altLang="ko-KR" sz="700" dirty="0">
              <a:latin typeface="+mn-ea"/>
            </a:endParaRP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4569619" y="4246320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4569619" y="446789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4572570" y="470411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grpSp>
        <p:nvGrpSpPr>
          <p:cNvPr id="234" name="그룹 233"/>
          <p:cNvGrpSpPr/>
          <p:nvPr/>
        </p:nvGrpSpPr>
        <p:grpSpPr>
          <a:xfrm>
            <a:off x="6261284" y="4774860"/>
            <a:ext cx="91438" cy="45719"/>
            <a:chOff x="6812560" y="3297172"/>
            <a:chExt cx="94010" cy="47005"/>
          </a:xfrm>
        </p:grpSpPr>
        <p:cxnSp>
          <p:nvCxnSpPr>
            <p:cNvPr id="235" name="직선 연결선 2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6" name="직선 연결선 2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1" name="그룹 240"/>
          <p:cNvGrpSpPr/>
          <p:nvPr/>
        </p:nvGrpSpPr>
        <p:grpSpPr>
          <a:xfrm>
            <a:off x="6261284" y="4540972"/>
            <a:ext cx="91438" cy="45719"/>
            <a:chOff x="6812560" y="3297172"/>
            <a:chExt cx="94010" cy="47005"/>
          </a:xfrm>
        </p:grpSpPr>
        <p:cxnSp>
          <p:nvCxnSpPr>
            <p:cNvPr id="242" name="직선 연결선 2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직선 연결선 2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4" name="그룹 243"/>
          <p:cNvGrpSpPr/>
          <p:nvPr/>
        </p:nvGrpSpPr>
        <p:grpSpPr>
          <a:xfrm>
            <a:off x="6261284" y="4324805"/>
            <a:ext cx="91438" cy="45719"/>
            <a:chOff x="6812560" y="3297172"/>
            <a:chExt cx="94010" cy="47005"/>
          </a:xfrm>
        </p:grpSpPr>
        <p:cxnSp>
          <p:nvCxnSpPr>
            <p:cNvPr id="245" name="직선 연결선 24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6" name="직선 연결선 24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7" name="그룹 246"/>
          <p:cNvGrpSpPr/>
          <p:nvPr/>
        </p:nvGrpSpPr>
        <p:grpSpPr>
          <a:xfrm>
            <a:off x="6261284" y="4094123"/>
            <a:ext cx="91438" cy="45719"/>
            <a:chOff x="6812560" y="3297172"/>
            <a:chExt cx="94010" cy="47005"/>
          </a:xfrm>
        </p:grpSpPr>
        <p:cxnSp>
          <p:nvCxnSpPr>
            <p:cNvPr id="248" name="직선 연결선 24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70549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528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622" y="1956581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r>
              <a:rPr lang="ko-KR" altLang="en-US" sz="700" b="1" dirty="0">
                <a:latin typeface="+mn-ea"/>
              </a:rPr>
              <a:t> </a:t>
            </a:r>
            <a:r>
              <a:rPr lang="en-US" altLang="ko-KR" sz="700" b="1" dirty="0">
                <a:latin typeface="+mn-ea"/>
              </a:rPr>
              <a:t>(</a:t>
            </a:r>
            <a:r>
              <a:rPr lang="ko-KR" altLang="en-US" sz="700" b="1" dirty="0">
                <a:latin typeface="+mn-ea"/>
              </a:rPr>
              <a:t>일부 입력 가능</a:t>
            </a:r>
            <a:r>
              <a:rPr lang="en-US" altLang="ko-KR" sz="700" b="1" dirty="0">
                <a:latin typeface="+mn-ea"/>
              </a:rPr>
              <a:t>)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201" name="그룹 200"/>
          <p:cNvGrpSpPr/>
          <p:nvPr/>
        </p:nvGrpSpPr>
        <p:grpSpPr>
          <a:xfrm flipV="1">
            <a:off x="6266056" y="2054271"/>
            <a:ext cx="91438" cy="45719"/>
            <a:chOff x="6812560" y="3297172"/>
            <a:chExt cx="94010" cy="47005"/>
          </a:xfrm>
        </p:grpSpPr>
        <p:cxnSp>
          <p:nvCxnSpPr>
            <p:cNvPr id="202" name="직선 연결선 2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4" name="모서리가 둥근 직사각형 203"/>
          <p:cNvSpPr/>
          <p:nvPr/>
        </p:nvSpPr>
        <p:spPr>
          <a:xfrm>
            <a:off x="4574391" y="2237072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군구분을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622" y="2193572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품질등급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207" name="모서리가 둥근 직사각형 206"/>
          <p:cNvSpPr/>
          <p:nvPr/>
        </p:nvSpPr>
        <p:spPr>
          <a:xfrm>
            <a:off x="4574391" y="245862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품질등급을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4574391" y="2903992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부품번호을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6" name="모서리가 둥근 직사각형 265"/>
          <p:cNvSpPr/>
          <p:nvPr/>
        </p:nvSpPr>
        <p:spPr>
          <a:xfrm>
            <a:off x="4574391" y="2681348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재고번호을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41" name="그룹 140"/>
          <p:cNvGrpSpPr/>
          <p:nvPr/>
        </p:nvGrpSpPr>
        <p:grpSpPr>
          <a:xfrm rot="16200000">
            <a:off x="6266059" y="2745833"/>
            <a:ext cx="91438" cy="45719"/>
            <a:chOff x="6812560" y="3297172"/>
            <a:chExt cx="94010" cy="47005"/>
          </a:xfrm>
        </p:grpSpPr>
        <p:cxnSp>
          <p:nvCxnSpPr>
            <p:cNvPr id="142" name="직선 연결선 1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그룹 2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0" name="직사각형 10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2026-05-26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필수 항목 표시 </a:t>
              </a:r>
              <a:r>
                <a:rPr lang="en-US" altLang="ko-KR" sz="700" dirty="0"/>
                <a:t>* </a:t>
              </a:r>
              <a:r>
                <a:rPr lang="ko-KR" altLang="en-US" sz="700" dirty="0"/>
                <a:t>표 추가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검색어</a:t>
              </a:r>
              <a:r>
                <a:rPr lang="en-US" altLang="ko-KR" sz="700" dirty="0"/>
                <a:t>, </a:t>
              </a:r>
              <a:r>
                <a:rPr lang="ko-KR" altLang="en-US" sz="700" dirty="0" err="1"/>
                <a:t>구분설정</a:t>
              </a:r>
              <a:r>
                <a:rPr lang="ko-KR" altLang="en-US" sz="700" dirty="0"/>
                <a:t> 수정</a:t>
              </a:r>
            </a:p>
          </p:txBody>
        </p:sp>
      </p:grpSp>
      <p:sp>
        <p:nvSpPr>
          <p:cNvPr id="104" name="모서리가 둥근 직사각형 103"/>
          <p:cNvSpPr/>
          <p:nvPr/>
        </p:nvSpPr>
        <p:spPr>
          <a:xfrm>
            <a:off x="4574391" y="3123173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품목을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05" name="그룹 104"/>
          <p:cNvGrpSpPr/>
          <p:nvPr/>
        </p:nvGrpSpPr>
        <p:grpSpPr>
          <a:xfrm rot="16200000">
            <a:off x="6266059" y="3187658"/>
            <a:ext cx="91438" cy="45719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8" name="모서리가 둥근 직사각형 107"/>
          <p:cNvSpPr/>
          <p:nvPr/>
        </p:nvSpPr>
        <p:spPr>
          <a:xfrm>
            <a:off x="4574391" y="334474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생산자를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09" name="그룹 108"/>
          <p:cNvGrpSpPr/>
          <p:nvPr/>
        </p:nvGrpSpPr>
        <p:grpSpPr>
          <a:xfrm rot="16200000">
            <a:off x="6266059" y="3409232"/>
            <a:ext cx="91438" cy="45719"/>
            <a:chOff x="6812560" y="3297172"/>
            <a:chExt cx="94010" cy="47005"/>
          </a:xfrm>
        </p:grpSpPr>
        <p:cxnSp>
          <p:nvCxnSpPr>
            <p:cNvPr id="112" name="직선 연결선 11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직선 연결선 11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1674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115" name="그룹 114"/>
          <p:cNvGrpSpPr/>
          <p:nvPr/>
        </p:nvGrpSpPr>
        <p:grpSpPr>
          <a:xfrm>
            <a:off x="8223250" y="705888"/>
            <a:ext cx="3365500" cy="634511"/>
            <a:chOff x="8223250" y="569392"/>
            <a:chExt cx="3365500" cy="634511"/>
          </a:xfrm>
        </p:grpSpPr>
        <p:sp>
          <p:nvSpPr>
            <p:cNvPr id="120" name="직사각형 11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2026-06-01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/>
                <a:t>5</a:t>
              </a:r>
              <a:r>
                <a:rPr lang="ko-KR" altLang="en-US" sz="700" dirty="0"/>
                <a:t>번 품목</a:t>
              </a:r>
              <a:r>
                <a:rPr lang="en-US" altLang="ko-KR" sz="700" dirty="0"/>
                <a:t>, </a:t>
              </a:r>
              <a:r>
                <a:rPr lang="ko-KR" altLang="en-US" sz="700" dirty="0"/>
                <a:t>생산자 추가 됨</a:t>
              </a: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8223250" y="871572"/>
            <a:ext cx="3365500" cy="634511"/>
            <a:chOff x="8223250" y="569392"/>
            <a:chExt cx="3365500" cy="634511"/>
          </a:xfrm>
        </p:grpSpPr>
        <p:sp>
          <p:nvSpPr>
            <p:cNvPr id="124" name="직사각형 12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검색 유형 삭제</a:t>
              </a:r>
              <a:endParaRPr lang="ko-KR" altLang="en-US" sz="700" dirty="0"/>
            </a:p>
          </p:txBody>
        </p:sp>
      </p:grpSp>
      <p:sp>
        <p:nvSpPr>
          <p:cNvPr id="126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 txBox="1">
            <a:spLocks/>
          </p:cNvSpPr>
          <p:nvPr/>
        </p:nvSpPr>
        <p:spPr>
          <a:xfrm>
            <a:off x="675399" y="1304425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n-ea"/>
              </a:rPr>
              <a:t>MUI-OP-01-M02-03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3971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(1/4)</a:t>
            </a:r>
            <a:endParaRPr lang="ko-KR" altLang="en-US" sz="1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378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dml_prcmPlanSrch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620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   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선택 가능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orderPrnmntYmFr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발주예정월의 </a:t>
                      </a:r>
                      <a:r>
                        <a:rPr lang="ko-KR" altLang="en-US" sz="800" dirty="0" err="1">
                          <a:latin typeface="+mn-ea"/>
                        </a:rPr>
                        <a:t>시작년월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</a:rPr>
                        <a:t>YYYY-MM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47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발주예정월의 </a:t>
                      </a:r>
                      <a:r>
                        <a:rPr lang="ko-KR" altLang="en-US" sz="800" dirty="0" err="1">
                          <a:latin typeface="+mn-ea"/>
                        </a:rPr>
                        <a:t>종료년월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</a:rPr>
                        <a:t>YYYY-MM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153222"/>
                  </a:ext>
                </a:extLst>
              </a:tr>
              <a:tr h="1673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36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rprsItemNm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품명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픔명검색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1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26680D8-99D4-91F3-4FFD-EB65B9B2D067}"/>
              </a:ext>
            </a:extLst>
          </p:cNvPr>
          <p:cNvSpPr txBox="1"/>
          <p:nvPr/>
        </p:nvSpPr>
        <p:spPr>
          <a:xfrm>
            <a:off x="453759" y="3733555"/>
            <a:ext cx="345984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사전규격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dml_bfhdSpcfctSrch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8E7BAD4-F50D-24DB-DF61-2D39C7BD5EBC}"/>
              </a:ext>
            </a:extLst>
          </p:cNvPr>
          <p:cNvGraphicFramePr>
            <a:graphicFrameLocks noGrp="1"/>
          </p:cNvGraphicFramePr>
          <p:nvPr/>
        </p:nvGraphicFramePr>
        <p:xfrm>
          <a:off x="448641" y="3944758"/>
          <a:ext cx="8994883" cy="2426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선택 가능하며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비활성화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rcptDtFrom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의견접수 시작일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36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의견접수 종료일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bfhdSpcfctNm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640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공개일자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064780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4D9A6B9D-CFE4-2F0F-B878-6DBF9B4EC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3192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11824"/>
            <a:ext cx="377243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연간조달계획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dml_anlPrcmPlanSrch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23027"/>
          <a:ext cx="8994883" cy="2692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고정으로 선택되며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비활성화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지시년도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연간조달계획 </a:t>
                      </a:r>
                      <a:r>
                        <a:rPr lang="ko-KR" altLang="en-US" sz="800" dirty="0" err="1">
                          <a:latin typeface="+mn-ea"/>
                        </a:rPr>
                        <a:t>지시년도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47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부서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15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품질등급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fscCdN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tnItemIdntfNo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1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frcptlItemMsprgStcd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77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itemFwkCd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46904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AC54895-1B91-3BE1-5957-341453357C80}"/>
              </a:ext>
            </a:extLst>
          </p:cNvPr>
          <p:cNvSpPr txBox="1"/>
          <p:nvPr/>
        </p:nvSpPr>
        <p:spPr>
          <a:xfrm>
            <a:off x="452999" y="3876156"/>
            <a:ext cx="342458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dlt_prcmPlanList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9469F3D-3F23-707F-13E5-5ECD90AE75B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088441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계약방법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입찰방법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예산금액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1604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15D3CB6-6479-0FC6-8DF5-5624382B608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(2/4)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30779245-8131-5E14-D98C-055AAC3BB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1086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CC781-2003-6F31-D185-B31B97B7B3F2}"/>
              </a:ext>
            </a:extLst>
          </p:cNvPr>
          <p:cNvSpPr txBox="1"/>
          <p:nvPr/>
        </p:nvSpPr>
        <p:spPr>
          <a:xfrm>
            <a:off x="452999" y="825130"/>
            <a:ext cx="35063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사전규격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dlt_bfhdSpcfctList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ED8FB10-6797-1CDF-872E-B16E4190BA2A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37415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조회결과 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bfhdSpcfctNm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예산금액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opnnRcptPrd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의견접수 기간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r>
                        <a:rPr lang="en-US" altLang="ko-KR" sz="800" dirty="0" err="1">
                          <a:latin typeface="+mn-ea"/>
                        </a:rPr>
                        <a:t>~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공개일자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E6C7D69-8E18-58C2-F69D-0DD0163465A7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(3/4)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66D086BD-AFF6-8A4F-8A18-89325D17E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5012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2999" y="828149"/>
            <a:ext cx="3879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연간조달계획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dlt_anlPrcmPlanList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9143"/>
          <a:ext cx="8994883" cy="42662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31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연간조달계획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91456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58687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fscCdN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tnItemIdntfNo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532629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09712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 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 등급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704834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prdcrSgn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부호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08397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중복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prdcrDpcn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중복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24816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68780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957907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지시단가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지시단가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282028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지시예산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지시예산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장비부호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장비명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장비명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grNo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구매요청번호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clsfNo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771210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frcptlItemMsprgStcd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itemFwkCd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3F09D5C-3137-5295-2F6D-8CE547F19C36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(4/4)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F1344113-74F2-4858-507F-AC2BE28AF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9742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99E91E-3DCA-338A-F1DF-440EB57F2AF1}"/>
              </a:ext>
            </a:extLst>
          </p:cNvPr>
          <p:cNvSpPr txBox="1"/>
          <p:nvPr/>
        </p:nvSpPr>
        <p:spPr>
          <a:xfrm>
            <a:off x="458117" y="5903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AF5D669-579B-3B4F-CCC6-B5A75509D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970466"/>
              </p:ext>
            </p:extLst>
          </p:nvPr>
        </p:nvGraphicFramePr>
        <p:xfrm>
          <a:off x="453000" y="851805"/>
          <a:ext cx="8995591" cy="1651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발주예정월을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현재월로 세팅한다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부합하는 데이터가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초기화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scwin.btn_init_onclikc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검색조건이 기본값으로 초기화된다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조달계획 그리드</a:t>
                      </a: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제목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scwin.grd_prcmPlan_onclick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사전규격 그리드</a:t>
                      </a: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제목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scwin.grd_bfhdSpcfct_onclick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 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50002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DA083E2-857F-8E9F-A5B4-83E04F5B4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9456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버튼은 필요시 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[</a:t>
            </a:r>
            <a:r>
              <a:rPr lang="ko-KR" altLang="en-US" dirty="0"/>
              <a:t>조달계획 </a:t>
            </a:r>
            <a:r>
              <a:rPr lang="ko-KR" altLang="en-US" dirty="0" err="1"/>
              <a:t>알림신청</a:t>
            </a:r>
            <a:r>
              <a:rPr lang="en-US" altLang="ko-KR" dirty="0"/>
              <a:t>]</a:t>
            </a:r>
            <a:r>
              <a:rPr lang="ko-KR" altLang="en-US" dirty="0"/>
              <a:t>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알림신청</a:t>
            </a:r>
            <a:r>
              <a:rPr lang="ko-KR" altLang="en-US" dirty="0"/>
              <a:t>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입찰공고 </a:t>
            </a:r>
            <a:r>
              <a:rPr lang="ko-KR" altLang="en-US" dirty="0" err="1">
                <a:sym typeface="Wingdings" panose="05000000000000000000" pitchFamily="2" charset="2"/>
              </a:rPr>
              <a:t>알림신청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(MUI-OP-01-P10)</a:t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단계표시기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ko-KR" altLang="en-US" dirty="0" err="1"/>
              <a:t>바텀시트에서</a:t>
            </a:r>
            <a:r>
              <a:rPr lang="ko-KR" altLang="en-US" dirty="0"/>
              <a:t> 단계 상세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품목명세서</a:t>
            </a:r>
            <a:r>
              <a:rPr lang="en-US" altLang="ko-KR" dirty="0"/>
              <a:t>, </a:t>
            </a:r>
            <a:r>
              <a:rPr lang="ko-KR" altLang="en-US" dirty="0" err="1"/>
              <a:t>업체의견</a:t>
            </a:r>
            <a:r>
              <a:rPr lang="en-US" altLang="ko-KR" dirty="0"/>
              <a:t>, </a:t>
            </a:r>
            <a:r>
              <a:rPr lang="ko-KR" altLang="en-US" dirty="0"/>
              <a:t>계약특수조건</a:t>
            </a:r>
            <a:r>
              <a:rPr lang="en-US" altLang="ko-KR" dirty="0"/>
              <a:t>, </a:t>
            </a:r>
            <a:r>
              <a:rPr lang="ko-KR" altLang="en-US" dirty="0"/>
              <a:t>첨부파일 순으로 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업체 의견 등록은 로그인 사용자만 가능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로그인 필요 서비스 안내 표시</a:t>
            </a:r>
            <a:r>
              <a:rPr lang="en-US" altLang="ko-KR" dirty="0"/>
              <a:t>(MUI-CM-03-P19)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별도 정의된 영역에 한하여 </a:t>
            </a:r>
            <a:r>
              <a:rPr lang="en-US" altLang="ko-KR" dirty="0"/>
              <a:t>+ </a:t>
            </a:r>
            <a:r>
              <a:rPr lang="ko-KR" altLang="en-US" dirty="0"/>
              <a:t>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기본값은 상단 이동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현 상세내용 탭에서는 </a:t>
            </a:r>
            <a:r>
              <a:rPr lang="en-US" altLang="ko-KR" dirty="0"/>
              <a:t>+</a:t>
            </a:r>
            <a:r>
              <a:rPr lang="ko-KR" altLang="en-US" dirty="0"/>
              <a:t>버튼 없음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조달계획상세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/>
              <a:t>국내 조달계획 </a:t>
            </a:r>
            <a:r>
              <a:rPr lang="ko-KR" altLang="en-US" dirty="0"/>
              <a:t>상세 첫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70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3858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588487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판단번호</a:t>
            </a:r>
            <a:r>
              <a:rPr lang="ko-KR" altLang="en-US" sz="700" dirty="0"/>
              <a:t> </a:t>
            </a:r>
            <a:r>
              <a:rPr lang="en-US" altLang="ko-KR" sz="700" dirty="0"/>
              <a:t>6000A</a:t>
            </a:r>
          </a:p>
          <a:p>
            <a:r>
              <a:rPr lang="en-US" altLang="ko-KR" sz="900" b="1" dirty="0"/>
              <a:t>‘26</a:t>
            </a:r>
            <a:r>
              <a:rPr lang="ko-KR" altLang="en-US" sz="900" b="1" dirty="0"/>
              <a:t>년 </a:t>
            </a:r>
            <a:r>
              <a:rPr lang="en-US" altLang="ko-KR" sz="900" b="1" dirty="0"/>
              <a:t>K5</a:t>
            </a:r>
            <a:r>
              <a:rPr lang="ko-KR" altLang="en-US" sz="900" b="1" dirty="0"/>
              <a:t>방독면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923552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발주예정월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계약방법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908163"/>
            <a:ext cx="538609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2026-03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화력총괄계약팀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총액제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404156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40415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9426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387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9763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40077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408972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829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42168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421685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60915" y="4421685"/>
            <a:ext cx="39616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50526" y="4421685"/>
            <a:ext cx="57818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계약특수조건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829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38356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74462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857954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5052108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05210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5052108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5052108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2832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9692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106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2433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380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35174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56545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6384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849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737786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707426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66730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7074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737786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737786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667307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7074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707426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667307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667307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3894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1960915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6247080" y="2074246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3826115" y="2268400"/>
            <a:ext cx="792000" cy="1092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26840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2268400"/>
            <a:ext cx="670770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7" y="2268400"/>
            <a:ext cx="1814470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4995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71321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92691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14062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35433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514170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356615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판단내역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286" name="그룹 285"/>
          <p:cNvGrpSpPr/>
          <p:nvPr/>
        </p:nvGrpSpPr>
        <p:grpSpPr>
          <a:xfrm flipV="1">
            <a:off x="6247080" y="3679487"/>
            <a:ext cx="94010" cy="47005"/>
            <a:chOff x="6812560" y="3297172"/>
            <a:chExt cx="94010" cy="47005"/>
          </a:xfrm>
        </p:grpSpPr>
        <p:cxnSp>
          <p:nvCxnSpPr>
            <p:cNvPr id="287" name="직선 연결선 2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직선 연결선 29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4864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1" name="타원 170"/>
          <p:cNvSpPr/>
          <p:nvPr/>
        </p:nvSpPr>
        <p:spPr>
          <a:xfrm>
            <a:off x="2703016" y="238774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2847016" y="2404156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827360" y="1598949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품목명세서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61565" y="2255927"/>
              <a:ext cx="39616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업체의견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351176" y="2255927"/>
              <a:ext cx="57818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계약특수조건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07" name="직사각형 206"/>
          <p:cNvSpPr/>
          <p:nvPr/>
        </p:nvSpPr>
        <p:spPr>
          <a:xfrm>
            <a:off x="3816506" y="4009396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4413" y="400939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570" y="4009396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수량</a:t>
            </a:r>
            <a:endParaRPr lang="en-US" altLang="ko-KR" sz="700" dirty="0">
              <a:latin typeface="+mn-ea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60418" y="4009396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</a:t>
            </a:r>
          </a:p>
        </p:txBody>
      </p: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2405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45420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66791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88162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09532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30903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5227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6" name="그룹 155"/>
          <p:cNvGrpSpPr/>
          <p:nvPr/>
        </p:nvGrpSpPr>
        <p:grpSpPr>
          <a:xfrm rot="5400000">
            <a:off x="3158978" y="3662672"/>
            <a:ext cx="187961" cy="187961"/>
            <a:chOff x="3876200" y="2234886"/>
            <a:chExt cx="187961" cy="187961"/>
          </a:xfrm>
        </p:grpSpPr>
        <p:sp>
          <p:nvSpPr>
            <p:cNvPr id="157" name="타원 15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59" name="직선 연결선 15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70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스크롤 시 표시 영역 상단 달라붙음 처리 </a:t>
            </a:r>
            <a:r>
              <a:rPr lang="en-US" altLang="ko-KR" sz="700" dirty="0"/>
              <a:t>(sticky)</a:t>
            </a:r>
            <a:endParaRPr lang="ko-KR" altLang="en-US" sz="900" b="1" dirty="0"/>
          </a:p>
        </p:txBody>
      </p:sp>
      <p:sp>
        <p:nvSpPr>
          <p:cNvPr id="173" name="평행 사변형 172"/>
          <p:cNvSpPr/>
          <p:nvPr/>
        </p:nvSpPr>
        <p:spPr>
          <a:xfrm rot="16200000" flipH="1">
            <a:off x="2206966" y="2619444"/>
            <a:ext cx="2769233" cy="408308"/>
          </a:xfrm>
          <a:prstGeom prst="parallelogram">
            <a:avLst>
              <a:gd name="adj" fmla="val 58259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9945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8190" y="440511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7" name="타원 186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4" name="그룹 193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4" name="그룹 153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상세</a:t>
              </a:r>
            </a:p>
          </p:txBody>
        </p: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62" name="그룹 161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69" name="직선 연결선 16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5" name="직선 연결선 17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3" name="그룹 162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64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66" name="타원 165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" name="타원 166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8" name="타원 167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6806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입찰공고 </a:t>
            </a:r>
            <a:r>
              <a:rPr lang="ko-KR" altLang="en-US" sz="900" dirty="0" err="1">
                <a:latin typeface="+mn-ea"/>
              </a:rPr>
              <a:t>알림신청</a:t>
            </a:r>
            <a:endParaRPr lang="ko-KR" altLang="en-US" sz="900" dirty="0"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입찰공고 </a:t>
            </a:r>
            <a:r>
              <a:rPr lang="ko-KR" altLang="en-US" dirty="0" err="1"/>
              <a:t>알림신청</a:t>
            </a:r>
            <a:r>
              <a:rPr lang="ko-KR" altLang="en-US" dirty="0"/>
              <a:t> 팝업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수신자 휴대폰 번호 입력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내 정보의 휴대폰 번호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disable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수정은 내 정보에서 처리 가능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수신동의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 err="1"/>
              <a:t>동의안함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동의 안함 상태 신청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수신동의</a:t>
            </a:r>
            <a:r>
              <a:rPr lang="ko-KR" altLang="en-US" dirty="0"/>
              <a:t> 이후 신청할 수 있습니다</a:t>
            </a:r>
            <a:r>
              <a:rPr lang="en-US" altLang="ko-KR" dirty="0"/>
              <a:t>. </a:t>
            </a:r>
            <a:r>
              <a:rPr lang="ko-KR" altLang="en-US" dirty="0" err="1"/>
              <a:t>모달</a:t>
            </a:r>
            <a:r>
              <a:rPr lang="ko-KR" altLang="en-US" dirty="0"/>
              <a:t> 팝업 안내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입찰공고 </a:t>
            </a:r>
            <a:r>
              <a:rPr lang="ko-KR" altLang="en-US" dirty="0" err="1">
                <a:latin typeface="+mn-ea"/>
              </a:rPr>
              <a:t>알림신청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조달계획 상세 첫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입찰공고 이후 알림을 신청하는 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알림신청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MUI-OP-01-P10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입찰공고 </a:t>
            </a:r>
            <a:r>
              <a:rPr lang="ko-KR" altLang="en-US" sz="900" dirty="0" err="1">
                <a:latin typeface="+mn-ea"/>
              </a:rPr>
              <a:t>알림신청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498734"/>
            <a:ext cx="14443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800" b="1" dirty="0">
                <a:latin typeface="맑은 고딕" panose="020B0503020000020004" pitchFamily="50" charset="-127"/>
              </a:rPr>
              <a:t>입찰공고 </a:t>
            </a:r>
            <a:r>
              <a:rPr lang="ko-KR" altLang="en-US" sz="800" b="1" dirty="0" err="1">
                <a:latin typeface="맑은 고딕" panose="020B0503020000020004" pitchFamily="50" charset="-127"/>
              </a:rPr>
              <a:t>알림신청</a:t>
            </a:r>
            <a:r>
              <a:rPr lang="ko-KR" altLang="en-US" sz="800" b="1" dirty="0">
                <a:latin typeface="맑은 고딕" panose="020B0503020000020004" pitchFamily="50" charset="-127"/>
              </a:rPr>
              <a:t> 서비스 안내</a:t>
            </a:r>
          </a:p>
        </p:txBody>
      </p: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2704173"/>
            <a:ext cx="2603018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803991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서비스 개요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33069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신청하기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34" name="TextBox 2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988423"/>
            <a:ext cx="247394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연초에 공개되는 조달계획에서  알림</a:t>
            </a:r>
            <a:r>
              <a:rPr lang="en-US" altLang="ko-KR" sz="700" dirty="0"/>
              <a:t> </a:t>
            </a:r>
            <a:r>
              <a:rPr lang="ko-KR" altLang="en-US" sz="700" dirty="0"/>
              <a:t>신청한 품목에 대한 입찰공고가 시스템에 게시되면 알려드리는 서비스입니다</a:t>
            </a:r>
            <a:r>
              <a:rPr lang="en-US" altLang="ko-KR" sz="700" dirty="0"/>
              <a:t>.</a:t>
            </a:r>
            <a:endParaRPr kumimoji="1" lang="en-US" altLang="ko-KR" sz="700" spc="-60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406816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신청방법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39098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591248"/>
            <a:ext cx="247394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조달계획 상세화면에서 ‘</a:t>
            </a:r>
            <a:r>
              <a:rPr lang="ko-KR" altLang="en-US" sz="700" dirty="0" err="1"/>
              <a:t>공고게시알림신청</a:t>
            </a:r>
            <a:r>
              <a:rPr lang="ko-KR" altLang="en-US" sz="700" dirty="0"/>
              <a:t>’ 버튼이 보이는 경우</a:t>
            </a:r>
            <a:r>
              <a:rPr lang="en-US" altLang="ko-KR" sz="700" dirty="0"/>
              <a:t>, </a:t>
            </a:r>
            <a:r>
              <a:rPr lang="ko-KR" altLang="en-US" sz="700" dirty="0"/>
              <a:t>버튼을 눌러 신청하시면 됩니다</a:t>
            </a:r>
            <a:r>
              <a:rPr lang="en-US" altLang="ko-KR" sz="700" dirty="0"/>
              <a:t>.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4015175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유의사항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474337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4199607"/>
            <a:ext cx="247394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입찰공고는 </a:t>
            </a:r>
            <a:r>
              <a:rPr lang="ko-KR" altLang="en-US" sz="700" dirty="0" err="1"/>
              <a:t>국계법에</a:t>
            </a:r>
            <a:r>
              <a:rPr lang="ko-KR" altLang="en-US" sz="700" dirty="0"/>
              <a:t> 따라 </a:t>
            </a:r>
            <a:r>
              <a:rPr lang="ko-KR" altLang="en-US" sz="700" dirty="0" err="1"/>
              <a:t>조달업체가</a:t>
            </a:r>
            <a:r>
              <a:rPr lang="ko-KR" altLang="en-US" sz="700" dirty="0"/>
              <a:t> 직접 전자조달시스템에서 확인할 </a:t>
            </a:r>
            <a:r>
              <a:rPr lang="en-US" altLang="ko-KR" sz="700" dirty="0"/>
              <a:t>/</a:t>
            </a:r>
            <a:r>
              <a:rPr lang="ko-KR" altLang="en-US" sz="700" dirty="0" err="1"/>
              <a:t>미전송</a:t>
            </a:r>
            <a:r>
              <a:rPr lang="en-US" altLang="ko-KR" sz="700" dirty="0"/>
              <a:t>/</a:t>
            </a:r>
            <a:r>
              <a:rPr lang="ko-KR" altLang="en-US" sz="700" dirty="0" err="1"/>
              <a:t>스팸처리</a:t>
            </a:r>
            <a:r>
              <a:rPr lang="ko-KR" altLang="en-US" sz="700" dirty="0"/>
              <a:t> 등으로 사용자가 제대로 인지하지 못하였을 경우에 발생하는 문제에 대해 본 시스템은 책임지지 않습니다</a:t>
            </a:r>
            <a:r>
              <a:rPr lang="en-US" altLang="ko-KR" sz="700" dirty="0"/>
              <a:t>.</a:t>
            </a:r>
          </a:p>
        </p:txBody>
      </p:sp>
      <p:grpSp>
        <p:nvGrpSpPr>
          <p:cNvPr id="241" name="그룹 240"/>
          <p:cNvGrpSpPr/>
          <p:nvPr/>
        </p:nvGrpSpPr>
        <p:grpSpPr>
          <a:xfrm>
            <a:off x="720490" y="4879884"/>
            <a:ext cx="2610778" cy="409958"/>
            <a:chOff x="720490" y="3415355"/>
            <a:chExt cx="2610778" cy="409958"/>
          </a:xfrm>
        </p:grpSpPr>
        <p:sp>
          <p:nvSpPr>
            <p:cNvPr id="24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415355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수신자 휴대폰 번호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243" name="모서리가 둥근 직사각형 242"/>
            <p:cNvSpPr/>
            <p:nvPr/>
          </p:nvSpPr>
          <p:spPr>
            <a:xfrm>
              <a:off x="720490" y="3578063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</p:grp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23783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4442" y="2123243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1013612">
              <a:defRPr/>
            </a:pPr>
            <a:r>
              <a:rPr lang="en-US" altLang="ko-KR" sz="700" b="1" dirty="0">
                <a:solidFill>
                  <a:srgbClr val="FF0000"/>
                </a:solidFill>
              </a:rPr>
              <a:t>※ </a:t>
            </a:r>
            <a:r>
              <a:rPr lang="ko-KR" altLang="en-US" sz="700" b="1" dirty="0">
                <a:solidFill>
                  <a:srgbClr val="FF0000"/>
                </a:solidFill>
              </a:rPr>
              <a:t>본 </a:t>
            </a:r>
            <a:r>
              <a:rPr lang="ko-KR" altLang="en-US" sz="700" b="1" dirty="0" err="1">
                <a:solidFill>
                  <a:srgbClr val="FF0000"/>
                </a:solidFill>
              </a:rPr>
              <a:t>조달계획은</a:t>
            </a:r>
            <a:r>
              <a:rPr lang="ko-KR" altLang="en-US" sz="700" b="1" dirty="0">
                <a:solidFill>
                  <a:srgbClr val="FF0000"/>
                </a:solidFill>
              </a:rPr>
              <a:t> </a:t>
            </a:r>
            <a:r>
              <a:rPr lang="ko-KR" altLang="en-US" sz="700" b="1" dirty="0" err="1">
                <a:solidFill>
                  <a:srgbClr val="FF0000"/>
                </a:solidFill>
              </a:rPr>
              <a:t>조달판단</a:t>
            </a:r>
            <a:r>
              <a:rPr lang="ko-KR" altLang="en-US" sz="700" b="1" dirty="0">
                <a:solidFill>
                  <a:srgbClr val="FF0000"/>
                </a:solidFill>
              </a:rPr>
              <a:t> 과정에서 변동될 수 있습니다</a:t>
            </a:r>
            <a:r>
              <a:rPr lang="en-US" altLang="ko-KR" sz="700" b="1" dirty="0">
                <a:solidFill>
                  <a:srgbClr val="FF0000"/>
                </a:solidFill>
              </a:rPr>
              <a:t>.</a:t>
            </a:r>
            <a:endParaRPr lang="en-US" altLang="ko-KR" sz="700" dirty="0"/>
          </a:p>
        </p:txBody>
      </p: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2342507"/>
            <a:ext cx="2603018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7" name="직선 연결선 2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50082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4442" y="5637334"/>
            <a:ext cx="2473940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1013612">
              <a:defRPr/>
            </a:pPr>
            <a:r>
              <a:rPr lang="en-US" altLang="ko-KR" sz="700" dirty="0"/>
              <a:t>※ </a:t>
            </a:r>
            <a:r>
              <a:rPr lang="ko-KR" altLang="en-US" sz="700" dirty="0"/>
              <a:t>휴대폰 변경은</a:t>
            </a:r>
            <a:endParaRPr lang="en-US" altLang="ko-KR" sz="700" dirty="0"/>
          </a:p>
          <a:p>
            <a:pPr lvl="0" algn="ctr" defTabSz="1013612">
              <a:defRPr/>
            </a:pPr>
            <a:r>
              <a:rPr lang="ko-KR" altLang="en-US" sz="700" dirty="0" err="1"/>
              <a:t>마이페이지</a:t>
            </a:r>
            <a:r>
              <a:rPr lang="en-US" altLang="ko-KR" sz="700" dirty="0"/>
              <a:t>(</a:t>
            </a:r>
            <a:r>
              <a:rPr lang="ko-KR" altLang="en-US" sz="700" dirty="0" err="1"/>
              <a:t>조달업체</a:t>
            </a:r>
            <a:r>
              <a:rPr lang="en-US" altLang="ko-KR" sz="700" dirty="0"/>
              <a:t>) &gt; </a:t>
            </a:r>
            <a:r>
              <a:rPr lang="ko-KR" altLang="en-US" sz="700" dirty="0"/>
              <a:t>알림서비스신청 에서</a:t>
            </a:r>
            <a:endParaRPr lang="en-US" altLang="ko-KR" sz="700" dirty="0"/>
          </a:p>
          <a:p>
            <a:pPr lvl="0" algn="ctr" defTabSz="1013612">
              <a:defRPr/>
            </a:pPr>
            <a:r>
              <a:rPr lang="ko-KR" altLang="en-US" sz="700" dirty="0"/>
              <a:t>변경이 가능합니다</a:t>
            </a:r>
            <a:r>
              <a:rPr lang="en-US" altLang="ko-KR" sz="700" dirty="0"/>
              <a:t>.</a:t>
            </a:r>
          </a:p>
        </p:txBody>
      </p: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0" name="타원 24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484296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1892" y="2188672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/>
              <a:t>입찰 단계별 안내 </a:t>
            </a:r>
            <a:r>
              <a:rPr lang="ko-KR" altLang="en-US" sz="700" dirty="0" err="1"/>
              <a:t>수신동의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56" name="그룹 255"/>
          <p:cNvGrpSpPr/>
          <p:nvPr/>
        </p:nvGrpSpPr>
        <p:grpSpPr>
          <a:xfrm>
            <a:off x="4553124" y="2478696"/>
            <a:ext cx="1197246" cy="107722"/>
            <a:chOff x="4526323" y="5902014"/>
            <a:chExt cx="1197246" cy="107722"/>
          </a:xfrm>
        </p:grpSpPr>
        <p:sp>
          <p:nvSpPr>
            <p:cNvPr id="257" name="타원 256"/>
            <p:cNvSpPr/>
            <p:nvPr/>
          </p:nvSpPr>
          <p:spPr>
            <a:xfrm>
              <a:off x="4526323" y="5907195"/>
              <a:ext cx="106031" cy="973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8" name="타원 257"/>
            <p:cNvSpPr/>
            <p:nvPr/>
          </p:nvSpPr>
          <p:spPr>
            <a:xfrm>
              <a:off x="5277619" y="5907195"/>
              <a:ext cx="106031" cy="9736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94755" y="5902014"/>
              <a:ext cx="39113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동의 안함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454265" y="5902014"/>
              <a:ext cx="269304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동의함</a:t>
              </a:r>
            </a:p>
          </p:txBody>
        </p: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8039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57767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32966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용역</a:t>
            </a:r>
            <a:r>
              <a:rPr lang="en-US" altLang="ko-KR" dirty="0"/>
              <a:t>]</a:t>
            </a:r>
            <a:r>
              <a:rPr lang="ko-KR" altLang="en-US" dirty="0"/>
              <a:t>상세내용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판단내역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[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용역</a:t>
            </a:r>
            <a:r>
              <a:rPr lang="en-US" altLang="ko-KR" dirty="0"/>
              <a:t>]</a:t>
            </a:r>
            <a:r>
              <a:rPr lang="ko-KR" altLang="en-US" dirty="0"/>
              <a:t>상세내용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/>
          <p:cNvGrpSpPr/>
          <p:nvPr/>
        </p:nvGrpSpPr>
        <p:grpSpPr>
          <a:xfrm>
            <a:off x="701175" y="1527996"/>
            <a:ext cx="2642526" cy="3970026"/>
            <a:chOff x="701175" y="1527996"/>
            <a:chExt cx="2642526" cy="3970026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3124233" y="1641327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0" name="직사각형 159"/>
            <p:cNvSpPr/>
            <p:nvPr/>
          </p:nvSpPr>
          <p:spPr>
            <a:xfrm>
              <a:off x="703268" y="1835481"/>
              <a:ext cx="792000" cy="3647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집행유형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장기국채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장기국채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>
                  <a:latin typeface="+mn-ea"/>
                </a:rPr>
                <a:t>현금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합계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총부기금액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미확정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6000A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화력총괄계약팀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50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835481"/>
              <a:ext cx="2630093" cy="3650578"/>
              <a:chOff x="701175" y="1835481"/>
              <a:chExt cx="2630093" cy="3650578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9828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1976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1" name="직선 연결선 18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441236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2" name="직선 연결선 18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6271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3" name="직선 연결선 1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8418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0565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2713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48605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1455" y="152799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판단내역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73" name="그룹 72"/>
          <p:cNvGrpSpPr/>
          <p:nvPr/>
        </p:nvGrpSpPr>
        <p:grpSpPr>
          <a:xfrm flipV="1">
            <a:off x="6253542" y="1641327"/>
            <a:ext cx="94010" cy="47005"/>
            <a:chOff x="6812560" y="3297172"/>
            <a:chExt cx="94010" cy="47005"/>
          </a:xfrm>
        </p:grpSpPr>
        <p:cxnSp>
          <p:nvCxnSpPr>
            <p:cNvPr id="97" name="직선 연결선 9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직선 연결선 9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4" name="직사각형 73"/>
          <p:cNvSpPr/>
          <p:nvPr/>
        </p:nvSpPr>
        <p:spPr>
          <a:xfrm>
            <a:off x="3832577" y="1835481"/>
            <a:ext cx="792000" cy="4396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835481"/>
            <a:ext cx="72555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입찰방법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계약종류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낙찰자결정방법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적격심사 여부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입찰예정일자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품목코드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입찰형태</a:t>
            </a:r>
            <a:endParaRPr lang="en-US" altLang="ko-KR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9" y="1835481"/>
            <a:ext cx="1796521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수의계약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총액제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일반계약확정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협상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4240300004 : </a:t>
            </a:r>
            <a:r>
              <a:rPr lang="ko-KR" altLang="en-US" sz="700" dirty="0">
                <a:latin typeface="+mn-ea"/>
              </a:rPr>
              <a:t>방독면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전자입찰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83548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05022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2649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479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6944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90918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312392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3386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5534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7681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07232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32118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458369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85302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1087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41216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6269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8416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60568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3822151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군수품 선택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계약여부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085273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군수품 선택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계약체결업체수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348395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생산능력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기준서 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611517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국내한도액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계약여부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87463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생산능력확인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소요기간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7795" y="5206578"/>
            <a:ext cx="7255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수의계약사유</a:t>
            </a:r>
            <a:endParaRPr lang="en-US" altLang="ko-KR" sz="700" dirty="0">
              <a:latin typeface="+mn-ea"/>
            </a:endParaRPr>
          </a:p>
        </p:txBody>
      </p:sp>
      <p:sp>
        <p:nvSpPr>
          <p:cNvPr id="257" name="타원 2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3876012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139134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402256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1234567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665378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928500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64643" y="5397530"/>
            <a:ext cx="1775839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27199 : </a:t>
            </a:r>
            <a:r>
              <a:rPr lang="ko-KR" altLang="en-US" sz="700" dirty="0">
                <a:latin typeface="+mn-ea"/>
              </a:rPr>
              <a:t>그 외 기타 의료용 기기 제조업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5152717"/>
            <a:ext cx="17758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국계법시행령 제</a:t>
            </a:r>
            <a:r>
              <a:rPr lang="en-US" altLang="ko-KR" sz="700" dirty="0">
                <a:latin typeface="+mn-ea"/>
              </a:rPr>
              <a:t>26</a:t>
            </a:r>
            <a:r>
              <a:rPr lang="ko-KR" altLang="en-US" sz="700" dirty="0">
                <a:latin typeface="+mn-ea"/>
              </a:rPr>
              <a:t>조 제</a:t>
            </a:r>
            <a:r>
              <a:rPr lang="en-US" altLang="ko-KR" sz="700" dirty="0">
                <a:latin typeface="+mn-ea"/>
              </a:rPr>
              <a:t>1</a:t>
            </a:r>
            <a:r>
              <a:rPr lang="ko-KR" altLang="en-US" sz="700" dirty="0">
                <a:latin typeface="+mn-ea"/>
              </a:rPr>
              <a:t>항 제</a:t>
            </a:r>
            <a:r>
              <a:rPr lang="en-US" altLang="ko-KR" sz="700" dirty="0">
                <a:latin typeface="+mn-ea"/>
              </a:rPr>
              <a:t>5</a:t>
            </a:r>
            <a:r>
              <a:rPr lang="ko-KR" altLang="en-US" sz="700" dirty="0">
                <a:latin typeface="+mn-ea"/>
              </a:rPr>
              <a:t>호 </a:t>
            </a:r>
            <a:r>
              <a:rPr lang="ko-KR" altLang="en-US" sz="700" dirty="0" err="1">
                <a:latin typeface="+mn-ea"/>
              </a:rPr>
              <a:t>가목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2) </a:t>
            </a:r>
            <a:r>
              <a:rPr lang="ko-KR" altLang="en-US" sz="700" dirty="0">
                <a:latin typeface="+mn-ea"/>
              </a:rPr>
              <a:t>추정가격 </a:t>
            </a:r>
            <a:r>
              <a:rPr lang="en-US" altLang="ko-KR" sz="700" dirty="0">
                <a:latin typeface="+mn-ea"/>
              </a:rPr>
              <a:t>2</a:t>
            </a:r>
            <a:r>
              <a:rPr lang="ko-KR" altLang="en-US" sz="700" dirty="0" err="1">
                <a:latin typeface="+mn-ea"/>
              </a:rPr>
              <a:t>천만원이해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>
                <a:latin typeface="+mn-ea"/>
              </a:rPr>
              <a:t>제조</a:t>
            </a:r>
            <a:r>
              <a:rPr lang="en-US" altLang="ko-KR" sz="700" dirty="0">
                <a:latin typeface="+mn-ea"/>
              </a:rPr>
              <a:t>, </a:t>
            </a:r>
            <a:r>
              <a:rPr lang="ko-KR" altLang="en-US" sz="700" dirty="0">
                <a:latin typeface="+mn-ea"/>
              </a:rPr>
              <a:t>구매</a:t>
            </a:r>
            <a:r>
              <a:rPr lang="en-US" altLang="ko-KR" sz="700" dirty="0">
                <a:latin typeface="+mn-ea"/>
              </a:rPr>
              <a:t>, </a:t>
            </a:r>
            <a:r>
              <a:rPr lang="ko-KR" altLang="en-US" sz="700" dirty="0">
                <a:latin typeface="+mn-ea"/>
              </a:rPr>
              <a:t>용역</a:t>
            </a:r>
            <a:r>
              <a:rPr lang="en-US" altLang="ko-KR" sz="700" dirty="0">
                <a:latin typeface="+mn-ea"/>
              </a:rPr>
              <a:t>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7795" y="5397530"/>
            <a:ext cx="725552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지명경쟁사유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산업분류번호</a:t>
            </a:r>
            <a:r>
              <a:rPr lang="en-US" altLang="ko-KR" sz="700" dirty="0">
                <a:latin typeface="+mn-ea"/>
              </a:rPr>
              <a:t>(1)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산업분류번호</a:t>
            </a:r>
            <a:r>
              <a:rPr lang="en-US" altLang="ko-KR" sz="700" dirty="0">
                <a:latin typeface="+mn-ea"/>
              </a:rPr>
              <a:t>(2)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종합판단</a:t>
            </a:r>
            <a:endParaRPr lang="en-US" altLang="ko-KR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514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공사</a:t>
            </a:r>
            <a:r>
              <a:rPr lang="en-US" altLang="ko-KR" dirty="0"/>
              <a:t>]</a:t>
            </a:r>
            <a:r>
              <a:rPr lang="ko-KR" altLang="en-US" dirty="0"/>
              <a:t>상세내용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판단내역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[</a:t>
            </a:r>
            <a:r>
              <a:rPr lang="ko-KR" altLang="en-US" dirty="0"/>
              <a:t>공사</a:t>
            </a:r>
            <a:r>
              <a:rPr lang="en-US" altLang="ko-KR" dirty="0"/>
              <a:t>]</a:t>
            </a:r>
            <a:r>
              <a:rPr lang="ko-KR" altLang="en-US" dirty="0"/>
              <a:t>상세내용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/>
          <p:cNvGrpSpPr/>
          <p:nvPr/>
        </p:nvGrpSpPr>
        <p:grpSpPr>
          <a:xfrm>
            <a:off x="701175" y="1527996"/>
            <a:ext cx="2642526" cy="2246477"/>
            <a:chOff x="701175" y="1527996"/>
            <a:chExt cx="2642526" cy="2246477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3124233" y="1641327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0" name="직사각형 159"/>
            <p:cNvSpPr/>
            <p:nvPr/>
          </p:nvSpPr>
          <p:spPr>
            <a:xfrm>
              <a:off x="703268" y="1835481"/>
              <a:ext cx="792000" cy="1932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총공사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당해년도예산금액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835481"/>
              <a:ext cx="2630093" cy="1932660"/>
              <a:chOff x="701175" y="1835481"/>
              <a:chExt cx="2630093" cy="1932660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0484" y="1527996"/>
            <a:ext cx="2642526" cy="3323695"/>
            <a:chOff x="3830484" y="1527996"/>
            <a:chExt cx="2642526" cy="3323695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455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판단내역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73" name="그룹 72"/>
            <p:cNvGrpSpPr/>
            <p:nvPr/>
          </p:nvGrpSpPr>
          <p:grpSpPr>
            <a:xfrm flipV="1">
              <a:off x="6253542" y="1641327"/>
              <a:ext cx="94010" cy="47005"/>
              <a:chOff x="6812560" y="3297172"/>
              <a:chExt cx="94010" cy="47005"/>
            </a:xfrm>
          </p:grpSpPr>
          <p:cxnSp>
            <p:nvCxnSpPr>
              <p:cNvPr id="97" name="직선 연결선 9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4" name="직사각형 73"/>
            <p:cNvSpPr/>
            <p:nvPr/>
          </p:nvSpPr>
          <p:spPr>
            <a:xfrm>
              <a:off x="3832577" y="1835481"/>
              <a:ext cx="792000" cy="30148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9640" y="1835481"/>
              <a:ext cx="725552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사전심사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낙찰자결정방법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적격심사 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입찰예정일자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공동도급이행방식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입찰형태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공사개요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규모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수의계약사유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지명경쟁사유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낙찰자기준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6489" y="1835481"/>
              <a:ext cx="1796521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일반경쟁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총액제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2026-08-01 ~ 2027-09-30</a:t>
              </a:r>
            </a:p>
            <a:p>
              <a:pPr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비대상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적격심사제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2026-03-05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전자입찰</a:t>
              </a:r>
              <a:endParaRPr lang="en-US" altLang="ko-KR" sz="700" dirty="0">
                <a:latin typeface="+mn-ea"/>
              </a:endParaRPr>
            </a:p>
            <a:p>
              <a:pPr lvl="0">
                <a:lnSpc>
                  <a:spcPct val="200000"/>
                </a:lnSpc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25-19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차 병영기본시설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연차별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예산조정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9972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1915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439945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6141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84350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755336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용역</a:t>
            </a:r>
            <a:r>
              <a:rPr lang="en-US" altLang="ko-KR" dirty="0"/>
              <a:t>/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공사 상세 내용 하단 정보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연관정보</a:t>
            </a:r>
            <a:r>
              <a:rPr lang="ko-KR" altLang="en-US" dirty="0"/>
              <a:t>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연관사전규격상세 팝업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MUI-OP-01-P13 </a:t>
            </a:r>
            <a:r>
              <a:rPr lang="ko-KR" altLang="en-US" dirty="0"/>
              <a:t>연관 사전규격상세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문의처 정보 표시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</a:t>
            </a:r>
            <a:r>
              <a:rPr lang="ko-KR" altLang="en-US" dirty="0"/>
              <a:t>상세내용 탭 하단 </a:t>
            </a: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</a:t>
            </a:r>
            <a:r>
              <a:rPr lang="ko-KR" altLang="en-US" dirty="0"/>
              <a:t>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57745" y="1633596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연관정보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33" name="그룹 132"/>
          <p:cNvGrpSpPr/>
          <p:nvPr/>
        </p:nvGrpSpPr>
        <p:grpSpPr>
          <a:xfrm flipV="1">
            <a:off x="3119832" y="1746927"/>
            <a:ext cx="94010" cy="47005"/>
            <a:chOff x="6812560" y="3297172"/>
            <a:chExt cx="94010" cy="47005"/>
          </a:xfrm>
        </p:grpSpPr>
        <p:cxnSp>
          <p:nvCxnSpPr>
            <p:cNvPr id="134" name="직선 연결선 13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직선 연결선 13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57745" y="2576379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문의처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2" name="그룹 151"/>
          <p:cNvGrpSpPr/>
          <p:nvPr/>
        </p:nvGrpSpPr>
        <p:grpSpPr>
          <a:xfrm flipV="1">
            <a:off x="3119832" y="2689710"/>
            <a:ext cx="94010" cy="47005"/>
            <a:chOff x="6812560" y="3297172"/>
            <a:chExt cx="94010" cy="47005"/>
          </a:xfrm>
        </p:grpSpPr>
        <p:cxnSp>
          <p:nvCxnSpPr>
            <p:cNvPr id="153" name="직선 연결선 1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직선 연결선 15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1509422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2441260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347583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3" name="모서리가 둥근 직사각형 192"/>
          <p:cNvSpPr/>
          <p:nvPr/>
        </p:nvSpPr>
        <p:spPr>
          <a:xfrm>
            <a:off x="705042" y="3048695"/>
            <a:ext cx="2652743" cy="344810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854871" y="2888603"/>
            <a:ext cx="2353084" cy="440219"/>
            <a:chOff x="854511" y="2888603"/>
            <a:chExt cx="2353084" cy="440219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54511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기관 부서명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47519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담당자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60081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연락처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54511" y="3167239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방위사업청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47519" y="3167239"/>
              <a:ext cx="63828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60081" y="3113378"/>
              <a:ext cx="64751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02-1234-5678</a:t>
              </a:r>
            </a:p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705042" y="1896864"/>
            <a:ext cx="2652743" cy="480718"/>
            <a:chOff x="722176" y="1896864"/>
            <a:chExt cx="2652743" cy="480718"/>
          </a:xfrm>
        </p:grpSpPr>
        <p:sp>
          <p:nvSpPr>
            <p:cNvPr id="137" name="모서리가 둥근 직사각형 136"/>
            <p:cNvSpPr/>
            <p:nvPr/>
          </p:nvSpPr>
          <p:spPr>
            <a:xfrm>
              <a:off x="722176" y="2031982"/>
              <a:ext cx="2652743" cy="34560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3084" y="2150921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1013612">
                <a:defRPr/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공개 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[#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사전규격번호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]</a:t>
              </a:r>
            </a:p>
          </p:txBody>
        </p:sp>
        <p:sp>
          <p:nvSpPr>
            <p:cNvPr id="144" name="타원 143"/>
            <p:cNvSpPr/>
            <p:nvPr/>
          </p:nvSpPr>
          <p:spPr>
            <a:xfrm>
              <a:off x="3082295" y="213278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894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사전규격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5897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보기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56" name="타원 2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249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4131422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품목명세서</a:t>
            </a:r>
            <a:r>
              <a:rPr lang="ko-KR" altLang="en-US" dirty="0" smtClean="0"/>
              <a:t> </a:t>
            </a:r>
            <a:r>
              <a:rPr lang="ko-KR" altLang="en-US" dirty="0"/>
              <a:t>목록 데이터 </a:t>
            </a:r>
            <a:r>
              <a:rPr lang="ko-KR" altLang="en-US" dirty="0" smtClean="0"/>
              <a:t>영역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>
                <a:latin typeface="+mn-ea"/>
              </a:rPr>
              <a:t>품목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물품 목록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- 4</a:t>
            </a:r>
            <a:r>
              <a:rPr lang="ko-KR" altLang="en-US" dirty="0" smtClean="0">
                <a:latin typeface="+mn-ea"/>
              </a:rPr>
              <a:t>열까지 기본 표시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smtClean="0">
                <a:latin typeface="+mn-ea"/>
              </a:rPr>
              <a:t>내역 펼쳐보기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내역 접기 아코디언 동작</a:t>
            </a:r>
            <a:endParaRPr lang="en-US" altLang="ko-KR" dirty="0" smtClean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>
                <a:latin typeface="+mn-ea"/>
              </a:rPr>
              <a:t>재고번호</a:t>
            </a:r>
            <a:r>
              <a:rPr lang="en-US" altLang="ko-KR" dirty="0" smtClean="0">
                <a:latin typeface="+mn-ea"/>
              </a:rPr>
              <a:t/>
            </a:r>
            <a:br>
              <a:rPr lang="en-US" altLang="ko-KR" dirty="0" smtClean="0">
                <a:latin typeface="+mn-ea"/>
              </a:rPr>
            </a:br>
            <a:r>
              <a:rPr lang="en-US" altLang="ko-KR" strike="sngStrike" dirty="0"/>
              <a:t> &gt; </a:t>
            </a:r>
            <a:r>
              <a:rPr lang="ko-KR" altLang="en-US" strike="sngStrike" dirty="0">
                <a:sym typeface="Wingdings" panose="05000000000000000000" pitchFamily="2" charset="2"/>
              </a:rPr>
              <a:t>실적이 있는 경우 </a:t>
            </a:r>
            <a:r>
              <a:rPr lang="en-US" altLang="ko-KR" strike="sngStrike" dirty="0">
                <a:sym typeface="Wingdings" panose="05000000000000000000" pitchFamily="2" charset="2"/>
              </a:rPr>
              <a:t>(Y)</a:t>
            </a:r>
            <a:br>
              <a:rPr lang="en-US" altLang="ko-KR" strike="sngStrike" dirty="0">
                <a:sym typeface="Wingdings" panose="05000000000000000000" pitchFamily="2" charset="2"/>
              </a:rPr>
            </a:br>
            <a:r>
              <a:rPr lang="en-US" altLang="ko-KR" strike="sngStrike" dirty="0">
                <a:sym typeface="Wingdings" panose="05000000000000000000" pitchFamily="2" charset="2"/>
              </a:rPr>
              <a:t>   </a:t>
            </a:r>
            <a:r>
              <a:rPr lang="en-US" altLang="ko-KR" strike="sngStrike" dirty="0"/>
              <a:t>(MUI-OP-01-P75) </a:t>
            </a:r>
            <a:r>
              <a:rPr lang="ko-KR" altLang="en-US" strike="sngStrike" dirty="0"/>
              <a:t>품목별가격자료조회</a:t>
            </a:r>
            <a:r>
              <a:rPr lang="en-US" altLang="ko-KR" strike="sngStrike" dirty="0"/>
              <a:t/>
            </a:r>
            <a:br>
              <a:rPr lang="en-US" altLang="ko-KR" strike="sngStrike" dirty="0"/>
            </a:br>
            <a:r>
              <a:rPr lang="en-US" altLang="ko-KR" strike="sngStrike" dirty="0"/>
              <a:t>  &gt; </a:t>
            </a:r>
            <a:r>
              <a:rPr lang="ko-KR" altLang="en-US" strike="sngStrike" dirty="0"/>
              <a:t>그 외 </a:t>
            </a:r>
            <a:r>
              <a:rPr lang="en-US" altLang="ko-KR" strike="sngStrike" dirty="0"/>
              <a:t>(blank </a:t>
            </a:r>
            <a:r>
              <a:rPr lang="ko-KR" altLang="en-US" strike="sngStrike" dirty="0"/>
              <a:t>또는 </a:t>
            </a:r>
            <a:r>
              <a:rPr lang="en-US" altLang="ko-KR" strike="sngStrike" dirty="0"/>
              <a:t>N)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rgbClr val="FF0000"/>
                </a:solidFill>
              </a:rPr>
              <a:t>MUI-OP-01-P76</a:t>
            </a:r>
            <a:r>
              <a:rPr lang="en-US" altLang="ko-KR" dirty="0"/>
              <a:t>) </a:t>
            </a:r>
            <a:r>
              <a:rPr lang="ko-KR" altLang="en-US" dirty="0"/>
              <a:t>목록정보조회 </a:t>
            </a:r>
            <a:r>
              <a:rPr lang="en-US" altLang="ko-KR" dirty="0"/>
              <a:t>– </a:t>
            </a:r>
            <a:r>
              <a:rPr lang="ko-KR" altLang="en-US" strike="sngStrike" dirty="0" err="1"/>
              <a:t>풀페이지</a:t>
            </a:r>
            <a:r>
              <a:rPr lang="ko-KR" altLang="en-US" dirty="0"/>
              <a:t> 팝업 형식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trike="sngStrike" dirty="0">
                <a:solidFill>
                  <a:srgbClr val="FF0000"/>
                </a:solidFill>
              </a:rPr>
              <a:t>- </a:t>
            </a:r>
            <a:r>
              <a:rPr lang="ko-KR" altLang="en-US" strike="sngStrike" dirty="0">
                <a:solidFill>
                  <a:srgbClr val="FF0000"/>
                </a:solidFill>
              </a:rPr>
              <a:t>연결되는 화면 </a:t>
            </a:r>
            <a:r>
              <a:rPr lang="en-US" altLang="ko-KR" strike="sngStrike" dirty="0">
                <a:solidFill>
                  <a:srgbClr val="FF0000"/>
                </a:solidFill>
              </a:rPr>
              <a:t>ID</a:t>
            </a:r>
            <a:r>
              <a:rPr lang="ko-KR" altLang="en-US" strike="sngStrike" dirty="0">
                <a:solidFill>
                  <a:srgbClr val="FF0000"/>
                </a:solidFill>
              </a:rPr>
              <a:t>에 유의할 것</a:t>
            </a:r>
            <a:r>
              <a:rPr lang="en-US" altLang="ko-KR" strike="sngStrike" dirty="0">
                <a:solidFill>
                  <a:srgbClr val="FF0000"/>
                </a:solidFill>
              </a:rPr>
              <a:t/>
            </a:r>
            <a:br>
              <a:rPr lang="en-US" altLang="ko-KR" strike="sngStrike" dirty="0">
                <a:solidFill>
                  <a:srgbClr val="FF0000"/>
                </a:solidFill>
              </a:rPr>
            </a:br>
            <a:r>
              <a:rPr lang="en-US" altLang="ko-KR" strike="sngStrike" dirty="0">
                <a:solidFill>
                  <a:srgbClr val="FF0000"/>
                </a:solidFill>
              </a:rPr>
              <a:t>  &gt; </a:t>
            </a:r>
            <a:r>
              <a:rPr lang="ko-KR" altLang="en-US" strike="sngStrike" dirty="0">
                <a:solidFill>
                  <a:srgbClr val="FF0000"/>
                </a:solidFill>
              </a:rPr>
              <a:t>동일한 화면이 페이지와 팝업 </a:t>
            </a:r>
            <a:r>
              <a:rPr lang="en-US" altLang="ko-KR" strike="sngStrike" dirty="0">
                <a:solidFill>
                  <a:srgbClr val="FF0000"/>
                </a:solidFill>
              </a:rPr>
              <a:t>2</a:t>
            </a:r>
            <a:r>
              <a:rPr lang="ko-KR" altLang="en-US" strike="sngStrike" dirty="0">
                <a:solidFill>
                  <a:srgbClr val="FF0000"/>
                </a:solidFill>
              </a:rPr>
              <a:t>종이 있으며</a:t>
            </a:r>
            <a:r>
              <a:rPr lang="en-US" altLang="ko-KR" strike="sngStrike" dirty="0">
                <a:solidFill>
                  <a:srgbClr val="FF0000"/>
                </a:solidFill>
              </a:rPr>
              <a:t>, </a:t>
            </a:r>
            <a:r>
              <a:rPr lang="ko-KR" altLang="en-US" strike="sngStrike" dirty="0">
                <a:solidFill>
                  <a:srgbClr val="FF0000"/>
                </a:solidFill>
              </a:rPr>
              <a:t>결과 목록에서는 팝업으로 연결됨</a:t>
            </a:r>
            <a:r>
              <a:rPr lang="en-US" altLang="ko-KR" strike="sngStrike" dirty="0">
                <a:solidFill>
                  <a:srgbClr val="FF0000"/>
                </a:solidFill>
              </a:rPr>
              <a:t>.</a:t>
            </a:r>
            <a:br>
              <a:rPr lang="en-US" altLang="ko-KR" strike="sngStrike" dirty="0">
                <a:solidFill>
                  <a:srgbClr val="FF0000"/>
                </a:solidFill>
              </a:rPr>
            </a:br>
            <a:r>
              <a:rPr lang="en-US" altLang="ko-KR" b="1" dirty="0">
                <a:solidFill>
                  <a:srgbClr val="FF0000"/>
                </a:solidFill>
              </a:rPr>
              <a:t>- </a:t>
            </a:r>
            <a:r>
              <a:rPr lang="ko-KR" altLang="en-US" b="1" dirty="0">
                <a:solidFill>
                  <a:srgbClr val="FF0000"/>
                </a:solidFill>
              </a:rPr>
              <a:t>팝업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ko-KR" altLang="en-US" b="1" dirty="0">
                <a:solidFill>
                  <a:srgbClr val="FF0000"/>
                </a:solidFill>
              </a:rPr>
              <a:t>종으로 </a:t>
            </a:r>
            <a:r>
              <a:rPr lang="ko-KR" altLang="en-US" b="1" dirty="0" smtClean="0">
                <a:solidFill>
                  <a:srgbClr val="FF0000"/>
                </a:solidFill>
              </a:rPr>
              <a:t>변경함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>
                <a:latin typeface="+mn-ea"/>
              </a:rPr>
              <a:t>품목명세서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콘텐츠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개씩 노출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ko-KR" altLang="en-US" dirty="0" err="1">
                <a:latin typeface="+mn-ea"/>
              </a:rPr>
              <a:t>더보기</a:t>
            </a:r>
            <a:r>
              <a:rPr lang="ko-KR" altLang="en-US" dirty="0">
                <a:latin typeface="+mn-ea"/>
              </a:rPr>
              <a:t> 버튼 클릭으로 추가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개씩 추가 </a:t>
            </a:r>
            <a:r>
              <a:rPr lang="ko-KR" altLang="en-US" dirty="0" smtClean="0">
                <a:latin typeface="+mn-ea"/>
              </a:rPr>
              <a:t>표시</a:t>
            </a:r>
            <a:endParaRPr lang="en-US" altLang="ko-KR" dirty="0" smtClean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ko-KR" dirty="0" smtClean="0">
                <a:sym typeface="Wingdings" panose="05000000000000000000" pitchFamily="2" charset="2"/>
              </a:rPr>
              <a:t>+ </a:t>
            </a:r>
            <a:r>
              <a:rPr lang="ko-KR" altLang="en-US" dirty="0" smtClean="0">
                <a:sym typeface="Wingdings" panose="05000000000000000000" pitchFamily="2" charset="2"/>
              </a:rPr>
              <a:t>버튼 표시 및 클릭 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바텀</a:t>
            </a:r>
            <a:r>
              <a:rPr lang="ko-KR" altLang="en-US" dirty="0" smtClean="0">
                <a:sym typeface="Wingdings" panose="05000000000000000000" pitchFamily="2" charset="2"/>
              </a:rPr>
              <a:t> 시트를 통한 버튼 표시</a:t>
            </a:r>
            <a:r>
              <a:rPr lang="en-US" altLang="ko-KR" dirty="0" smtClean="0">
                <a:sym typeface="Wingdings" panose="05000000000000000000" pitchFamily="2" charset="2"/>
              </a:rPr>
              <a:t/>
            </a:r>
            <a:br>
              <a:rPr lang="en-US" altLang="ko-KR" dirty="0" smtClean="0">
                <a:sym typeface="Wingdings" panose="05000000000000000000" pitchFamily="2" charset="2"/>
              </a:rPr>
            </a:br>
            <a:r>
              <a:rPr lang="en-US" altLang="ko-KR" dirty="0" smtClean="0">
                <a:sym typeface="Wingdings" panose="05000000000000000000" pitchFamily="2" charset="2"/>
              </a:rPr>
              <a:t>- </a:t>
            </a:r>
            <a:r>
              <a:rPr lang="ko-KR" altLang="en-US" dirty="0" err="1" smtClean="0">
                <a:sym typeface="Wingdings" panose="05000000000000000000" pitchFamily="2" charset="2"/>
              </a:rPr>
              <a:t>바텀시트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팝업 표시 </a:t>
            </a:r>
            <a:r>
              <a:rPr lang="en-US" altLang="ko-KR" dirty="0">
                <a:sym typeface="Wingdings" panose="05000000000000000000" pitchFamily="2" charset="2"/>
              </a:rPr>
              <a:t>(MUI-BD-01-P17)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버튼에서 버튼 출력물 명칭 </a:t>
            </a:r>
            <a:r>
              <a:rPr lang="ko-KR" altLang="en-US" dirty="0" smtClean="0">
                <a:sym typeface="Wingdings" panose="05000000000000000000" pitchFamily="2" charset="2"/>
              </a:rPr>
              <a:t>표시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(UI-OP-01-R10) </a:t>
            </a:r>
            <a:r>
              <a:rPr lang="ko-KR" altLang="en-US" dirty="0">
                <a:sym typeface="Wingdings" panose="05000000000000000000" pitchFamily="2" charset="2"/>
              </a:rPr>
              <a:t>품목명세서출력물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출력물 </a:t>
            </a:r>
            <a:r>
              <a:rPr lang="en-US" altLang="ko-KR" dirty="0">
                <a:sym typeface="Wingdings" panose="05000000000000000000" pitchFamily="2" charset="2"/>
              </a:rPr>
              <a:t>OZ </a:t>
            </a:r>
            <a:r>
              <a:rPr lang="ko-KR" altLang="en-US" dirty="0">
                <a:sym typeface="Wingdings" panose="05000000000000000000" pitchFamily="2" charset="2"/>
              </a:rPr>
              <a:t>리포트 연계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품목명세서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품목명세서</a:t>
            </a:r>
            <a:r>
              <a:rPr lang="ko-KR" altLang="en-US" dirty="0"/>
              <a:t>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품목명세서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MUI-OP-01-T05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701175" y="2253421"/>
            <a:ext cx="2630093" cy="3877985"/>
            <a:chOff x="701175" y="1924234"/>
            <a:chExt cx="2630093" cy="3877985"/>
          </a:xfrm>
        </p:grpSpPr>
        <p:sp>
          <p:nvSpPr>
            <p:cNvPr id="160" name="직사각형 159"/>
            <p:cNvSpPr/>
            <p:nvPr/>
          </p:nvSpPr>
          <p:spPr>
            <a:xfrm>
              <a:off x="703268" y="1924234"/>
              <a:ext cx="792000" cy="38776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924234"/>
              <a:ext cx="725552" cy="3877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항목번호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규격번호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규격종류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규격공개여부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군급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 err="1">
                  <a:latin typeface="+mn-ea"/>
                </a:rPr>
                <a:t>재고번호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도면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 err="1">
                  <a:latin typeface="+mn-ea"/>
                </a:rPr>
                <a:t>부품번호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납지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품보형태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924234"/>
              <a:ext cx="1775839" cy="3877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MBDKE22026003B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4240-4009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국방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정식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25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srgbClr val="0070C0"/>
                  </a:solidFill>
                  <a:latin typeface="+mn-ea"/>
                </a:rPr>
                <a:t>4240-3753116870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A7005265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원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방독면</a:t>
              </a:r>
              <a:r>
                <a:rPr lang="en-US" altLang="ko-KR" sz="700" dirty="0">
                  <a:latin typeface="+mn-ea"/>
                </a:rPr>
                <a:t>,</a:t>
              </a:r>
              <a:r>
                <a:rPr lang="ko-KR" altLang="en-US" sz="700" dirty="0">
                  <a:latin typeface="+mn-ea"/>
                </a:rPr>
                <a:t>화학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 err="1">
                  <a:latin typeface="+mn-ea"/>
                </a:rPr>
                <a:t>생물학전용</a:t>
              </a:r>
              <a:r>
                <a:rPr lang="en-US" altLang="ko-KR" sz="700" dirty="0">
                  <a:latin typeface="+mn-ea"/>
                </a:rPr>
                <a:t>(K5)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체계품질보증형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2026-12-15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924234"/>
              <a:ext cx="2630093" cy="3877644"/>
              <a:chOff x="701175" y="1835481"/>
              <a:chExt cx="2630093" cy="3877644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9828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1976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1" name="직선 연결선 18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441236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2" name="직선 연결선 18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6271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3" name="직선 연결선 1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8418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0565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2713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48605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713125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836921" y="3674661"/>
              <a:ext cx="494347" cy="16200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rPr>
                <a:t>보기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387137" y="1901536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36921" y="1901536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051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7" name="그룹 126"/>
          <p:cNvGrpSpPr/>
          <p:nvPr/>
        </p:nvGrpSpPr>
        <p:grpSpPr>
          <a:xfrm>
            <a:off x="3143548" y="1999502"/>
            <a:ext cx="94010" cy="47005"/>
            <a:chOff x="6812560" y="3297172"/>
            <a:chExt cx="94010" cy="47005"/>
          </a:xfrm>
        </p:grpSpPr>
        <p:cxnSp>
          <p:nvCxnSpPr>
            <p:cNvPr id="128" name="직선 연결선 12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직선 연결선 12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4585727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3410128"/>
            <a:ext cx="76863" cy="292489"/>
            <a:chOff x="3750067" y="4683795"/>
            <a:chExt cx="76863" cy="29248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396579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8861" y="4639408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6793" y="4154658"/>
            <a:ext cx="2448261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00" dirty="0">
                <a:solidFill>
                  <a:srgbClr val="FF0000"/>
                </a:solidFill>
              </a:rPr>
              <a:t>※ </a:t>
            </a:r>
            <a:r>
              <a:rPr lang="ko-KR" altLang="en-US" sz="700" dirty="0" err="1">
                <a:solidFill>
                  <a:srgbClr val="FF0000"/>
                </a:solidFill>
              </a:rPr>
              <a:t>방위사업청</a:t>
            </a:r>
            <a:r>
              <a:rPr lang="ko-KR" altLang="en-US" sz="700" dirty="0">
                <a:solidFill>
                  <a:srgbClr val="FF0000"/>
                </a:solidFill>
              </a:rPr>
              <a:t> </a:t>
            </a:r>
            <a:r>
              <a:rPr lang="ko-KR" altLang="en-US" sz="700" dirty="0" err="1">
                <a:solidFill>
                  <a:srgbClr val="FF0000"/>
                </a:solidFill>
              </a:rPr>
              <a:t>조달계획은</a:t>
            </a:r>
            <a:r>
              <a:rPr lang="ko-KR" altLang="en-US" sz="700" dirty="0">
                <a:solidFill>
                  <a:srgbClr val="FF0000"/>
                </a:solidFill>
              </a:rPr>
              <a:t> </a:t>
            </a:r>
            <a:r>
              <a:rPr lang="ko-KR" altLang="en-US" sz="700" dirty="0" err="1">
                <a:solidFill>
                  <a:srgbClr val="FF0000"/>
                </a:solidFill>
              </a:rPr>
              <a:t>품목명세서</a:t>
            </a:r>
            <a:r>
              <a:rPr lang="ko-KR" altLang="en-US" sz="700" dirty="0">
                <a:solidFill>
                  <a:srgbClr val="FF0000"/>
                </a:solidFill>
              </a:rPr>
              <a:t> 상</a:t>
            </a:r>
            <a:endParaRPr lang="en-US" altLang="ko-KR" sz="700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rgbClr val="FF0000"/>
                </a:solidFill>
              </a:rPr>
              <a:t>단가</a:t>
            </a:r>
            <a:r>
              <a:rPr lang="en-US" altLang="ko-KR" sz="700" dirty="0">
                <a:solidFill>
                  <a:srgbClr val="FF0000"/>
                </a:solidFill>
              </a:rPr>
              <a:t>, </a:t>
            </a:r>
            <a:r>
              <a:rPr lang="ko-KR" altLang="en-US" sz="700" dirty="0">
                <a:solidFill>
                  <a:srgbClr val="FF0000"/>
                </a:solidFill>
              </a:rPr>
              <a:t>금액을 공개하지 않습니다</a:t>
            </a:r>
            <a:r>
              <a:rPr lang="en-US" altLang="ko-KR" sz="7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66926" y="228728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6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90250" y="6175977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dirty="0"/>
              <a:t>내역 접기 ↑</a:t>
            </a:r>
            <a:endParaRPr kumimoji="1" lang="en-US" altLang="ko-KR" sz="700" kern="0" dirty="0"/>
          </a:p>
        </p:txBody>
      </p:sp>
      <p:grpSp>
        <p:nvGrpSpPr>
          <p:cNvPr id="66" name="그룹 65"/>
          <p:cNvGrpSpPr/>
          <p:nvPr/>
        </p:nvGrpSpPr>
        <p:grpSpPr>
          <a:xfrm>
            <a:off x="3836031" y="1580862"/>
            <a:ext cx="2631433" cy="1075183"/>
            <a:chOff x="3820170" y="3474433"/>
            <a:chExt cx="2631433" cy="1075183"/>
          </a:xfrm>
        </p:grpSpPr>
        <p:sp>
          <p:nvSpPr>
            <p:cNvPr id="67" name="직사각형 66"/>
            <p:cNvSpPr/>
            <p:nvPr/>
          </p:nvSpPr>
          <p:spPr>
            <a:xfrm>
              <a:off x="3820170" y="3474433"/>
              <a:ext cx="792000" cy="8651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0666" y="3474434"/>
              <a:ext cx="725552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항목번호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규격번호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69" name="그룹 68"/>
            <p:cNvGrpSpPr/>
            <p:nvPr/>
          </p:nvGrpSpPr>
          <p:grpSpPr>
            <a:xfrm>
              <a:off x="3821510" y="3474434"/>
              <a:ext cx="2630093" cy="1075182"/>
              <a:chOff x="701175" y="1835481"/>
              <a:chExt cx="2630093" cy="1075182"/>
            </a:xfrm>
          </p:grpSpPr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1066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67515" y="3474434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</a:t>
              </a: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MBDKE22026003B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4240-4009</a:t>
              </a:r>
            </a:p>
          </p:txBody>
        </p:sp>
        <p:sp>
          <p:nvSpPr>
            <p:cNvPr id="7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3933132" y="4359933"/>
              <a:ext cx="2482324" cy="162000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7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내역 </a:t>
              </a:r>
              <a:r>
                <a:rPr kumimoji="1" lang="ko-KR" altLang="en-US" sz="700" kern="0" dirty="0"/>
                <a:t>펼쳐보기 ↓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3004764" y="2116980"/>
            <a:ext cx="776938" cy="1131139"/>
            <a:chOff x="3004764" y="2490533"/>
            <a:chExt cx="776938" cy="1131139"/>
          </a:xfrm>
        </p:grpSpPr>
        <p:sp>
          <p:nvSpPr>
            <p:cNvPr id="11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20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23" name="그룹 122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58" name="타원 2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592" y="1691582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78" name="타원 77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9" name="그룹 78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80" name="직선 연결선 79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직선 연결선 80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직선 연결선 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타원 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5" name="그룹 84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양쪽 모서리가 둥근 사각형 87"/>
          <p:cNvSpPr/>
          <p:nvPr/>
        </p:nvSpPr>
        <p:spPr>
          <a:xfrm>
            <a:off x="3793173" y="5041678"/>
            <a:ext cx="2712027" cy="1190621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89" name="모서리가 둥근 직사각형 88"/>
          <p:cNvSpPr/>
          <p:nvPr/>
        </p:nvSpPr>
        <p:spPr>
          <a:xfrm>
            <a:off x="4879186" y="5078305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90" name="그룹 89"/>
          <p:cNvGrpSpPr/>
          <p:nvPr/>
        </p:nvGrpSpPr>
        <p:grpSpPr>
          <a:xfrm>
            <a:off x="6282112" y="5212721"/>
            <a:ext cx="94010" cy="94010"/>
            <a:chOff x="6812560" y="3297172"/>
            <a:chExt cx="94010" cy="94010"/>
          </a:xfrm>
        </p:grpSpPr>
        <p:cxnSp>
          <p:nvCxnSpPr>
            <p:cNvPr id="91" name="직선 연결선 9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직선 연결선 9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2250" y="5193400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latin typeface="+mn-ea"/>
              </a:rPr>
              <a:t> 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3173" y="545480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7" name="모서리가 둥근 직사각형 40">
            <a:extLst>
              <a:ext uri="{FF2B5EF4-FFF2-40B4-BE49-F238E27FC236}">
                <a16:creationId xmlns:a16="http://schemas.microsoft.com/office/drawing/2014/main" id="{3BE5C28A-F0C3-8BA2-3AC1-EFA405ADE137}"/>
              </a:ext>
            </a:extLst>
          </p:cNvPr>
          <p:cNvSpPr/>
          <p:nvPr/>
        </p:nvSpPr>
        <p:spPr bwMode="auto">
          <a:xfrm>
            <a:off x="3885476" y="5576342"/>
            <a:ext cx="2522014" cy="244350"/>
          </a:xfrm>
          <a:prstGeom prst="roundRect">
            <a:avLst/>
          </a:prstGeom>
          <a:solidFill>
            <a:srgbClr val="0F4294"/>
          </a:solidFill>
          <a:ln w="6350">
            <a:solidFill>
              <a:srgbClr val="0F4294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 algn="ctr">
              <a:defRPr/>
            </a:pPr>
            <a:r>
              <a:rPr lang="ko-KR" altLang="en-US" sz="800" dirty="0" err="1" smtClean="0">
                <a:solidFill>
                  <a:schemeClr val="bg1"/>
                </a:solidFill>
                <a:latin typeface="맑은 고딕" panose="020B0503020000020004" pitchFamily="50" charset="-127"/>
              </a:rPr>
              <a:t>품목명세서</a:t>
            </a:r>
            <a:r>
              <a:rPr lang="ko-KR" altLang="en-US" sz="800" dirty="0" smtClean="0">
                <a:solidFill>
                  <a:schemeClr val="bg1"/>
                </a:solidFill>
                <a:latin typeface="맑은 고딕" panose="020B0503020000020004" pitchFamily="50" charset="-127"/>
              </a:rPr>
              <a:t> 출력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01701" y="563376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grpSp>
        <p:nvGrpSpPr>
          <p:cNvPr id="99" name="그룹 9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0" name="직사각형 9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2026-06-29 </a:t>
              </a:r>
              <a:r>
                <a:rPr lang="ko-KR" altLang="en-US" dirty="0" smtClean="0"/>
                <a:t>화면 복원</a:t>
              </a:r>
              <a:endParaRPr lang="ko-KR" altLang="en-US" dirty="0"/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문서 업데이트 과정 중 화면 삭제가 발생하여</a:t>
              </a:r>
              <a:r>
                <a:rPr lang="en-US" altLang="ko-KR" sz="700" dirty="0" smtClean="0"/>
                <a:t>, </a:t>
              </a:r>
              <a:r>
                <a:rPr lang="ko-KR" altLang="en-US" sz="700" dirty="0" smtClean="0"/>
                <a:t>이전 내역을 통해 복구함</a:t>
              </a:r>
              <a:r>
                <a:rPr lang="en-US" altLang="ko-KR" sz="700" dirty="0" smtClean="0"/>
                <a:t>.</a:t>
              </a:r>
              <a:endParaRPr lang="ko-KR" altLang="en-US" sz="700" dirty="0"/>
            </a:p>
          </p:txBody>
        </p:sp>
      </p:grpSp>
      <p:grpSp>
        <p:nvGrpSpPr>
          <p:cNvPr id="102" name="그룹 101"/>
          <p:cNvGrpSpPr/>
          <p:nvPr/>
        </p:nvGrpSpPr>
        <p:grpSpPr>
          <a:xfrm>
            <a:off x="8223250" y="960471"/>
            <a:ext cx="3365500" cy="634511"/>
            <a:chOff x="8223250" y="569392"/>
            <a:chExt cx="3365500" cy="634511"/>
          </a:xfrm>
        </p:grpSpPr>
        <p:sp>
          <p:nvSpPr>
            <p:cNvPr id="103" name="직사각형 10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 smtClean="0"/>
                <a:t>설명 수정</a:t>
              </a:r>
              <a:endParaRPr lang="ko-KR" altLang="en-US" dirty="0"/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재고번호</a:t>
              </a:r>
              <a:r>
                <a:rPr lang="ko-KR" altLang="en-US" sz="700" dirty="0" smtClean="0"/>
                <a:t> 클릭 시 설명을 수정함</a:t>
              </a:r>
              <a:r>
                <a:rPr lang="en-US" altLang="ko-KR" sz="700" dirty="0" smtClean="0"/>
                <a:t>.</a:t>
              </a:r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이동경로는 목록정보조회 </a:t>
              </a:r>
              <a:r>
                <a:rPr lang="en-US" altLang="ko-KR" sz="700" dirty="0" smtClean="0"/>
                <a:t>1</a:t>
              </a:r>
              <a:r>
                <a:rPr lang="ko-KR" altLang="en-US" sz="700" dirty="0" smtClean="0"/>
                <a:t>종으로 함</a:t>
              </a:r>
              <a:r>
                <a:rPr lang="en-US" altLang="ko-KR" sz="700" dirty="0" smtClean="0"/>
                <a:t>.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21126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탭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목록에서 풀 페이지 팝업으로 등록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상세 내용을 표시함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의견등록</a:t>
            </a:r>
            <a:r>
              <a:rPr lang="ko-KR" altLang="en-US" dirty="0"/>
              <a:t> 버튼 클릭 이벤트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등록 팝업 화면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목록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상세 보기 팝업 화면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비공개 정보는 작성자만 접근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비공개 글입니다</a:t>
            </a:r>
            <a:r>
              <a:rPr lang="en-US" altLang="ko-KR" dirty="0"/>
              <a:t>. (</a:t>
            </a:r>
            <a:r>
              <a:rPr lang="ko-KR" altLang="en-US" dirty="0"/>
              <a:t>확인</a:t>
            </a:r>
            <a:r>
              <a:rPr lang="en-US" altLang="ko-KR" dirty="0"/>
              <a:t>) </a:t>
            </a:r>
            <a:r>
              <a:rPr lang="ko-KR" altLang="en-US" dirty="0" err="1"/>
              <a:t>모달</a:t>
            </a:r>
            <a:r>
              <a:rPr lang="ko-KR" altLang="en-US" dirty="0"/>
              <a:t> 팝업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답변 데이터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답변 레이블 추가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답변은 답변 상세 팝업 화면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의견에 대한 답글의 경우 최초 의견 글 바로 아래 답변 표시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탭 목록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sz="800" dirty="0">
                <a:latin typeface="+mn-ea"/>
              </a:rPr>
              <a:t>MUI-OP-01-T06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051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8" name="타원 2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192084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043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6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2836921" y="1937500"/>
            <a:ext cx="494347" cy="162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의견등록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68" name="그룹 67"/>
          <p:cNvGrpSpPr/>
          <p:nvPr/>
        </p:nvGrpSpPr>
        <p:grpSpPr>
          <a:xfrm>
            <a:off x="781460" y="2325977"/>
            <a:ext cx="2473258" cy="821562"/>
            <a:chOff x="781460" y="2610063"/>
            <a:chExt cx="2473258" cy="821562"/>
          </a:xfrm>
        </p:grpSpPr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비공개</a:t>
              </a:r>
              <a:endParaRPr lang="en-US" altLang="ko-KR" sz="700" dirty="0"/>
            </a:p>
            <a:p>
              <a:r>
                <a:rPr lang="ko-KR" altLang="en-US" sz="900" b="1" dirty="0"/>
                <a:t>비공개</a:t>
              </a:r>
            </a:p>
          </p:txBody>
        </p:sp>
        <p:sp>
          <p:nvSpPr>
            <p:cNvPr id="70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1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비공개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비공개</a:t>
              </a:r>
            </a:p>
          </p:txBody>
        </p: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243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6" name="그룹 75"/>
          <p:cNvGrpSpPr/>
          <p:nvPr/>
        </p:nvGrpSpPr>
        <p:grpSpPr>
          <a:xfrm>
            <a:off x="781460" y="3345937"/>
            <a:ext cx="2473258" cy="821562"/>
            <a:chOff x="781460" y="2610063"/>
            <a:chExt cx="2473258" cy="821562"/>
          </a:xfrm>
        </p:grpSpPr>
        <p:sp>
          <p:nvSpPr>
            <p:cNvPr id="7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78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9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778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2" name="그룹 81"/>
          <p:cNvGrpSpPr/>
          <p:nvPr/>
        </p:nvGrpSpPr>
        <p:grpSpPr>
          <a:xfrm>
            <a:off x="781460" y="4421289"/>
            <a:ext cx="2473258" cy="821562"/>
            <a:chOff x="781460" y="2610063"/>
            <a:chExt cx="2473258" cy="821562"/>
          </a:xfrm>
        </p:grpSpPr>
        <p:sp>
          <p:nvSpPr>
            <p:cNvPr id="8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㈜길동주식회사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8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85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86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9066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687418"/>
            <a:ext cx="76863" cy="292489"/>
            <a:chOff x="3750067" y="4683795"/>
            <a:chExt cx="76863" cy="29248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3918450" y="1641327"/>
            <a:ext cx="2473258" cy="821562"/>
            <a:chOff x="781460" y="2610063"/>
            <a:chExt cx="2473258" cy="821562"/>
          </a:xfrm>
        </p:grpSpPr>
        <p:sp>
          <p:nvSpPr>
            <p:cNvPr id="4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47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25831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2" name="그룹 51"/>
          <p:cNvGrpSpPr/>
          <p:nvPr/>
        </p:nvGrpSpPr>
        <p:grpSpPr>
          <a:xfrm>
            <a:off x="4132567" y="2716679"/>
            <a:ext cx="2473258" cy="821562"/>
            <a:chOff x="781460" y="2610063"/>
            <a:chExt cx="2473258" cy="821562"/>
          </a:xfrm>
        </p:grpSpPr>
        <p:sp>
          <p:nvSpPr>
            <p:cNvPr id="5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>
                  <a:solidFill>
                    <a:prstClr val="black"/>
                  </a:solidFill>
                </a:rPr>
                <a:t>㈜</a:t>
              </a:r>
              <a:r>
                <a:rPr lang="ko-KR" altLang="en-US" sz="700" dirty="0" err="1">
                  <a:solidFill>
                    <a:prstClr val="black"/>
                  </a:solidFill>
                </a:rPr>
                <a:t>미래회사</a:t>
              </a:r>
              <a:endParaRPr lang="en-US" altLang="ko-KR" sz="700" dirty="0">
                <a:solidFill>
                  <a:prstClr val="black"/>
                </a:solidFill>
              </a:endParaRPr>
            </a:p>
            <a:p>
              <a:pPr lvl="0"/>
              <a:r>
                <a:rPr lang="ko-KR" altLang="en-US" sz="900" b="1" dirty="0">
                  <a:solidFill>
                    <a:prstClr val="black"/>
                  </a:solidFill>
                </a:rPr>
                <a:t>업체의 의견이 있습니다</a:t>
              </a:r>
              <a:r>
                <a:rPr lang="en-US" altLang="ko-KR" sz="900" b="1" dirty="0">
                  <a:solidFill>
                    <a:prstClr val="black"/>
                  </a:solidFill>
                </a:rPr>
                <a:t>.</a:t>
              </a:r>
              <a:endParaRPr lang="ko-KR" altLang="en-US" sz="900" b="1" dirty="0">
                <a:solidFill>
                  <a:prstClr val="black"/>
                </a:solidFill>
              </a:endParaRPr>
            </a:p>
          </p:txBody>
        </p:sp>
        <p:sp>
          <p:nvSpPr>
            <p:cNvPr id="5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5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82186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1145236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답변</a:t>
              </a:r>
            </a:p>
          </p:txBody>
        </p:sp>
      </p:grp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3681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336" y="317517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27345" y="2683154"/>
            <a:ext cx="76944" cy="1206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 smtClean="0">
                <a:latin typeface="+mn-ea"/>
              </a:rPr>
              <a:t>ㄴ</a:t>
            </a:r>
            <a:endParaRPr lang="en-US" altLang="ko-KR" sz="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1550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상세 타이틀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항목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disable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작성자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disable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작성자 노출 버튼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수정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등록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수정 진입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삭제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삭제 확인 </a:t>
            </a:r>
            <a:r>
              <a:rPr lang="ko-KR" altLang="en-US" dirty="0" err="1">
                <a:sym typeface="Wingdings" panose="05000000000000000000" pitchFamily="2" charset="2"/>
              </a:rPr>
              <a:t>모달</a:t>
            </a:r>
            <a:r>
              <a:rPr lang="ko-KR" altLang="en-US" dirty="0">
                <a:sym typeface="Wingdings" panose="05000000000000000000" pitchFamily="2" charset="2"/>
              </a:rPr>
              <a:t> 팝업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>
                <a:sym typeface="Wingdings" panose="05000000000000000000" pitchFamily="2" charset="2"/>
              </a:rPr>
              <a:t>비작성자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닫기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5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53" name="모서리가 둥근 직사각형 52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5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6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61" name="모서리가 둥근 직사각형 60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88" name="그룹 87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684326" y="5064184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720142" y="5659395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787777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8" y="5787777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3108139" y="576963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155078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67917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167917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166103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524277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017655" y="5524277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6906" y="5524277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0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03" name="모서리가 둥근 직사각형 102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0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공개여부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25" name="모서리가 둥근 직사각형 124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7" name="모서리가 둥근 직사각형 126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grpSp>
        <p:nvGrpSpPr>
          <p:cNvPr id="166" name="그룹 165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수정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69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삭제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70" name="타원 16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57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03269" y="519473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671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0" name="그룹 79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81" name="직선 연결선 8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상세</a:t>
            </a:r>
          </a:p>
        </p:txBody>
      </p:sp>
      <p:grpSp>
        <p:nvGrpSpPr>
          <p:cNvPr id="84" name="그룹 83"/>
          <p:cNvGrpSpPr/>
          <p:nvPr/>
        </p:nvGrpSpPr>
        <p:grpSpPr>
          <a:xfrm>
            <a:off x="3795734" y="6066295"/>
            <a:ext cx="2712027" cy="617588"/>
            <a:chOff x="675399" y="5614711"/>
            <a:chExt cx="2712027" cy="617588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3" name="직사각형 9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9604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9722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업체의견상세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 식별을 위한 의견번호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65388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의견내역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866174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emlAddr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0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95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373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48640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741567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scwin.btn_modify_onclick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업체의견등록 화면으로 이동된다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1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삭제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scwin.btn_delete_onclick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선택한 업체의견 정보가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에서 삭제 처리되고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590A7B4-31D4-047E-80C2-0EC131DD670B}"/>
              </a:ext>
            </a:extLst>
          </p:cNvPr>
          <p:cNvSpPr txBox="1"/>
          <p:nvPr/>
        </p:nvSpPr>
        <p:spPr>
          <a:xfrm>
            <a:off x="452999" y="3706738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37BC10A-9BEA-F81F-EBD8-9DDFBBD6C8E2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919023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0CCFA11-FBDA-DF60-57B0-7832DB50F007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95E64C75-CA34-EF56-A1D2-C49BD4B7A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2456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답변 상세 내용 표시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답변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MUI-OP-01-P08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795734" y="3328139"/>
            <a:ext cx="2712027" cy="1389948"/>
            <a:chOff x="3677672" y="3328139"/>
            <a:chExt cx="2712027" cy="1389948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764419" y="3381713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3805530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담당자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3722763" y="3968238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328139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4308129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3722763" y="4470837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grpSp>
          <p:nvGrpSpPr>
            <p:cNvPr id="88" name="그룹 87"/>
            <p:cNvGrpSpPr/>
            <p:nvPr/>
          </p:nvGrpSpPr>
          <p:grpSpPr>
            <a:xfrm flipV="1">
              <a:off x="6126506" y="3468175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66335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243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답변내역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705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8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26722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89430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3795734" y="1493927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3831550" y="208913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21752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21752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6219547" y="219938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249582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62420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62420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260606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95402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129063" y="195402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38314" y="195402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7679" y="2882845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내용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726023" y="3045553"/>
            <a:ext cx="2610778" cy="1572062"/>
          </a:xfrm>
          <a:prstGeom prst="roundRect">
            <a:avLst>
              <a:gd name="adj" fmla="val 431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t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99531" y="4452031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  <a:latin typeface="맑은 고딕" panose="020B0503020000020004" pitchFamily="50" charset="-127"/>
              </a:rPr>
              <a:t>0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/ 2000</a:t>
            </a:r>
          </a:p>
        </p:txBody>
      </p:sp>
      <p:grpSp>
        <p:nvGrpSpPr>
          <p:cNvPr id="58" name="그룹 5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59" name="직선 연결선 5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답변 상세</a:t>
            </a:r>
          </a:p>
        </p:txBody>
      </p:sp>
      <p:grpSp>
        <p:nvGrpSpPr>
          <p:cNvPr id="55" name="그룹 54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56" name="직사각형 5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3063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31688"/>
            <a:ext cx="17414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답변조회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2891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 식별을 위한 의견번호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답변번호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upQnaNo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답변 식별을 위한 답변번호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5352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900951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답변조회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211323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1390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422783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46F6DC8-5FEA-2EED-D6F1-EFE0AE591EDD}"/>
              </a:ext>
            </a:extLst>
          </p:cNvPr>
          <p:cNvSpPr txBox="1"/>
          <p:nvPr/>
        </p:nvSpPr>
        <p:spPr>
          <a:xfrm>
            <a:off x="452999" y="3354531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CBB55A0-0B20-1CB9-6A0A-6A0B310C71A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5668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33EC2C2-E12D-8494-7B92-58FB79E017E1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D86AA471-07B0-6913-3EF3-4AB656B3A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8543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, </a:t>
            </a:r>
            <a:r>
              <a:rPr lang="ko-KR" altLang="en-US" dirty="0"/>
              <a:t>수정 진입에 따라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내용 필수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작성자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/</a:t>
            </a:r>
            <a:r>
              <a:rPr lang="ko-KR" altLang="en-US" dirty="0"/>
              <a:t>수정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수정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MUI-OP-01-P07</a:t>
            </a:r>
            <a:endParaRPr lang="ko-KR" altLang="en-US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87" name="그룹 86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9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95" name="모서리가 둥근 직사각형 94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9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06" name="모서리가 둥근 직사각형 105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0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0" name="그룹 109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12" name="직선 연결선 11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6" name="그룹 115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26" name="직선 연결선 12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직선 연결선 12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 </a:t>
            </a:r>
            <a:r>
              <a:rPr lang="en-US" altLang="ko-KR" sz="700" dirty="0">
                <a:solidFill>
                  <a:srgbClr val="FF0000"/>
                </a:solidFill>
              </a:rPr>
              <a:t>*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34" name="그룹 133"/>
          <p:cNvGrpSpPr/>
          <p:nvPr/>
        </p:nvGrpSpPr>
        <p:grpSpPr>
          <a:xfrm>
            <a:off x="684326" y="4960279"/>
            <a:ext cx="2712027" cy="347855"/>
            <a:chOff x="3831550" y="3745666"/>
            <a:chExt cx="2712027" cy="347855"/>
          </a:xfrm>
        </p:grpSpPr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6" name="그룹 155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73" name="그룹 172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75" name="모서리가 둥근 직사각형 174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7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공개여부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77" name="그룹 176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79" name="모서리가 둥근 직사각형 178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80" name="모서리가 둥근 직사각형 179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sp>
        <p:nvSpPr>
          <p:cNvPr id="183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04972" y="5384101"/>
            <a:ext cx="2652743" cy="207774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파일추가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185" name="그룹 184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저장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8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8438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751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705041" y="5712463"/>
            <a:ext cx="2652743" cy="499604"/>
            <a:chOff x="713968" y="6113949"/>
            <a:chExt cx="2652743" cy="499604"/>
          </a:xfrm>
        </p:grpSpPr>
        <p:sp>
          <p:nvSpPr>
            <p:cNvPr id="194" name="모서리가 둥근 직사각형 193"/>
            <p:cNvSpPr/>
            <p:nvPr/>
          </p:nvSpPr>
          <p:spPr>
            <a:xfrm>
              <a:off x="713968" y="6249067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377449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2164" y="6377449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113949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36458" y="6113949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삭제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0732" y="6113949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956879" y="6343762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07" name="그룹 206"/>
          <p:cNvGrpSpPr/>
          <p:nvPr/>
        </p:nvGrpSpPr>
        <p:grpSpPr>
          <a:xfrm>
            <a:off x="3831550" y="1591273"/>
            <a:ext cx="2652743" cy="364486"/>
            <a:chOff x="3421101" y="64023"/>
            <a:chExt cx="2652743" cy="364486"/>
          </a:xfrm>
        </p:grpSpPr>
        <p:sp>
          <p:nvSpPr>
            <p:cNvPr id="208" name="모서리가 둥근 직사각형 207"/>
            <p:cNvSpPr/>
            <p:nvPr/>
          </p:nvSpPr>
          <p:spPr>
            <a:xfrm>
              <a:off x="3421101" y="64023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1769" y="192405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499297" y="192405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21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5637130" y="168824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15" name="타원 2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05929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88" name="그룹 8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89" name="직선 연결선 8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직선 연결선 8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등록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수정</a:t>
            </a:r>
          </a:p>
        </p:txBody>
      </p:sp>
      <p:grpSp>
        <p:nvGrpSpPr>
          <p:cNvPr id="82" name="그룹 81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3" name="직사각형 8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/>
                <a:t>파일 업로드에서 파일 다운로드 기능 제거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15516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9722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의견내역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55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366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0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emlAddr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211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218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842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9916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36329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259659"/>
              </p:ext>
            </p:extLst>
          </p:nvPr>
        </p:nvGraphicFramePr>
        <p:xfrm>
          <a:off x="453000" y="3878583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업체명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사업자번호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성명이 로그인 사용자의 정보로 공개여부는 </a:t>
                      </a:r>
                      <a:r>
                        <a:rPr lang="en-US" altLang="ko-KR" sz="800" dirty="0"/>
                        <a:t>‘</a:t>
                      </a:r>
                      <a:r>
                        <a:rPr lang="ko-KR" altLang="en-US" sz="800" dirty="0"/>
                        <a:t>공개</a:t>
                      </a:r>
                      <a:r>
                        <a:rPr lang="en-US" altLang="ko-KR" sz="800" dirty="0"/>
                        <a:t>’</a:t>
                      </a:r>
                      <a:r>
                        <a:rPr lang="ko-KR" altLang="en-US" sz="800" dirty="0"/>
                        <a:t>로 디폴트 세팅한다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저장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scwin.btn_save_onclick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필수입력 값을 체크하고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값이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에 저장된다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취소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입력된 정보가 저장되지 않고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8EA7005-D8B1-8380-2FE3-D385D906687C}"/>
              </a:ext>
            </a:extLst>
          </p:cNvPr>
          <p:cNvSpPr txBox="1"/>
          <p:nvPr/>
        </p:nvSpPr>
        <p:spPr>
          <a:xfrm>
            <a:off x="452999" y="2838093"/>
            <a:ext cx="19642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2BA1D5C-3E53-4F03-7DBF-D7F41AFB17FB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050378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635AA1F-881E-3993-C54A-FCB9D374B6B2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8" name="Text Box 73">
            <a:extLst>
              <a:ext uri="{FF2B5EF4-FFF2-40B4-BE49-F238E27FC236}">
                <a16:creationId xmlns:a16="http://schemas.microsoft.com/office/drawing/2014/main" id="{410120E1-8E07-BB54-AE26-D7EE609BB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87576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계약특수조건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계약특수조건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/>
              <a:t>계약특수조건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계약특수조건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MUI-OP-01-T07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계약특수조건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0621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0331" y="1835482"/>
            <a:ext cx="25326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1498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1306134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첨부파일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첨부파일명</a:t>
            </a:r>
            <a:r>
              <a:rPr lang="ko-KR" altLang="en-US" dirty="0"/>
              <a:t> 클릭 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뷰어로 문서 열기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다운로드 버튼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즉시 다운로드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조달판단</a:t>
            </a:r>
            <a:r>
              <a:rPr lang="ko-KR" altLang="en-US" dirty="0"/>
              <a:t> 첨부파일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첨부파일명</a:t>
            </a:r>
            <a:r>
              <a:rPr lang="ko-KR" altLang="en-US" dirty="0"/>
              <a:t> 클릭 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뷰어로 문서 열기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첨부서류</a:t>
            </a:r>
            <a:r>
              <a:rPr lang="ko-KR" altLang="en-US" dirty="0"/>
              <a:t>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MUI-OP-01-T08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첨부서류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149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1867758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집행계획 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18021" y="22661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3945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3945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23" name="타원 22"/>
          <p:cNvSpPr/>
          <p:nvPr/>
        </p:nvSpPr>
        <p:spPr>
          <a:xfrm>
            <a:off x="3078140" y="23763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8021" y="2672830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801212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801212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27" name="타원 26"/>
          <p:cNvSpPr/>
          <p:nvPr/>
        </p:nvSpPr>
        <p:spPr>
          <a:xfrm>
            <a:off x="3078140" y="278307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131026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2131026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2131026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49090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3543672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조달판단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718021" y="394205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407044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3.hwp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407044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39" name="타원 38"/>
          <p:cNvSpPr/>
          <p:nvPr/>
        </p:nvSpPr>
        <p:spPr>
          <a:xfrm>
            <a:off x="3078140" y="405230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718021" y="43487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44771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4.pdf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44771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43" name="타원 42"/>
          <p:cNvSpPr/>
          <p:nvPr/>
        </p:nvSpPr>
        <p:spPr>
          <a:xfrm>
            <a:off x="3078140" y="44589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380694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380694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380694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57586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6677232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연관조달계획상세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입찰공고 </a:t>
            </a:r>
            <a:r>
              <a:rPr lang="ko-KR" altLang="en-US" dirty="0" err="1"/>
              <a:t>알림신청</a:t>
            </a:r>
            <a:r>
              <a:rPr lang="ko-KR" altLang="en-US" dirty="0"/>
              <a:t> 팝업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수신자 휴대폰 번호 입력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수신동의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 err="1"/>
              <a:t>동의안함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연관조달계획상세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조달계획 외 업무 상세화면에서 연관 된 조달계획 정보를 조회한다</a:t>
            </a:r>
            <a:r>
              <a:rPr lang="en-US" altLang="ko-KR" dirty="0"/>
              <a:t>.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연관조달계획상세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MUI-OP-01-P12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연관조달계획상세</a:t>
            </a: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noProof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9" name="그룹 58"/>
          <p:cNvGrpSpPr/>
          <p:nvPr/>
        </p:nvGrpSpPr>
        <p:grpSpPr>
          <a:xfrm>
            <a:off x="701175" y="2164074"/>
            <a:ext cx="2642526" cy="2246477"/>
            <a:chOff x="701175" y="1527996"/>
            <a:chExt cx="2642526" cy="224647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703268" y="1835481"/>
              <a:ext cx="792000" cy="1932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총공사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당해년도예산금액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grpSp>
          <p:nvGrpSpPr>
            <p:cNvPr id="65" name="그룹 64"/>
            <p:cNvGrpSpPr/>
            <p:nvPr/>
          </p:nvGrpSpPr>
          <p:grpSpPr>
            <a:xfrm>
              <a:off x="701175" y="1835481"/>
              <a:ext cx="2630093" cy="1932660"/>
              <a:chOff x="701175" y="1835481"/>
              <a:chExt cx="2630093" cy="1932660"/>
            </a:xfrm>
          </p:grpSpPr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78" name="그룹 77"/>
          <p:cNvGrpSpPr/>
          <p:nvPr/>
        </p:nvGrpSpPr>
        <p:grpSpPr>
          <a:xfrm>
            <a:off x="3830484" y="2164074"/>
            <a:ext cx="2642526" cy="3323695"/>
            <a:chOff x="3830484" y="1527996"/>
            <a:chExt cx="2642526" cy="3323695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455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판단내역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3832577" y="1835481"/>
              <a:ext cx="792000" cy="30148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9640" y="1835481"/>
              <a:ext cx="725552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사전심사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낙찰자결정방법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적격심사 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입찰예정일자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공동도급이행방식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입찰형태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공사개요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규모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수의계약사유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지명경쟁사유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낙찰자기준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6489" y="1835481"/>
              <a:ext cx="1796521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일반경쟁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총액제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2026-08-01 ~ 2027-09-30</a:t>
              </a:r>
            </a:p>
            <a:p>
              <a:pPr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비대상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적격심사제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2026-03-05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전자입찰</a:t>
              </a:r>
              <a:endParaRPr lang="en-US" altLang="ko-KR" sz="700" dirty="0">
                <a:latin typeface="+mn-ea"/>
              </a:endParaRPr>
            </a:p>
            <a:p>
              <a:pPr lvl="0">
                <a:lnSpc>
                  <a:spcPct val="200000"/>
                </a:lnSpc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25-19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차 병영기본시설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연차별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예산조정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9972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1915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439945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6141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84350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3128534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41213"/>
            <a:ext cx="201233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조달계획상세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24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721974"/>
            <a:ext cx="23698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조달계획상세</a:t>
            </a:r>
            <a:r>
              <a:rPr lang="en-US" altLang="ko-KR" sz="900" b="1" dirty="0">
                <a:solidFill>
                  <a:prstClr val="black"/>
                </a:solidFill>
              </a:rPr>
              <a:t> Tab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934259"/>
          <a:ext cx="8994883" cy="1529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상세내용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prcmPlanTab02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일 경우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Tab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prcmPlanTab04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7D2EA7-FA76-1242-ED18-8094C5CB24E1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(1/6)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32708897-3D4D-D0B9-A485-B33C34D0F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68214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845132"/>
            <a:ext cx="254132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물품</a:t>
            </a:r>
            <a:r>
              <a:rPr lang="en-US" altLang="ko-KR" sz="900" b="1" dirty="0">
                <a:solidFill>
                  <a:prstClr val="black"/>
                </a:solidFill>
              </a:rPr>
              <a:t>/</a:t>
            </a:r>
            <a:r>
              <a:rPr lang="ko-KR" altLang="en-US" sz="900" b="1" dirty="0">
                <a:solidFill>
                  <a:prstClr val="black"/>
                </a:solidFill>
              </a:rPr>
              <a:t>용역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57417"/>
          <a:ext cx="8994883" cy="3734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집행유형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집행유형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0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totQty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95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rprsItemNm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3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118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bscbgtDrctnAmt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govbndDrctnAmt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ltrmBscbgtAmt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ltrmCashAmt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현금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sumAmt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총부기금액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sumAmt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총부기금액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nycfmAmt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BA5A517-4417-A886-1EA5-ED609C2C8EFE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(2/6)</a:t>
            </a:r>
            <a:endParaRPr lang="ko-KR" altLang="en-US" sz="1000" b="1" dirty="0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39688B5F-FD10-CEF8-CFEA-568924ED4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5120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BD63C0-AC03-EB83-C1E2-9D57F70E192C}"/>
              </a:ext>
            </a:extLst>
          </p:cNvPr>
          <p:cNvSpPr txBox="1"/>
          <p:nvPr/>
        </p:nvSpPr>
        <p:spPr>
          <a:xfrm>
            <a:off x="452999" y="848658"/>
            <a:ext cx="251247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판단정보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물품</a:t>
            </a:r>
            <a:r>
              <a:rPr lang="en-US" altLang="ko-KR" sz="900" b="1" dirty="0">
                <a:solidFill>
                  <a:prstClr val="black"/>
                </a:solidFill>
              </a:rPr>
              <a:t>/</a:t>
            </a:r>
            <a:r>
              <a:rPr lang="ko-KR" altLang="en-US" sz="900" b="1" dirty="0">
                <a:solidFill>
                  <a:prstClr val="black"/>
                </a:solidFill>
              </a:rPr>
              <a:t>용역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B1F1932-DBD1-4911-F4FE-E778F5BF43B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60943"/>
          <a:ext cx="8994883" cy="3928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단가제유형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단가제유형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BTUP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071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955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scsbdMthdCd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CCMT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50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elgbSrngYn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비대상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65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bidPrnmntYmd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353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품목코드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434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BMDC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2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계약여부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wsccYn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계약여부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558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계약체결업체수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wsccCnclsBzentyCnt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계약체결업체수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646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 기준서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pccsNo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 기준서 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국내한도액 계약여부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lmtamtCtrtYn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국내한도액 계약여부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9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생산능력확인 소요기간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prdcpIdntyDayCnt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생산능력확인 소요기간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10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pvctRncd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73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cncmRncd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18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산업분류번호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1,2….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산업분류번호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1,2….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958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종합판단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prcmJdgmtCn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종합판단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042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902108-3590-6ECB-C901-60D956D731D8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(3/6)</a:t>
            </a:r>
            <a:endParaRPr lang="ko-KR" altLang="en-US" sz="1000" b="1" dirty="0"/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7E3594D6-2C11-183F-7566-C46C6511D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40698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829343"/>
            <a:ext cx="225919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공사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618E693-C8E6-B945-230E-F1196BB32628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50337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CBDV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819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총공사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총공사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9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tcstrnBgtAmt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082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1514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F3B21E-8F93-D0CA-9FF6-0980C181D5F7}"/>
              </a:ext>
            </a:extLst>
          </p:cNvPr>
          <p:cNvSpPr txBox="1"/>
          <p:nvPr/>
        </p:nvSpPr>
        <p:spPr>
          <a:xfrm>
            <a:off x="452999" y="2868044"/>
            <a:ext cx="22303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</a:t>
            </a:r>
            <a:r>
              <a:rPr lang="ko-KR" altLang="en-US" sz="900" b="1" dirty="0">
                <a:solidFill>
                  <a:prstClr val="black"/>
                </a:solidFill>
              </a:rPr>
              <a:t>판단정보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공사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BA82FD-0A95-B67B-A3E5-5BBC2B31AAB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080329"/>
          <a:ext cx="8994883" cy="3152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cstrnPrdCn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398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사전심사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bfhdSrngEnfrcYn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사전심사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098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scsbdMthdCd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CCMT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50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elgbSrngEnfrcYn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비대상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65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bidPrnmntYmd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353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공동도급 이행방식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jsdShcd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공동도급 이행방식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CMCT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563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bidMediaCd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BMDC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2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공사개요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cstrnOtln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공사개요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694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cstrnSclNm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규모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56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pvctRncd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PCRC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73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cncmRncd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NCRC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18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낙찰자기준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scbdrCrtrCd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낙찰자기준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SBDD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817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B415AD-5931-5FCC-426F-82B0ADDA8D0E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(4/6)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0EF305F3-E3AB-D5D2-9CCE-71BB50D44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65971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2999" y="834955"/>
            <a:ext cx="19963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1.7.  </a:t>
            </a:r>
            <a:r>
              <a:rPr lang="ko-KR" altLang="en-US" sz="900" b="1" dirty="0">
                <a:solidFill>
                  <a:prstClr val="black"/>
                </a:solidFill>
              </a:rPr>
              <a:t>연관정보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7240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사전규격 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비공개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1162C9-A064-C7F2-1BA1-EF42BC6ADFD7}"/>
              </a:ext>
            </a:extLst>
          </p:cNvPr>
          <p:cNvSpPr txBox="1"/>
          <p:nvPr/>
        </p:nvSpPr>
        <p:spPr>
          <a:xfrm>
            <a:off x="452999" y="1493779"/>
            <a:ext cx="18808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1.8.  </a:t>
            </a:r>
            <a:r>
              <a:rPr lang="ko-KR" altLang="en-US" sz="900" b="1" dirty="0">
                <a:solidFill>
                  <a:prstClr val="black"/>
                </a:solidFill>
              </a:rPr>
              <a:t>문의처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91BC4AC-DB76-7B25-98E5-CDDE2AE31B0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706064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E04CDB-614D-496A-10F6-C7C2DC7DEEDE}"/>
              </a:ext>
            </a:extLst>
          </p:cNvPr>
          <p:cNvSpPr txBox="1"/>
          <p:nvPr/>
        </p:nvSpPr>
        <p:spPr>
          <a:xfrm>
            <a:off x="452999" y="2352429"/>
            <a:ext cx="232331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1.9. </a:t>
            </a:r>
            <a:r>
              <a:rPr lang="ko-KR" altLang="en-US" sz="900" b="1" dirty="0">
                <a:solidFill>
                  <a:prstClr val="black"/>
                </a:solidFill>
              </a:rPr>
              <a:t>물품명세서 목록 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EFD2BC0-54DE-7319-800C-6A808F38FAF8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64714"/>
          <a:ext cx="8994883" cy="3684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 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물품명세서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clsfNo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464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spcfctRlsYn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규격공개여부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47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108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fscNtnItemNo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32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097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29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도면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flrplnPrtsNo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도면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34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품보형태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품보형태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1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spcfctKndCd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규격종류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ITC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97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CSC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061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KB/UZ03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7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676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plcdlv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568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-mm-dd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61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963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87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278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F2989C-D820-ACF8-2AD0-70C7299014C8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(5/6)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7142690F-B071-AAFD-EF62-CA84D0A4C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60789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08815-8EE4-0FCA-9892-7A6DE8515D84}"/>
              </a:ext>
            </a:extLst>
          </p:cNvPr>
          <p:cNvSpPr txBox="1"/>
          <p:nvPr/>
        </p:nvSpPr>
        <p:spPr>
          <a:xfrm>
            <a:off x="452999" y="829065"/>
            <a:ext cx="18488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1.10. </a:t>
            </a:r>
            <a:r>
              <a:rPr lang="ko-KR" altLang="en-US" sz="900" b="1" dirty="0">
                <a:solidFill>
                  <a:prstClr val="black"/>
                </a:solidFill>
              </a:rPr>
              <a:t>업체의견 목록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36C8A5D-6982-191F-50C1-D48C5827A1D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1350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업체의견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비공개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745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777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596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입력일시</a:t>
                      </a:r>
                      <a:r>
                        <a:rPr lang="ko-KR" altLang="en-US" sz="800" dirty="0" err="1">
                          <a:latin typeface="+mn-ea"/>
                        </a:rPr>
                        <a:t>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hh24:mi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0710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716654A-8BE7-EF1E-FE8A-E6270A78B259}"/>
              </a:ext>
            </a:extLst>
          </p:cNvPr>
          <p:cNvSpPr txBox="1"/>
          <p:nvPr/>
        </p:nvSpPr>
        <p:spPr>
          <a:xfrm>
            <a:off x="452999" y="2473796"/>
            <a:ext cx="2235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1.11. </a:t>
            </a:r>
            <a:r>
              <a:rPr lang="ko-KR" altLang="en-US" sz="900" b="1" dirty="0">
                <a:solidFill>
                  <a:prstClr val="black"/>
                </a:solidFill>
              </a:rPr>
              <a:t>계약특수조건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836160C-3887-8039-514B-886F4BE49EC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686081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spclCndCn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71E34E-AB5A-E4AA-F8CF-2EDBCFF0DEB1}"/>
              </a:ext>
            </a:extLst>
          </p:cNvPr>
          <p:cNvSpPr txBox="1"/>
          <p:nvPr/>
        </p:nvSpPr>
        <p:spPr>
          <a:xfrm>
            <a:off x="452999" y="3148927"/>
            <a:ext cx="24659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1.12.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 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95DC659-A524-0804-CE04-45AFD82631C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361212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planDocId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AF186FE-361F-CB10-F3F6-B3C0DA0D921B}"/>
              </a:ext>
            </a:extLst>
          </p:cNvPr>
          <p:cNvSpPr txBox="1"/>
          <p:nvPr/>
        </p:nvSpPr>
        <p:spPr>
          <a:xfrm>
            <a:off x="452999" y="3833583"/>
            <a:ext cx="24659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1.13. </a:t>
            </a:r>
            <a:r>
              <a:rPr lang="ko-KR" altLang="en-US" sz="900" b="1" dirty="0">
                <a:solidFill>
                  <a:prstClr val="black"/>
                </a:solidFill>
              </a:rPr>
              <a:t>조달판단 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E0F7BD8-19B6-4CCF-2441-49654499FE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045868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jdgDocId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C6506A8-9BA1-9E77-054B-86C8C1919269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(6/6)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1EAC61B7-09D5-64FC-19B1-BFD45119A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70415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50986-444A-3C87-3626-6E69412E202F}"/>
              </a:ext>
            </a:extLst>
          </p:cNvPr>
          <p:cNvSpPr txBox="1"/>
          <p:nvPr/>
        </p:nvSpPr>
        <p:spPr>
          <a:xfrm>
            <a:off x="458117" y="58166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467577"/>
              </p:ext>
            </p:extLst>
          </p:nvPr>
        </p:nvGraphicFramePr>
        <p:xfrm>
          <a:off x="453000" y="846360"/>
          <a:ext cx="8995591" cy="3036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scwin.btn_notiAply_onclick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하단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입찰공고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서비스 안내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정보가 표출된다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4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err="1"/>
                        <a:t>물가조가서</a:t>
                      </a:r>
                      <a:r>
                        <a:rPr lang="ko-KR" altLang="en-US" sz="800" dirty="0"/>
                        <a:t>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scwin.btn_pricsExmnPrint_onclick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물가조사서가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(UI-OP-01-R09)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물가조사서출력물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624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연관정보 사전규격 링크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scwin.btn_anlBfhdSpcfct_onclick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사전규격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189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신청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scwin.btn_aply_onclick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알림서비스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안내 수신동의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를 체크한 후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알림신청이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저장된다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scwin.btn_itemDtstPrint_onclick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품목명세서가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(UI-OP-01-R10)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품목명세서출력물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818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의견등록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scwin.btn_opnnReg_onclick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업체의견 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업체의견목록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scwin.grd_opnnDtl_onclick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732504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CAD4002-DE63-FE39-E878-539FF0340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885024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3821510" y="1845382"/>
            <a:ext cx="2660475" cy="1746642"/>
            <a:chOff x="3799186" y="2742738"/>
            <a:chExt cx="2660475" cy="1746642"/>
          </a:xfrm>
        </p:grpSpPr>
        <p:sp>
          <p:nvSpPr>
            <p:cNvPr id="157" name="직사각형 156"/>
            <p:cNvSpPr/>
            <p:nvPr/>
          </p:nvSpPr>
          <p:spPr>
            <a:xfrm>
              <a:off x="3801279" y="2742738"/>
              <a:ext cx="792000" cy="17466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9186" y="274273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8343" y="2742738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시작일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종료일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 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5191" y="2742738"/>
              <a:ext cx="18144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99001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화력총괄계약팀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2026-03-10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2026-06-10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297384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18755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40125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6149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8286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0423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25608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4893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발주기관 규격서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사전규격</a:t>
            </a:r>
            <a:r>
              <a:rPr lang="ko-KR" altLang="en-US" dirty="0"/>
              <a:t> </a:t>
            </a:r>
            <a:r>
              <a:rPr lang="ko-KR" altLang="en-US" dirty="0" err="1"/>
              <a:t>연관정보</a:t>
            </a:r>
            <a:r>
              <a:rPr lang="ko-KR" altLang="en-US" dirty="0"/>
              <a:t>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조달계획번호 영역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MUI-OP-01-P12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연관조달계획 팝업 호출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사전규격상세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70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78338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588487"/>
            <a:ext cx="2473257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 dirty="0" err="1"/>
              <a:t>판단번호</a:t>
            </a:r>
            <a:r>
              <a:rPr lang="ko-KR" altLang="en-US" sz="600" dirty="0"/>
              <a:t> </a:t>
            </a:r>
            <a:r>
              <a:rPr lang="en-US" altLang="ko-KR" sz="600" dirty="0"/>
              <a:t>99001</a:t>
            </a:r>
          </a:p>
          <a:p>
            <a:r>
              <a:rPr lang="ko-KR" altLang="en-US" sz="900" b="1" dirty="0" err="1"/>
              <a:t>공마대</a:t>
            </a:r>
            <a:r>
              <a:rPr lang="ko-KR" altLang="en-US" sz="900" b="1" dirty="0"/>
              <a:t> 등 </a:t>
            </a:r>
            <a:r>
              <a:rPr lang="en-US" altLang="ko-KR" sz="900" b="1" dirty="0"/>
              <a:t>41</a:t>
            </a:r>
            <a:r>
              <a:rPr lang="ko-KR" altLang="en-US" sz="900" b="1" dirty="0"/>
              <a:t>종 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923552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공개일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접수기간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328890" y="2908163"/>
            <a:ext cx="904094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  <a:r>
              <a:rPr lang="ko-KR" altLang="en-US" sz="600" dirty="0">
                <a:latin typeface="+mn-ea"/>
              </a:rPr>
              <a:t> </a:t>
            </a:r>
            <a:r>
              <a:rPr lang="en-US" altLang="ko-KR" sz="600" dirty="0">
                <a:latin typeface="+mn-ea"/>
              </a:rPr>
              <a:t>~ 2026-02-12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404156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40415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9426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387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9763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40077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408972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829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42168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421685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60915" y="4421685"/>
            <a:ext cx="39616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첨부파일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829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38356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744623"/>
            <a:ext cx="122357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 규격서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857954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5139191"/>
            <a:ext cx="792000" cy="1530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13919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5139191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예산액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종료일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5139191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99001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2026-03-10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2026-06-10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홍길동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7029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8400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9771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01141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2512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43883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65253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0013" y="3762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849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737786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707426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66730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7074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737786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737786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667307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7074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707426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667307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667307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</p:grp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504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510614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67703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2693942" y="2387748"/>
            <a:ext cx="539042" cy="144000"/>
            <a:chOff x="2380968" y="1957671"/>
            <a:chExt cx="539042" cy="144000"/>
          </a:xfrm>
        </p:grpSpPr>
        <p:sp>
          <p:nvSpPr>
            <p:cNvPr id="171" name="타원 170"/>
            <p:cNvSpPr/>
            <p:nvPr/>
          </p:nvSpPr>
          <p:spPr>
            <a:xfrm>
              <a:off x="2380968" y="1957671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모서리가 둥근 직사각형 171"/>
            <p:cNvSpPr/>
            <p:nvPr/>
          </p:nvSpPr>
          <p:spPr>
            <a:xfrm>
              <a:off x="2524968" y="1974079"/>
              <a:ext cx="395042" cy="119400"/>
            </a:xfrm>
            <a:prstGeom prst="roundRect">
              <a:avLst>
                <a:gd name="adj" fmla="val 23409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>
                  <a:solidFill>
                    <a:schemeClr val="dk1"/>
                  </a:solidFill>
                </a:rPr>
                <a:t>알림신청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3827360" y="1595393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업체의견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61565" y="2255927"/>
              <a:ext cx="39616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8079" y="3706268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연관정보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67" name="그룹 166"/>
          <p:cNvGrpSpPr/>
          <p:nvPr/>
        </p:nvGrpSpPr>
        <p:grpSpPr>
          <a:xfrm flipV="1">
            <a:off x="6240166" y="3819599"/>
            <a:ext cx="94010" cy="47005"/>
            <a:chOff x="6812560" y="3297172"/>
            <a:chExt cx="94010" cy="47005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직선 연결선 16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65771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73" name="그룹 172"/>
          <p:cNvGrpSpPr/>
          <p:nvPr/>
        </p:nvGrpSpPr>
        <p:grpSpPr>
          <a:xfrm>
            <a:off x="3825376" y="4113317"/>
            <a:ext cx="2652743" cy="480718"/>
            <a:chOff x="722176" y="1896864"/>
            <a:chExt cx="2652743" cy="480718"/>
          </a:xfrm>
        </p:grpSpPr>
        <p:sp>
          <p:nvSpPr>
            <p:cNvPr id="174" name="모서리가 둥근 직사각형 173"/>
            <p:cNvSpPr/>
            <p:nvPr/>
          </p:nvSpPr>
          <p:spPr>
            <a:xfrm>
              <a:off x="722176" y="2031982"/>
              <a:ext cx="2652743" cy="34560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3084" y="2150921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1013612">
                <a:defRPr/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[#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조달계획번호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]</a:t>
              </a:r>
            </a:p>
          </p:txBody>
        </p:sp>
        <p:sp>
          <p:nvSpPr>
            <p:cNvPr id="194" name="타원 193"/>
            <p:cNvSpPr/>
            <p:nvPr/>
          </p:nvSpPr>
          <p:spPr>
            <a:xfrm>
              <a:off x="3082295" y="213278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894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조달계획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5897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보기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9996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05658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스크롤 시 표시 영역 상단 달라붙음 처리 </a:t>
            </a:r>
            <a:r>
              <a:rPr lang="en-US" altLang="ko-KR" sz="700" dirty="0"/>
              <a:t>(sticky)</a:t>
            </a:r>
            <a:endParaRPr lang="ko-KR" altLang="en-US" sz="900" b="1" dirty="0"/>
          </a:p>
        </p:txBody>
      </p:sp>
      <p:sp>
        <p:nvSpPr>
          <p:cNvPr id="152" name="평행 사변형 151"/>
          <p:cNvSpPr/>
          <p:nvPr/>
        </p:nvSpPr>
        <p:spPr>
          <a:xfrm rot="16200000" flipH="1">
            <a:off x="2019400" y="2861955"/>
            <a:ext cx="3144365" cy="408308"/>
          </a:xfrm>
          <a:prstGeom prst="parallelogram">
            <a:avLst>
              <a:gd name="adj" fmla="val 6828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4" name="그룹 143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 err="1">
                  <a:latin typeface="+mn-ea"/>
                </a:rPr>
                <a:t>사전규격</a:t>
              </a:r>
              <a:r>
                <a:rPr lang="ko-KR" altLang="en-US" sz="800" dirty="0">
                  <a:latin typeface="+mn-ea"/>
                </a:rPr>
                <a:t> 상세</a:t>
              </a:r>
            </a:p>
          </p:txBody>
        </p: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7" name="그룹 146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76" name="직선 연결선 17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그룹 147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49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3" name="타원 152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4" name="타원 153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" name="타원 174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43143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729199" y="3874325"/>
            <a:ext cx="2660475" cy="1746642"/>
            <a:chOff x="3799186" y="2742738"/>
            <a:chExt cx="2660475" cy="1746642"/>
          </a:xfrm>
        </p:grpSpPr>
        <p:sp>
          <p:nvSpPr>
            <p:cNvPr id="157" name="직사각형 156"/>
            <p:cNvSpPr/>
            <p:nvPr/>
          </p:nvSpPr>
          <p:spPr>
            <a:xfrm>
              <a:off x="3801279" y="2742738"/>
              <a:ext cx="792000" cy="17466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9186" y="274273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8343" y="2742738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시작일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종료일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 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5191" y="2742738"/>
              <a:ext cx="18144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99001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화력총괄계약팀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2026-03-10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2026-06-10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297384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18755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40125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6149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8286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0423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25608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4893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발주기관 규격서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사전규격</a:t>
            </a:r>
            <a:r>
              <a:rPr lang="ko-KR" altLang="en-US" dirty="0"/>
              <a:t> </a:t>
            </a:r>
            <a:r>
              <a:rPr lang="ko-KR" altLang="en-US" dirty="0" err="1"/>
              <a:t>연관정보</a:t>
            </a:r>
            <a:r>
              <a:rPr lang="ko-KR" altLang="en-US" dirty="0"/>
              <a:t>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조달계획번호 영역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MUI-OP-01-P12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연관조달계획 팝업 호출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MUI-OP-01-T09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00269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760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4099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64099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60915" y="1640993"/>
            <a:ext cx="39616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첨부파일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760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60287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63931"/>
            <a:ext cx="122357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 규격서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7726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358499"/>
            <a:ext cx="792000" cy="1530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35849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358499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예산액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종료일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358499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99001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2026-03-10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2026-06-10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홍길동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58960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80331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0170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23072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4444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6581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8718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0013" y="20061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504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510614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3423" y="570597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" name="그룹 4"/>
          <p:cNvGrpSpPr/>
          <p:nvPr/>
        </p:nvGrpSpPr>
        <p:grpSpPr>
          <a:xfrm>
            <a:off x="3827360" y="1595393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업체의견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61565" y="2255927"/>
              <a:ext cx="39616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8079" y="1950368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연관정보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67" name="그룹 166"/>
          <p:cNvGrpSpPr/>
          <p:nvPr/>
        </p:nvGrpSpPr>
        <p:grpSpPr>
          <a:xfrm flipV="1">
            <a:off x="6240166" y="2063699"/>
            <a:ext cx="94010" cy="47005"/>
            <a:chOff x="6812560" y="3297172"/>
            <a:chExt cx="94010" cy="47005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직선 연결선 16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90181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73" name="그룹 172"/>
          <p:cNvGrpSpPr/>
          <p:nvPr/>
        </p:nvGrpSpPr>
        <p:grpSpPr>
          <a:xfrm>
            <a:off x="3825376" y="2357417"/>
            <a:ext cx="2652743" cy="480718"/>
            <a:chOff x="722176" y="1896864"/>
            <a:chExt cx="2652743" cy="480718"/>
          </a:xfrm>
        </p:grpSpPr>
        <p:sp>
          <p:nvSpPr>
            <p:cNvPr id="174" name="모서리가 둥근 직사각형 173"/>
            <p:cNvSpPr/>
            <p:nvPr/>
          </p:nvSpPr>
          <p:spPr>
            <a:xfrm>
              <a:off x="722176" y="2031982"/>
              <a:ext cx="2652743" cy="34560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3084" y="2150921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1013612">
                <a:defRPr/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[#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조달계획번호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]</a:t>
              </a:r>
            </a:p>
          </p:txBody>
        </p:sp>
        <p:sp>
          <p:nvSpPr>
            <p:cNvPr id="194" name="타원 193"/>
            <p:cNvSpPr/>
            <p:nvPr/>
          </p:nvSpPr>
          <p:spPr>
            <a:xfrm>
              <a:off x="3082295" y="213278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894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조달계획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5897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보기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24375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7589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0561909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탭 목록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MUI-OP-01-T10</a:t>
            </a:r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49" name="그룹 48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50" name="직선 연결선 4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3" name="타원 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051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192084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043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5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2836921" y="1937500"/>
            <a:ext cx="494347" cy="162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의견등록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781460" y="2325977"/>
            <a:ext cx="2473258" cy="821562"/>
            <a:chOff x="781460" y="2610063"/>
            <a:chExt cx="2473258" cy="821562"/>
          </a:xfrm>
        </p:grpSpPr>
        <p:sp>
          <p:nvSpPr>
            <p:cNvPr id="6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비공개</a:t>
              </a:r>
              <a:endParaRPr lang="en-US" altLang="ko-KR" sz="700" dirty="0"/>
            </a:p>
            <a:p>
              <a:r>
                <a:rPr lang="ko-KR" altLang="en-US" sz="900" b="1" dirty="0"/>
                <a:t>비공개</a:t>
              </a:r>
            </a:p>
          </p:txBody>
        </p:sp>
        <p:sp>
          <p:nvSpPr>
            <p:cNvPr id="6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비공개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4" name="모서리가 둥근 직사각형 63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비공개</a:t>
              </a:r>
            </a:p>
          </p:txBody>
        </p:sp>
      </p:grp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243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6" name="그룹 65"/>
          <p:cNvGrpSpPr/>
          <p:nvPr/>
        </p:nvGrpSpPr>
        <p:grpSpPr>
          <a:xfrm>
            <a:off x="781460" y="3345937"/>
            <a:ext cx="2473258" cy="821562"/>
            <a:chOff x="781460" y="2610063"/>
            <a:chExt cx="2473258" cy="821562"/>
          </a:xfrm>
        </p:grpSpPr>
        <p:sp>
          <p:nvSpPr>
            <p:cNvPr id="7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7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8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9" name="모서리가 둥근 직사각형 88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778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1" name="그룹 90"/>
          <p:cNvGrpSpPr/>
          <p:nvPr/>
        </p:nvGrpSpPr>
        <p:grpSpPr>
          <a:xfrm>
            <a:off x="781460" y="4421289"/>
            <a:ext cx="2473258" cy="821562"/>
            <a:chOff x="781460" y="2610063"/>
            <a:chExt cx="2473258" cy="821562"/>
          </a:xfrm>
        </p:grpSpPr>
        <p:sp>
          <p:nvSpPr>
            <p:cNvPr id="9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㈜길동주식회사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9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9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95" name="모서리가 둥근 직사각형 94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86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9066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687418"/>
            <a:ext cx="76863" cy="292489"/>
            <a:chOff x="3750067" y="4683795"/>
            <a:chExt cx="76863" cy="292489"/>
          </a:xfrm>
        </p:grpSpPr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3918450" y="1641327"/>
            <a:ext cx="2473258" cy="821562"/>
            <a:chOff x="781460" y="2610063"/>
            <a:chExt cx="2473258" cy="821562"/>
          </a:xfrm>
        </p:grpSpPr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10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0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107" name="모서리가 둥근 직사각형 106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25831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0" name="그룹 109"/>
          <p:cNvGrpSpPr/>
          <p:nvPr/>
        </p:nvGrpSpPr>
        <p:grpSpPr>
          <a:xfrm>
            <a:off x="3918450" y="2716679"/>
            <a:ext cx="2473258" cy="821562"/>
            <a:chOff x="781460" y="2610063"/>
            <a:chExt cx="2473258" cy="821562"/>
          </a:xfrm>
        </p:grpSpPr>
        <p:sp>
          <p:nvSpPr>
            <p:cNvPr id="11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>
                  <a:solidFill>
                    <a:prstClr val="black"/>
                  </a:solidFill>
                </a:rPr>
                <a:t>㈜</a:t>
              </a:r>
              <a:r>
                <a:rPr lang="ko-KR" altLang="en-US" sz="700" dirty="0" err="1">
                  <a:solidFill>
                    <a:prstClr val="black"/>
                  </a:solidFill>
                </a:rPr>
                <a:t>미래회사</a:t>
              </a:r>
              <a:endParaRPr lang="en-US" altLang="ko-KR" sz="700" dirty="0">
                <a:solidFill>
                  <a:prstClr val="black"/>
                </a:solidFill>
              </a:endParaRPr>
            </a:p>
            <a:p>
              <a:pPr lvl="0"/>
              <a:r>
                <a:rPr lang="ko-KR" altLang="en-US" sz="900" b="1" dirty="0">
                  <a:solidFill>
                    <a:prstClr val="black"/>
                  </a:solidFill>
                </a:rPr>
                <a:t>업체의 의견이 있습니다</a:t>
              </a:r>
              <a:r>
                <a:rPr lang="en-US" altLang="ko-KR" sz="900" b="1" dirty="0">
                  <a:solidFill>
                    <a:prstClr val="black"/>
                  </a:solidFill>
                </a:rPr>
                <a:t>.</a:t>
              </a:r>
              <a:endParaRPr lang="ko-KR" altLang="en-US" sz="900" b="1" dirty="0">
                <a:solidFill>
                  <a:prstClr val="black"/>
                </a:solidFill>
              </a:endParaRPr>
            </a:p>
          </p:txBody>
        </p:sp>
        <p:sp>
          <p:nvSpPr>
            <p:cNvPr id="11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1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115" name="모서리가 둥근 직사각형 114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  <p:sp>
          <p:nvSpPr>
            <p:cNvPr id="116" name="모서리가 둥근 직사각형 115"/>
            <p:cNvSpPr/>
            <p:nvPr/>
          </p:nvSpPr>
          <p:spPr>
            <a:xfrm>
              <a:off x="1145236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답변</a:t>
              </a:r>
            </a:p>
          </p:txBody>
        </p:sp>
      </p:grp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3681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8" name="타원 11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336" y="317517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44" name="그룹 43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45" name="직사각형 44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980082" y="3696868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조달계획 </a:t>
              </a:r>
              <a:r>
                <a:rPr lang="ko-KR" altLang="en-US" dirty="0" smtClean="0">
                  <a:solidFill>
                    <a:schemeClr val="bg1"/>
                  </a:solidFill>
                </a:rPr>
                <a:t>상세와</a:t>
              </a:r>
              <a:endParaRPr lang="en-US" altLang="ko-KR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bg1"/>
                  </a:solidFill>
                </a:rPr>
                <a:t>화면이동일함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96698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MUI-OP-01-P14</a:t>
            </a:r>
            <a:endParaRPr lang="ko-KR" altLang="en-US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95" name="그룹 94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9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101" name="모서리가 둥근 직사각형 100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06" name="모서리가 둥근 직사각형 105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0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0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10" name="모서리가 둥근 직사각형 109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2" name="그룹 111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15" name="직선 연결선 11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26" name="그룹 125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30" name="직선 연결선 12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직선 연결선 13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34" name="모서리가 둥근 직사각형 133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36" name="그룹 135"/>
          <p:cNvGrpSpPr/>
          <p:nvPr/>
        </p:nvGrpSpPr>
        <p:grpSpPr>
          <a:xfrm>
            <a:off x="684326" y="5064184"/>
            <a:ext cx="2712027" cy="347855"/>
            <a:chOff x="3831550" y="3745666"/>
            <a:chExt cx="2712027" cy="347855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5" name="그룹 154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7" name="직선 연결선 15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9" name="모서리가 둥근 직사각형 158"/>
          <p:cNvSpPr/>
          <p:nvPr/>
        </p:nvSpPr>
        <p:spPr>
          <a:xfrm>
            <a:off x="720142" y="5659395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787777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8" y="5787777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63" name="타원 162"/>
          <p:cNvSpPr/>
          <p:nvPr/>
        </p:nvSpPr>
        <p:spPr>
          <a:xfrm>
            <a:off x="3108139" y="576963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3831550" y="155078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67917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167917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77" name="타원 176"/>
          <p:cNvSpPr/>
          <p:nvPr/>
        </p:nvSpPr>
        <p:spPr>
          <a:xfrm>
            <a:off x="6219547" y="166103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524277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017655" y="5524277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6906" y="5524277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81" name="그룹 180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8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83" name="모서리가 둥근 직사각형 182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8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공개여부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85" name="그룹 184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87" name="모서리가 둥근 직사각형 186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88" name="모서리가 둥근 직사각형 187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grpSp>
        <p:nvGrpSpPr>
          <p:cNvPr id="193" name="그룹 192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수정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6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삭제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97" name="타원 19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57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03269" y="519473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99" name="타원 19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671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2" name="그룹 201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203" name="직선 연결선 202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직선 연결선 203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상세</a:t>
            </a:r>
          </a:p>
        </p:txBody>
      </p:sp>
      <p:grpSp>
        <p:nvGrpSpPr>
          <p:cNvPr id="206" name="그룹 205"/>
          <p:cNvGrpSpPr/>
          <p:nvPr/>
        </p:nvGrpSpPr>
        <p:grpSpPr>
          <a:xfrm>
            <a:off x="3795734" y="6066295"/>
            <a:ext cx="2712027" cy="617588"/>
            <a:chOff x="675399" y="5614711"/>
            <a:chExt cx="2712027" cy="617588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3" name="그룹 82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88" name="직사각형 87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980082" y="3696868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조달계획 </a:t>
              </a:r>
              <a:r>
                <a:rPr lang="ko-KR" altLang="en-US" dirty="0" smtClean="0">
                  <a:solidFill>
                    <a:schemeClr val="bg1"/>
                  </a:solidFill>
                </a:rPr>
                <a:t>상세와</a:t>
              </a:r>
              <a:endParaRPr lang="en-US" altLang="ko-KR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bg1"/>
                  </a:solidFill>
                </a:rPr>
                <a:t>화면이동일함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10382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답변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MUI-OP-01-P15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795734" y="3328139"/>
            <a:ext cx="2712027" cy="1389948"/>
            <a:chOff x="3677672" y="3328139"/>
            <a:chExt cx="2712027" cy="1389948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764419" y="3381713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3805530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담당자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3722763" y="3968238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328139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4308129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3722763" y="4470837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grpSp>
          <p:nvGrpSpPr>
            <p:cNvPr id="88" name="그룹 87"/>
            <p:cNvGrpSpPr/>
            <p:nvPr/>
          </p:nvGrpSpPr>
          <p:grpSpPr>
            <a:xfrm flipV="1">
              <a:off x="6126506" y="3468175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66335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243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답변내역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705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8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26722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89430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3795734" y="1493927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3831550" y="208913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21752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21752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6219547" y="219938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249582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62420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62420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260606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95402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129063" y="195402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38314" y="195402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7679" y="2882845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내용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726023" y="3045553"/>
            <a:ext cx="2610778" cy="1572062"/>
          </a:xfrm>
          <a:prstGeom prst="roundRect">
            <a:avLst>
              <a:gd name="adj" fmla="val 431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t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99531" y="4452031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  <a:latin typeface="맑은 고딕" panose="020B0503020000020004" pitchFamily="50" charset="-127"/>
              </a:rPr>
              <a:t>0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/ 2000</a:t>
            </a:r>
          </a:p>
        </p:txBody>
      </p:sp>
      <p:grpSp>
        <p:nvGrpSpPr>
          <p:cNvPr id="58" name="그룹 5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59" name="직선 연결선 5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답변 상세</a:t>
            </a:r>
          </a:p>
        </p:txBody>
      </p:sp>
      <p:grpSp>
        <p:nvGrpSpPr>
          <p:cNvPr id="65" name="그룹 64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66" name="직사각형 65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980082" y="3696868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조달계획 </a:t>
              </a:r>
              <a:r>
                <a:rPr lang="ko-KR" altLang="en-US" dirty="0" smtClean="0">
                  <a:solidFill>
                    <a:schemeClr val="bg1"/>
                  </a:solidFill>
                </a:rPr>
                <a:t>상세와</a:t>
              </a:r>
              <a:endParaRPr lang="en-US" altLang="ko-KR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bg1"/>
                  </a:solidFill>
                </a:rPr>
                <a:t>화면이동일함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23388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/</a:t>
            </a:r>
            <a:r>
              <a:rPr lang="ko-KR" altLang="en-US" dirty="0"/>
              <a:t>수정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수정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MUI-OP-01-P16</a:t>
            </a:r>
            <a:endParaRPr lang="ko-KR" altLang="en-US" dirty="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05" name="그룹 104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11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118" name="모서리가 둥근 직사각형 117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121" name="모서리가 둥근 직사각형 120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12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23" name="모서리가 둥근 직사각형 122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2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25" name="모서리가 둥근 직사각형 124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2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28" name="모서리가 둥근 직사각형 127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5" name="그룹 134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39" name="직선 연결선 13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42" name="그룹 141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43" name="직선 연결선 14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6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 </a:t>
            </a:r>
            <a:r>
              <a:rPr lang="en-US" altLang="ko-KR" sz="700" dirty="0">
                <a:solidFill>
                  <a:srgbClr val="FF0000"/>
                </a:solidFill>
              </a:rPr>
              <a:t>*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48" name="그룹 147"/>
          <p:cNvGrpSpPr/>
          <p:nvPr/>
        </p:nvGrpSpPr>
        <p:grpSpPr>
          <a:xfrm>
            <a:off x="684326" y="4960279"/>
            <a:ext cx="2712027" cy="347855"/>
            <a:chOff x="3831550" y="3745666"/>
            <a:chExt cx="2712027" cy="347855"/>
          </a:xfrm>
        </p:grpSpPr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1" name="그룹 150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3" name="직선 연결선 15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5" name="그룹 154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6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6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공개여부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65" name="모서리가 둥근 직사각형 164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66" name="모서리가 둥근 직사각형 165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sp>
        <p:nvSpPr>
          <p:cNvPr id="16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04972" y="5384101"/>
            <a:ext cx="2652743" cy="207774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파일추가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170" name="그룹 16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저장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8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8438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751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03" name="타원 2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5" name="그룹 204"/>
          <p:cNvGrpSpPr/>
          <p:nvPr/>
        </p:nvGrpSpPr>
        <p:grpSpPr>
          <a:xfrm>
            <a:off x="705041" y="5712463"/>
            <a:ext cx="2652743" cy="499604"/>
            <a:chOff x="713968" y="6113949"/>
            <a:chExt cx="2652743" cy="499604"/>
          </a:xfrm>
        </p:grpSpPr>
        <p:sp>
          <p:nvSpPr>
            <p:cNvPr id="206" name="모서리가 둥근 직사각형 205"/>
            <p:cNvSpPr/>
            <p:nvPr/>
          </p:nvSpPr>
          <p:spPr>
            <a:xfrm>
              <a:off x="713968" y="6249067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377449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2164" y="6377449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113949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36458" y="6113949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삭제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0732" y="6113949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9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956879" y="6343762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20" name="그룹 219"/>
          <p:cNvGrpSpPr/>
          <p:nvPr/>
        </p:nvGrpSpPr>
        <p:grpSpPr>
          <a:xfrm>
            <a:off x="3831550" y="1591273"/>
            <a:ext cx="2652743" cy="364486"/>
            <a:chOff x="3421101" y="64023"/>
            <a:chExt cx="2652743" cy="364486"/>
          </a:xfrm>
        </p:grpSpPr>
        <p:sp>
          <p:nvSpPr>
            <p:cNvPr id="221" name="모서리가 둥근 직사각형 220"/>
            <p:cNvSpPr/>
            <p:nvPr/>
          </p:nvSpPr>
          <p:spPr>
            <a:xfrm>
              <a:off x="3421101" y="64023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1769" y="192405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499297" y="192405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5637130" y="168824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타원 22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05929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226" name="그룹 225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등록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수정</a:t>
            </a:r>
          </a:p>
        </p:txBody>
      </p:sp>
      <p:grpSp>
        <p:nvGrpSpPr>
          <p:cNvPr id="83" name="그룹 82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84" name="직사각형 83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980082" y="3696868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</a:rPr>
                <a:t>조달계획 </a:t>
              </a:r>
              <a:r>
                <a:rPr lang="ko-KR" altLang="en-US" dirty="0" smtClean="0">
                  <a:solidFill>
                    <a:schemeClr val="bg1"/>
                  </a:solidFill>
                </a:rPr>
                <a:t>상세와</a:t>
              </a:r>
              <a:endParaRPr lang="en-US" altLang="ko-KR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bg1"/>
                  </a:solidFill>
                </a:rPr>
                <a:t>화면이동일함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93101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첨부서류</a:t>
            </a:r>
            <a:r>
              <a:rPr lang="ko-KR" altLang="en-US" dirty="0"/>
              <a:t>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MUI-OP-01-T11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첨부서류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149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1867758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18021" y="22661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3945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3945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23" name="타원 22"/>
          <p:cNvSpPr/>
          <p:nvPr/>
        </p:nvSpPr>
        <p:spPr>
          <a:xfrm>
            <a:off x="3078140" y="23763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8021" y="2672830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801212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801212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27" name="타원 26"/>
          <p:cNvSpPr/>
          <p:nvPr/>
        </p:nvSpPr>
        <p:spPr>
          <a:xfrm>
            <a:off x="3078140" y="278307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131026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2131026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2131026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42409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</a:rPr>
              <a:t>사전규격상세</a:t>
            </a:r>
            <a:endParaRPr lang="ko-KR" altLang="en-US" sz="900" dirty="0"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사전규격</a:t>
            </a:r>
            <a:r>
              <a:rPr lang="ko-KR" altLang="en-US" dirty="0"/>
              <a:t> 상세 내역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클릭시</a:t>
            </a:r>
            <a:r>
              <a:rPr lang="ko-KR" altLang="en-US" dirty="0"/>
              <a:t> 업체 의견 팝업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비공개 정보는 작성자만 접근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비공개 글입니다</a:t>
            </a:r>
            <a:r>
              <a:rPr lang="en-US" altLang="ko-KR" dirty="0"/>
              <a:t>. (</a:t>
            </a:r>
            <a:r>
              <a:rPr lang="ko-KR" altLang="en-US" dirty="0"/>
              <a:t>확인</a:t>
            </a:r>
            <a:r>
              <a:rPr lang="en-US" altLang="ko-KR" dirty="0"/>
              <a:t>) </a:t>
            </a:r>
            <a:r>
              <a:rPr lang="ko-KR" altLang="en-US" dirty="0" err="1"/>
              <a:t>모달</a:t>
            </a:r>
            <a:r>
              <a:rPr lang="ko-KR" altLang="en-US" dirty="0"/>
              <a:t> 팝업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>
                <a:latin typeface="+mn-ea"/>
              </a:rPr>
              <a:t>MUI-OP-01-P06 </a:t>
            </a:r>
            <a:r>
              <a:rPr lang="ko-KR" altLang="en-US" dirty="0" err="1"/>
              <a:t>업체의견</a:t>
            </a:r>
            <a:r>
              <a:rPr lang="ko-KR" altLang="en-US" dirty="0"/>
              <a:t> 상세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MUI-OP-01-P06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의견 등록 버튼 없음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연관사전규격상세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/>
              <a:t>타메뉴</a:t>
            </a:r>
            <a:r>
              <a:rPr lang="ko-KR" altLang="en-US" dirty="0"/>
              <a:t> 상세화면에서 연관 된 조달계획 정보를 조회한다</a:t>
            </a:r>
            <a:r>
              <a:rPr lang="en-US" altLang="ko-KR" dirty="0"/>
              <a:t>.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연관사전규격상세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MUI-OP-01-P13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</a:rPr>
              <a:t>사전규격상세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9" name="그룹 58"/>
          <p:cNvGrpSpPr/>
          <p:nvPr/>
        </p:nvGrpSpPr>
        <p:grpSpPr>
          <a:xfrm>
            <a:off x="701175" y="2110472"/>
            <a:ext cx="2642526" cy="2031034"/>
            <a:chOff x="701175" y="1527996"/>
            <a:chExt cx="2642526" cy="2031034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125715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발주기관 규격서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703268" y="1835481"/>
              <a:ext cx="792000" cy="1717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시작일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종료일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 연락처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02-1234-5678</a:t>
              </a:r>
            </a:p>
          </p:txBody>
        </p:sp>
        <p:grpSp>
          <p:nvGrpSpPr>
            <p:cNvPr id="65" name="그룹 64"/>
            <p:cNvGrpSpPr/>
            <p:nvPr/>
          </p:nvGrpSpPr>
          <p:grpSpPr>
            <a:xfrm>
              <a:off x="701175" y="1835481"/>
              <a:ext cx="2630093" cy="1717920"/>
              <a:chOff x="701175" y="1835481"/>
              <a:chExt cx="2630093" cy="1717920"/>
            </a:xfrm>
          </p:grpSpPr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1455" y="2164074"/>
            <a:ext cx="1290138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업체의견</a:t>
            </a: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목록 </a:t>
            </a:r>
            <a:r>
              <a:rPr lang="en-US" altLang="ko-KR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0,000</a:t>
            </a: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675399" y="4231230"/>
            <a:ext cx="2712027" cy="1222329"/>
            <a:chOff x="675399" y="1814987"/>
            <a:chExt cx="2712027" cy="1222329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81498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551" y="1867758"/>
              <a:ext cx="129808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첨부파일 </a:t>
              </a:r>
              <a:r>
                <a:rPr lang="en-US" altLang="ko-KR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총 </a:t>
              </a:r>
              <a:r>
                <a:rPr lang="en-US" altLang="ko-KR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0</a:t>
              </a: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718021" y="2266144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394526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1.PDF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6217" y="2394526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101" name="타원 100"/>
            <p:cNvSpPr/>
            <p:nvPr/>
          </p:nvSpPr>
          <p:spPr>
            <a:xfrm>
              <a:off x="3078140" y="2376387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718021" y="2672830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801212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2.hwp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6217" y="2801212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105" name="타원 104"/>
            <p:cNvSpPr/>
            <p:nvPr/>
          </p:nvSpPr>
          <p:spPr>
            <a:xfrm>
              <a:off x="3078140" y="2783073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131026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87656" y="2131026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다운로드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4785" y="2131026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834987" y="2471559"/>
            <a:ext cx="2621844" cy="2082620"/>
            <a:chOff x="720490" y="2205164"/>
            <a:chExt cx="2621844" cy="2082620"/>
          </a:xfrm>
        </p:grpSpPr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220516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4" name="그룹 113"/>
            <p:cNvGrpSpPr/>
            <p:nvPr/>
          </p:nvGrpSpPr>
          <p:grpSpPr>
            <a:xfrm>
              <a:off x="781460" y="2325977"/>
              <a:ext cx="2473258" cy="821562"/>
              <a:chOff x="781460" y="2610063"/>
              <a:chExt cx="2473258" cy="821562"/>
            </a:xfrm>
          </p:grpSpPr>
          <p:sp>
            <p:nvSpPr>
              <p:cNvPr id="115" name="TextBox 58">
                <a:extLst>
                  <a:ext uri="{FF2B5EF4-FFF2-40B4-BE49-F238E27FC236}">
                    <a16:creationId xmlns:a16="http://schemas.microsoft.com/office/drawing/2014/main" id="{02FC114B-B48B-345F-BD70-2B5A196F5B3E}"/>
                  </a:ext>
                </a:extLst>
              </p:cNvPr>
              <p:cNvSpPr txBox="1"/>
              <p:nvPr/>
            </p:nvSpPr>
            <p:spPr>
              <a:xfrm>
                <a:off x="781461" y="2794394"/>
                <a:ext cx="247325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dirty="0"/>
                  <a:t>비공개</a:t>
                </a:r>
                <a:endParaRPr lang="en-US" altLang="ko-KR" sz="700" dirty="0"/>
              </a:p>
              <a:p>
                <a:r>
                  <a:rPr lang="ko-KR" altLang="en-US" sz="900" b="1" dirty="0"/>
                  <a:t>비공개</a:t>
                </a:r>
              </a:p>
            </p:txBody>
          </p:sp>
          <p:sp>
            <p:nvSpPr>
              <p:cNvPr id="116" name="TextBox 59">
                <a:extLst>
                  <a:ext uri="{FF2B5EF4-FFF2-40B4-BE49-F238E27FC236}">
                    <a16:creationId xmlns:a16="http://schemas.microsoft.com/office/drawing/2014/main" id="{F77C802D-3BC8-270F-87FC-5F442BD8054D}"/>
                  </a:ext>
                </a:extLst>
              </p:cNvPr>
              <p:cNvSpPr txBox="1"/>
              <p:nvPr/>
            </p:nvSpPr>
            <p:spPr>
              <a:xfrm>
                <a:off x="781461" y="3154626"/>
                <a:ext cx="3077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성명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600" dirty="0" err="1">
                    <a:latin typeface="+mn-ea"/>
                  </a:rPr>
                  <a:t>입력일시</a:t>
                </a:r>
                <a:endParaRPr lang="en-US" altLang="ko-KR" sz="600" dirty="0">
                  <a:latin typeface="+mn-ea"/>
                </a:endParaRPr>
              </a:p>
            </p:txBody>
          </p:sp>
          <p:sp>
            <p:nvSpPr>
              <p:cNvPr id="117" name="TextBox 60">
                <a:extLst>
                  <a:ext uri="{FF2B5EF4-FFF2-40B4-BE49-F238E27FC236}">
                    <a16:creationId xmlns:a16="http://schemas.microsoft.com/office/drawing/2014/main" id="{8F5E3227-69E6-C89F-B8C5-534226E95EA8}"/>
                  </a:ext>
                </a:extLst>
              </p:cNvPr>
              <p:cNvSpPr txBox="1"/>
              <p:nvPr/>
            </p:nvSpPr>
            <p:spPr>
              <a:xfrm>
                <a:off x="2596303" y="313923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비공개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600" dirty="0"/>
                  <a:t>2026-01-03 14:50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18" name="모서리가 둥근 직사각형 117"/>
              <p:cNvSpPr/>
              <p:nvPr/>
            </p:nvSpPr>
            <p:spPr>
              <a:xfrm>
                <a:off x="781460" y="2610063"/>
                <a:ext cx="318677" cy="119400"/>
              </a:xfrm>
              <a:prstGeom prst="roundRect">
                <a:avLst>
                  <a:gd name="adj" fmla="val 23409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dk1"/>
                    </a:solidFill>
                  </a:rPr>
                  <a:t>비공개</a:t>
                </a:r>
              </a:p>
            </p:txBody>
          </p:sp>
        </p:grp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321243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20" name="그룹 119"/>
            <p:cNvGrpSpPr/>
            <p:nvPr/>
          </p:nvGrpSpPr>
          <p:grpSpPr>
            <a:xfrm>
              <a:off x="781460" y="3345937"/>
              <a:ext cx="2473258" cy="821562"/>
              <a:chOff x="781460" y="2610063"/>
              <a:chExt cx="2473258" cy="821562"/>
            </a:xfrm>
          </p:grpSpPr>
          <p:sp>
            <p:nvSpPr>
              <p:cNvPr id="121" name="TextBox 58">
                <a:extLst>
                  <a:ext uri="{FF2B5EF4-FFF2-40B4-BE49-F238E27FC236}">
                    <a16:creationId xmlns:a16="http://schemas.microsoft.com/office/drawing/2014/main" id="{02FC114B-B48B-345F-BD70-2B5A196F5B3E}"/>
                  </a:ext>
                </a:extLst>
              </p:cNvPr>
              <p:cNvSpPr txBox="1"/>
              <p:nvPr/>
            </p:nvSpPr>
            <p:spPr>
              <a:xfrm>
                <a:off x="781461" y="2794394"/>
                <a:ext cx="247325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dirty="0"/>
                  <a:t>㈜</a:t>
                </a:r>
                <a:r>
                  <a:rPr lang="ko-KR" altLang="en-US" sz="700" dirty="0" err="1"/>
                  <a:t>미래회사</a:t>
                </a:r>
                <a:endParaRPr lang="en-US" altLang="ko-KR" sz="700" dirty="0"/>
              </a:p>
              <a:p>
                <a:r>
                  <a:rPr lang="ko-KR" altLang="en-US" sz="900" b="1" dirty="0"/>
                  <a:t>업체의 의견이 있습니다</a:t>
                </a:r>
                <a:r>
                  <a:rPr lang="en-US" altLang="ko-KR" sz="900" b="1" dirty="0"/>
                  <a:t>.</a:t>
                </a:r>
                <a:endParaRPr lang="ko-KR" altLang="en-US" sz="900" b="1" dirty="0"/>
              </a:p>
            </p:txBody>
          </p:sp>
          <p:sp>
            <p:nvSpPr>
              <p:cNvPr id="122" name="TextBox 59">
                <a:extLst>
                  <a:ext uri="{FF2B5EF4-FFF2-40B4-BE49-F238E27FC236}">
                    <a16:creationId xmlns:a16="http://schemas.microsoft.com/office/drawing/2014/main" id="{F77C802D-3BC8-270F-87FC-5F442BD8054D}"/>
                  </a:ext>
                </a:extLst>
              </p:cNvPr>
              <p:cNvSpPr txBox="1"/>
              <p:nvPr/>
            </p:nvSpPr>
            <p:spPr>
              <a:xfrm>
                <a:off x="781461" y="3154626"/>
                <a:ext cx="3077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성명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600" dirty="0" err="1">
                    <a:latin typeface="+mn-ea"/>
                  </a:rPr>
                  <a:t>입력일시</a:t>
                </a:r>
                <a:endParaRPr lang="en-US" altLang="ko-KR" sz="600" dirty="0">
                  <a:latin typeface="+mn-ea"/>
                </a:endParaRPr>
              </a:p>
            </p:txBody>
          </p:sp>
          <p:sp>
            <p:nvSpPr>
              <p:cNvPr id="123" name="TextBox 60">
                <a:extLst>
                  <a:ext uri="{FF2B5EF4-FFF2-40B4-BE49-F238E27FC236}">
                    <a16:creationId xmlns:a16="http://schemas.microsoft.com/office/drawing/2014/main" id="{8F5E3227-69E6-C89F-B8C5-534226E95EA8}"/>
                  </a:ext>
                </a:extLst>
              </p:cNvPr>
              <p:cNvSpPr txBox="1"/>
              <p:nvPr/>
            </p:nvSpPr>
            <p:spPr>
              <a:xfrm>
                <a:off x="2596303" y="313923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홍길동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600" dirty="0"/>
                  <a:t>2026-01-03 14:50</a:t>
                </a:r>
              </a:p>
            </p:txBody>
          </p:sp>
          <p:sp>
            <p:nvSpPr>
              <p:cNvPr id="124" name="모서리가 둥근 직사각형 123"/>
              <p:cNvSpPr/>
              <p:nvPr/>
            </p:nvSpPr>
            <p:spPr>
              <a:xfrm>
                <a:off x="781460" y="2610063"/>
                <a:ext cx="318677" cy="119400"/>
              </a:xfrm>
              <a:prstGeom prst="roundRect">
                <a:avLst>
                  <a:gd name="adj" fmla="val 23409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dk1"/>
                    </a:solidFill>
                  </a:rPr>
                  <a:t>공개</a:t>
                </a:r>
              </a:p>
            </p:txBody>
          </p:sp>
        </p:grp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28778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9052" y="276902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33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479035"/>
            <a:ext cx="2446613" cy="199541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17014"/>
            <a:ext cx="76863" cy="292489"/>
            <a:chOff x="3750067" y="4683795"/>
            <a:chExt cx="76863" cy="292489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noProof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2" name="직사각형 8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페이지 추가됨</a:t>
              </a:r>
              <a:r>
                <a:rPr lang="en-US" altLang="ko-KR" sz="70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03812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41213"/>
            <a:ext cx="201233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사전규격 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24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720520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발주기관 규격서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932805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674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rcptDtFrom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시작일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종료일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연락처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940877-3BA8-DBAA-6E31-A353219C68C0}"/>
              </a:ext>
            </a:extLst>
          </p:cNvPr>
          <p:cNvSpPr txBox="1"/>
          <p:nvPr/>
        </p:nvSpPr>
        <p:spPr>
          <a:xfrm>
            <a:off x="452999" y="373863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연관정보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B9F28F4-1D6A-2D23-4FC4-439DC7656AC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95092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조달계획의 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D732F0B-7384-2FC9-46BD-4F769F1FCBA2}"/>
              </a:ext>
            </a:extLst>
          </p:cNvPr>
          <p:cNvSpPr txBox="1"/>
          <p:nvPr/>
        </p:nvSpPr>
        <p:spPr>
          <a:xfrm>
            <a:off x="452999" y="441072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F1487E1-9181-6C7E-F12B-AC19A3980030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62301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8947A1-E3B7-07DA-C8BB-D66235E2495F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(1/2)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AB8D4575-7D83-3704-54E3-B02D52E5A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043081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D876C-FBB7-97BC-42DF-2C8719EB5AEC}"/>
              </a:ext>
            </a:extLst>
          </p:cNvPr>
          <p:cNvSpPr txBox="1"/>
          <p:nvPr/>
        </p:nvSpPr>
        <p:spPr>
          <a:xfrm>
            <a:off x="444290" y="842212"/>
            <a:ext cx="216782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업체의견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12261D8-16FA-64B9-ADFA-DB630E3728E5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54497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업체의견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hh24:mi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A80006-B550-AB59-C9AB-8BF88793186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(2/2)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2012867A-1DD5-9141-4685-6A682B4EF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44477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50986-444A-3C87-3626-6E69412E202F}"/>
              </a:ext>
            </a:extLst>
          </p:cNvPr>
          <p:cNvSpPr txBox="1"/>
          <p:nvPr/>
        </p:nvSpPr>
        <p:spPr>
          <a:xfrm>
            <a:off x="458117" y="58166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760202"/>
              </p:ext>
            </p:extLst>
          </p:nvPr>
        </p:nvGraphicFramePr>
        <p:xfrm>
          <a:off x="453000" y="846360"/>
          <a:ext cx="8995591" cy="1651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연관정보 조달계획 링크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scwin.btn_anlPrcmPlan_onclick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(UI-OP-01-P03)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4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의견등록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scwin.btn_opnnReg_onclick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업체의견 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624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업체의견목록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scwin.grd_opnnDtl_onclick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205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CAD4002-DE63-FE39-E878-539FF0340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05576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2. </a:t>
            </a:r>
            <a:r>
              <a:rPr lang="ko-KR" altLang="en-US" dirty="0"/>
              <a:t>국외 </a:t>
            </a:r>
            <a:r>
              <a:rPr lang="ko-KR" altLang="en-US" dirty="0">
                <a:latin typeface="+mn-ea"/>
              </a:rPr>
              <a:t>조달계획 통합</a:t>
            </a:r>
            <a:r>
              <a:rPr lang="ko-KR" altLang="en-US" dirty="0"/>
              <a:t> 목록 메뉴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501984"/>
              </p:ext>
            </p:extLst>
          </p:nvPr>
        </p:nvGraphicFramePr>
        <p:xfrm>
          <a:off x="635474" y="1413419"/>
          <a:ext cx="8701200" cy="398590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품목별검색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ItemInq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국외 검색 시</a:t>
                      </a:r>
                      <a:endParaRPr lang="en-US" altLang="ko-KR" sz="8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/>
                        <a:t>요구년도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품명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재고번호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부품번호로</a:t>
                      </a:r>
                      <a:r>
                        <a:rPr lang="ko-KR" altLang="en-US" sz="800" dirty="0"/>
                        <a:t> 품목을 검색하는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ItemInq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1136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생산자검색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PrdcrInq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국외 검색 시</a:t>
                      </a:r>
                      <a:endParaRPr lang="en-US" altLang="ko-KR" sz="8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생산자 목록 코드를 검색하는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2429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MUI-OP-01-M73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국외조달계획상세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조달계획 상세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086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상세내용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조달계획 상세 중 집행계획상세 내용 표시 탭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56708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결과목록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OvsPrcmPlanDtl_RsltList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조달계획 상세 중 결과 목록 표시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OvsPrcmPlanDtl_RsltList.tsx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55519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MUI-OP-01-P75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품목별가격자료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PrcDataList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조달계획상세조회에서 조회된 항목 중 실적이 있는 항목의 품목별가격자료를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PrcDataList.tsx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7287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MUI-OP-01-P76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목록정보조회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WarSplList_Inq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국외연간조달계획에서 정보 상세 조회 화면</a:t>
                      </a:r>
                      <a:endParaRPr lang="ko-KR" altLang="en-US" sz="800" dirty="0"/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WarSplList_Inq.tsx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467408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형상자료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WarSplList_Cnfg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국외연간조달계획에서 목록정보조회 </a:t>
                      </a:r>
                      <a:r>
                        <a:rPr lang="en-US" altLang="ko-KR" sz="800" dirty="0" smtClean="0"/>
                        <a:t>(</a:t>
                      </a:r>
                      <a:r>
                        <a:rPr lang="ko-KR" altLang="en-US" sz="800" dirty="0" smtClean="0"/>
                        <a:t>군수품 목록</a:t>
                      </a:r>
                      <a:r>
                        <a:rPr lang="en-US" altLang="ko-KR" sz="800" dirty="0" smtClean="0"/>
                        <a:t>)</a:t>
                      </a:r>
                      <a:r>
                        <a:rPr lang="ko-KR" altLang="en-US" sz="800" dirty="0" smtClean="0"/>
                        <a:t> </a:t>
                      </a:r>
                      <a:r>
                        <a:rPr lang="ko-KR" altLang="en-US" sz="800" dirty="0"/>
                        <a:t>중 </a:t>
                      </a:r>
                      <a:r>
                        <a:rPr lang="ko-KR" altLang="en-US" sz="800" dirty="0" err="1"/>
                        <a:t>형상자료</a:t>
                      </a:r>
                      <a:r>
                        <a:rPr lang="ko-KR" altLang="en-US" sz="800" dirty="0"/>
                        <a:t> 정보를 </a:t>
                      </a:r>
                      <a:r>
                        <a:rPr lang="ko-KR" altLang="en-US" sz="800" dirty="0" smtClean="0"/>
                        <a:t>조회 </a:t>
                      </a:r>
                      <a:r>
                        <a:rPr lang="ko-KR" altLang="en-US" sz="800" dirty="0"/>
                        <a:t>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WarSplList_Cnfg.tsx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9126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err="1" smtClean="0"/>
                        <a:t>식별자료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WarSplList_Idntf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국외연간조달계획에서 목록정보조회 </a:t>
                      </a:r>
                      <a:r>
                        <a:rPr lang="en-US" altLang="ko-KR" sz="800" dirty="0" smtClean="0"/>
                        <a:t>(</a:t>
                      </a:r>
                      <a:r>
                        <a:rPr lang="ko-KR" altLang="en-US" sz="800" dirty="0" smtClean="0"/>
                        <a:t>군수품 목록</a:t>
                      </a:r>
                      <a:r>
                        <a:rPr lang="en-US" altLang="ko-KR" sz="800" dirty="0" smtClean="0"/>
                        <a:t>)</a:t>
                      </a:r>
                      <a:r>
                        <a:rPr lang="ko-KR" altLang="en-US" sz="800" dirty="0" smtClean="0"/>
                        <a:t> 중 </a:t>
                      </a:r>
                      <a:r>
                        <a:rPr lang="ko-KR" altLang="en-US" sz="800" dirty="0" err="1"/>
                        <a:t>식별자료</a:t>
                      </a:r>
                      <a:r>
                        <a:rPr lang="ko-KR" altLang="en-US" sz="800" dirty="0"/>
                        <a:t> 정보를 </a:t>
                      </a:r>
                      <a:r>
                        <a:rPr lang="ko-KR" altLang="en-US" sz="800" dirty="0" smtClean="0"/>
                        <a:t>조회 </a:t>
                      </a:r>
                      <a:r>
                        <a:rPr lang="ko-KR" altLang="en-US" sz="800" dirty="0"/>
                        <a:t>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WarSplList_Idntf.tsx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815226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MUI-OP-01-T75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smtClean="0"/>
                        <a:t>참고자료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WarSplList_Ref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국외연간조달계획에서 목록정보조회 </a:t>
                      </a:r>
                      <a:r>
                        <a:rPr lang="en-US" altLang="ko-KR" sz="800" dirty="0" smtClean="0"/>
                        <a:t>(</a:t>
                      </a:r>
                      <a:r>
                        <a:rPr lang="ko-KR" altLang="en-US" sz="800" dirty="0" smtClean="0"/>
                        <a:t>군수품 목록</a:t>
                      </a:r>
                      <a:r>
                        <a:rPr lang="en-US" altLang="ko-KR" sz="800" dirty="0" smtClean="0"/>
                        <a:t>)</a:t>
                      </a:r>
                      <a:r>
                        <a:rPr lang="ko-KR" altLang="en-US" sz="800" dirty="0" smtClean="0"/>
                        <a:t> 중 </a:t>
                      </a:r>
                      <a:r>
                        <a:rPr lang="ko-KR" altLang="en-US" sz="800" dirty="0"/>
                        <a:t>참고자료 정보를 </a:t>
                      </a:r>
                      <a:r>
                        <a:rPr lang="ko-KR" altLang="en-US" sz="800" dirty="0" smtClean="0"/>
                        <a:t>조회 </a:t>
                      </a:r>
                      <a:r>
                        <a:rPr lang="ko-KR" altLang="en-US" sz="800" dirty="0"/>
                        <a:t>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WarSplList_Ref.tsx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36672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MUI-OP-01-P77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업체정보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WarSplList_BzEnty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군수품 </a:t>
                      </a:r>
                      <a:r>
                        <a:rPr lang="ko-KR" altLang="en-US" sz="800" dirty="0" err="1"/>
                        <a:t>형상자료의</a:t>
                      </a:r>
                      <a:r>
                        <a:rPr lang="ko-KR" altLang="en-US" sz="800" dirty="0"/>
                        <a:t> 업체정보 </a:t>
                      </a:r>
                      <a:r>
                        <a:rPr lang="ko-KR" altLang="en-US" sz="800" dirty="0" err="1"/>
                        <a:t>팝업화면</a:t>
                      </a:r>
                      <a:endParaRPr lang="ko-KR" altLang="en-US" sz="800" dirty="0"/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WarSplList_BzEnty.tsx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55234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MUI-OP-01-M78</a:t>
                      </a:r>
                      <a:endParaRPr lang="en-US" sz="75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국외연간조달계획상세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ovsPrcmPlanDtl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/>
                        <a:t>국외연간조달계획의 상세내용 화면</a:t>
                      </a:r>
                      <a:endParaRPr lang="ko-KR" altLang="en-US" sz="800" dirty="0"/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ovsPrcmPlanDtl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ovsPrcmPlanDtl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8668526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" name="직사각형 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국외연간조달계획상세</a:t>
              </a:r>
              <a:r>
                <a:rPr lang="ko-KR" altLang="en-US" sz="700" dirty="0" smtClean="0"/>
                <a:t> 추가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548241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071925" y="1628964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조달계획</a:t>
            </a:r>
            <a:r>
              <a:rPr lang="en-US" altLang="ko-KR" sz="800" dirty="0" smtClean="0">
                <a:solidFill>
                  <a:schemeClr val="tx1"/>
                </a:solidFill>
              </a:rPr>
              <a:t/>
            </a:r>
            <a:br>
              <a:rPr lang="en-US" altLang="ko-KR" sz="800" dirty="0" smtClean="0">
                <a:solidFill>
                  <a:schemeClr val="tx1"/>
                </a:solidFill>
              </a:rPr>
            </a:br>
            <a:r>
              <a:rPr lang="ko-KR" altLang="en-US" sz="800" dirty="0" err="1" smtClean="0">
                <a:solidFill>
                  <a:schemeClr val="tx1"/>
                </a:solidFill>
              </a:rPr>
              <a:t>통합목록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493266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700126" y="1772964"/>
            <a:ext cx="3717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619C48D-7E22-9D49-50C5-2404458A47CE}"/>
              </a:ext>
            </a:extLst>
          </p:cNvPr>
          <p:cNvSpPr txBox="1"/>
          <p:nvPr/>
        </p:nvSpPr>
        <p:spPr>
          <a:xfrm>
            <a:off x="777742" y="6257756"/>
            <a:ext cx="8640000" cy="2696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87313" lvl="0" indent="-87313" fontAlgn="base" latinLnBrk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 진입 시 </a:t>
            </a:r>
            <a:r>
              <a:rPr lang="ko-KR" altLang="en-US" sz="800" kern="0" dirty="0" err="1" smtClean="0">
                <a:solidFill>
                  <a:srgbClr val="0000FF"/>
                </a:solidFill>
                <a:latin typeface="+mn-ea"/>
              </a:rPr>
              <a:t>조달계획이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먼저 노출되며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유형 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 err="1">
                <a:solidFill>
                  <a:srgbClr val="0000FF"/>
                </a:solidFill>
                <a:latin typeface="+mn-ea"/>
              </a:rPr>
              <a:t>사전규격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연간조달계획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을 </a:t>
            </a:r>
            <a:r>
              <a:rPr lang="ko-KR" altLang="en-US" sz="800" kern="0" dirty="0" smtClean="0">
                <a:solidFill>
                  <a:srgbClr val="0000FF"/>
                </a:solidFill>
                <a:latin typeface="+mn-ea"/>
              </a:rPr>
              <a:t>설정하여 목록을 변경함</a:t>
            </a:r>
            <a:endParaRPr lang="ko-KR" altLang="en-US" sz="800" kern="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2310537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검색필터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smtClean="0">
                <a:solidFill>
                  <a:schemeClr val="tx1"/>
                </a:solidFill>
              </a:rPr>
              <a:t>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6" idx="0"/>
          </p:cNvCxnSpPr>
          <p:nvPr/>
        </p:nvCxnSpPr>
        <p:spPr>
          <a:xfrm rot="16200000" flipV="1">
            <a:off x="2950342" y="1665171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456237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2176318"/>
            <a:ext cx="45044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</a:t>
            </a:r>
            <a:r>
              <a:rPr lang="en-US" altLang="ko-KR" sz="800" dirty="0" smtClean="0">
                <a:solidFill>
                  <a:schemeClr val="tx1"/>
                </a:solidFill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</a:rPr>
              <a:t>국외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2310537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조달계획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66" idx="1"/>
          </p:cNvCxnSpPr>
          <p:nvPr/>
        </p:nvCxnSpPr>
        <p:spPr>
          <a:xfrm rot="16200000" flipH="1">
            <a:off x="1419664" y="2019224"/>
            <a:ext cx="537573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3556069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4797743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연간조달계획</a:t>
            </a:r>
          </a:p>
        </p:txBody>
      </p: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76" idx="1"/>
          </p:cNvCxnSpPr>
          <p:nvPr/>
        </p:nvCxnSpPr>
        <p:spPr>
          <a:xfrm rot="16200000" flipH="1">
            <a:off x="796898" y="2641990"/>
            <a:ext cx="1783105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77" idx="1"/>
          </p:cNvCxnSpPr>
          <p:nvPr/>
        </p:nvCxnSpPr>
        <p:spPr>
          <a:xfrm rot="16200000" flipH="1">
            <a:off x="176061" y="3262827"/>
            <a:ext cx="3024779" cy="33305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4797743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2" idx="0"/>
            <a:endCxn id="77" idx="0"/>
          </p:cNvCxnSpPr>
          <p:nvPr/>
        </p:nvCxnSpPr>
        <p:spPr>
          <a:xfrm rot="16200000" flipV="1">
            <a:off x="2950342" y="4152377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6" idx="3"/>
            <a:endCxn id="69" idx="1"/>
          </p:cNvCxnSpPr>
          <p:nvPr/>
        </p:nvCxnSpPr>
        <p:spPr>
          <a:xfrm>
            <a:off x="2754976" y="2454537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7" idx="3"/>
            <a:endCxn id="102" idx="1"/>
          </p:cNvCxnSpPr>
          <p:nvPr/>
        </p:nvCxnSpPr>
        <p:spPr>
          <a:xfrm>
            <a:off x="2754976" y="4941743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3435669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6" y="4678056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541943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목록정보조회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1854975" y="3852662"/>
            <a:ext cx="68929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국내 화면 설계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5223740"/>
            <a:ext cx="3310257" cy="679387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연간조달계획 </a:t>
            </a:r>
            <a:r>
              <a:rPr lang="en-US" altLang="ko-KR" sz="800" b="1" dirty="0" smtClean="0">
                <a:solidFill>
                  <a:schemeClr val="tx1"/>
                </a:solidFill>
              </a:rPr>
              <a:t>- </a:t>
            </a:r>
            <a:r>
              <a:rPr lang="ko-KR" altLang="en-US" sz="800" b="1" dirty="0">
                <a:solidFill>
                  <a:schemeClr val="tx1"/>
                </a:solidFill>
              </a:rPr>
              <a:t>목록정보조회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8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548446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형상자료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548446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식별자료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757266" y="548476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참고자료</a:t>
            </a:r>
          </a:p>
        </p:txBody>
      </p:sp>
      <p:sp>
        <p:nvSpPr>
          <p:cNvPr id="9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3556069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검색필터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 </a:t>
            </a:r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2" idx="0"/>
            <a:endCxn id="76" idx="0"/>
          </p:cNvCxnSpPr>
          <p:nvPr/>
        </p:nvCxnSpPr>
        <p:spPr>
          <a:xfrm rot="16200000" flipV="1">
            <a:off x="2950342" y="2910703"/>
            <a:ext cx="12700" cy="1290731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6" idx="3"/>
            <a:endCxn id="92" idx="1"/>
          </p:cNvCxnSpPr>
          <p:nvPr/>
        </p:nvCxnSpPr>
        <p:spPr>
          <a:xfrm>
            <a:off x="2754976" y="3700069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220330" y="3773408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249327" y="3565916"/>
            <a:ext cx="180000" cy="180000"/>
            <a:chOff x="5058274" y="2498299"/>
            <a:chExt cx="180000" cy="180000"/>
          </a:xfrm>
        </p:grpSpPr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571017" y="2653244"/>
            <a:ext cx="97622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국내 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공사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국외 조달판단내역</a:t>
            </a:r>
          </a:p>
        </p:txBody>
      </p:sp>
      <p:sp>
        <p:nvSpPr>
          <p:cNvPr id="11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5707" y="293330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조달계획상세</a:t>
            </a:r>
          </a:p>
        </p:txBody>
      </p:sp>
      <p:cxnSp>
        <p:nvCxnSpPr>
          <p:cNvPr id="11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6" idx="3"/>
            <a:endCxn id="112" idx="1"/>
          </p:cNvCxnSpPr>
          <p:nvPr/>
        </p:nvCxnSpPr>
        <p:spPr>
          <a:xfrm>
            <a:off x="2754976" y="2454537"/>
            <a:ext cx="390731" cy="622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2108013"/>
            <a:ext cx="2265861" cy="853581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국외 조달계획상세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23687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11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662669" y="23687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결과목록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610272" y="236903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품목별가격자료</a:t>
            </a:r>
          </a:p>
        </p:txBody>
      </p:sp>
      <p:cxnSp>
        <p:nvCxnSpPr>
          <p:cNvPr id="12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2" idx="3"/>
            <a:endCxn id="114" idx="1"/>
          </p:cNvCxnSpPr>
          <p:nvPr/>
        </p:nvCxnSpPr>
        <p:spPr>
          <a:xfrm flipV="1">
            <a:off x="4045707" y="2534804"/>
            <a:ext cx="398705" cy="54249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2" y="1631429"/>
            <a:ext cx="900000" cy="28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+mn-ea"/>
              </a:rPr>
              <a:t>입찰공고</a:t>
            </a:r>
            <a:endParaRPr lang="en-US" altLang="ko-KR" sz="8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latin typeface="+mn-ea"/>
              </a:rPr>
              <a:t>알림신청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2" idx="3"/>
            <a:endCxn id="147" idx="1"/>
          </p:cNvCxnSpPr>
          <p:nvPr/>
        </p:nvCxnSpPr>
        <p:spPr>
          <a:xfrm flipV="1">
            <a:off x="4045707" y="1775429"/>
            <a:ext cx="398705" cy="130187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47" idx="3"/>
            <a:endCxn id="107" idx="0"/>
          </p:cNvCxnSpPr>
          <p:nvPr/>
        </p:nvCxnSpPr>
        <p:spPr>
          <a:xfrm>
            <a:off x="5344412" y="1775429"/>
            <a:ext cx="3994915" cy="179048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19" idx="3"/>
            <a:endCxn id="127" idx="1"/>
          </p:cNvCxnSpPr>
          <p:nvPr/>
        </p:nvCxnSpPr>
        <p:spPr>
          <a:xfrm>
            <a:off x="6562669" y="2512739"/>
            <a:ext cx="1047603" cy="2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27" idx="3"/>
            <a:endCxn id="107" idx="0"/>
          </p:cNvCxnSpPr>
          <p:nvPr/>
        </p:nvCxnSpPr>
        <p:spPr>
          <a:xfrm>
            <a:off x="8510272" y="2513036"/>
            <a:ext cx="829055" cy="105288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396877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품목별 검색</a:t>
            </a:r>
          </a:p>
        </p:txBody>
      </p:sp>
      <p:sp>
        <p:nvSpPr>
          <p:cNvPr id="16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568072" y="436589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생산자 검색</a:t>
            </a: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2" idx="3"/>
            <a:endCxn id="172" idx="1"/>
          </p:cNvCxnSpPr>
          <p:nvPr/>
        </p:nvCxnSpPr>
        <p:spPr>
          <a:xfrm>
            <a:off x="4045707" y="3700069"/>
            <a:ext cx="398706" cy="59373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9" idx="3"/>
            <a:endCxn id="172" idx="1"/>
          </p:cNvCxnSpPr>
          <p:nvPr/>
        </p:nvCxnSpPr>
        <p:spPr>
          <a:xfrm>
            <a:off x="4045707" y="2454537"/>
            <a:ext cx="398706" cy="183926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444413" y="3789869"/>
            <a:ext cx="1218256" cy="1007874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검색 팝업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02" idx="3"/>
            <a:endCxn id="172" idx="1"/>
          </p:cNvCxnSpPr>
          <p:nvPr/>
        </p:nvCxnSpPr>
        <p:spPr>
          <a:xfrm flipV="1">
            <a:off x="4045707" y="4293806"/>
            <a:ext cx="398706" cy="64793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72" idx="3"/>
            <a:endCxn id="107" idx="2"/>
          </p:cNvCxnSpPr>
          <p:nvPr/>
        </p:nvCxnSpPr>
        <p:spPr>
          <a:xfrm flipV="1">
            <a:off x="5662669" y="3655916"/>
            <a:ext cx="3586658" cy="637890"/>
          </a:xfrm>
          <a:prstGeom prst="bentConnector3">
            <a:avLst>
              <a:gd name="adj1" fmla="val 1212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8" idx="3"/>
            <a:endCxn id="107" idx="2"/>
          </p:cNvCxnSpPr>
          <p:nvPr/>
        </p:nvCxnSpPr>
        <p:spPr>
          <a:xfrm flipV="1">
            <a:off x="7754669" y="3655916"/>
            <a:ext cx="1494658" cy="190751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25" idx="3"/>
            <a:endCxn id="88" idx="1"/>
          </p:cNvCxnSpPr>
          <p:nvPr/>
        </p:nvCxnSpPr>
        <p:spPr>
          <a:xfrm>
            <a:off x="4045707" y="5563433"/>
            <a:ext cx="39870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4" idx="2"/>
            <a:endCxn id="107" idx="2"/>
          </p:cNvCxnSpPr>
          <p:nvPr/>
        </p:nvCxnSpPr>
        <p:spPr>
          <a:xfrm rot="16200000" flipH="1">
            <a:off x="7066174" y="1472763"/>
            <a:ext cx="694322" cy="367198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그룹 185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185" name="그룹 184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220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1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 smtClean="0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 smtClean="0">
                  <a:solidFill>
                    <a:schemeClr val="tx1"/>
                  </a:solidFill>
                </a:rPr>
                <a:t>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7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1854976" y="541943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국외연간조달계획상세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7" idx="2"/>
            <a:endCxn id="79" idx="0"/>
          </p:cNvCxnSpPr>
          <p:nvPr/>
        </p:nvCxnSpPr>
        <p:spPr>
          <a:xfrm>
            <a:off x="2304976" y="5085743"/>
            <a:ext cx="0" cy="33369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9" idx="3"/>
            <a:endCxn id="125" idx="1"/>
          </p:cNvCxnSpPr>
          <p:nvPr/>
        </p:nvCxnSpPr>
        <p:spPr>
          <a:xfrm>
            <a:off x="2754976" y="5563433"/>
            <a:ext cx="390731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610272" y="293330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목록정보조회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7610272" y="2227230"/>
            <a:ext cx="299762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실적 </a:t>
            </a:r>
            <a:r>
              <a:rPr lang="en-US" altLang="ko-KR" sz="800" dirty="0" smtClean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7610272" y="2793482"/>
            <a:ext cx="32060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 smtClean="0">
                <a:solidFill>
                  <a:schemeClr val="tx1"/>
                </a:solidFill>
              </a:rPr>
              <a:t>실적 </a:t>
            </a:r>
            <a:r>
              <a:rPr lang="en-US" altLang="ko-KR" sz="800" dirty="0" smtClean="0">
                <a:solidFill>
                  <a:schemeClr val="tx1"/>
                </a:solidFill>
              </a:rPr>
              <a:t>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19" idx="3"/>
            <a:endCxn id="87" idx="1"/>
          </p:cNvCxnSpPr>
          <p:nvPr/>
        </p:nvCxnSpPr>
        <p:spPr>
          <a:xfrm>
            <a:off x="6562669" y="2512739"/>
            <a:ext cx="1047603" cy="56456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7" idx="3"/>
            <a:endCxn id="107" idx="0"/>
          </p:cNvCxnSpPr>
          <p:nvPr/>
        </p:nvCxnSpPr>
        <p:spPr>
          <a:xfrm>
            <a:off x="8510272" y="3077303"/>
            <a:ext cx="829055" cy="48861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그룹 11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7" name="직사각형 116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18" name="직사각형 117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품목별가격자료</a:t>
              </a:r>
              <a:r>
                <a:rPr lang="en-US" altLang="ko-KR" sz="700" dirty="0" smtClean="0"/>
                <a:t>, </a:t>
              </a:r>
              <a:r>
                <a:rPr lang="ko-KR" altLang="en-US" sz="700" dirty="0" smtClean="0"/>
                <a:t>목록정보조회 흐름 추가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13471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8700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품목별검색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ItemInq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8700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생산자검색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PrdcrInq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국외조달계획상세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OvsPrcmPlanDtlPage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조달계획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PrcmPlanController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55900" y="1865266"/>
            <a:ext cx="1204191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55900" y="2465584"/>
            <a:ext cx="1204191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755900" y="2990174"/>
            <a:ext cx="1204191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상세내용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OvsPrcmPlanDtl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결과목록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OvsPrcmPlanDtl_RsltList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품목별가격자료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PrcDataList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55900" y="2990174"/>
            <a:ext cx="1204191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55900" y="2990174"/>
            <a:ext cx="1204191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55900" y="2990174"/>
            <a:ext cx="1204191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목록정보조회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WarSplList_Inq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755900" y="2990174"/>
            <a:ext cx="1204191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8700" y="584636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>
                <a:latin typeface="+mn-ea"/>
              </a:rPr>
              <a:t>형상자료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PrcmPlanDtl_spclCtrt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88867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/>
              <a:t>식별자료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WarSplList_Idntf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497033" y="584636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/>
              <a:t>참고자료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WarSplList_Ref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755900" y="2990174"/>
            <a:ext cx="1204191" cy="3077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8" idx="0"/>
            <a:endCxn id="9" idx="2"/>
          </p:cNvCxnSpPr>
          <p:nvPr/>
        </p:nvCxnSpPr>
        <p:spPr>
          <a:xfrm flipV="1">
            <a:off x="3627197" y="3810190"/>
            <a:ext cx="1196494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9" idx="0"/>
            <a:endCxn id="9" idx="2"/>
          </p:cNvCxnSpPr>
          <p:nvPr/>
        </p:nvCxnSpPr>
        <p:spPr>
          <a:xfrm flipH="1" flipV="1">
            <a:off x="4823691" y="3810190"/>
            <a:ext cx="411866" cy="2036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497033" y="5246046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latin typeface="+mn-ea"/>
              </a:rPr>
              <a:t>업체정보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WarSplList_BzEnty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0"/>
            <a:endCxn id="9" idx="2"/>
          </p:cNvCxnSpPr>
          <p:nvPr/>
        </p:nvCxnSpPr>
        <p:spPr>
          <a:xfrm flipH="1" flipV="1">
            <a:off x="4823691" y="3810190"/>
            <a:ext cx="411866" cy="1435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888673" y="5246045"/>
            <a:ext cx="1477047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900" dirty="0" err="1"/>
              <a:t>국외연간조달계획상세</a:t>
            </a:r>
            <a:endParaRPr lang="en-US" altLang="ko-KR" sz="9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+mn-ea"/>
              </a:rPr>
              <a:t>ovsPrcmPlanDtl</a:t>
            </a:r>
            <a:r>
              <a:rPr lang="en-US" altLang="ko-KR" sz="9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40" idx="0"/>
            <a:endCxn id="9" idx="2"/>
          </p:cNvCxnSpPr>
          <p:nvPr/>
        </p:nvCxnSpPr>
        <p:spPr>
          <a:xfrm flipV="1">
            <a:off x="3627197" y="3810190"/>
            <a:ext cx="1196494" cy="1435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0125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input</a:t>
            </a:r>
            <a:r>
              <a:rPr lang="ko-KR" altLang="en-US" dirty="0"/>
              <a:t>으로 포커스 </a:t>
            </a:r>
            <a:r>
              <a:rPr lang="ko-KR" altLang="en-US" dirty="0" err="1"/>
              <a:t>자동이동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활성화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입력이 있는 경우 내용 삭제 아이콘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입력 내용 기반 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Like </a:t>
            </a:r>
            <a:r>
              <a:rPr lang="ko-KR" altLang="en-US" dirty="0"/>
              <a:t>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 클릭 시 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검색 버튼으로 동일 검색 기능 동작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결과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타이틀 영역 제외 스크롤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결과 클릭을 통해 검색 필터에 맞는 데이터 반영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진입 조건에 따라 필터에 맞춰 아래 정보 반환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품명 진입 </a:t>
            </a:r>
            <a:r>
              <a:rPr lang="en-US" altLang="ko-KR" dirty="0"/>
              <a:t>-&gt; </a:t>
            </a:r>
            <a:r>
              <a:rPr lang="ko-KR" altLang="en-US" dirty="0"/>
              <a:t>품명 반환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 err="1"/>
              <a:t>재고번호</a:t>
            </a:r>
            <a:r>
              <a:rPr lang="ko-KR" altLang="en-US" dirty="0"/>
              <a:t> 진입 </a:t>
            </a:r>
            <a:r>
              <a:rPr lang="en-US" altLang="ko-KR" dirty="0"/>
              <a:t>-&gt; </a:t>
            </a:r>
            <a:r>
              <a:rPr lang="ko-KR" altLang="en-US" dirty="0" err="1"/>
              <a:t>재고번호</a:t>
            </a:r>
            <a:r>
              <a:rPr lang="ko-KR" altLang="en-US" dirty="0"/>
              <a:t> 반환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 err="1"/>
              <a:t>부품번호</a:t>
            </a:r>
            <a:r>
              <a:rPr lang="ko-KR" altLang="en-US" dirty="0"/>
              <a:t> 진입 </a:t>
            </a:r>
            <a:r>
              <a:rPr lang="en-US" altLang="ko-KR" dirty="0"/>
              <a:t>-&gt; </a:t>
            </a:r>
            <a:r>
              <a:rPr lang="ko-KR" altLang="en-US" dirty="0" err="1"/>
              <a:t>부품번호</a:t>
            </a:r>
            <a:r>
              <a:rPr lang="ko-KR" altLang="en-US" dirty="0"/>
              <a:t> 반환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품목별 검색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검색 시 </a:t>
            </a:r>
            <a:r>
              <a:rPr lang="ko-KR" altLang="en-US" dirty="0" err="1"/>
              <a:t>요구년도</a:t>
            </a:r>
            <a:r>
              <a:rPr lang="en-US" altLang="ko-KR" dirty="0"/>
              <a:t>, </a:t>
            </a:r>
            <a:r>
              <a:rPr lang="ko-KR" altLang="en-US" dirty="0"/>
              <a:t>품명</a:t>
            </a:r>
            <a:r>
              <a:rPr lang="en-US" altLang="ko-KR" dirty="0"/>
              <a:t>, </a:t>
            </a:r>
            <a:r>
              <a:rPr lang="ko-KR" altLang="en-US" dirty="0" err="1"/>
              <a:t>재고번호</a:t>
            </a:r>
            <a:r>
              <a:rPr lang="en-US" altLang="ko-KR" dirty="0"/>
              <a:t>, </a:t>
            </a:r>
            <a:r>
              <a:rPr lang="ko-KR" altLang="en-US" dirty="0" err="1"/>
              <a:t>부품번호로</a:t>
            </a:r>
            <a:r>
              <a:rPr lang="ko-KR" altLang="en-US" dirty="0"/>
              <a:t> 품목을 검색하는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품목별 검색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MUI-OP-01-P71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286" name="직선 연결선 2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7" name="직선 연결선 2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8" name="타원 2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검색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모서리가 둥근 직사각형 306"/>
          <p:cNvSpPr/>
          <p:nvPr/>
        </p:nvSpPr>
        <p:spPr>
          <a:xfrm>
            <a:off x="4564213" y="2653963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502323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7222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987678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2416287"/>
            <a:ext cx="2712027" cy="3810875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2452915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2587331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568010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검색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94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9" name="모서리가 둥근 직사각형 168"/>
          <p:cNvSpPr/>
          <p:nvPr/>
        </p:nvSpPr>
        <p:spPr>
          <a:xfrm>
            <a:off x="1443878" y="326695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33527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112794" y="3305245"/>
            <a:ext cx="145884" cy="145882"/>
            <a:chOff x="3112794" y="3984500"/>
            <a:chExt cx="145884" cy="145882"/>
          </a:xfrm>
        </p:grpSpPr>
        <p:sp>
          <p:nvSpPr>
            <p:cNvPr id="310" name="타원 30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1" name="그룹 31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312" name="직선 연결선 31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직선 연결선 31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14" name="타원 313"/>
          <p:cNvSpPr/>
          <p:nvPr/>
        </p:nvSpPr>
        <p:spPr>
          <a:xfrm>
            <a:off x="6240768" y="269678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5" name="그룹 314"/>
          <p:cNvGrpSpPr/>
          <p:nvPr/>
        </p:nvGrpSpPr>
        <p:grpSpPr>
          <a:xfrm>
            <a:off x="6284673" y="2740688"/>
            <a:ext cx="58075" cy="58074"/>
            <a:chOff x="6812560" y="3297172"/>
            <a:chExt cx="94010" cy="94010"/>
          </a:xfrm>
        </p:grpSpPr>
        <p:cxnSp>
          <p:nvCxnSpPr>
            <p:cNvPr id="316" name="직선 연결선 31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7" name="직선 연결선 31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3710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47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766913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순번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76691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>
                <a:latin typeface="+mn-ea"/>
              </a:rPr>
              <a:t>세부정보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6536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9723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931496"/>
            <a:ext cx="229051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5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009020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327" name="직선 연결선 3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4285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직선 연결선 32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85597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28338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3" name="직선 연결선 33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7107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5" name="직선 연결선 33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61382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052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220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3441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42038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78" name="모서리가 둥근 직사각형 77"/>
          <p:cNvSpPr/>
          <p:nvPr/>
        </p:nvSpPr>
        <p:spPr>
          <a:xfrm>
            <a:off x="1443878" y="296548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2026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03379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요구년도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*</a:t>
            </a:r>
          </a:p>
        </p:txBody>
      </p:sp>
      <p:grpSp>
        <p:nvGrpSpPr>
          <p:cNvPr id="86" name="그룹 85"/>
          <p:cNvGrpSpPr/>
          <p:nvPr/>
        </p:nvGrpSpPr>
        <p:grpSpPr>
          <a:xfrm>
            <a:off x="3112794" y="3070968"/>
            <a:ext cx="91438" cy="45719"/>
            <a:chOff x="6812560" y="3297172"/>
            <a:chExt cx="94010" cy="47005"/>
          </a:xfrm>
        </p:grpSpPr>
        <p:cxnSp>
          <p:nvCxnSpPr>
            <p:cNvPr id="87" name="직선 연결선 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모서리가 둥근 직사각형 83"/>
          <p:cNvSpPr/>
          <p:nvPr/>
        </p:nvSpPr>
        <p:spPr>
          <a:xfrm>
            <a:off x="1443878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900610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모서리가 둥근 직사각형 93"/>
          <p:cNvSpPr/>
          <p:nvPr/>
        </p:nvSpPr>
        <p:spPr>
          <a:xfrm>
            <a:off x="1443878" y="356084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2916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3112794" y="3600694"/>
            <a:ext cx="145884" cy="145882"/>
            <a:chOff x="3112794" y="3984500"/>
            <a:chExt cx="145884" cy="145882"/>
          </a:xfrm>
        </p:grpSpPr>
        <p:sp>
          <p:nvSpPr>
            <p:cNvPr id="100" name="타원 9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1" name="그룹 10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02" name="직선 연결선 10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009020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766913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구분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448363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448363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872589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872589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5303191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5303191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5727130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5727130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</p:spTree>
    <p:extLst>
      <p:ext uri="{BB962C8B-B14F-4D97-AF65-F5344CB8AC3E}">
        <p14:creationId xmlns:p14="http://schemas.microsoft.com/office/powerpoint/2010/main" val="8850827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3638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품목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E9AA4C-D963-36B3-1B0C-BA042EBA36E5}"/>
              </a:ext>
            </a:extLst>
          </p:cNvPr>
          <p:cNvSpPr txBox="1"/>
          <p:nvPr/>
        </p:nvSpPr>
        <p:spPr>
          <a:xfrm>
            <a:off x="458117" y="41506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413313"/>
            <a:ext cx="2203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rqtYmd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품명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부품번호 입력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9598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42878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 목록을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551911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63001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부품번호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155448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59B811C-7C6D-9F89-9354-C41CD9BE8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03243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input</a:t>
            </a:r>
            <a:r>
              <a:rPr lang="ko-KR" altLang="en-US" dirty="0"/>
              <a:t>으로 포커스 </a:t>
            </a:r>
            <a:r>
              <a:rPr lang="ko-KR" altLang="en-US" dirty="0" err="1"/>
              <a:t>자동이동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활성화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입력이 있는 경우 내용 삭제 아이콘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입력 내용 기반 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Like </a:t>
            </a:r>
            <a:r>
              <a:rPr lang="ko-KR" altLang="en-US" dirty="0"/>
              <a:t>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 클릭 시 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검색 버튼으로 동일 검색 기능 동작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결과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타이틀 영역 제외 스크롤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결과 클릭을 통해 검색 필터에 맞는 데이터 반영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생산자 검색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검색 시 생산자 목록 코드를 검색하는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생산자 검색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MUI-OP-01-P72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286" name="직선 연결선 2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7" name="직선 연결선 2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8" name="타원 2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생산자 검색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모서리가 둥근 직사각형 306"/>
          <p:cNvSpPr/>
          <p:nvPr/>
        </p:nvSpPr>
        <p:spPr>
          <a:xfrm>
            <a:off x="4564213" y="2653963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502323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7222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987678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3310318"/>
            <a:ext cx="2712027" cy="2916846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3346945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3481361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462040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생산자 검색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234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314" name="타원 313"/>
          <p:cNvSpPr/>
          <p:nvPr/>
        </p:nvSpPr>
        <p:spPr>
          <a:xfrm>
            <a:off x="6240768" y="269678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5" name="그룹 314"/>
          <p:cNvGrpSpPr/>
          <p:nvPr/>
        </p:nvGrpSpPr>
        <p:grpSpPr>
          <a:xfrm>
            <a:off x="6284673" y="2740688"/>
            <a:ext cx="58075" cy="58074"/>
            <a:chOff x="6812560" y="3297172"/>
            <a:chExt cx="94010" cy="94010"/>
          </a:xfrm>
        </p:grpSpPr>
        <p:cxnSp>
          <p:nvCxnSpPr>
            <p:cNvPr id="316" name="직선 연결선 31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7" name="직선 연결선 31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3710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47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6536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8993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220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3441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42038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4" name="모서리가 둥근 직사각형 83"/>
          <p:cNvSpPr/>
          <p:nvPr/>
        </p:nvSpPr>
        <p:spPr>
          <a:xfrm>
            <a:off x="1443878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900610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766913"/>
            <a:ext cx="33764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b="1" dirty="0">
                <a:latin typeface="+mn-ea"/>
              </a:rPr>
              <a:t>CAGE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376691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>
                <a:latin typeface="+mn-ea"/>
              </a:rPr>
              <a:t>생산자명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9723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983744"/>
            <a:ext cx="337645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00000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00001</a:t>
            </a:r>
          </a:p>
          <a:p>
            <a:pPr algn="ctr"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 algn="ctr"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00003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00004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00005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00006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00007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00008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3983744"/>
            <a:ext cx="1814470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CO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C PRODUCTS CO INC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CO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C PRODUCTS CO INC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CO</a:t>
            </a: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21484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4285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85597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06967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28338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49709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7107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9245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61382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4473482"/>
            <a:ext cx="1814470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</a:rPr>
              <a:t>STOUGHTON YOUTH </a:t>
            </a:r>
            <a:r>
              <a:rPr lang="en-US" altLang="ko-KR" sz="700" dirty="0" err="1">
                <a:latin typeface="+mn-ea"/>
              </a:rPr>
              <a:t>COMMISSION!div</a:t>
            </a:r>
            <a:r>
              <a:rPr lang="en-US" altLang="ko-KR" sz="700" dirty="0">
                <a:latin typeface="+mn-ea"/>
              </a:rPr>
              <a:t> municipal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4581203"/>
            <a:ext cx="33764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00002</a:t>
            </a:r>
          </a:p>
        </p:txBody>
      </p:sp>
    </p:spTree>
    <p:extLst>
      <p:ext uri="{BB962C8B-B14F-4D97-AF65-F5344CB8AC3E}">
        <p14:creationId xmlns:p14="http://schemas.microsoft.com/office/powerpoint/2010/main" val="11325349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7966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생산자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E9AA4C-D963-36B3-1B0C-BA042EBA36E5}"/>
              </a:ext>
            </a:extLst>
          </p:cNvPr>
          <p:cNvSpPr txBox="1"/>
          <p:nvPr/>
        </p:nvSpPr>
        <p:spPr>
          <a:xfrm>
            <a:off x="458117" y="41506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297489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생산자명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42878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 초기화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생산자 목록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989148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14187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CAGE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cage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생산자코드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296610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조달계획 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/>
              <a:t>조달계획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조달계획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사전규격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연간조달계획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76794" y="1260503"/>
            <a:ext cx="6577149" cy="2007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이해를 돕기 위한 화면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135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0" name="그룹 109"/>
          <p:cNvGrpSpPr/>
          <p:nvPr/>
        </p:nvGrpSpPr>
        <p:grpSpPr>
          <a:xfrm>
            <a:off x="781461" y="4067396"/>
            <a:ext cx="2473257" cy="1098561"/>
            <a:chOff x="781461" y="2610063"/>
            <a:chExt cx="2473257" cy="1098561"/>
          </a:xfrm>
        </p:grpSpPr>
        <p:sp>
          <p:nvSpPr>
            <p:cNvPr id="11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6000A</a:t>
              </a:r>
            </a:p>
            <a:p>
              <a:r>
                <a:rPr lang="en-US" altLang="ko-KR" sz="900" b="1" dirty="0"/>
                <a:t>‘26</a:t>
              </a:r>
              <a:r>
                <a:rPr lang="ko-KR" altLang="en-US" sz="900" b="1" dirty="0"/>
                <a:t>년 </a:t>
              </a:r>
              <a:r>
                <a:rPr lang="en-US" altLang="ko-KR" sz="900" b="1" dirty="0"/>
                <a:t>K5</a:t>
              </a:r>
              <a:r>
                <a:rPr lang="ko-KR" altLang="en-US" sz="900" b="1" dirty="0"/>
                <a:t>방독면</a:t>
              </a:r>
            </a:p>
          </p:txBody>
        </p:sp>
        <p:sp>
          <p:nvSpPr>
            <p:cNvPr id="11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1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53860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화력총괄계약팀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114" name="모서리가 둥근 직사각형 113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115" name="모서리가 둥근 직사각형 114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6188250"/>
            <a:ext cx="76863" cy="292489"/>
            <a:chOff x="3750067" y="4683795"/>
            <a:chExt cx="76863" cy="292489"/>
          </a:xfrm>
        </p:grpSpPr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20" name="그룹 119"/>
          <p:cNvGrpSpPr/>
          <p:nvPr/>
        </p:nvGrpSpPr>
        <p:grpSpPr>
          <a:xfrm>
            <a:off x="778515" y="5366725"/>
            <a:ext cx="2476203" cy="1083172"/>
            <a:chOff x="778515" y="2610063"/>
            <a:chExt cx="2476203" cy="1083172"/>
          </a:xfrm>
        </p:grpSpPr>
        <p:sp>
          <p:nvSpPr>
            <p:cNvPr id="12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2026-00590</a:t>
              </a:r>
            </a:p>
            <a:p>
              <a:r>
                <a:rPr lang="en-US" altLang="ko-KR" sz="900" b="1" dirty="0"/>
                <a:t>26-</a:t>
              </a:r>
              <a:r>
                <a:rPr lang="ko-KR" altLang="en-US" sz="900" b="1" dirty="0"/>
                <a:t>평 절개지 복구공사</a:t>
              </a:r>
            </a:p>
          </p:txBody>
        </p:sp>
        <p:sp>
          <p:nvSpPr>
            <p:cNvPr id="12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2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9911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92,472,000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125" name="모서리가 둥근 직사각형 124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126" name="모서리가 둥근 직사각형 125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</p:grp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4820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350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270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36" name="타원 135"/>
          <p:cNvSpPr/>
          <p:nvPr/>
        </p:nvSpPr>
        <p:spPr>
          <a:xfrm>
            <a:off x="783686" y="23584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7" name="그룹 136"/>
          <p:cNvGrpSpPr/>
          <p:nvPr/>
        </p:nvGrpSpPr>
        <p:grpSpPr>
          <a:xfrm>
            <a:off x="3143548" y="2440425"/>
            <a:ext cx="94010" cy="47005"/>
            <a:chOff x="6812560" y="3297172"/>
            <a:chExt cx="94010" cy="47005"/>
          </a:xfrm>
        </p:grpSpPr>
        <p:cxnSp>
          <p:nvCxnSpPr>
            <p:cNvPr id="138" name="직선 연결선 13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직선 연결선 13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065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3659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3659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43" name="그룹 142"/>
          <p:cNvGrpSpPr/>
          <p:nvPr/>
        </p:nvGrpSpPr>
        <p:grpSpPr>
          <a:xfrm>
            <a:off x="3143548" y="3748965"/>
            <a:ext cx="94010" cy="47005"/>
            <a:chOff x="6812560" y="3297172"/>
            <a:chExt cx="94010" cy="47005"/>
          </a:xfrm>
        </p:grpSpPr>
        <p:cxnSp>
          <p:nvCxnSpPr>
            <p:cNvPr id="144" name="직선 연결선 14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직선 연결선 15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1" name="그룹 170"/>
          <p:cNvGrpSpPr/>
          <p:nvPr/>
        </p:nvGrpSpPr>
        <p:grpSpPr>
          <a:xfrm>
            <a:off x="767702" y="3036209"/>
            <a:ext cx="2527420" cy="477995"/>
            <a:chOff x="786326" y="2270279"/>
            <a:chExt cx="2527420" cy="477995"/>
          </a:xfrm>
        </p:grpSpPr>
        <p:sp>
          <p:nvSpPr>
            <p:cNvPr id="176" name="모서리가 둥근 직사각형 17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타원 177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210" name="그룹 209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1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18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11" name="타원 210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21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13" name="타원 212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4" name="그룹 213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15" name="직선 연결선 214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19" name="직선 연결선 2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6345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0143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795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2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2745525"/>
            <a:ext cx="66385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b="1" dirty="0" smtClean="0">
                <a:latin typeface="+mn-ea"/>
              </a:rPr>
              <a:t>유형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24" name="모서리가 둥근 직사각형 223"/>
          <p:cNvSpPr/>
          <p:nvPr/>
        </p:nvSpPr>
        <p:spPr>
          <a:xfrm>
            <a:off x="1104835" y="2713383"/>
            <a:ext cx="685866" cy="187200"/>
          </a:xfrm>
          <a:prstGeom prst="roundRect">
            <a:avLst>
              <a:gd name="adj" fmla="val 17463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 dirty="0" smtClean="0">
                <a:solidFill>
                  <a:schemeClr val="bg1"/>
                </a:solidFill>
              </a:rPr>
              <a:t>조달계획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25" name="모서리가 둥근 직사각형 224"/>
          <p:cNvSpPr/>
          <p:nvPr/>
        </p:nvSpPr>
        <p:spPr>
          <a:xfrm>
            <a:off x="1857752" y="2713383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2604380" y="2713383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27" name="그룹 226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30" name="그룹 229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237" name="직선 연결선 23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8" name="직선 연결선 2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31" name="그룹 230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232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33" name="직선 연결선 2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34" name="타원 233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" name="타원 234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타원 235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55914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</a:t>
            </a:r>
            <a:r>
              <a:rPr lang="ko-KR" altLang="en-US" dirty="0" err="1"/>
              <a:t>알림신청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공고게시</a:t>
            </a:r>
            <a:r>
              <a:rPr lang="ko-KR" altLang="en-US" dirty="0"/>
              <a:t> </a:t>
            </a:r>
            <a:r>
              <a:rPr lang="ko-KR" altLang="en-US" dirty="0" err="1"/>
              <a:t>알림신청</a:t>
            </a:r>
            <a:r>
              <a:rPr lang="en-US" altLang="ko-KR" dirty="0"/>
              <a:t>)</a:t>
            </a:r>
            <a:r>
              <a:rPr lang="ko-KR" altLang="en-US" dirty="0"/>
              <a:t>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</a:t>
            </a:r>
            <a:r>
              <a:rPr lang="ko-KR" altLang="en-US" dirty="0" err="1">
                <a:sym typeface="Wingdings" panose="05000000000000000000" pitchFamily="2" charset="2"/>
              </a:rPr>
              <a:t>바텀</a:t>
            </a:r>
            <a:r>
              <a:rPr lang="ko-KR" altLang="en-US" dirty="0">
                <a:sym typeface="Wingdings" panose="05000000000000000000" pitchFamily="2" charset="2"/>
              </a:rPr>
              <a:t> 시트에서 </a:t>
            </a:r>
            <a:r>
              <a:rPr lang="ko-KR" altLang="en-US" dirty="0" err="1">
                <a:sym typeface="Wingdings" panose="05000000000000000000" pitchFamily="2" charset="2"/>
              </a:rPr>
              <a:t>알림신청</a:t>
            </a:r>
            <a:r>
              <a:rPr lang="ko-KR" altLang="en-US" dirty="0">
                <a:sym typeface="Wingdings" panose="05000000000000000000" pitchFamily="2" charset="2"/>
              </a:rPr>
              <a:t> 팝업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단계표시기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결과목록</a:t>
            </a:r>
            <a:r>
              <a:rPr lang="ko-KR" altLang="en-US" dirty="0"/>
              <a:t> 순으로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</a:rPr>
              <a:t>국외조달계획상세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조달계획 상세 중 집행계획상세 내용 탭 표시 화면 </a:t>
            </a:r>
            <a:r>
              <a:rPr lang="en-US" altLang="ko-KR" dirty="0"/>
              <a:t>/ </a:t>
            </a:r>
            <a:r>
              <a:rPr lang="ko-KR" altLang="en-US" dirty="0"/>
              <a:t>국내 조달계획 화면과 일부 중복됨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MUI-OP-01-M73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69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3098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580887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판단번호</a:t>
            </a:r>
            <a:r>
              <a:rPr lang="ko-KR" altLang="en-US" sz="700" dirty="0"/>
              <a:t> </a:t>
            </a:r>
            <a:r>
              <a:rPr lang="en-US" altLang="ko-KR" sz="700" dirty="0"/>
              <a:t>6000A</a:t>
            </a:r>
          </a:p>
          <a:p>
            <a:r>
              <a:rPr lang="ko-KR" altLang="en-US" sz="900" b="1" dirty="0"/>
              <a:t>‘</a:t>
            </a:r>
            <a:r>
              <a:rPr lang="en-US" altLang="ko-KR" sz="900" b="1" dirty="0"/>
              <a:t>26</a:t>
            </a:r>
            <a:r>
              <a:rPr lang="ko-KR" altLang="en-US" sz="900" b="1" dirty="0"/>
              <a:t>년 </a:t>
            </a:r>
            <a:r>
              <a:rPr lang="en-US" altLang="ko-KR" sz="900" b="1" dirty="0"/>
              <a:t>K5</a:t>
            </a:r>
            <a:r>
              <a:rPr lang="ko-KR" altLang="en-US" sz="900" b="1" dirty="0"/>
              <a:t>방독면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915952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발주예정월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계약방법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900563"/>
            <a:ext cx="538609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2026-03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화력총괄계약팀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총액제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396556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국외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6" y="2396556"/>
            <a:ext cx="24555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육군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935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7627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96879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400013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408212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069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41408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414085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결과목록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3069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37596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73702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850354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5044508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04450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5044508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구매요청번호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공고시기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총예산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품목수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5044508"/>
            <a:ext cx="17840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500MD</a:t>
            </a:r>
            <a:r>
              <a:rPr lang="ko-KR" altLang="en-US" sz="700" dirty="0">
                <a:latin typeface="+mn-ea"/>
              </a:rPr>
              <a:t>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BAD839380-001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일반경쟁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2025-12-21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$ 126,000.18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2756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8932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030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1673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304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34414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55785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5624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7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730186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699826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65970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6998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730186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730186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659707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699826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699826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659707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659707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3818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923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1961545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6247080" y="2074876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3826115" y="2269030"/>
            <a:ext cx="792000" cy="2369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26903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2269030"/>
            <a:ext cx="67077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구매요청번호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공고시기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총예산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집행예정월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담당부서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연락처</a:t>
            </a:r>
            <a:endParaRPr lang="en-US" altLang="ko-KR" sz="700" dirty="0">
              <a:latin typeface="+mn-ea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8" y="2269030"/>
            <a:ext cx="178465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500MD</a:t>
            </a:r>
            <a:r>
              <a:rPr lang="ko-KR" altLang="en-US" sz="700" dirty="0">
                <a:latin typeface="+mn-ea"/>
              </a:rPr>
              <a:t>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BAD839380-001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일반경쟁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2025-12-21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$ 126,000.18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국제부품계약팀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정영금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9900-9999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50013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71384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92754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1412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35496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514800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72385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1" name="타원 170"/>
          <p:cNvSpPr/>
          <p:nvPr/>
        </p:nvSpPr>
        <p:spPr>
          <a:xfrm>
            <a:off x="2704841" y="238014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2848841" y="2396556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827360" y="1599579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결과목록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56" name="그룹 155"/>
          <p:cNvGrpSpPr/>
          <p:nvPr/>
        </p:nvGrpSpPr>
        <p:grpSpPr>
          <a:xfrm rot="5400000">
            <a:off x="3158978" y="3655072"/>
            <a:ext cx="187961" cy="187961"/>
            <a:chOff x="3876200" y="2234886"/>
            <a:chExt cx="187961" cy="187961"/>
          </a:xfrm>
        </p:grpSpPr>
        <p:sp>
          <p:nvSpPr>
            <p:cNvPr id="157" name="타원 15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59" name="직선 연결선 15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56527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77898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99269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20639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42010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63891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스크롤 시 표시 영역 상단 달라붙음 처리 </a:t>
            </a:r>
            <a:r>
              <a:rPr lang="en-US" altLang="ko-KR" sz="700" dirty="0"/>
              <a:t>(sticky)</a:t>
            </a:r>
            <a:endParaRPr lang="ko-KR" altLang="en-US" sz="900" b="1" dirty="0"/>
          </a:p>
        </p:txBody>
      </p:sp>
      <p:sp>
        <p:nvSpPr>
          <p:cNvPr id="150" name="평행 사변형 149"/>
          <p:cNvSpPr/>
          <p:nvPr/>
        </p:nvSpPr>
        <p:spPr>
          <a:xfrm rot="16200000" flipH="1">
            <a:off x="2019091" y="2862264"/>
            <a:ext cx="3144983" cy="408308"/>
          </a:xfrm>
          <a:prstGeom prst="parallelogram">
            <a:avLst>
              <a:gd name="adj" fmla="val 65724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9951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141" name="그룹 140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상세</a:t>
              </a: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4" name="그룹 143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53" name="직선 연결선 15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5" name="그룹 144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46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9" name="타원 148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1" name="타원 150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" name="타원 151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28409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집행계획 데이터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조달계획 상세 중 집행계획상세 내용 탭 표시 화면 </a:t>
            </a:r>
            <a:r>
              <a:rPr lang="en-US" altLang="ko-KR" dirty="0"/>
              <a:t>/ </a:t>
            </a:r>
            <a:r>
              <a:rPr lang="ko-KR" altLang="en-US" dirty="0"/>
              <a:t>국내 조달계획 화면과 일부 중복됨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85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49923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658" y="1961545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3126745" y="2074876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705780" y="2269030"/>
            <a:ext cx="792000" cy="2369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3687" y="226903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2844" y="2269030"/>
            <a:ext cx="67077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구매요청번호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공고시기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총예산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집행예정월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담당부서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연락처</a:t>
            </a:r>
            <a:endParaRPr lang="en-US" altLang="ko-KR" sz="700" dirty="0">
              <a:latin typeface="+mn-ea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49693" y="2269030"/>
            <a:ext cx="178465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500MD</a:t>
            </a:r>
            <a:r>
              <a:rPr lang="ko-KR" altLang="en-US" sz="700" dirty="0">
                <a:latin typeface="+mn-ea"/>
              </a:rPr>
              <a:t>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BAD839380-001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일반경쟁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2025-12-21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$ 126,000.18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국제부품계약팀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정영금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9900-9999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250013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271384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292754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1412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35496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2978430" y="2514800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72385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" name="그룹 4"/>
          <p:cNvGrpSpPr/>
          <p:nvPr/>
        </p:nvGrpSpPr>
        <p:grpSpPr>
          <a:xfrm>
            <a:off x="707025" y="1599579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결과목록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56527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77898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399269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420639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442010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5780" y="463891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6918262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결과목록</a:t>
            </a:r>
            <a:r>
              <a:rPr lang="ko-KR" altLang="en-US" dirty="0"/>
              <a:t>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재고번호</a:t>
            </a:r>
            <a:r>
              <a:rPr lang="ko-KR" altLang="en-US" dirty="0"/>
              <a:t>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실적이 있는 경우 </a:t>
            </a:r>
            <a:r>
              <a:rPr lang="en-US" altLang="ko-KR" dirty="0" smtClean="0">
                <a:sym typeface="Wingdings" panose="05000000000000000000" pitchFamily="2" charset="2"/>
              </a:rPr>
              <a:t>(Y)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 </a:t>
            </a:r>
            <a:r>
              <a:rPr lang="en-US" altLang="ko-KR" dirty="0"/>
              <a:t>(MUI-OP-01-P75) </a:t>
            </a:r>
            <a:r>
              <a:rPr lang="ko-KR" altLang="en-US" dirty="0" smtClean="0"/>
              <a:t>품목별가격자료조회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그 </a:t>
            </a:r>
            <a:r>
              <a:rPr lang="ko-KR" altLang="en-US" dirty="0" smtClean="0"/>
              <a:t>외 </a:t>
            </a:r>
            <a:r>
              <a:rPr lang="en-US" altLang="ko-KR" dirty="0" smtClean="0"/>
              <a:t>(blank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N)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(</a:t>
            </a:r>
            <a:r>
              <a:rPr lang="en-US" altLang="ko-KR" dirty="0" smtClean="0">
                <a:solidFill>
                  <a:srgbClr val="FF0000"/>
                </a:solidFill>
              </a:rPr>
              <a:t>MUI-OP-01-P76</a:t>
            </a:r>
            <a:r>
              <a:rPr lang="en-US" altLang="ko-KR" dirty="0" smtClean="0"/>
              <a:t>) </a:t>
            </a:r>
            <a:r>
              <a:rPr lang="ko-KR" altLang="en-US" dirty="0" smtClean="0"/>
              <a:t>목록정보조회 </a:t>
            </a:r>
            <a:r>
              <a:rPr lang="en-US" altLang="ko-KR" dirty="0" smtClean="0"/>
              <a:t>– </a:t>
            </a:r>
            <a:r>
              <a:rPr lang="ko-KR" altLang="en-US" strike="sngStrike" dirty="0" err="1" smtClean="0"/>
              <a:t>풀페이지</a:t>
            </a:r>
            <a:r>
              <a:rPr lang="ko-KR" altLang="en-US" dirty="0" smtClean="0"/>
              <a:t> 팝업 형식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trike="sngStrike" dirty="0" smtClean="0">
                <a:solidFill>
                  <a:srgbClr val="FF0000"/>
                </a:solidFill>
              </a:rPr>
              <a:t>- </a:t>
            </a:r>
            <a:r>
              <a:rPr lang="ko-KR" altLang="en-US" strike="sngStrike" dirty="0" smtClean="0">
                <a:solidFill>
                  <a:srgbClr val="FF0000"/>
                </a:solidFill>
              </a:rPr>
              <a:t>연결되는 화면 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ID</a:t>
            </a:r>
            <a:r>
              <a:rPr lang="ko-KR" altLang="en-US" strike="sngStrike" dirty="0" smtClean="0">
                <a:solidFill>
                  <a:srgbClr val="FF0000"/>
                </a:solidFill>
              </a:rPr>
              <a:t>에 유의할 것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/>
            </a:r>
            <a:br>
              <a:rPr lang="en-US" altLang="ko-KR" strike="sngStrike" dirty="0" smtClean="0">
                <a:solidFill>
                  <a:srgbClr val="FF0000"/>
                </a:solidFill>
              </a:rPr>
            </a:br>
            <a:r>
              <a:rPr lang="en-US" altLang="ko-KR" strike="sngStrike" dirty="0" smtClean="0">
                <a:solidFill>
                  <a:srgbClr val="FF0000"/>
                </a:solidFill>
              </a:rPr>
              <a:t>  &gt; </a:t>
            </a:r>
            <a:r>
              <a:rPr lang="ko-KR" altLang="en-US" strike="sngStrike" dirty="0" smtClean="0">
                <a:solidFill>
                  <a:srgbClr val="FF0000"/>
                </a:solidFill>
              </a:rPr>
              <a:t>동일한 화면이 페이지와 팝업 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2</a:t>
            </a:r>
            <a:r>
              <a:rPr lang="ko-KR" altLang="en-US" strike="sngStrike" dirty="0" smtClean="0">
                <a:solidFill>
                  <a:srgbClr val="FF0000"/>
                </a:solidFill>
              </a:rPr>
              <a:t>종이 있으며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, </a:t>
            </a:r>
            <a:r>
              <a:rPr lang="ko-KR" altLang="en-US" strike="sngStrike" dirty="0" smtClean="0">
                <a:solidFill>
                  <a:srgbClr val="FF0000"/>
                </a:solidFill>
              </a:rPr>
              <a:t>결과 목록에서는 팝업으로 연결됨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.</a:t>
            </a:r>
            <a:br>
              <a:rPr lang="en-US" altLang="ko-KR" strike="sngStrike" dirty="0" smtClean="0">
                <a:solidFill>
                  <a:srgbClr val="FF0000"/>
                </a:solidFill>
              </a:rPr>
            </a:b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추가 </a:t>
            </a:r>
            <a:r>
              <a:rPr lang="ko-KR" altLang="en-US" dirty="0"/>
              <a:t>목록 로드 버튼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결과목록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조달계획 상세 중 결과 목록 표시 탭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결과목록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결과 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0" name="직사각형 159"/>
          <p:cNvSpPr/>
          <p:nvPr/>
        </p:nvSpPr>
        <p:spPr>
          <a:xfrm>
            <a:off x="703268" y="2171191"/>
            <a:ext cx="792000" cy="4061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0331" y="2171192"/>
            <a:ext cx="725552" cy="40934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항목번호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실적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품질등급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규격번호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장비부호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장비명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품명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단위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본조수량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당국수량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장국수량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수량합계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지시단가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지시예산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납기기준일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본조납기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당국납기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47180" y="2171192"/>
            <a:ext cx="1796521" cy="40934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1450012032231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Y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50123-123023-231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0000 0000 0000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000 000 000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장비명칭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품명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EA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2026-12-31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2026-12-31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2026-12-31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701175" y="2171192"/>
            <a:ext cx="2630093" cy="3864431"/>
            <a:chOff x="701175" y="1835481"/>
            <a:chExt cx="2630093" cy="3864431"/>
          </a:xfrm>
        </p:grpSpPr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9853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20007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44148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6295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8442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0590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527043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4851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69991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832577" y="1503147"/>
            <a:ext cx="792000" cy="860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503147"/>
            <a:ext cx="725552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항목번호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실적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ko-KR" altLang="en-US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9" y="1503147"/>
            <a:ext cx="179652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1450012032231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Y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50123-123023-231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5031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171788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19326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1473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3621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57684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586139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183481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7" y="19287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211738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0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40841" y="1928776"/>
            <a:ext cx="26795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62" name="그룹 61"/>
          <p:cNvGrpSpPr/>
          <p:nvPr/>
        </p:nvGrpSpPr>
        <p:grpSpPr>
          <a:xfrm>
            <a:off x="3143548" y="1958981"/>
            <a:ext cx="94010" cy="47005"/>
            <a:chOff x="6812560" y="3297172"/>
            <a:chExt cx="94010" cy="47005"/>
          </a:xfrm>
        </p:grpSpPr>
        <p:cxnSp>
          <p:nvCxnSpPr>
            <p:cNvPr id="63" name="직선 연결선 6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직선 연결선 6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4" name="사각형: 둥근 모서리 169">
            <a:extLst>
              <a:ext uri="{FF2B5EF4-FFF2-40B4-BE49-F238E27FC236}">
                <a16:creationId xmlns:a16="http://schemas.microsoft.com/office/drawing/2014/main" id="{A28DD831-0E4B-31EE-CB08-9E188754698D}"/>
              </a:ext>
            </a:extLst>
          </p:cNvPr>
          <p:cNvSpPr/>
          <p:nvPr/>
        </p:nvSpPr>
        <p:spPr>
          <a:xfrm>
            <a:off x="2859072" y="2424855"/>
            <a:ext cx="459189" cy="144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보기</a:t>
            </a:r>
            <a:endParaRPr kumimoji="1" lang="en-US" sz="700" kern="0" dirty="0">
              <a:solidFill>
                <a:srgbClr val="0070C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05" name="사각형: 둥근 모서리 169">
            <a:extLst>
              <a:ext uri="{FF2B5EF4-FFF2-40B4-BE49-F238E27FC236}">
                <a16:creationId xmlns:a16="http://schemas.microsoft.com/office/drawing/2014/main" id="{A28DD831-0E4B-31EE-CB08-9E188754698D}"/>
              </a:ext>
            </a:extLst>
          </p:cNvPr>
          <p:cNvSpPr/>
          <p:nvPr/>
        </p:nvSpPr>
        <p:spPr>
          <a:xfrm>
            <a:off x="6009019" y="1760100"/>
            <a:ext cx="459189" cy="144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 smtClean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보기</a:t>
            </a:r>
            <a:endParaRPr kumimoji="1" lang="en-US" sz="700" kern="0" dirty="0">
              <a:solidFill>
                <a:srgbClr val="0070C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9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90250" y="6257234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dirty="0"/>
              <a:t>내역 접기 ↑</a:t>
            </a:r>
            <a:endParaRPr kumimoji="1" lang="en-US" altLang="ko-KR" sz="700" kern="0" dirty="0"/>
          </a:p>
        </p:txBody>
      </p:sp>
      <p:sp>
        <p:nvSpPr>
          <p:cNvPr id="9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2395771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6" name="직사각형 10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목록 정보가 긴 경우</a:t>
              </a:r>
              <a:r>
                <a:rPr lang="en-US" altLang="ko-KR" sz="700" dirty="0"/>
                <a:t/>
              </a:r>
              <a:br>
                <a:rPr lang="en-US" altLang="ko-KR" sz="700" dirty="0"/>
              </a:br>
              <a:r>
                <a:rPr lang="ko-KR" altLang="en-US" sz="700" dirty="0"/>
                <a:t>내역 접기</a:t>
              </a:r>
              <a:r>
                <a:rPr lang="en-US" altLang="ko-KR" sz="700" dirty="0"/>
                <a:t>, </a:t>
              </a:r>
              <a:r>
                <a:rPr lang="ko-KR" altLang="en-US" sz="700" dirty="0"/>
                <a:t>펼쳐보기 추가</a:t>
              </a:r>
              <a:endParaRPr lang="en-US" altLang="ko-KR" sz="700" dirty="0"/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8223250" y="920085"/>
            <a:ext cx="3365500" cy="634511"/>
            <a:chOff x="8223250" y="569392"/>
            <a:chExt cx="3365500" cy="634511"/>
          </a:xfrm>
        </p:grpSpPr>
        <p:sp>
          <p:nvSpPr>
            <p:cNvPr id="72" name="직사각형 7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 smtClean="0"/>
                <a:t>설명 </a:t>
              </a:r>
              <a:r>
                <a:rPr lang="ko-KR" altLang="en-US" dirty="0"/>
                <a:t>수정</a:t>
              </a: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재고번호</a:t>
              </a:r>
              <a:r>
                <a:rPr lang="ko-KR" altLang="en-US" sz="700" dirty="0" smtClean="0"/>
                <a:t> 클릭 시 이동 설명 수정함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33665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30889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(dm_planInfo)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prchsDmndNo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공고의 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31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입찰유형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bidMthd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입찰유형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183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ctrtMthdNm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일반경쟁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단계경쟁 등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79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공고시기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pbancPrnmntDt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공고시기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31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sumBgtAmt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74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586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implPrnmntMm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440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picDeptNm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 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540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 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picTlno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B7B9B617-F611-D7D3-903E-5DD24751A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33189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03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결과목록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4072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frcptlArtclNo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452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prfmncYn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실적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366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644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inspShpNm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94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009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665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407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514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46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본조수량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bscbgtQty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본조수량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794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athrtQty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당국수량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873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ltbndQty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3104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수량합계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sumQty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수량합계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197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지시단가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drctnUntprc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지시단가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628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지시예산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bgtAmt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지시예산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546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납기기준일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납기기준일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553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본조납기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bscbgtDudtYmd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본조납기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015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당국납기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athrtDudtYmd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당국납기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장국납기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ltbndDudtYmd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장국납기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59797E5-AE72-9C87-02BB-E756394FF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07445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75469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70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4765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059919"/>
              </p:ext>
            </p:extLst>
          </p:nvPr>
        </p:nvGraphicFramePr>
        <p:xfrm>
          <a:off x="453000" y="826301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 정보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조달계획상세조회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품목목록조회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scwin.grd_list_oncellclick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/>
                        <a:t>실적이 </a:t>
                      </a:r>
                      <a:r>
                        <a:rPr lang="en-US" altLang="ko-KR" sz="800"/>
                        <a:t>‘Y’</a:t>
                      </a:r>
                      <a:r>
                        <a:rPr lang="ko-KR" altLang="en-US" sz="800"/>
                        <a:t>인 경우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/>
                        <a:t>품목별가격자료조회 팝업 호출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/>
                        <a:t>그 외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/>
                        <a:t>목록정보조회 팝업 호출</a:t>
                      </a:r>
                      <a:r>
                        <a:rPr lang="en-US" altLang="ko-KR" sz="800"/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품목별가격자료조회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(MUI-OP-01-P75)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목록정보조회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(MUI-OP-01-P76)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197490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A86C71F4-383E-B549-D909-8D545131A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63561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36321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검색조건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획득 구분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r>
              <a:rPr lang="en-US" altLang="ko-KR" dirty="0"/>
              <a:t>/</a:t>
            </a:r>
            <a:r>
              <a:rPr lang="ko-KR" altLang="en-US" dirty="0" err="1">
                <a:latin typeface="+mn-ea"/>
              </a:rPr>
              <a:t>상업실적사</a:t>
            </a:r>
            <a:r>
              <a:rPr lang="en-US" altLang="ko-KR" dirty="0">
                <a:latin typeface="+mn-ea"/>
              </a:rPr>
              <a:t>/FMS</a:t>
            </a:r>
            <a:r>
              <a:rPr lang="ko-KR" altLang="en-US" dirty="0" err="1">
                <a:latin typeface="+mn-ea"/>
              </a:rPr>
              <a:t>실적가</a:t>
            </a:r>
            <a:r>
              <a:rPr lang="en-US" altLang="ko-KR" dirty="0">
                <a:latin typeface="+mn-ea"/>
              </a:rPr>
              <a:t>/BOA</a:t>
            </a:r>
            <a:r>
              <a:rPr lang="ko-KR" altLang="en-US" dirty="0">
                <a:latin typeface="+mn-ea"/>
              </a:rPr>
              <a:t>청구가</a:t>
            </a:r>
            <a:r>
              <a:rPr lang="en-US" altLang="ko-KR" dirty="0">
                <a:latin typeface="+mn-ea"/>
              </a:rPr>
              <a:t>/CSP</a:t>
            </a:r>
            <a:r>
              <a:rPr lang="ko-KR" altLang="en-US" dirty="0">
                <a:latin typeface="+mn-ea"/>
              </a:rPr>
              <a:t>구매가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err="1">
                <a:latin typeface="+mn-ea"/>
              </a:rPr>
              <a:t>업체공표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견적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가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err="1">
                <a:latin typeface="+mn-ea"/>
              </a:rPr>
              <a:t>무관정보가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각 입력 폼은 부분 입력 가능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진입 시 </a:t>
            </a:r>
            <a:r>
              <a:rPr lang="ko-KR" altLang="en-US" dirty="0" err="1">
                <a:latin typeface="+mn-ea"/>
              </a:rPr>
              <a:t>군급</a:t>
            </a:r>
            <a:r>
              <a:rPr lang="ko-KR" altLang="en-US" dirty="0">
                <a:latin typeface="+mn-ea"/>
              </a:rPr>
              <a:t> 입력 가능 상태로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가상 </a:t>
            </a:r>
            <a:r>
              <a:rPr lang="ko-KR" altLang="en-US" dirty="0" err="1">
                <a:latin typeface="+mn-ea"/>
              </a:rPr>
              <a:t>키패드</a:t>
            </a:r>
            <a:r>
              <a:rPr lang="ko-KR" altLang="en-US" dirty="0">
                <a:latin typeface="+mn-ea"/>
              </a:rPr>
              <a:t> 활성화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진입 이전 정보가 있는 경우 해당 정보 입력 후 검색 결과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검색결과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항목 클릭 없음</a:t>
            </a:r>
            <a:r>
              <a:rPr lang="en-US" altLang="ko-KR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품목별 </a:t>
            </a:r>
            <a:r>
              <a:rPr lang="ko-KR" altLang="en-US" dirty="0" err="1">
                <a:latin typeface="+mn-ea"/>
              </a:rPr>
              <a:t>가격자료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조달계획상세조회에서 조회된 항목 중 실적이 있는 항목의 품목별가격자료를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조달 계획 </a:t>
            </a:r>
            <a:r>
              <a:rPr lang="en-US" altLang="ko-KR" dirty="0"/>
              <a:t>&gt; </a:t>
            </a:r>
            <a:r>
              <a:rPr lang="ko-KR" altLang="en-US" dirty="0"/>
              <a:t>상세 조회 </a:t>
            </a:r>
            <a:r>
              <a:rPr lang="en-US" altLang="ko-KR" dirty="0"/>
              <a:t>- </a:t>
            </a:r>
            <a:r>
              <a:rPr lang="ko-KR" altLang="en-US" dirty="0" err="1"/>
              <a:t>결과목록</a:t>
            </a:r>
            <a:r>
              <a:rPr lang="en-US" altLang="ko-KR" dirty="0">
                <a:latin typeface="+mn-ea"/>
              </a:rPr>
              <a:t> &gt; </a:t>
            </a:r>
            <a:r>
              <a:rPr lang="ko-KR" altLang="en-US" dirty="0">
                <a:latin typeface="+mn-ea"/>
              </a:rPr>
              <a:t>품목별가격자료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MUI-OP-01-P75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</a:t>
            </a:r>
            <a:r>
              <a:rPr lang="ko-KR" altLang="en-US" sz="900" dirty="0" err="1">
                <a:latin typeface="+mn-ea"/>
              </a:rPr>
              <a:t>가격자료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529936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2102291"/>
            <a:ext cx="2712027" cy="4124872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2273335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</a:t>
            </a:r>
            <a:r>
              <a:rPr lang="ko-KR" altLang="en-US" sz="900" dirty="0" err="1">
                <a:latin typeface="+mn-ea"/>
              </a:rPr>
              <a:t>가격자료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9" name="모서리가 둥근 직사각형 168"/>
          <p:cNvSpPr/>
          <p:nvPr/>
        </p:nvSpPr>
        <p:spPr>
          <a:xfrm>
            <a:off x="1443878" y="296443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03274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112794" y="3002720"/>
            <a:ext cx="145884" cy="145882"/>
            <a:chOff x="3112794" y="3984500"/>
            <a:chExt cx="145884" cy="145882"/>
          </a:xfrm>
        </p:grpSpPr>
        <p:sp>
          <p:nvSpPr>
            <p:cNvPr id="310" name="타원 30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1" name="그룹 31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312" name="직선 연결선 31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직선 연결선 31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91334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020370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309171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순번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30917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>
                <a:latin typeface="+mn-ea"/>
              </a:rPr>
              <a:t>세부정보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1959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5146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810509"/>
            <a:ext cx="2290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1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551278"/>
            <a:ext cx="46492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</a:t>
            </a: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052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298371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78" name="모서리가 둥근 직사각형 77"/>
          <p:cNvSpPr/>
          <p:nvPr/>
        </p:nvSpPr>
        <p:spPr>
          <a:xfrm>
            <a:off x="1443878" y="266295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73127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획득구분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*</a:t>
            </a:r>
          </a:p>
        </p:txBody>
      </p:sp>
      <p:grpSp>
        <p:nvGrpSpPr>
          <p:cNvPr id="86" name="그룹 85"/>
          <p:cNvGrpSpPr/>
          <p:nvPr/>
        </p:nvGrpSpPr>
        <p:grpSpPr>
          <a:xfrm>
            <a:off x="3112794" y="2768443"/>
            <a:ext cx="91438" cy="45719"/>
            <a:chOff x="6812560" y="3297172"/>
            <a:chExt cx="94010" cy="47005"/>
          </a:xfrm>
        </p:grpSpPr>
        <p:cxnSp>
          <p:nvCxnSpPr>
            <p:cNvPr id="87" name="직선 연결선 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모서리가 둥근 직사각형 83"/>
          <p:cNvSpPr/>
          <p:nvPr/>
        </p:nvSpPr>
        <p:spPr>
          <a:xfrm>
            <a:off x="1443878" y="355979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2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598085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모서리가 둥근 직사각형 93"/>
          <p:cNvSpPr/>
          <p:nvPr/>
        </p:nvSpPr>
        <p:spPr>
          <a:xfrm>
            <a:off x="1443878" y="3258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326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3112794" y="3298169"/>
            <a:ext cx="145884" cy="145882"/>
            <a:chOff x="3112794" y="3984500"/>
            <a:chExt cx="145884" cy="145882"/>
          </a:xfrm>
        </p:grpSpPr>
        <p:sp>
          <p:nvSpPr>
            <p:cNvPr id="100" name="타원 9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1" name="그룹 10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02" name="직선 연결선 10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551278"/>
            <a:ext cx="1232093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 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309171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구분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1441835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433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3110751" y="3900610"/>
            <a:ext cx="145884" cy="145882"/>
            <a:chOff x="3112794" y="3984500"/>
            <a:chExt cx="145884" cy="145882"/>
          </a:xfrm>
        </p:grpSpPr>
        <p:sp>
          <p:nvSpPr>
            <p:cNvPr id="120" name="타원 11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4270198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50674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4830370"/>
            <a:ext cx="2290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571139"/>
            <a:ext cx="46492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</a:t>
            </a: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571139"/>
            <a:ext cx="1232093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 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82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5290059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5266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7" name="그룹 9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8" name="직사각형 9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목록 정보가 긴 경우</a:t>
              </a:r>
              <a:r>
                <a:rPr lang="en-US" altLang="ko-KR" sz="700" dirty="0"/>
                <a:t/>
              </a:r>
              <a:br>
                <a:rPr lang="en-US" altLang="ko-KR" sz="700" dirty="0"/>
              </a:br>
              <a:r>
                <a:rPr lang="ko-KR" altLang="en-US" sz="700" dirty="0"/>
                <a:t>내역 접기</a:t>
              </a:r>
              <a:r>
                <a:rPr lang="en-US" altLang="ko-KR" sz="700" dirty="0"/>
                <a:t>, </a:t>
              </a:r>
              <a:r>
                <a:rPr lang="ko-KR" altLang="en-US" sz="700" dirty="0"/>
                <a:t>펼쳐보기 추가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13278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>
                <a:solidFill>
                  <a:prstClr val="black"/>
                </a:solidFill>
              </a:rPr>
              <a:t>항목 설명 </a:t>
            </a:r>
            <a:r>
              <a:rPr lang="en-US" altLang="ko-KR" sz="1000" b="1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19642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품목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285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획득구분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획득구분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상업실적사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/FMS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실적가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/BOA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/CSP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업체공표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무관정보가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NIIN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국가식별코드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입력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82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286891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32125D8-8798-15F3-D587-EC3FA42F7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19971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748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73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>
                <a:solidFill>
                  <a:prstClr val="black"/>
                </a:solidFill>
              </a:rPr>
              <a:t>항목 설명 </a:t>
            </a:r>
            <a:r>
              <a:rPr lang="en-US" altLang="ko-KR" sz="1000" b="1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554692"/>
              </p:ext>
            </p:extLst>
          </p:nvPr>
        </p:nvGraphicFramePr>
        <p:xfrm>
          <a:off x="452999" y="1002459"/>
          <a:ext cx="8994883" cy="44601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검색결과 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232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획득구분코드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1435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획득구분명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1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군급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364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국가식별코드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423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14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5652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885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적용장비코드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049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적용장비명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623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48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crncNm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화폐단위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65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화폐구분명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crncEngNm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 화폐구분명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059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ntnCd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국가코드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65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211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untprc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228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71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계약업체 업체명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23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09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658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획득근거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획득근거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6591369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206854D4-A859-BBEF-F79F-06C0E5EBA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639597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74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>
                <a:solidFill>
                  <a:prstClr val="black"/>
                </a:solidFill>
                <a:latin typeface="+mn-ea"/>
              </a:rPr>
              <a:t> 이벤트 설명</a:t>
            </a:r>
            <a:endParaRPr lang="ko-KR" altLang="en-US" sz="10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 Box 73">
            <a:extLst>
              <a:ext uri="{FF2B5EF4-FFF2-40B4-BE49-F238E27FC236}">
                <a16:creationId xmlns:a16="http://schemas.microsoft.com/office/drawing/2014/main" id="{206854D4-A859-BBEF-F79F-06C0E5EBA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0B12C55-A3B8-F2F0-3E2D-C2777F356FC7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80842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품목별가격자료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품목별가격자료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5764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국외 카드 항목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 smtClean="0"/>
              <a:t>MUI-OP-01-M78 </a:t>
            </a:r>
            <a:r>
              <a:rPr lang="ko-KR" altLang="en-US" dirty="0" smtClean="0"/>
              <a:t>상세 화면 이동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연간조달계획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/>
              <a:t>연간조달계획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sz="800" dirty="0">
                <a:latin typeface="+mn-ea"/>
              </a:rPr>
              <a:t>MUI-OP-01-T03</a:t>
            </a:r>
            <a:endParaRPr lang="ko-KR" altLang="en-US" dirty="0"/>
          </a:p>
        </p:txBody>
      </p:sp>
      <p:sp>
        <p:nvSpPr>
          <p:cNvPr id="121" name="직사각형 120"/>
          <p:cNvSpPr/>
          <p:nvPr/>
        </p:nvSpPr>
        <p:spPr>
          <a:xfrm>
            <a:off x="476794" y="1260503"/>
            <a:ext cx="6577149" cy="2007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이해를 돕기 위한 화면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760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7" name="그룹 106"/>
          <p:cNvGrpSpPr/>
          <p:nvPr/>
        </p:nvGrpSpPr>
        <p:grpSpPr>
          <a:xfrm>
            <a:off x="781461" y="4085841"/>
            <a:ext cx="2473257" cy="1098561"/>
            <a:chOff x="781461" y="2610063"/>
            <a:chExt cx="2473257" cy="1098561"/>
          </a:xfrm>
        </p:grpSpPr>
        <p:sp>
          <p:nvSpPr>
            <p:cNvPr id="108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조달요구번호 </a:t>
              </a:r>
              <a:r>
                <a:rPr lang="en-US" altLang="ko-KR" sz="700" dirty="0"/>
                <a:t>ABCD1234</a:t>
              </a:r>
            </a:p>
            <a:p>
              <a:r>
                <a:rPr lang="ko-KR" altLang="en-US" sz="900" b="1" dirty="0" err="1"/>
                <a:t>재고번호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A1234567890</a:t>
              </a:r>
              <a:endParaRPr lang="ko-KR" altLang="en-US" sz="900" b="1" dirty="0"/>
            </a:p>
          </p:txBody>
        </p:sp>
        <p:sp>
          <p:nvSpPr>
            <p:cNvPr id="109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10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2026-02-12</a:t>
              </a:r>
            </a:p>
          </p:txBody>
        </p:sp>
        <p:sp>
          <p:nvSpPr>
            <p:cNvPr id="111" name="모서리가 둥근 직사각형 110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112" name="모서리가 둥근 직사각형 111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육군</a:t>
              </a: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942537"/>
            <a:ext cx="76863" cy="292489"/>
            <a:chOff x="3750067" y="4683795"/>
            <a:chExt cx="76863" cy="292489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778515" y="5385170"/>
            <a:ext cx="2476203" cy="1083172"/>
            <a:chOff x="778515" y="2610063"/>
            <a:chExt cx="2476203" cy="1083172"/>
          </a:xfrm>
        </p:grpSpPr>
        <p:sp>
          <p:nvSpPr>
            <p:cNvPr id="118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dirty="0"/>
                <a:t>조달요구번호 </a:t>
              </a:r>
              <a:r>
                <a:rPr lang="en-US" altLang="ko-KR" sz="600" dirty="0"/>
                <a:t>EFGH1234</a:t>
              </a:r>
            </a:p>
            <a:p>
              <a:r>
                <a:rPr lang="ko-KR" altLang="en-US" sz="800" b="1" dirty="0" err="1"/>
                <a:t>재고번호</a:t>
              </a:r>
              <a:r>
                <a:rPr lang="ko-KR" altLang="en-US" sz="800" b="1" dirty="0"/>
                <a:t> </a:t>
              </a:r>
              <a:r>
                <a:rPr lang="en-US" altLang="ko-KR" sz="800" b="1" dirty="0"/>
                <a:t>F987654123</a:t>
              </a:r>
              <a:endParaRPr lang="ko-KR" altLang="en-US" sz="800" b="1" dirty="0"/>
            </a:p>
          </p:txBody>
        </p:sp>
        <p:sp>
          <p:nvSpPr>
            <p:cNvPr id="119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20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BB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2026-01-14</a:t>
              </a:r>
            </a:p>
          </p:txBody>
        </p:sp>
        <p:sp>
          <p:nvSpPr>
            <p:cNvPr id="123" name="모서리가 둥근 직사각형 122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124" name="모서리가 둥근 직사각형 123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공군</a:t>
              </a:r>
              <a:endParaRPr lang="ko-KR" altLang="en-US" sz="600" dirty="0"/>
            </a:p>
          </p:txBody>
        </p:sp>
      </p:grp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666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98485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331780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8" name="타원 127"/>
          <p:cNvSpPr/>
          <p:nvPr/>
        </p:nvSpPr>
        <p:spPr>
          <a:xfrm>
            <a:off x="783686" y="2363125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9" name="그룹 128"/>
          <p:cNvGrpSpPr/>
          <p:nvPr/>
        </p:nvGrpSpPr>
        <p:grpSpPr>
          <a:xfrm>
            <a:off x="3143548" y="2445111"/>
            <a:ext cx="94010" cy="47005"/>
            <a:chOff x="6812560" y="3297172"/>
            <a:chExt cx="94010" cy="47005"/>
          </a:xfrm>
        </p:grpSpPr>
        <p:cxnSp>
          <p:nvCxnSpPr>
            <p:cNvPr id="130" name="직선 연결선 12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직선 연결선 13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4642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49414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64536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64536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36" name="그룹 135"/>
          <p:cNvGrpSpPr/>
          <p:nvPr/>
        </p:nvGrpSpPr>
        <p:grpSpPr>
          <a:xfrm>
            <a:off x="3143548" y="3757727"/>
            <a:ext cx="94010" cy="47005"/>
            <a:chOff x="6812560" y="3297172"/>
            <a:chExt cx="94010" cy="47005"/>
          </a:xfrm>
        </p:grpSpPr>
        <p:cxnSp>
          <p:nvCxnSpPr>
            <p:cNvPr id="145" name="직선 연결선 14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직선 연결선 14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7" name="그룹 146"/>
          <p:cNvGrpSpPr/>
          <p:nvPr/>
        </p:nvGrpSpPr>
        <p:grpSpPr>
          <a:xfrm>
            <a:off x="767702" y="3044971"/>
            <a:ext cx="2527420" cy="477995"/>
            <a:chOff x="786326" y="2270279"/>
            <a:chExt cx="2527420" cy="477995"/>
          </a:xfrm>
        </p:grpSpPr>
        <p:sp>
          <p:nvSpPr>
            <p:cNvPr id="148" name="모서리가 둥근 직사각형 147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타원 148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51" name="그룹 150"/>
            <p:cNvGrpSpPr/>
            <p:nvPr/>
          </p:nvGrpSpPr>
          <p:grpSpPr>
            <a:xfrm>
              <a:off x="795624" y="2274581"/>
              <a:ext cx="1318157" cy="155984"/>
              <a:chOff x="808107" y="2288229"/>
              <a:chExt cx="1207003" cy="168318"/>
            </a:xfrm>
          </p:grpSpPr>
          <p:sp>
            <p:nvSpPr>
              <p:cNvPr id="158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80758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>
                    <a:latin typeface="맑은 고딕"/>
                    <a:ea typeface="맑은 고딕" panose="020B0503020000020004" pitchFamily="50" charset="-127"/>
                  </a:rPr>
                  <a:t>조달요구번호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52" name="타원 151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5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54" name="타원 153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5" name="그룹 154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56" name="직선 연결선 155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101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61" name="그룹 160"/>
          <p:cNvGrpSpPr/>
          <p:nvPr/>
        </p:nvGrpSpPr>
        <p:grpSpPr>
          <a:xfrm>
            <a:off x="675399" y="2639265"/>
            <a:ext cx="2712027" cy="345002"/>
            <a:chOff x="675399" y="2210158"/>
            <a:chExt cx="2712027" cy="345002"/>
          </a:xfrm>
        </p:grpSpPr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210158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55516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2321104"/>
              <a:ext cx="663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b="1" dirty="0" smtClean="0">
                  <a:latin typeface="+mn-ea"/>
                </a:rPr>
                <a:t>유형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65" name="모서리가 둥근 직사각형 164"/>
            <p:cNvSpPr/>
            <p:nvPr/>
          </p:nvSpPr>
          <p:spPr>
            <a:xfrm>
              <a:off x="1104835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조달계획</a:t>
              </a:r>
            </a:p>
          </p:txBody>
        </p:sp>
        <p:sp>
          <p:nvSpPr>
            <p:cNvPr id="166" name="모서리가 둥근 직사각형 165"/>
            <p:cNvSpPr/>
            <p:nvPr/>
          </p:nvSpPr>
          <p:spPr>
            <a:xfrm>
              <a:off x="1857752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 err="1">
                  <a:solidFill>
                    <a:schemeClr val="tx1"/>
                  </a:solidFill>
                </a:rPr>
                <a:t>사전규격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7" name="모서리가 둥근 직사각형 166"/>
            <p:cNvSpPr/>
            <p:nvPr/>
          </p:nvSpPr>
          <p:spPr>
            <a:xfrm>
              <a:off x="2604380" y="2288962"/>
              <a:ext cx="685866" cy="187200"/>
            </a:xfrm>
            <a:prstGeom prst="roundRect">
              <a:avLst>
                <a:gd name="adj" fmla="val 17463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연간조달계획</a:t>
              </a:r>
            </a:p>
          </p:txBody>
        </p:sp>
      </p:grpSp>
      <p:sp>
        <p:nvSpPr>
          <p:cNvPr id="16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조달계획 </a:t>
              </a:r>
              <a:r>
                <a:rPr lang="ko-KR" altLang="en-US" sz="800" dirty="0" err="1">
                  <a:latin typeface="+mn-ea"/>
                </a:rPr>
                <a:t>통합목록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73" name="그룹 172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265" name="직선 연결선 2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6" name="직선 연결선 2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4" name="그룹 173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75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7" name="직선 연결선 1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0" name="타원 179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" name="타원 180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" name="타원 182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67" name="타원 26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303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aphicFrame>
        <p:nvGraphicFramePr>
          <p:cNvPr id="122" name="표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584678"/>
              </p:ext>
            </p:extLst>
          </p:nvPr>
        </p:nvGraphicFramePr>
        <p:xfrm>
          <a:off x="3801286" y="1616448"/>
          <a:ext cx="306977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4889">
                  <a:extLst>
                    <a:ext uri="{9D8B030D-6E8A-4147-A177-3AD203B41FA5}">
                      <a16:colId xmlns:a16="http://schemas.microsoft.com/office/drawing/2014/main" val="3115782702"/>
                    </a:ext>
                  </a:extLst>
                </a:gridCol>
                <a:gridCol w="1534889">
                  <a:extLst>
                    <a:ext uri="{9D8B030D-6E8A-4147-A177-3AD203B41FA5}">
                      <a16:colId xmlns:a16="http://schemas.microsoft.com/office/drawing/2014/main" val="393582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항목명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표시 값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09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</a:rPr>
                        <a:t>업무구분</a:t>
                      </a:r>
                      <a:r>
                        <a:rPr lang="en-US" altLang="ko-KR" sz="700" dirty="0" smtClean="0"/>
                        <a:t> – </a:t>
                      </a:r>
                      <a:r>
                        <a:rPr lang="ko-KR" altLang="en-US" sz="700" dirty="0" smtClean="0"/>
                        <a:t>기본 노출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/>
                        <a:t>국외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46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 smtClean="0">
                          <a:latin typeface="+mn-ea"/>
                          <a:ea typeface="+mn-ea"/>
                        </a:rPr>
                        <a:t>군구분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prcmRqtInstCd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개발 시 확인 필요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08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진행상태 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frcptlItemMsprgStcd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개발 시 확인 필요</a:t>
                      </a:r>
                      <a:endParaRPr lang="ko-KR" altLang="en-US" sz="7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675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312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</a:t>
            </a:r>
            <a:r>
              <a:rPr lang="ko-KR" altLang="en-US" dirty="0" smtClean="0"/>
              <a:t>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목록 표시 정보와 동일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목록 데이터 전체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재고번호</a:t>
            </a:r>
            <a:r>
              <a:rPr lang="ko-KR" altLang="en-US" dirty="0" smtClean="0"/>
              <a:t> 클릭 시 팝업 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MUI-OP-01-P76 </a:t>
            </a:r>
            <a:r>
              <a:rPr lang="ko-KR" altLang="en-US" dirty="0">
                <a:latin typeface="+mn-ea"/>
              </a:rPr>
              <a:t>목록정보조회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국외연간조달계획상세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</a:t>
            </a:r>
            <a:r>
              <a:rPr lang="ko-KR" altLang="en-US" dirty="0" smtClean="0"/>
              <a:t>연간조달계획 상세 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연간조달계획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국외연간조달계획상세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MUI-OP-01-M78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2269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3098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580887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조달요구번호 </a:t>
            </a:r>
            <a:r>
              <a:rPr lang="en-US" altLang="ko-KR" sz="700" dirty="0">
                <a:solidFill>
                  <a:prstClr val="black"/>
                </a:solidFill>
              </a:rPr>
              <a:t>ABCD1234</a:t>
            </a:r>
          </a:p>
          <a:p>
            <a:pPr lvl="0"/>
            <a:r>
              <a:rPr lang="ko-KR" altLang="en-US" sz="900" b="1" dirty="0" err="1">
                <a:solidFill>
                  <a:prstClr val="black"/>
                </a:solidFill>
              </a:rPr>
              <a:t>재고번호</a:t>
            </a:r>
            <a:r>
              <a:rPr lang="ko-KR" altLang="en-US" sz="900" b="1" dirty="0">
                <a:solidFill>
                  <a:prstClr val="black"/>
                </a:solidFill>
              </a:rPr>
              <a:t> </a:t>
            </a:r>
            <a:r>
              <a:rPr lang="en-US" altLang="ko-KR" sz="900" b="1" dirty="0">
                <a:solidFill>
                  <a:prstClr val="black"/>
                </a:solidFill>
              </a:rPr>
              <a:t>A1234567890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915952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부품번호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품질등급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생산자부호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접수기간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230817" y="2900563"/>
            <a:ext cx="90409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AA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-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A123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  <a:r>
              <a:rPr lang="ko-KR" altLang="en-US" sz="600" dirty="0">
                <a:latin typeface="+mn-ea"/>
              </a:rPr>
              <a:t> </a:t>
            </a:r>
            <a:r>
              <a:rPr lang="en-US" altLang="ko-KR" sz="600" dirty="0">
                <a:latin typeface="+mn-ea"/>
              </a:rPr>
              <a:t>~ 2026-02-12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396556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국외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6" y="2396556"/>
            <a:ext cx="24555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육군</a:t>
            </a: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9478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40361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671706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53692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016438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상세내용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129769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323923"/>
            <a:ext cx="792000" cy="19083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2392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323923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진행상태 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군구분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조달요구번호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품질 등급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</a:t>
            </a:r>
            <a:r>
              <a:rPr lang="ko-KR" altLang="en-US" sz="700" dirty="0" smtClean="0">
                <a:latin typeface="+mn-ea"/>
              </a:rPr>
              <a:t>부호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중복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단위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323923"/>
            <a:ext cx="1784088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지시중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육군</a:t>
            </a:r>
            <a:endParaRPr lang="en-US" altLang="ko-KR" sz="7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solidFill>
                  <a:prstClr val="black"/>
                </a:solidFill>
              </a:rPr>
              <a:t>ABCD1234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solidFill>
                  <a:srgbClr val="0070C0"/>
                </a:solidFill>
                <a:latin typeface="+mn-ea"/>
              </a:rPr>
              <a:t>A1234567890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EA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55502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76873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8244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9614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098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62356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83727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7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0534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1" name="그룹 140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 smtClean="0">
                  <a:latin typeface="+mn-ea"/>
                </a:rPr>
                <a:t>연간조달계획 </a:t>
              </a:r>
              <a:r>
                <a:rPr lang="ko-KR" altLang="en-US" sz="800" dirty="0">
                  <a:latin typeface="+mn-ea"/>
                </a:rPr>
                <a:t>상세</a:t>
              </a: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4" name="그룹 143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153" name="직선 연결선 15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5" name="그룹 144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146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9" name="타원 148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1" name="타원 150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" name="타원 151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83" name="직사각형 182"/>
          <p:cNvSpPr/>
          <p:nvPr/>
        </p:nvSpPr>
        <p:spPr>
          <a:xfrm>
            <a:off x="3829227" y="1507944"/>
            <a:ext cx="792000" cy="24184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9227" y="155652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384" y="1556520"/>
            <a:ext cx="67077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지시단가</a:t>
            </a:r>
            <a:r>
              <a:rPr lang="en-US" altLang="ko-KR" sz="700" dirty="0">
                <a:latin typeface="+mn-ea"/>
              </a:rPr>
              <a:t>(USD)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지시예산</a:t>
            </a:r>
            <a:r>
              <a:rPr lang="en-US" altLang="ko-KR" sz="700" dirty="0">
                <a:latin typeface="+mn-ea"/>
              </a:rPr>
              <a:t>(USD)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품명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규격번호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장비부호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장비명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구매요청번호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항목 번호</a:t>
            </a:r>
          </a:p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기능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품류</a:t>
            </a:r>
            <a:endParaRPr lang="en-US" altLang="ko-KR" sz="700" dirty="0">
              <a:latin typeface="+mn-ea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5232" y="1556520"/>
            <a:ext cx="1784088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1600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4,000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6,400,000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GBU-12 </a:t>
            </a:r>
            <a:r>
              <a:rPr lang="ko-KR" altLang="en-US" sz="700" dirty="0">
                <a:latin typeface="+mn-ea"/>
              </a:rPr>
              <a:t>신관 </a:t>
            </a:r>
            <a:r>
              <a:rPr lang="en-US" altLang="ko-KR" sz="700" dirty="0">
                <a:latin typeface="+mn-ea"/>
              </a:rPr>
              <a:t>FMU-139</a:t>
            </a:r>
            <a:r>
              <a:rPr lang="ko-KR" altLang="en-US" sz="700" dirty="0">
                <a:latin typeface="+mn-ea"/>
              </a:rPr>
              <a:t>급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>
                <a:latin typeface="+mn-ea"/>
              </a:rPr>
              <a:t>비</a:t>
            </a:r>
            <a:r>
              <a:rPr lang="en-US" altLang="ko-KR" sz="700" dirty="0" smtClean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 smtClean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178762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20013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22150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24287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264245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285616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30698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32902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350390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371761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1320" y="393132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94" name="그룹 193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95" name="직사각형 194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196" name="직사각형 19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국외 연간조달계획 </a:t>
              </a:r>
              <a:r>
                <a:rPr lang="ko-KR" altLang="en-US" sz="700" dirty="0" err="1" smtClean="0"/>
                <a:t>상세화면</a:t>
              </a:r>
              <a:r>
                <a:rPr lang="ko-KR" altLang="en-US" sz="700" dirty="0"/>
                <a:t> </a:t>
              </a:r>
              <a:r>
                <a:rPr lang="ko-KR" altLang="en-US" sz="700" dirty="0" smtClean="0"/>
                <a:t>추가함</a:t>
              </a:r>
              <a:r>
                <a:rPr lang="en-US" altLang="ko-KR" sz="700" dirty="0"/>
                <a:t/>
              </a:r>
              <a:br>
                <a:rPr lang="en-US" altLang="ko-KR" sz="700" dirty="0"/>
              </a:br>
              <a:r>
                <a:rPr lang="ko-KR" altLang="en-US" sz="700" dirty="0" smtClean="0"/>
                <a:t>목록 데이터에 일부 정보를 표시하고</a:t>
              </a:r>
              <a:r>
                <a:rPr lang="en-US" altLang="ko-KR" sz="700" dirty="0" smtClean="0"/>
                <a:t>, </a:t>
              </a:r>
              <a:r>
                <a:rPr lang="ko-KR" altLang="en-US" sz="700" dirty="0" smtClean="0"/>
                <a:t>상세 화면에서 모든 정보 표시</a:t>
              </a:r>
              <a:endParaRPr lang="en-US" altLang="ko-KR" sz="700" dirty="0" smtClean="0"/>
            </a:p>
          </p:txBody>
        </p:sp>
      </p:grpSp>
      <p:sp>
        <p:nvSpPr>
          <p:cNvPr id="19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2836921" y="5008306"/>
            <a:ext cx="494347" cy="162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보기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9878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0636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6505878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군수품</a:t>
            </a:r>
            <a:r>
              <a:rPr lang="en-US" altLang="ko-KR" dirty="0"/>
              <a:t> </a:t>
            </a:r>
            <a:r>
              <a:rPr lang="ko-KR" altLang="en-US" dirty="0"/>
              <a:t>정보 </a:t>
            </a:r>
            <a:r>
              <a:rPr lang="en-US" altLang="ko-KR" dirty="0"/>
              <a:t>NIIN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페이지 접근 시 </a:t>
            </a:r>
            <a:r>
              <a:rPr lang="en-US" altLang="ko-KR" dirty="0"/>
              <a:t>NIIN</a:t>
            </a:r>
            <a:r>
              <a:rPr lang="ko-KR" altLang="en-US" dirty="0"/>
              <a:t>이 있는 경우</a:t>
            </a:r>
            <a:r>
              <a:rPr lang="en-US" altLang="ko-KR" dirty="0"/>
              <a:t> </a:t>
            </a:r>
            <a:r>
              <a:rPr lang="ko-KR" altLang="en-US" dirty="0"/>
              <a:t>자동 채우기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다른 탭 페이지에서 </a:t>
            </a:r>
            <a:r>
              <a:rPr lang="en-US" altLang="ko-KR" dirty="0"/>
              <a:t>NIIN </a:t>
            </a:r>
            <a:r>
              <a:rPr lang="ko-KR" altLang="en-US" dirty="0"/>
              <a:t>설정 시 탭에 모두 </a:t>
            </a:r>
            <a:r>
              <a:rPr lang="en-US" altLang="ko-KR" dirty="0"/>
              <a:t>NIIN </a:t>
            </a:r>
            <a:r>
              <a:rPr lang="ko-KR" altLang="en-US" dirty="0"/>
              <a:t>유지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있는 경우 삭제</a:t>
            </a:r>
            <a:r>
              <a:rPr lang="en-US" altLang="ko-KR" dirty="0"/>
              <a:t>(X)</a:t>
            </a:r>
            <a:r>
              <a:rPr lang="ko-KR" altLang="en-US" dirty="0"/>
              <a:t> 버튼 활성화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없는 경우 삭제 버튼 숨김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목록정보</a:t>
            </a:r>
            <a:r>
              <a:rPr lang="ko-KR" altLang="en-US" dirty="0" smtClean="0"/>
              <a:t> 조회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세부 탭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en-US" altLang="ko-KR" dirty="0" smtClean="0"/>
              <a:t> &gt;</a:t>
            </a:r>
            <a:r>
              <a:rPr lang="ko-KR" altLang="en-US" dirty="0" smtClean="0"/>
              <a:t> </a:t>
            </a:r>
            <a:r>
              <a:rPr lang="en-US" altLang="ko-KR" dirty="0" smtClean="0"/>
              <a:t>MUI-OP-01-T73</a:t>
            </a:r>
            <a:r>
              <a:rPr lang="en-US" altLang="ko-KR" dirty="0"/>
              <a:t> </a:t>
            </a:r>
            <a:r>
              <a:rPr lang="ko-KR" altLang="en-US" dirty="0" err="1" smtClean="0"/>
              <a:t>형상자료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en-US" altLang="ko-KR" dirty="0" smtClean="0"/>
              <a:t>MUI-OP-01-T74 </a:t>
            </a:r>
            <a:r>
              <a:rPr lang="ko-KR" altLang="en-US" dirty="0" err="1" smtClean="0"/>
              <a:t>식별자료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en-US" altLang="ko-KR" dirty="0" smtClean="0"/>
              <a:t>MUI-OP-01-T75 </a:t>
            </a:r>
            <a:r>
              <a:rPr lang="ko-KR" altLang="en-US" dirty="0" smtClean="0"/>
              <a:t>참고자료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콘텐츠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trike="sngStrike" dirty="0" smtClean="0">
                <a:solidFill>
                  <a:srgbClr val="FF0000"/>
                </a:solidFill>
              </a:rPr>
              <a:t>[</a:t>
            </a:r>
            <a:r>
              <a:rPr lang="ko-KR" altLang="en-US" strike="sngStrike" dirty="0" err="1" smtClean="0">
                <a:solidFill>
                  <a:srgbClr val="FF0000"/>
                </a:solidFill>
              </a:rPr>
              <a:t>좌측화면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] </a:t>
            </a:r>
            <a:r>
              <a:rPr lang="ko-KR" altLang="en-US" strike="sngStrike" dirty="0" smtClean="0">
                <a:solidFill>
                  <a:srgbClr val="FF0000"/>
                </a:solidFill>
              </a:rPr>
              <a:t>연간조달계획 목록에서 진입할 때는 페이지로 진입함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.</a:t>
            </a:r>
            <a:br>
              <a:rPr lang="en-US" altLang="ko-KR" strike="sngStrike" dirty="0" smtClean="0">
                <a:solidFill>
                  <a:srgbClr val="FF0000"/>
                </a:solidFill>
              </a:rPr>
            </a:br>
            <a:r>
              <a:rPr lang="en-US" altLang="ko-KR" strike="sngStrike" dirty="0" smtClean="0">
                <a:solidFill>
                  <a:srgbClr val="FF0000"/>
                </a:solidFill>
              </a:rPr>
              <a:t/>
            </a:r>
            <a:br>
              <a:rPr lang="en-US" altLang="ko-KR" strike="sngStrike" dirty="0" smtClean="0">
                <a:solidFill>
                  <a:srgbClr val="FF0000"/>
                </a:solidFill>
              </a:rPr>
            </a:br>
            <a:r>
              <a:rPr lang="en-US" altLang="ko-KR" strike="sngStrike" dirty="0" smtClean="0">
                <a:solidFill>
                  <a:srgbClr val="FF0000"/>
                </a:solidFill>
              </a:rPr>
              <a:t>[</a:t>
            </a:r>
            <a:r>
              <a:rPr lang="ko-KR" altLang="en-US" strike="sngStrike" dirty="0" err="1" smtClean="0">
                <a:solidFill>
                  <a:srgbClr val="FF0000"/>
                </a:solidFill>
              </a:rPr>
              <a:t>우측화면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] </a:t>
            </a:r>
            <a:r>
              <a:rPr lang="ko-KR" altLang="en-US" strike="sngStrike" dirty="0" smtClean="0">
                <a:solidFill>
                  <a:srgbClr val="FF0000"/>
                </a:solidFill>
              </a:rPr>
              <a:t>조달계획 상세에서 진입할 때는 팝업으로 진입함</a:t>
            </a:r>
            <a:r>
              <a:rPr lang="en-US" altLang="ko-KR" strike="sngStrike" dirty="0" smtClean="0">
                <a:solidFill>
                  <a:srgbClr val="FF0000"/>
                </a:solidFill>
              </a:rPr>
              <a:t>.</a:t>
            </a:r>
            <a:r>
              <a:rPr lang="en-US" altLang="ko-KR" dirty="0" smtClean="0">
                <a:solidFill>
                  <a:srgbClr val="FF0000"/>
                </a:solidFill>
              </a:rPr>
              <a:t/>
            </a:r>
            <a:br>
              <a:rPr lang="en-US" altLang="ko-KR" dirty="0" smtClean="0">
                <a:solidFill>
                  <a:srgbClr val="FF0000"/>
                </a:solidFill>
              </a:rPr>
            </a:br>
            <a:r>
              <a:rPr lang="en-US" altLang="ko-KR" dirty="0" smtClean="0">
                <a:solidFill>
                  <a:srgbClr val="FF0000"/>
                </a:solidFill>
              </a:rPr>
              <a:t/>
            </a:r>
            <a:br>
              <a:rPr lang="en-US" altLang="ko-KR" dirty="0" smtClean="0">
                <a:solidFill>
                  <a:srgbClr val="FF0000"/>
                </a:solidFill>
              </a:rPr>
            </a:br>
            <a:r>
              <a:rPr lang="en-US" altLang="ko-KR" dirty="0" smtClean="0"/>
              <a:t>- </a:t>
            </a:r>
            <a:r>
              <a:rPr lang="ko-KR" altLang="en-US" dirty="0" smtClean="0"/>
              <a:t>탭 콘텐츠는 동일함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>
                <a:solidFill>
                  <a:srgbClr val="FF0000"/>
                </a:solidFill>
              </a:rPr>
              <a:t>[0814] </a:t>
            </a:r>
            <a:r>
              <a:rPr lang="ko-KR" altLang="en-US" dirty="0" smtClean="0">
                <a:solidFill>
                  <a:srgbClr val="FF0000"/>
                </a:solidFill>
              </a:rPr>
              <a:t>팝업으로 통일해서 사용함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목록정보조회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국외연간조달계획에서 정보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형상자료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30479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7368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3157081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형상자료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3157081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373688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3118958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349506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식별정보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608394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802548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8025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802548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영문품명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한글품명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802548"/>
            <a:ext cx="17840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1523-12-1251232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BELSCDFE ASSEMVGBY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밸크랭크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조립체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1612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03365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24736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4610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67477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3157081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참고자료</a:t>
            </a:r>
          </a:p>
        </p:txBody>
      </p:sp>
      <p:sp>
        <p:nvSpPr>
          <p:cNvPr id="15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2706695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1443878" y="2372980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NIIN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을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44129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153" name="그룹 152"/>
          <p:cNvGrpSpPr/>
          <p:nvPr/>
        </p:nvGrpSpPr>
        <p:grpSpPr>
          <a:xfrm>
            <a:off x="3112794" y="2411266"/>
            <a:ext cx="145884" cy="145882"/>
            <a:chOff x="3112794" y="3984500"/>
            <a:chExt cx="145884" cy="145882"/>
          </a:xfrm>
        </p:grpSpPr>
        <p:sp>
          <p:nvSpPr>
            <p:cNvPr id="154" name="타원 153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5" name="그룹 154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67" name="직선 연결선 166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460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87" name="그룹 8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9" name="직사각형 8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  <p:sp>
        <p:nvSpPr>
          <p:cNvPr id="91" name="직사각형 90"/>
          <p:cNvSpPr/>
          <p:nvPr/>
        </p:nvSpPr>
        <p:spPr>
          <a:xfrm>
            <a:off x="698764" y="3093300"/>
            <a:ext cx="2672369" cy="292973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7" name="그룹 56"/>
          <p:cNvGrpSpPr/>
          <p:nvPr/>
        </p:nvGrpSpPr>
        <p:grpSpPr>
          <a:xfrm>
            <a:off x="677960" y="1582647"/>
            <a:ext cx="2714637" cy="686386"/>
            <a:chOff x="677960" y="1582647"/>
            <a:chExt cx="2714637" cy="68638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93635" y="2030452"/>
              <a:ext cx="20755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800" dirty="0">
                  <a:latin typeface="+mn-ea"/>
                </a:rPr>
                <a:t>목록정보조회</a:t>
              </a:r>
            </a:p>
          </p:txBody>
        </p: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226903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0" name="그룹 59"/>
            <p:cNvGrpSpPr/>
            <p:nvPr/>
          </p:nvGrpSpPr>
          <p:grpSpPr>
            <a:xfrm rot="5400000">
              <a:off x="852159" y="2062596"/>
              <a:ext cx="94010" cy="47005"/>
              <a:chOff x="6812560" y="3297172"/>
              <a:chExt cx="94010" cy="47005"/>
            </a:xfrm>
          </p:grpSpPr>
          <p:cxnSp>
            <p:nvCxnSpPr>
              <p:cNvPr id="67" name="직선 연결선 6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그룹 60"/>
            <p:cNvGrpSpPr/>
            <p:nvPr/>
          </p:nvGrpSpPr>
          <p:grpSpPr>
            <a:xfrm>
              <a:off x="677960" y="1582647"/>
              <a:ext cx="2712027" cy="324286"/>
              <a:chOff x="677960" y="1582647"/>
              <a:chExt cx="2712027" cy="324286"/>
            </a:xfrm>
          </p:grpSpPr>
          <p:pic>
            <p:nvPicPr>
              <p:cNvPr id="62" name="Picture 2">
                <a:extLst>
                  <a:ext uri="{FF2B5EF4-FFF2-40B4-BE49-F238E27FC236}">
                    <a16:creationId xmlns:a16="http://schemas.microsoft.com/office/drawing/2014/main" id="{1C4B5929-C206-23D9-2234-19ADD0E7AA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01" r="32311"/>
              <a:stretch>
                <a:fillRect/>
              </a:stretch>
            </p:blipFill>
            <p:spPr bwMode="auto">
              <a:xfrm>
                <a:off x="788121" y="1582647"/>
                <a:ext cx="1252261" cy="214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677960" y="1906933"/>
                <a:ext cx="2712027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64" name="타원 63"/>
              <p:cNvSpPr/>
              <p:nvPr/>
            </p:nvSpPr>
            <p:spPr>
              <a:xfrm>
                <a:off x="2446129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타원 64"/>
              <p:cNvSpPr/>
              <p:nvPr/>
            </p:nvSpPr>
            <p:spPr>
              <a:xfrm>
                <a:off x="2759886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타원 65"/>
              <p:cNvSpPr/>
              <p:nvPr/>
            </p:nvSpPr>
            <p:spPr>
              <a:xfrm>
                <a:off x="3073643" y="1582794"/>
                <a:ext cx="228600" cy="2286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70" name="그룹 69"/>
          <p:cNvGrpSpPr/>
          <p:nvPr/>
        </p:nvGrpSpPr>
        <p:grpSpPr>
          <a:xfrm>
            <a:off x="8223250" y="986019"/>
            <a:ext cx="3365500" cy="634511"/>
            <a:chOff x="8223250" y="569392"/>
            <a:chExt cx="3365500" cy="634511"/>
          </a:xfrm>
        </p:grpSpPr>
        <p:sp>
          <p:nvSpPr>
            <p:cNvPr id="71" name="직사각형 70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2026-08-11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 smtClean="0"/>
                <a:t>NIIN </a:t>
              </a:r>
              <a:r>
                <a:rPr lang="ko-KR" altLang="en-US" sz="700" dirty="0" smtClean="0"/>
                <a:t>상단으로 이동</a:t>
              </a:r>
              <a:endParaRPr lang="en-US" altLang="ko-KR" sz="700" dirty="0" smtClean="0"/>
            </a:p>
            <a:p>
              <a:pPr marL="228600" indent="-228600">
                <a:buAutoNum type="arabicPeriod"/>
              </a:pPr>
              <a:r>
                <a:rPr lang="ko-KR" altLang="en-US" sz="700" dirty="0" smtClean="0"/>
                <a:t>페이지와 팝업 추가</a:t>
              </a:r>
              <a:endParaRPr lang="en-US" altLang="ko-KR" sz="700" dirty="0"/>
            </a:p>
          </p:txBody>
        </p:sp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3566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054239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smtClean="0">
                <a:latin typeface="+mn-ea"/>
              </a:rPr>
              <a:t>조달계획 상세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8737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7" name="그룹 76"/>
          <p:cNvGrpSpPr/>
          <p:nvPr/>
        </p:nvGrpSpPr>
        <p:grpSpPr>
          <a:xfrm rot="5400000">
            <a:off x="3873180" y="1640499"/>
            <a:ext cx="94010" cy="47005"/>
            <a:chOff x="6812560" y="3297172"/>
            <a:chExt cx="94010" cy="47005"/>
          </a:xfrm>
        </p:grpSpPr>
        <p:cxnSp>
          <p:nvCxnSpPr>
            <p:cNvPr id="78" name="직선 연결선 7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연결선 7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6162704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4879579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83" name="그룹 82"/>
          <p:cNvGrpSpPr/>
          <p:nvPr/>
        </p:nvGrpSpPr>
        <p:grpSpPr>
          <a:xfrm>
            <a:off x="6282505" y="2085445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직선 연결선 9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2643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목록정보조회</a:t>
            </a: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3566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9" name="양쪽 모서리가 둥근 사각형 128"/>
          <p:cNvSpPr/>
          <p:nvPr/>
        </p:nvSpPr>
        <p:spPr>
          <a:xfrm>
            <a:off x="3793566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03129" y="30479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7958" y="337368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6728" y="3157081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형상자료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41104" y="3157081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3049" y="3373688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5" name="그룹 134"/>
          <p:cNvGrpSpPr/>
          <p:nvPr/>
        </p:nvGrpSpPr>
        <p:grpSpPr>
          <a:xfrm>
            <a:off x="6046645" y="3118958"/>
            <a:ext cx="422853" cy="187961"/>
            <a:chOff x="3641308" y="2234886"/>
            <a:chExt cx="422853" cy="187961"/>
          </a:xfrm>
        </p:grpSpPr>
        <p:sp>
          <p:nvSpPr>
            <p:cNvPr id="136" name="타원 135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7" name="그룹 136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42" name="직선 연결선 1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 14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8" name="타원 137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9" name="그룹 138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4020" y="349506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식별정보</a:t>
            </a:r>
          </a:p>
        </p:txBody>
      </p:sp>
      <p:grpSp>
        <p:nvGrpSpPr>
          <p:cNvPr id="145" name="그룹 144"/>
          <p:cNvGrpSpPr/>
          <p:nvPr/>
        </p:nvGrpSpPr>
        <p:grpSpPr>
          <a:xfrm flipV="1">
            <a:off x="6266107" y="3608394"/>
            <a:ext cx="94010" cy="47005"/>
            <a:chOff x="6812560" y="3297172"/>
            <a:chExt cx="94010" cy="47005"/>
          </a:xfrm>
        </p:grpSpPr>
        <p:cxnSp>
          <p:nvCxnSpPr>
            <p:cNvPr id="146" name="직선 연결선 1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직선 연결선 1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9" name="직사각형 148"/>
          <p:cNvSpPr/>
          <p:nvPr/>
        </p:nvSpPr>
        <p:spPr>
          <a:xfrm>
            <a:off x="3845142" y="3802548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3049" y="38025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206" y="3802548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영문품명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한글품명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9054" y="3802548"/>
            <a:ext cx="17840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1523-12-1251232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BELSCDFE ASSEMVGBY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밸크랭크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조립체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1612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5142" y="403365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5142" y="424736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5142" y="44610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5142" y="467477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877219" y="3157081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참고자료</a:t>
            </a:r>
          </a:p>
        </p:txBody>
      </p:sp>
      <p:sp>
        <p:nvSpPr>
          <p:cNvPr id="164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90261" y="2706695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4566437" y="2372980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NIIN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을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7035" y="244129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170" name="그룹 169"/>
          <p:cNvGrpSpPr/>
          <p:nvPr/>
        </p:nvGrpSpPr>
        <p:grpSpPr>
          <a:xfrm>
            <a:off x="6235353" y="2411266"/>
            <a:ext cx="145884" cy="145882"/>
            <a:chOff x="3112794" y="3984500"/>
            <a:chExt cx="145884" cy="145882"/>
          </a:xfrm>
        </p:grpSpPr>
        <p:sp>
          <p:nvSpPr>
            <p:cNvPr id="171" name="타원 170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2" name="그룹 171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73" name="직선 연결선 172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7958" y="30460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/>
          <p:cNvCxnSpPr/>
          <p:nvPr/>
        </p:nvCxnSpPr>
        <p:spPr>
          <a:xfrm flipH="1">
            <a:off x="571127" y="1493927"/>
            <a:ext cx="2973262" cy="483255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그룹 122"/>
          <p:cNvGrpSpPr/>
          <p:nvPr/>
        </p:nvGrpSpPr>
        <p:grpSpPr>
          <a:xfrm>
            <a:off x="8223250" y="1214489"/>
            <a:ext cx="3365500" cy="634511"/>
            <a:chOff x="8223250" y="569392"/>
            <a:chExt cx="3365500" cy="634511"/>
          </a:xfrm>
        </p:grpSpPr>
        <p:sp>
          <p:nvSpPr>
            <p:cNvPr id="124" name="직사각형 12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팝업으로 일관되게 사용하도록 변경함</a:t>
              </a:r>
              <a:r>
                <a:rPr lang="en-US" altLang="ko-KR" sz="700" dirty="0" smtClean="0"/>
                <a:t>.</a:t>
              </a:r>
              <a:endParaRPr lang="en-US" altLang="ko-KR" sz="700" dirty="0"/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2432" y="314390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2432" y="355422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2432" y="238713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6191472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식별정보 </a:t>
            </a:r>
            <a:r>
              <a:rPr lang="ko-KR" altLang="en-US" dirty="0"/>
              <a:t>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참조번호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업체정보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strike="sngStrike" dirty="0"/>
              <a:t>- </a:t>
            </a:r>
            <a:r>
              <a:rPr lang="en-US" altLang="ko-KR" strike="sng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MUI-OP-01-P77 </a:t>
            </a:r>
            <a:r>
              <a:rPr lang="ko-KR" altLang="en-US" strike="sngStrike" dirty="0">
                <a:latin typeface="+mn-ea"/>
              </a:rPr>
              <a:t>업체정보 팝업 </a:t>
            </a:r>
            <a:r>
              <a:rPr lang="ko-KR" altLang="en-US" strike="sngStrike" dirty="0" smtClean="0">
                <a:latin typeface="+mn-ea"/>
              </a:rPr>
              <a:t>호출</a:t>
            </a:r>
            <a:r>
              <a:rPr lang="en-US" altLang="ko-KR" strike="sngStrike" dirty="0" smtClean="0">
                <a:latin typeface="+mn-ea"/>
              </a:rPr>
              <a:t/>
            </a:r>
            <a:br>
              <a:rPr lang="en-US" altLang="ko-KR" strike="sngStrike" dirty="0" smtClean="0">
                <a:latin typeface="+mn-ea"/>
              </a:rPr>
            </a:br>
            <a:r>
              <a:rPr lang="en-US" altLang="ko-KR" dirty="0" smtClean="0">
                <a:solidFill>
                  <a:srgbClr val="FF0000"/>
                </a:solidFill>
                <a:latin typeface="+mn-ea"/>
              </a:rPr>
              <a:t>- 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업체정보 아코디언을 통해 </a:t>
            </a:r>
            <a:r>
              <a:rPr lang="ko-KR" altLang="en-US" dirty="0" err="1" smtClean="0">
                <a:solidFill>
                  <a:srgbClr val="FF0000"/>
                </a:solidFill>
                <a:latin typeface="+mn-ea"/>
              </a:rPr>
              <a:t>업체정보를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 호출하여 페이지 내에서 표시</a:t>
            </a:r>
            <a:r>
              <a:rPr lang="en-US" altLang="ko-KR" dirty="0" smtClean="0">
                <a:solidFill>
                  <a:srgbClr val="FF0000"/>
                </a:solidFill>
                <a:latin typeface="+mn-ea"/>
              </a:rPr>
              <a:t/>
            </a:r>
            <a:br>
              <a:rPr lang="en-US" altLang="ko-KR" dirty="0" smtClean="0">
                <a:solidFill>
                  <a:srgbClr val="FF0000"/>
                </a:solidFill>
                <a:latin typeface="+mn-ea"/>
              </a:rPr>
            </a:br>
            <a:r>
              <a:rPr lang="en-US" altLang="ko-KR" dirty="0" smtClean="0">
                <a:solidFill>
                  <a:srgbClr val="FF0000"/>
                </a:solidFill>
                <a:latin typeface="+mn-ea"/>
              </a:rPr>
              <a:t>- </a:t>
            </a:r>
            <a:r>
              <a:rPr lang="ko-KR" altLang="en-US" dirty="0" err="1" smtClean="0">
                <a:solidFill>
                  <a:srgbClr val="FF0000"/>
                </a:solidFill>
                <a:latin typeface="+mn-ea"/>
              </a:rPr>
              <a:t>업체정보는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 기본 닫힘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형상자료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국외연간조달계획에서 목록정보조회 </a:t>
            </a:r>
            <a:r>
              <a:rPr lang="en-US" altLang="ko-KR" dirty="0"/>
              <a:t>(</a:t>
            </a:r>
            <a:r>
              <a:rPr lang="ko-KR" altLang="en-US" dirty="0"/>
              <a:t>군수품 목록</a:t>
            </a:r>
            <a:r>
              <a:rPr lang="en-US" altLang="ko-KR" dirty="0"/>
              <a:t>) </a:t>
            </a:r>
            <a:r>
              <a:rPr lang="ko-KR" altLang="en-US" dirty="0"/>
              <a:t>중 </a:t>
            </a:r>
            <a:r>
              <a:rPr lang="ko-KR" altLang="en-US" dirty="0" err="1"/>
              <a:t>형상자료</a:t>
            </a:r>
            <a:r>
              <a:rPr lang="ko-KR" altLang="en-US" dirty="0"/>
              <a:t> 정보를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형상자료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4990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609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2471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081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형상자료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608108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24715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569985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873628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식별정보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1986959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181113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1811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181113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영문품명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한글품명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181113"/>
            <a:ext cx="17840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1523-12-1251232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BELSCDFE ASSEMVGBY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밸크랭크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조립체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1612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122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62592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8396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0533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30709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8761" y="3251787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참조번호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3130848" y="3365118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709883" y="3559272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7790" y="355927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947" y="3559272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참조번호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생산자부호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53796" y="3559272"/>
            <a:ext cx="178465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70400-01230-023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도면번호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78245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SIBSK ERKAS EKCORPO</a:t>
            </a: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9883" y="379037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9883" y="400408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9883" y="421779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09883" y="44314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2982533" y="3805042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91106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608108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참고자료</a:t>
            </a:r>
          </a:p>
        </p:txBody>
      </p:sp>
      <p:sp>
        <p:nvSpPr>
          <p:cNvPr id="170" name="직사각형 169"/>
          <p:cNvSpPr/>
          <p:nvPr/>
        </p:nvSpPr>
        <p:spPr>
          <a:xfrm>
            <a:off x="3826115" y="1639064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6390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1639064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참조번호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생산자부호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8" y="1639064"/>
            <a:ext cx="178465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70400-01230-024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기타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23129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US ARPY ACLHGET ASLTM</a:t>
            </a:r>
          </a:p>
        </p:txBody>
      </p: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187016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08387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29758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51129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24" name="타원 2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25477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4366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7" name="그룹 8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9" name="직사각형 8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7357" y="318379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35444" y="4928281"/>
            <a:ext cx="76863" cy="292489"/>
            <a:chOff x="3750067" y="4683795"/>
            <a:chExt cx="76863" cy="292489"/>
          </a:xfrm>
        </p:grpSpPr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75" name="그룹 174"/>
          <p:cNvGrpSpPr/>
          <p:nvPr/>
        </p:nvGrpSpPr>
        <p:grpSpPr>
          <a:xfrm>
            <a:off x="8223250" y="986019"/>
            <a:ext cx="3365500" cy="634511"/>
            <a:chOff x="8223250" y="569392"/>
            <a:chExt cx="3365500" cy="634511"/>
          </a:xfrm>
        </p:grpSpPr>
        <p:sp>
          <p:nvSpPr>
            <p:cNvPr id="176" name="직사각형 17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2026-08-11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77" name="직사각형 17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 smtClean="0"/>
                <a:t>NIIN </a:t>
              </a:r>
              <a:r>
                <a:rPr lang="ko-KR" altLang="en-US" sz="700" dirty="0" smtClean="0"/>
                <a:t>삭제 </a:t>
              </a:r>
              <a:r>
                <a:rPr lang="en-US" altLang="ko-KR" sz="700" dirty="0" smtClean="0">
                  <a:sym typeface="Wingdings" panose="05000000000000000000" pitchFamily="2" charset="2"/>
                </a:rPr>
                <a:t> </a:t>
              </a:r>
              <a:r>
                <a:rPr lang="ko-KR" altLang="en-US" sz="700" dirty="0" smtClean="0">
                  <a:sym typeface="Wingdings" panose="05000000000000000000" pitchFamily="2" charset="2"/>
                </a:rPr>
                <a:t>탭 상단으로 위치 변경</a:t>
              </a:r>
              <a:endParaRPr lang="en-US" altLang="ko-KR" sz="700" dirty="0"/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8223250" y="1214489"/>
            <a:ext cx="3365500" cy="634511"/>
            <a:chOff x="8223250" y="569392"/>
            <a:chExt cx="3365500" cy="634511"/>
          </a:xfrm>
        </p:grpSpPr>
        <p:sp>
          <p:nvSpPr>
            <p:cNvPr id="83" name="직사각형 8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2026-08-14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업체정보를</a:t>
              </a:r>
              <a:r>
                <a:rPr lang="ko-KR" altLang="en-US" sz="700" dirty="0" smtClean="0"/>
                <a:t> 화면에서 펼쳐지는 기능으로 변경함</a:t>
              </a:r>
              <a:r>
                <a:rPr lang="en-US" altLang="ko-KR" sz="700" dirty="0" smtClean="0"/>
                <a:t>.</a:t>
              </a:r>
              <a:endParaRPr lang="en-US" altLang="ko-KR" sz="700" dirty="0"/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3842835" y="2877635"/>
            <a:ext cx="2630656" cy="1292662"/>
            <a:chOff x="3824022" y="5160789"/>
            <a:chExt cx="2630656" cy="1292662"/>
          </a:xfrm>
        </p:grpSpPr>
        <p:sp>
          <p:nvSpPr>
            <p:cNvPr id="92" name="직사각형 91"/>
            <p:cNvSpPr/>
            <p:nvPr/>
          </p:nvSpPr>
          <p:spPr>
            <a:xfrm>
              <a:off x="3826115" y="5160789"/>
              <a:ext cx="792000" cy="1285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516078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3179" y="5160789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본사주소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사업자번호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FAX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0028" y="5160789"/>
              <a:ext cx="178465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123-45-67890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02-1234-6789</a:t>
              </a:r>
            </a:p>
          </p:txBody>
        </p: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39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6056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81930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0330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45142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2453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7590" y="258100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업체정보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41" name="그룹 140"/>
          <p:cNvGrpSpPr/>
          <p:nvPr/>
        </p:nvGrpSpPr>
        <p:grpSpPr>
          <a:xfrm flipV="1">
            <a:off x="6247139" y="2651566"/>
            <a:ext cx="94010" cy="47005"/>
            <a:chOff x="6812560" y="3297172"/>
            <a:chExt cx="94010" cy="47005"/>
          </a:xfrm>
        </p:grpSpPr>
        <p:cxnSp>
          <p:nvCxnSpPr>
            <p:cNvPr id="142" name="직선 연결선 1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061" y="481180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1917" y="4527547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smtClean="0">
                <a:latin typeface="+mn-ea"/>
              </a:rPr>
              <a:t>업체정보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46" name="그룹 145"/>
          <p:cNvGrpSpPr/>
          <p:nvPr/>
        </p:nvGrpSpPr>
        <p:grpSpPr>
          <a:xfrm>
            <a:off x="3131466" y="4598111"/>
            <a:ext cx="94010" cy="47005"/>
            <a:chOff x="6812560" y="3297172"/>
            <a:chExt cx="94010" cy="47005"/>
          </a:xfrm>
        </p:grpSpPr>
        <p:cxnSp>
          <p:nvCxnSpPr>
            <p:cNvPr id="147" name="직선 연결선 14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직선 연결선 1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42790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식별자료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식별자료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국외연간조달계획에서 목록정보조회 </a:t>
            </a:r>
            <a:r>
              <a:rPr lang="en-US" altLang="ko-KR" dirty="0"/>
              <a:t>(</a:t>
            </a:r>
            <a:r>
              <a:rPr lang="ko-KR" altLang="en-US" dirty="0"/>
              <a:t>군수품 목록</a:t>
            </a:r>
            <a:r>
              <a:rPr lang="en-US" altLang="ko-KR" dirty="0"/>
              <a:t>) </a:t>
            </a:r>
            <a:r>
              <a:rPr lang="ko-KR" altLang="en-US" dirty="0"/>
              <a:t>중 </a:t>
            </a:r>
            <a:r>
              <a:rPr lang="ko-KR" altLang="en-US" dirty="0" err="1"/>
              <a:t>식별자료</a:t>
            </a:r>
            <a:r>
              <a:rPr lang="ko-KR" altLang="en-US" dirty="0"/>
              <a:t> 정보를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식별자료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46937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200000"/>
              </a:lnSpc>
              <a:defRPr sz="700">
                <a:latin typeface="+mn-ea"/>
              </a:defRPr>
            </a:lvl1pPr>
          </a:lstStyle>
          <a:p>
            <a:r>
              <a:rPr lang="ko-KR" altLang="en-US" dirty="0" err="1"/>
              <a:t>식별자료</a:t>
            </a:r>
            <a:endParaRPr lang="ko-KR" altLang="en-US" dirty="0"/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960268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8955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832577" y="1499732"/>
            <a:ext cx="933066" cy="4274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499732"/>
            <a:ext cx="725552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품명부호</a:t>
            </a:r>
            <a:r>
              <a:rPr lang="en-US" altLang="ko-KR" sz="700" dirty="0">
                <a:latin typeface="+mn-ea"/>
              </a:rPr>
              <a:t>(INC)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대체재고</a:t>
            </a:r>
            <a:r>
              <a:rPr lang="ko-KR" altLang="en-US" sz="700" dirty="0">
                <a:latin typeface="+mn-ea"/>
              </a:rPr>
              <a:t> 번호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품종 </a:t>
            </a:r>
            <a:r>
              <a:rPr lang="ko-KR" altLang="en-US" sz="700" dirty="0" err="1">
                <a:latin typeface="+mn-ea"/>
              </a:rPr>
              <a:t>구분번호</a:t>
            </a:r>
            <a:r>
              <a:rPr lang="en-US" altLang="ko-KR" sz="700" dirty="0">
                <a:latin typeface="+mn-ea"/>
              </a:rPr>
              <a:t>(CS)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제조국부호</a:t>
            </a:r>
            <a:r>
              <a:rPr lang="en-US" altLang="ko-KR" sz="700" dirty="0">
                <a:latin typeface="+mn-ea"/>
              </a:rPr>
              <a:t>(NTL)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목록화담당자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자료변경일자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800394" y="1499732"/>
            <a:ext cx="1672616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111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A12000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11112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M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1980-01-05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2026-03-06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49973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17144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192921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1439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35869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5734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278817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00291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2176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43239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66151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8557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40637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27844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5077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215375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7275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92178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512970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3444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57375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78669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직사각형 104"/>
          <p:cNvSpPr/>
          <p:nvPr/>
        </p:nvSpPr>
        <p:spPr>
          <a:xfrm>
            <a:off x="722583" y="2239052"/>
            <a:ext cx="792000" cy="65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3905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39052"/>
            <a:ext cx="67077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군급분류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영문품명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한글품명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39052"/>
            <a:ext cx="178408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MODEL-Y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모델</a:t>
            </a:r>
            <a:r>
              <a:rPr lang="en-US" altLang="ko-KR" sz="700" dirty="0">
                <a:latin typeface="+mn-ea"/>
              </a:rPr>
              <a:t>Y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7015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68386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89757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2004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499732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FIIG</a:t>
            </a:r>
            <a:r>
              <a:rPr lang="ko-KR" altLang="en-US" sz="700" dirty="0" err="1">
                <a:latin typeface="+mn-ea"/>
              </a:rPr>
              <a:t>긴요도부호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(FCC)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71534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취소이유</a:t>
            </a:r>
            <a:r>
              <a:rPr lang="ko-KR" altLang="en-US" sz="700" dirty="0">
                <a:latin typeface="+mn-ea"/>
              </a:rPr>
              <a:t> 부호</a:t>
            </a:r>
            <a:r>
              <a:rPr lang="en-US" altLang="ko-KR" sz="700" dirty="0">
                <a:latin typeface="+mn-ea"/>
              </a:rPr>
              <a:t>(DRC)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926554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품목식별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지침서번호</a:t>
            </a:r>
            <a:r>
              <a:rPr lang="en-US" altLang="ko-KR" sz="700" dirty="0">
                <a:latin typeface="+mn-ea"/>
              </a:rPr>
              <a:t>(FIIG </a:t>
            </a:r>
            <a:r>
              <a:rPr lang="ko-KR" altLang="en-US" sz="700" dirty="0">
                <a:latin typeface="+mn-ea"/>
              </a:rPr>
              <a:t>순번</a:t>
            </a:r>
            <a:r>
              <a:rPr lang="en-US" altLang="ko-KR" sz="700" dirty="0">
                <a:latin typeface="+mn-ea"/>
              </a:rPr>
              <a:t>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371636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자동자료처리 </a:t>
            </a:r>
            <a:r>
              <a:rPr lang="ko-KR" altLang="en-US" sz="700" dirty="0" err="1">
                <a:latin typeface="+mn-ea"/>
              </a:rPr>
              <a:t>장비부호</a:t>
            </a:r>
            <a:r>
              <a:rPr lang="en-US" altLang="ko-KR" sz="700" dirty="0">
                <a:latin typeface="+mn-ea"/>
              </a:rPr>
              <a:t>(ADPEC)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57431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귀금속 </a:t>
            </a:r>
            <a:r>
              <a:rPr lang="ko-KR" altLang="en-US" sz="700" dirty="0" err="1">
                <a:latin typeface="+mn-ea"/>
              </a:rPr>
              <a:t>지시부호</a:t>
            </a:r>
            <a:r>
              <a:rPr lang="en-US" altLang="ko-KR" sz="700" dirty="0">
                <a:latin typeface="+mn-ea"/>
              </a:rPr>
              <a:t>(PMIC)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2783376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참조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부분 서술형 </a:t>
            </a:r>
            <a:r>
              <a:rPr lang="ko-KR" altLang="en-US" sz="700" dirty="0" err="1">
                <a:latin typeface="+mn-ea"/>
              </a:rPr>
              <a:t>원인부호</a:t>
            </a:r>
            <a:r>
              <a:rPr lang="en-US" altLang="ko-KR" sz="700" dirty="0">
                <a:latin typeface="+mn-ea"/>
              </a:rPr>
              <a:t>(RPDMRC)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3221599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품목식별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형태부호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(TIIC)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3861909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재고번호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식별부호</a:t>
            </a:r>
            <a:r>
              <a:rPr lang="en-US" altLang="ko-KR" sz="700" dirty="0">
                <a:latin typeface="+mn-ea"/>
              </a:rPr>
              <a:t>(IS)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064820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비군사화 부호</a:t>
            </a:r>
            <a:r>
              <a:rPr lang="en-US" altLang="ko-KR" sz="700" dirty="0">
                <a:latin typeface="+mn-ea"/>
              </a:rPr>
              <a:t>(DEMIL)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287721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정전기 </a:t>
            </a:r>
            <a:r>
              <a:rPr lang="ko-KR" altLang="en-US" sz="700" dirty="0" err="1">
                <a:latin typeface="+mn-ea"/>
              </a:rPr>
              <a:t>방전부호</a:t>
            </a:r>
            <a:r>
              <a:rPr lang="en-US" altLang="ko-KR" sz="700" dirty="0">
                <a:latin typeface="+mn-ea"/>
              </a:rPr>
              <a:t>(ESDC)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509165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품목식별번호 </a:t>
            </a:r>
            <a:r>
              <a:rPr lang="ko-KR" altLang="en-US" sz="700" dirty="0" err="1">
                <a:latin typeface="+mn-ea"/>
              </a:rPr>
              <a:t>상태부호</a:t>
            </a:r>
            <a:r>
              <a:rPr lang="en-US" altLang="ko-KR" sz="700" dirty="0">
                <a:latin typeface="+mn-ea"/>
              </a:rPr>
              <a:t>(NSC)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719164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위험물자부호</a:t>
            </a:r>
            <a:r>
              <a:rPr lang="en-US" altLang="ko-KR" sz="700" dirty="0">
                <a:latin typeface="+mn-ea"/>
              </a:rPr>
              <a:t>(HMIC)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921441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위험특성부호 </a:t>
            </a:r>
            <a:r>
              <a:rPr lang="en-US" altLang="ko-KR" sz="700" dirty="0">
                <a:latin typeface="+mn-ea"/>
              </a:rPr>
              <a:t>(HCC)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5360423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국가품목</a:t>
            </a:r>
            <a:r>
              <a:rPr lang="ko-KR" altLang="en-US" sz="700" dirty="0">
                <a:latin typeface="+mn-ea"/>
              </a:rPr>
              <a:t> 식별번호</a:t>
            </a:r>
            <a:r>
              <a:rPr lang="en-US" altLang="ko-KR" sz="700" dirty="0">
                <a:latin typeface="+mn-ea"/>
              </a:rPr>
              <a:t>(NIIN)</a:t>
            </a:r>
            <a:r>
              <a:rPr lang="ko-KR" altLang="en-US" sz="700" dirty="0" err="1">
                <a:latin typeface="+mn-ea"/>
              </a:rPr>
              <a:t>부여일자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49528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04379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형상자료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604379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식별자료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226273" y="1820986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60" name="그룹 159"/>
          <p:cNvGrpSpPr/>
          <p:nvPr/>
        </p:nvGrpSpPr>
        <p:grpSpPr>
          <a:xfrm>
            <a:off x="2924086" y="1566256"/>
            <a:ext cx="422853" cy="187961"/>
            <a:chOff x="3641308" y="2234886"/>
            <a:chExt cx="422853" cy="187961"/>
          </a:xfrm>
        </p:grpSpPr>
        <p:sp>
          <p:nvSpPr>
            <p:cNvPr id="161" name="타원 160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2" name="그룹 161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67" name="직선 연결선 16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3" name="타원 162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65" name="직선 연결선 1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604379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참고자료</a:t>
            </a:r>
          </a:p>
        </p:txBody>
      </p:sp>
      <p:grpSp>
        <p:nvGrpSpPr>
          <p:cNvPr id="97" name="그룹 9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8" name="직사각형 9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8223250" y="986019"/>
            <a:ext cx="3365500" cy="634511"/>
            <a:chOff x="8223250" y="569392"/>
            <a:chExt cx="3365500" cy="634511"/>
          </a:xfrm>
        </p:grpSpPr>
        <p:sp>
          <p:nvSpPr>
            <p:cNvPr id="134" name="직사각형 13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2026-08-11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7" name="직사각형 13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 smtClean="0"/>
                <a:t>NIIN </a:t>
              </a:r>
              <a:r>
                <a:rPr lang="ko-KR" altLang="en-US" sz="700" dirty="0" smtClean="0"/>
                <a:t>삭제 </a:t>
              </a:r>
              <a:r>
                <a:rPr lang="en-US" altLang="ko-KR" sz="700" dirty="0" smtClean="0">
                  <a:sym typeface="Wingdings" panose="05000000000000000000" pitchFamily="2" charset="2"/>
                </a:rPr>
                <a:t> </a:t>
              </a:r>
              <a:r>
                <a:rPr lang="ko-KR" altLang="en-US" sz="700" dirty="0" smtClean="0">
                  <a:sym typeface="Wingdings" panose="05000000000000000000" pitchFamily="2" charset="2"/>
                </a:rPr>
                <a:t>탭 상단으로 위치 변경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530799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참고자료 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참고자료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국외연간조달계획에서 목록정보조회 </a:t>
            </a:r>
            <a:r>
              <a:rPr lang="en-US" altLang="ko-KR" dirty="0"/>
              <a:t>(</a:t>
            </a:r>
            <a:r>
              <a:rPr lang="ko-KR" altLang="en-US" dirty="0"/>
              <a:t>군수품 목록</a:t>
            </a:r>
            <a:r>
              <a:rPr lang="en-US" altLang="ko-KR" dirty="0"/>
              <a:t>) </a:t>
            </a:r>
            <a:r>
              <a:rPr lang="ko-KR" altLang="en-US" dirty="0"/>
              <a:t>중 참고자료 정보를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/>
              <a:t>참고자료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MUI-OP-01-T75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4299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200000"/>
              </a:lnSpc>
              <a:defRPr sz="700">
                <a:latin typeface="+mn-ea"/>
              </a:defRPr>
            </a:lvl1pPr>
          </a:lstStyle>
          <a:p>
            <a:r>
              <a:rPr lang="ko-KR" altLang="en-US" dirty="0"/>
              <a:t>참고자료</a:t>
            </a: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956324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8916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21498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직사각형 104"/>
          <p:cNvSpPr/>
          <p:nvPr/>
        </p:nvSpPr>
        <p:spPr>
          <a:xfrm>
            <a:off x="722583" y="2235108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3510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35108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</a:t>
            </a:r>
            <a:r>
              <a:rPr lang="en-US" altLang="ko-KR" sz="700" dirty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형태 </a:t>
            </a:r>
            <a:r>
              <a:rPr lang="en-US" altLang="ko-KR" sz="700" dirty="0">
                <a:latin typeface="+mn-ea"/>
              </a:rPr>
              <a:t>RNFC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범주 </a:t>
            </a:r>
            <a:r>
              <a:rPr lang="en-US" altLang="ko-KR" sz="700" dirty="0">
                <a:latin typeface="+mn-ea"/>
              </a:rPr>
              <a:t>RNCC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분류 </a:t>
            </a:r>
            <a:r>
              <a:rPr lang="en-US" altLang="ko-KR" sz="700" dirty="0">
                <a:latin typeface="+mn-ea"/>
              </a:rPr>
              <a:t>RNVC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가용성 </a:t>
            </a:r>
            <a:r>
              <a:rPr lang="en-US" altLang="ko-KR" sz="700" dirty="0">
                <a:latin typeface="+mn-ea"/>
              </a:rPr>
              <a:t>DAC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조치 </a:t>
            </a:r>
            <a:r>
              <a:rPr lang="en-US" altLang="ko-KR" sz="700" dirty="0">
                <a:latin typeface="+mn-ea"/>
              </a:rPr>
              <a:t>RNAA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상태 </a:t>
            </a:r>
            <a:r>
              <a:rPr lang="en-US" altLang="ko-KR" sz="700" dirty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교정 </a:t>
            </a:r>
            <a:r>
              <a:rPr lang="en-US" altLang="ko-KR" sz="700" dirty="0">
                <a:latin typeface="+mn-ea"/>
              </a:rPr>
              <a:t>RNIC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35108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662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67992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8936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1609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09725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3283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420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75577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96661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1803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3840699" y="1554813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15548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7763" y="1554813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</a:t>
            </a:r>
            <a:r>
              <a:rPr lang="en-US" altLang="ko-KR" sz="700" dirty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형태 </a:t>
            </a:r>
            <a:r>
              <a:rPr lang="en-US" altLang="ko-KR" sz="700" dirty="0">
                <a:latin typeface="+mn-ea"/>
              </a:rPr>
              <a:t>RNFC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범주 </a:t>
            </a:r>
            <a:r>
              <a:rPr lang="en-US" altLang="ko-KR" sz="700" dirty="0">
                <a:latin typeface="+mn-ea"/>
              </a:rPr>
              <a:t>RNCC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분류 </a:t>
            </a:r>
            <a:r>
              <a:rPr lang="en-US" altLang="ko-KR" sz="700" dirty="0">
                <a:latin typeface="+mn-ea"/>
              </a:rPr>
              <a:t>RNVC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가용성 </a:t>
            </a:r>
            <a:r>
              <a:rPr lang="en-US" altLang="ko-KR" sz="700" dirty="0">
                <a:latin typeface="+mn-ea"/>
              </a:rPr>
              <a:t>DAC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조치 </a:t>
            </a:r>
            <a:r>
              <a:rPr lang="en-US" altLang="ko-KR" sz="700" dirty="0">
                <a:latin typeface="+mn-ea"/>
              </a:rPr>
              <a:t>RNAA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상태 </a:t>
            </a:r>
            <a:r>
              <a:rPr lang="en-US" altLang="ko-KR" sz="700" dirty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교정 </a:t>
            </a:r>
            <a:r>
              <a:rPr lang="en-US" altLang="ko-KR" sz="700" dirty="0">
                <a:latin typeface="+mn-ea"/>
              </a:rPr>
              <a:t>RNIC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4611" y="1554813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17859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199962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2133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24169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64806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86177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07548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2863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5000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직사각형 146"/>
          <p:cNvSpPr/>
          <p:nvPr/>
        </p:nvSpPr>
        <p:spPr>
          <a:xfrm>
            <a:off x="3840699" y="3630292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363029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7763" y="3630292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</a:t>
            </a:r>
            <a:r>
              <a:rPr lang="en-US" altLang="ko-KR" sz="700" dirty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형태 </a:t>
            </a:r>
            <a:r>
              <a:rPr lang="en-US" altLang="ko-KR" sz="700" dirty="0">
                <a:latin typeface="+mn-ea"/>
              </a:rPr>
              <a:t>RNFC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범주 </a:t>
            </a:r>
            <a:r>
              <a:rPr lang="en-US" altLang="ko-KR" sz="700" dirty="0">
                <a:latin typeface="+mn-ea"/>
              </a:rPr>
              <a:t>RNCC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분류 </a:t>
            </a:r>
            <a:r>
              <a:rPr lang="en-US" altLang="ko-KR" sz="700" dirty="0">
                <a:latin typeface="+mn-ea"/>
              </a:rPr>
              <a:t>RNVC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가용성 </a:t>
            </a:r>
            <a:r>
              <a:rPr lang="en-US" altLang="ko-KR" sz="700" dirty="0">
                <a:latin typeface="+mn-ea"/>
              </a:rPr>
              <a:t>DAC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조치 </a:t>
            </a:r>
            <a:r>
              <a:rPr lang="en-US" altLang="ko-KR" sz="700" dirty="0">
                <a:latin typeface="+mn-ea"/>
              </a:rPr>
              <a:t>RNAA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상태 </a:t>
            </a:r>
            <a:r>
              <a:rPr lang="en-US" altLang="ko-KR" sz="700" dirty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교정 </a:t>
            </a:r>
            <a:r>
              <a:rPr lang="en-US" altLang="ko-KR" sz="700" dirty="0">
                <a:latin typeface="+mn-ea"/>
              </a:rPr>
              <a:t>RNIC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4611" y="3630292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86139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07510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28881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449244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72354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9372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15095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3617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5755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59293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형상자료</a:t>
            </a:r>
            <a:endParaRPr lang="ko-KR" altLang="en-US" sz="700" dirty="0"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592936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754660" y="180954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0" name="그룹 69"/>
          <p:cNvGrpSpPr/>
          <p:nvPr/>
        </p:nvGrpSpPr>
        <p:grpSpPr>
          <a:xfrm>
            <a:off x="2924086" y="1554813"/>
            <a:ext cx="422853" cy="187961"/>
            <a:chOff x="3641308" y="2234886"/>
            <a:chExt cx="422853" cy="187961"/>
          </a:xfrm>
        </p:grpSpPr>
        <p:sp>
          <p:nvSpPr>
            <p:cNvPr id="74" name="타원 73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5" name="그룹 74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81" name="직선 연결선 8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6" name="타원 75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8" name="그룹 7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79" name="직선 연결선 7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592936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참고자료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0" name="직사각형 9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  <p:grpSp>
        <p:nvGrpSpPr>
          <p:cNvPr id="102" name="그룹 101"/>
          <p:cNvGrpSpPr/>
          <p:nvPr/>
        </p:nvGrpSpPr>
        <p:grpSpPr>
          <a:xfrm>
            <a:off x="8223250" y="986019"/>
            <a:ext cx="3365500" cy="634511"/>
            <a:chOff x="8223250" y="569392"/>
            <a:chExt cx="3365500" cy="634511"/>
          </a:xfrm>
        </p:grpSpPr>
        <p:sp>
          <p:nvSpPr>
            <p:cNvPr id="103" name="직사각형 10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2026-08-11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2" name="직사각형 121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 smtClean="0"/>
                <a:t>NIIN </a:t>
              </a:r>
              <a:r>
                <a:rPr lang="ko-KR" altLang="en-US" sz="700" dirty="0" smtClean="0"/>
                <a:t>삭제 </a:t>
              </a:r>
              <a:r>
                <a:rPr lang="en-US" altLang="ko-KR" sz="700" dirty="0" smtClean="0">
                  <a:sym typeface="Wingdings" panose="05000000000000000000" pitchFamily="2" charset="2"/>
                </a:rPr>
                <a:t> </a:t>
              </a:r>
              <a:r>
                <a:rPr lang="ko-KR" altLang="en-US" sz="700" dirty="0" smtClean="0">
                  <a:sym typeface="Wingdings" panose="05000000000000000000" pitchFamily="2" charset="2"/>
                </a:rPr>
                <a:t>탭 상단으로 위치 변경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7787890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업체정보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업체정보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군수품 </a:t>
            </a:r>
            <a:r>
              <a:rPr lang="ko-KR" altLang="en-US" dirty="0" err="1"/>
              <a:t>형상자료의</a:t>
            </a:r>
            <a:r>
              <a:rPr lang="ko-KR" altLang="en-US" dirty="0"/>
              <a:t> 업체정보 </a:t>
            </a:r>
            <a:r>
              <a:rPr lang="ko-KR" altLang="en-US" dirty="0" err="1"/>
              <a:t>팝업화면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조달 계획 </a:t>
            </a:r>
            <a:r>
              <a:rPr lang="en-US" altLang="ko-KR" dirty="0"/>
              <a:t>&gt; </a:t>
            </a:r>
            <a:r>
              <a:rPr lang="ko-KR" altLang="en-US" dirty="0"/>
              <a:t>상세 조회 </a:t>
            </a:r>
            <a:r>
              <a:rPr lang="en-US" altLang="ko-KR" dirty="0"/>
              <a:t>- </a:t>
            </a:r>
            <a:r>
              <a:rPr lang="ko-KR" altLang="en-US" dirty="0" err="1"/>
              <a:t>결과목록</a:t>
            </a:r>
            <a:r>
              <a:rPr lang="en-US" altLang="ko-KR" dirty="0">
                <a:latin typeface="+mn-ea"/>
              </a:rPr>
              <a:t> &gt; </a:t>
            </a:r>
            <a:r>
              <a:rPr lang="ko-KR" altLang="en-US" dirty="0">
                <a:latin typeface="+mn-ea"/>
              </a:rPr>
              <a:t>품목별가격자료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3658716"/>
            <a:ext cx="2712027" cy="2573583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3695344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3829760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810439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업체정보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0718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7907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716084" y="4288140"/>
            <a:ext cx="2630656" cy="1292662"/>
            <a:chOff x="3824022" y="5160789"/>
            <a:chExt cx="2630656" cy="1292662"/>
          </a:xfrm>
        </p:grpSpPr>
        <p:sp>
          <p:nvSpPr>
            <p:cNvPr id="75" name="직사각형 74"/>
            <p:cNvSpPr/>
            <p:nvPr/>
          </p:nvSpPr>
          <p:spPr>
            <a:xfrm>
              <a:off x="3826115" y="5160789"/>
              <a:ext cx="792000" cy="1285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516078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3179" y="5160789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본사주소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사업자번호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FAX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0028" y="5160789"/>
              <a:ext cx="178465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123-45-67890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02-1234-6789</a:t>
              </a:r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39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6056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81930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0330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45142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2453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7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닫기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185476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19507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목록정보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1483622"/>
            <a:ext cx="20652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첨부자료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(dl_fileList)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재고번호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695458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첨부파일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atchFileNm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첨부파일 파일명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A57EB-F12E-C7A6-6842-FBF70B3AE60F}"/>
              </a:ext>
            </a:extLst>
          </p:cNvPr>
          <p:cNvSpPr txBox="1"/>
          <p:nvPr/>
        </p:nvSpPr>
        <p:spPr>
          <a:xfrm>
            <a:off x="458117" y="2366698"/>
            <a:ext cx="224637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식별정보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(dm_itemInfo)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998842C-2EC2-DFB4-AE8C-020AF03BE6FB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80794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itemNmEng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영문품명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itemNmKor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한글품명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군급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C08C4C-316F-1057-06CD-E03ACDE76417}"/>
              </a:ext>
            </a:extLst>
          </p:cNvPr>
          <p:cNvSpPr txBox="1"/>
          <p:nvPr/>
        </p:nvSpPr>
        <p:spPr>
          <a:xfrm>
            <a:off x="458117" y="3623344"/>
            <a:ext cx="204600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참조번호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(dl_refList)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EA9CA9A-C29B-57CF-8AEE-025A6254F64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82490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참조번호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rfrncNo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참조번호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생산자부호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생산자명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83F75D0-A7C5-456D-60DA-64F21BF83E41}"/>
              </a:ext>
            </a:extLst>
          </p:cNvPr>
          <p:cNvSpPr txBox="1"/>
          <p:nvPr/>
        </p:nvSpPr>
        <p:spPr>
          <a:xfrm>
            <a:off x="458117" y="4938248"/>
            <a:ext cx="23698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업체정보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dm_bzentyInfo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53BC2E2-C46D-7DAE-280E-B7E561862F0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5150084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2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대표자명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본사주소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본사 주소지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bzmnNo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사업자번호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전화번호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346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FAX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fxno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</a:t>
                      </a:r>
                      <a:r>
                        <a:rPr lang="en-US" altLang="ko-KR" sz="800" dirty="0">
                          <a:latin typeface="+mn-ea"/>
                        </a:rPr>
                        <a:t>FAX</a:t>
                      </a:r>
                      <a:r>
                        <a:rPr lang="ko-KR" altLang="en-US" sz="800" dirty="0">
                          <a:latin typeface="+mn-ea"/>
                        </a:rPr>
                        <a:t>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19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10861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83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6240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식별자료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(dm_idntfInfo)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1C8B1F-F6B4-27AC-275E-C147E0E5754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38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군급분류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군급분류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itemNmEng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75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itemNmKor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83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FIIG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긴요도부호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FCC)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장비의 안전을 관리하는 코드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1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취소이유 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(DRC)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물리적 파괴나 변형이 필요한 정도를 구분하는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24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지침서번호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(FIIG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순번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fiigNo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지침서 가이드 번호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0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품명부호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표준화된 이름으로 식별하기 위해 부여된 식별번호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161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자동자료처리 장비부호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(ADPEC)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adpec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컴퓨터 관련장비 여부와 그 관리 유형을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49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귀금속 지시부호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(PMIC)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귀중금속의 함유 여부와 종류를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97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부분 서술형 원인부호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(RPDMRC)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rpdmrc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파괴방법이 명시된 기술 교범의 참조 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948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대체재고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sbst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nvtNo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대체재고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678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형태부호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(TIIC)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형태를 구분하는 형태부호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951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품종 구분번호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(CS)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품종 구분번호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059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제조국부호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NTL)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ntl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제조국부호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726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재고번호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식별부호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(IS)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현재의 운용 지위를 구분하는 식별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44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비군사화 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(DEMIL)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demil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풀리적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파괴 강도를 결정하는 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064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정전기 방전부호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(ESDC)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정전기 방지대책 필요여부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1274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품목식별번호 상태부호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(NSC)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사용가능한 살아있는 번호 인지를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616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위험물자부호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(HMIC)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위험물 여부를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17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위험특성부호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(HCC)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위험등급을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750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목록화담당자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목록화담당자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150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국가품목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식별번호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(NIIN)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부여일자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고유 식별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2539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자료변경일자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chgYmd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자료변경일자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484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8897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84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(3/3)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4600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1.7. </a:t>
            </a:r>
            <a:r>
              <a:rPr lang="ko-KR" altLang="en-US" sz="900" b="1" dirty="0">
                <a:solidFill>
                  <a:prstClr val="black"/>
                </a:solidFill>
              </a:rPr>
              <a:t>참고자료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(dl_refList)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1C8B1F-F6B4-27AC-275E-C147E0E5754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참고번호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R/N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제품 일련번호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생산자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NSCM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nscm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제조업체에 부여된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자리 고유 식별부호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75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형태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RNFC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rnfc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군수품 종류와 특성을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83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범주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유효성을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1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분류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RNVC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rnvc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식별수준을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24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가용성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DAC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유해특성을 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구반하는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 식별코드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0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조치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RNAA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구분부호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161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상태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상태부호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49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교정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RNJC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rnjc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정당화부호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97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설계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SADC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민군공용부호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948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80262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EE9817-F435-3C64-C10C-316201A70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85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DB597-A49B-8096-250F-623826FE7BF3}"/>
              </a:ext>
            </a:extLst>
          </p:cNvPr>
          <p:cNvSpPr txBox="1"/>
          <p:nvPr/>
        </p:nvSpPr>
        <p:spPr>
          <a:xfrm>
            <a:off x="458117" y="58566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13A5854-3534-55A4-8BB0-F60C7ABCE698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863797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 초기화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군수품 목록정보 검색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989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kern="0" dirty="0">
                          <a:latin typeface="+mn-lt"/>
                          <a:ea typeface="+mn-ea"/>
                        </a:rPr>
                        <a:t>업체정보 보기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+mn-ea"/>
                          <a:ea typeface="+mn-ea"/>
                        </a:rPr>
                        <a:t>scwin.btn_searchDetail_onclick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선택한 업체정보조회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439429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E990255-6E06-91ED-9E95-11F25BB06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220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12526</TotalTime>
  <Words>11793</Words>
  <Application>Microsoft Office PowerPoint</Application>
  <PresentationFormat>A4 용지(210x297mm)</PresentationFormat>
  <Paragraphs>5821</Paragraphs>
  <Slides>86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86</vt:i4>
      </vt:variant>
    </vt:vector>
  </HeadingPairs>
  <TitlesOfParts>
    <vt:vector size="96" baseType="lpstr">
      <vt:lpstr>HG꼬딕씨_Pro 40g</vt:lpstr>
      <vt:lpstr>Pretendard Medium</vt:lpstr>
      <vt:lpstr>맑은 고딕</vt:lpstr>
      <vt:lpstr>맑은 고딕 (본문)</vt:lpstr>
      <vt:lpstr>Arial</vt:lpstr>
      <vt:lpstr>Consolas</vt:lpstr>
      <vt:lpstr>Times New Roman</vt:lpstr>
      <vt:lpstr>Verdana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803</cp:revision>
  <cp:lastPrinted>2016-10-27T08:57:39Z</cp:lastPrinted>
  <dcterms:created xsi:type="dcterms:W3CDTF">2016-10-27T07:41:55Z</dcterms:created>
  <dcterms:modified xsi:type="dcterms:W3CDTF">2026-08-26T07:50:41Z</dcterms:modified>
  <cp:category>서브시스템/업무명</cp:category>
  <cp:contentStatus>0.1</cp:contentStatus>
</cp:coreProperties>
</file>