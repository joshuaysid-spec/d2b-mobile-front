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88"/>
  </p:notesMasterIdLst>
  <p:handoutMasterIdLst>
    <p:handoutMasterId r:id="rId89"/>
  </p:handoutMasterIdLst>
  <p:sldIdLst>
    <p:sldId id="256" r:id="rId2"/>
    <p:sldId id="841" r:id="rId3"/>
    <p:sldId id="764" r:id="rId4"/>
    <p:sldId id="356" r:id="rId5"/>
    <p:sldId id="260" r:id="rId6"/>
    <p:sldId id="842" r:id="rId7"/>
    <p:sldId id="843" r:id="rId8"/>
    <p:sldId id="844" r:id="rId9"/>
    <p:sldId id="845" r:id="rId10"/>
    <p:sldId id="670" r:id="rId11"/>
    <p:sldId id="848" r:id="rId12"/>
    <p:sldId id="850" r:id="rId13"/>
    <p:sldId id="292" r:id="rId14"/>
    <p:sldId id="849" r:id="rId15"/>
    <p:sldId id="851" r:id="rId16"/>
    <p:sldId id="852" r:id="rId17"/>
    <p:sldId id="630" r:id="rId18"/>
    <p:sldId id="846" r:id="rId19"/>
    <p:sldId id="633" r:id="rId20"/>
    <p:sldId id="805" r:id="rId21"/>
    <p:sldId id="744" r:id="rId22"/>
    <p:sldId id="847" r:id="rId23"/>
    <p:sldId id="745" r:id="rId24"/>
    <p:sldId id="806" r:id="rId25"/>
    <p:sldId id="807" r:id="rId26"/>
    <p:sldId id="808" r:id="rId27"/>
    <p:sldId id="749" r:id="rId28"/>
    <p:sldId id="809" r:id="rId29"/>
    <p:sldId id="810" r:id="rId30"/>
    <p:sldId id="753" r:id="rId31"/>
    <p:sldId id="836" r:id="rId32"/>
    <p:sldId id="754" r:id="rId33"/>
    <p:sldId id="811" r:id="rId34"/>
    <p:sldId id="756" r:id="rId35"/>
    <p:sldId id="814" r:id="rId36"/>
    <p:sldId id="758" r:id="rId37"/>
    <p:sldId id="759" r:id="rId38"/>
    <p:sldId id="763" r:id="rId39"/>
    <p:sldId id="815" r:id="rId40"/>
    <p:sldId id="816" r:id="rId41"/>
    <p:sldId id="817" r:id="rId42"/>
    <p:sldId id="765" r:id="rId43"/>
    <p:sldId id="853" r:id="rId44"/>
    <p:sldId id="766" r:id="rId45"/>
    <p:sldId id="767" r:id="rId46"/>
    <p:sldId id="768" r:id="rId47"/>
    <p:sldId id="776" r:id="rId48"/>
    <p:sldId id="818" r:id="rId49"/>
    <p:sldId id="769" r:id="rId50"/>
    <p:sldId id="854" r:id="rId51"/>
    <p:sldId id="770" r:id="rId52"/>
    <p:sldId id="820" r:id="rId53"/>
    <p:sldId id="821" r:id="rId54"/>
    <p:sldId id="777" r:id="rId55"/>
    <p:sldId id="837" r:id="rId56"/>
    <p:sldId id="822" r:id="rId57"/>
    <p:sldId id="823" r:id="rId58"/>
    <p:sldId id="779" r:id="rId59"/>
    <p:sldId id="855" r:id="rId60"/>
    <p:sldId id="780" r:id="rId61"/>
    <p:sldId id="824" r:id="rId62"/>
    <p:sldId id="825" r:id="rId63"/>
    <p:sldId id="826" r:id="rId64"/>
    <p:sldId id="786" r:id="rId65"/>
    <p:sldId id="838" r:id="rId66"/>
    <p:sldId id="787" r:id="rId67"/>
    <p:sldId id="827" r:id="rId68"/>
    <p:sldId id="788" r:id="rId69"/>
    <p:sldId id="856" r:id="rId70"/>
    <p:sldId id="789" r:id="rId71"/>
    <p:sldId id="828" r:id="rId72"/>
    <p:sldId id="829" r:id="rId73"/>
    <p:sldId id="830" r:id="rId74"/>
    <p:sldId id="794" r:id="rId75"/>
    <p:sldId id="839" r:id="rId76"/>
    <p:sldId id="831" r:id="rId77"/>
    <p:sldId id="832" r:id="rId78"/>
    <p:sldId id="795" r:id="rId79"/>
    <p:sldId id="857" r:id="rId80"/>
    <p:sldId id="796" r:id="rId81"/>
    <p:sldId id="833" r:id="rId82"/>
    <p:sldId id="834" r:id="rId83"/>
    <p:sldId id="835" r:id="rId84"/>
    <p:sldId id="771" r:id="rId85"/>
    <p:sldId id="840" r:id="rId86"/>
    <p:sldId id="819" r:id="rId87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841"/>
            <p14:sldId id="764"/>
            <p14:sldId id="356"/>
            <p14:sldId id="260"/>
          </p14:sldIdLst>
        </p14:section>
        <p14:section name="목록" id="{A88D8C4A-42D5-488C-851B-9A15CEB54A60}">
          <p14:sldIdLst>
            <p14:sldId id="842"/>
            <p14:sldId id="843"/>
            <p14:sldId id="844"/>
          </p14:sldIdLst>
        </p14:section>
        <p14:section name="1.이행" id="{BB5718C8-07C1-4018-9189-79486BE9C0C5}">
          <p14:sldIdLst>
            <p14:sldId id="845"/>
            <p14:sldId id="670"/>
            <p14:sldId id="848"/>
            <p14:sldId id="850"/>
            <p14:sldId id="292"/>
            <p14:sldId id="849"/>
            <p14:sldId id="851"/>
            <p14:sldId id="852"/>
            <p14:sldId id="630"/>
            <p14:sldId id="846"/>
            <p14:sldId id="633"/>
            <p14:sldId id="805"/>
            <p14:sldId id="744"/>
            <p14:sldId id="847"/>
            <p14:sldId id="745"/>
            <p14:sldId id="806"/>
            <p14:sldId id="807"/>
            <p14:sldId id="808"/>
            <p14:sldId id="749"/>
            <p14:sldId id="809"/>
            <p14:sldId id="810"/>
            <p14:sldId id="753"/>
            <p14:sldId id="836"/>
            <p14:sldId id="754"/>
            <p14:sldId id="811"/>
            <p14:sldId id="756"/>
            <p14:sldId id="814"/>
            <p14:sldId id="758"/>
            <p14:sldId id="759"/>
            <p14:sldId id="763"/>
            <p14:sldId id="815"/>
            <p14:sldId id="816"/>
            <p14:sldId id="817"/>
          </p14:sldIdLst>
        </p14:section>
        <p14:section name="[국외] 한도액계약" id="{435CC6E4-0D47-4966-8A17-65080AAA2FB5}">
          <p14:sldIdLst>
            <p14:sldId id="765"/>
            <p14:sldId id="853"/>
            <p14:sldId id="766"/>
            <p14:sldId id="767"/>
            <p14:sldId id="768"/>
            <p14:sldId id="776"/>
            <p14:sldId id="818"/>
            <p14:sldId id="769"/>
            <p14:sldId id="854"/>
            <p14:sldId id="770"/>
            <p14:sldId id="820"/>
            <p14:sldId id="821"/>
            <p14:sldId id="777"/>
            <p14:sldId id="837"/>
            <p14:sldId id="822"/>
            <p14:sldId id="823"/>
            <p14:sldId id="779"/>
            <p14:sldId id="855"/>
            <p14:sldId id="780"/>
            <p14:sldId id="824"/>
            <p14:sldId id="825"/>
            <p14:sldId id="826"/>
            <p14:sldId id="786"/>
            <p14:sldId id="838"/>
            <p14:sldId id="787"/>
            <p14:sldId id="827"/>
            <p14:sldId id="788"/>
            <p14:sldId id="856"/>
            <p14:sldId id="789"/>
            <p14:sldId id="828"/>
            <p14:sldId id="829"/>
            <p14:sldId id="830"/>
            <p14:sldId id="794"/>
            <p14:sldId id="839"/>
            <p14:sldId id="831"/>
            <p14:sldId id="832"/>
            <p14:sldId id="795"/>
            <p14:sldId id="857"/>
            <p14:sldId id="796"/>
            <p14:sldId id="833"/>
            <p14:sldId id="834"/>
            <p14:sldId id="835"/>
            <p14:sldId id="771"/>
            <p14:sldId id="840"/>
            <p14:sldId id="8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4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80" y="9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2026-07-21 (Tuesday)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2026-07-21 (Tuesday)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032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04.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이행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04.</a:t>
            </a:r>
            <a:r>
              <a:rPr lang="ko-KR" altLang="en-US" dirty="0"/>
              <a:t>이행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37212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362632"/>
              </p:ext>
            </p:extLst>
          </p:nvPr>
        </p:nvGraphicFramePr>
        <p:xfrm>
          <a:off x="652374" y="1286787"/>
          <a:ext cx="8782571" cy="3980190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</a:t>
                      </a: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.9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PMO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 및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TF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검토요청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021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839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598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039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171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374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14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262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AD5474A3-B992-4B2C-42CB-59514F09A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30591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43055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이행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 err="1">
                          <a:latin typeface="+mn-ea"/>
                        </a:rPr>
                        <a:t>한도액계약</a:t>
                      </a:r>
                      <a:r>
                        <a:rPr lang="ko-KR" altLang="en-US" sz="1200" dirty="0">
                          <a:latin typeface="+mn-ea"/>
                        </a:rPr>
                        <a:t> </a:t>
                      </a:r>
                      <a:r>
                        <a:rPr lang="ko-KR" altLang="en-US" sz="1200" dirty="0"/>
                        <a:t>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33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35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이행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079108"/>
              </p:ext>
            </p:extLst>
          </p:nvPr>
        </p:nvGraphicFramePr>
        <p:xfrm>
          <a:off x="635474" y="1413419"/>
          <a:ext cx="8701200" cy="431014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MUI-EX-01-M01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검사통합목록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InspIntgListInqPage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납품조서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기성 및 준공검사 대상 목록을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inspIntgListInq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InspIntgListInqPage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lt"/>
                          <a:ea typeface="+mn-ea"/>
                        </a:rPr>
                        <a:t>UC-EX-01-02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MUI-EX-01-P08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-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검사통합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InspIntgListInq_SrchFilter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inspIntgListInq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InspIntgListInq_SrchFilter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lt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MUI-EX-01-P10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납품통지목록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DlvgdsAvtsmtListPage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검사및납품조서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납품통지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inspIntgListInq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DlvgdsAvtsmtListPage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UC-EX-01-02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52631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MUI-EX-01-P11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검사및납품조서목록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InspDlvdocListPage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검사및납품조서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납품통지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세부 목록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inspIntgListInq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InspDlvdocListPage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UC-EX-01-02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06928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MUI-EX-01-M02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InspDlvdocDtlPage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작성된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MUI-EX-01-T01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상세정보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InspDlvdocDtl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02478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MUI-EX-01-T02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물품목록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InspDlvdocDtl_CmdtyList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상세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InspDlvdocDtl_CmdtyList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5896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MUI-EX-01-M03</a:t>
                      </a:r>
                      <a:endParaRPr kumimoji="0" lang="en-US" sz="7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InspDlvdocDtlSbsdPrcmPage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작성된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조회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InspDlvdocDtlSbsdPrcmPage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MUI-EX-01-T03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상세정보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InspDlvdocDtlSbsdPrcmDtl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상세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44318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MUI-EX-01-T04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물품목록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InspDlvdocDtlSbsdPrcmDtl_CmdtyList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상세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InspDlvdocDtlSbsdPrcm_CmdtyList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07743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MUI-EX-01-M04</a:t>
                      </a:r>
                      <a:endParaRPr kumimoji="0" lang="en-US" sz="7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기성및준공검사상세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PxcndCmcnInspDtlPage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작성된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조회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pxcndCmcnInspDtlPage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PxcndCmcnInspDtl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lt"/>
                          <a:ea typeface="+mn-ea"/>
                        </a:rPr>
                        <a:t>UC-EX-01-01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5909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이행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797391"/>
              </p:ext>
            </p:extLst>
          </p:nvPr>
        </p:nvGraphicFramePr>
        <p:xfrm>
          <a:off x="635474" y="1413419"/>
          <a:ext cx="8701200" cy="24566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검사및납품조서현황</a:t>
                      </a:r>
                      <a:r>
                        <a:rPr lang="ko-KR" altLang="en-US" sz="8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InspDlvdocPrstPage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현황 목록을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1479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MUI-EX-01-M05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InspDlvdocPrst_SrchFilter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62872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MUI-EX-01-P06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조서발행번호정보조회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RecrdPblcnNoInfoInqPage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조서발행번호 조회 팝업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recrdPblcnNoInfoInq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RecrdPblcnNoInfoInqPage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00548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MUI-EX-01-M07</a:t>
                      </a:r>
                      <a:endParaRPr kumimoji="0" lang="en-US" sz="7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검사및납품조서결과상세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DlvdocRsltDtlpage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검사및납품조서결과상세를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MUI-EX-01-T05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상세정보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DlvdocRsltDtl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9155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MUI-EX-01-T06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물품목록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DlvdocRsltDtl_CmdtyList</a:t>
                      </a:r>
                      <a:endParaRPr 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상세 탭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DlvdocRsltDtl_CmdtyList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953504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91260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검사통합목록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</a:t>
            </a:r>
            <a:r>
              <a:rPr lang="ko-KR" altLang="en-US" sz="800" dirty="0" smtClean="0">
                <a:solidFill>
                  <a:schemeClr val="tx1"/>
                </a:solidFill>
              </a:rPr>
              <a:t>필터</a:t>
            </a:r>
            <a:r>
              <a:rPr lang="en-US" altLang="ko-KR" sz="800" dirty="0" smtClean="0">
                <a:solidFill>
                  <a:schemeClr val="tx1"/>
                </a:solidFill>
              </a:rPr>
              <a:t/>
            </a:r>
            <a:br>
              <a:rPr lang="en-US" altLang="ko-KR" sz="800" dirty="0" smtClean="0">
                <a:solidFill>
                  <a:schemeClr val="tx1"/>
                </a:solidFill>
              </a:rPr>
            </a:br>
            <a:r>
              <a:rPr lang="en-US" altLang="ko-KR" sz="800" dirty="0" smtClean="0">
                <a:solidFill>
                  <a:schemeClr val="tx1"/>
                </a:solidFill>
              </a:rPr>
              <a:t>-</a:t>
            </a:r>
            <a:r>
              <a:rPr lang="ko-KR" altLang="en-US" sz="800" dirty="0" err="1">
                <a:solidFill>
                  <a:schemeClr val="tx1"/>
                </a:solidFill>
              </a:rPr>
              <a:t>검사통합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45000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316638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2993939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122170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dirty="0">
                <a:solidFill>
                  <a:schemeClr val="tx1"/>
                </a:solidFill>
              </a:rPr>
              <a:t> 상세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중앙조달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70" idx="1"/>
          </p:cNvCxnSpPr>
          <p:nvPr/>
        </p:nvCxnSpPr>
        <p:spPr>
          <a:xfrm rot="16200000" flipH="1">
            <a:off x="2997822" y="1735750"/>
            <a:ext cx="537573" cy="90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491608" y="953964"/>
            <a:ext cx="12700" cy="1350000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6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122170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dirty="0">
                <a:solidFill>
                  <a:schemeClr val="tx1"/>
                </a:solidFill>
              </a:rPr>
              <a:t> 상세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부대조달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356149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기성및준공검사상세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34" idx="1"/>
          </p:cNvCxnSpPr>
          <p:nvPr/>
        </p:nvCxnSpPr>
        <p:spPr>
          <a:xfrm rot="16200000" flipH="1">
            <a:off x="2372343" y="2361229"/>
            <a:ext cx="1788531" cy="90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158" idx="2"/>
          </p:cNvCxnSpPr>
          <p:nvPr/>
        </p:nvCxnSpPr>
        <p:spPr>
          <a:xfrm flipV="1">
            <a:off x="4616608" y="3083939"/>
            <a:ext cx="4632719" cy="621556"/>
          </a:xfrm>
          <a:prstGeom prst="bentConnector3">
            <a:avLst>
              <a:gd name="adj1" fmla="val 9492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3720468" y="3441630"/>
            <a:ext cx="68929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공사 계약 선택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67" idx="1"/>
          </p:cNvCxnSpPr>
          <p:nvPr/>
        </p:nvCxnSpPr>
        <p:spPr>
          <a:xfrm flipV="1">
            <a:off x="6022170" y="2318132"/>
            <a:ext cx="534770" cy="13640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423884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검사및납품조서현황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sp>
        <p:nvSpPr>
          <p:cNvPr id="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491238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조서발행번호정보조회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62" idx="1"/>
          </p:cNvCxnSpPr>
          <p:nvPr/>
        </p:nvCxnSpPr>
        <p:spPr>
          <a:xfrm>
            <a:off x="1435474" y="1772964"/>
            <a:ext cx="931134" cy="26098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558778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검사 및 </a:t>
            </a:r>
            <a:r>
              <a:rPr lang="ko-KR" altLang="en-US" sz="800" dirty="0" err="1">
                <a:solidFill>
                  <a:schemeClr val="tx1"/>
                </a:solidFill>
              </a:rPr>
              <a:t>납품조서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결과상세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423698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</a:t>
            </a:r>
            <a:r>
              <a:rPr lang="ko-KR" altLang="en-US" sz="800" dirty="0" smtClean="0">
                <a:solidFill>
                  <a:schemeClr val="tx1"/>
                </a:solidFill>
              </a:rPr>
              <a:t>필터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-</a:t>
            </a:r>
            <a:r>
              <a:rPr lang="ko-KR" altLang="en-US" sz="800" dirty="0" err="1">
                <a:solidFill>
                  <a:schemeClr val="tx1"/>
                </a:solidFill>
              </a:rPr>
              <a:t>검사및납품조서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2" idx="3"/>
            <a:endCxn id="76" idx="1"/>
          </p:cNvCxnSpPr>
          <p:nvPr/>
        </p:nvCxnSpPr>
        <p:spPr>
          <a:xfrm flipV="1">
            <a:off x="3266608" y="4380989"/>
            <a:ext cx="450000" cy="18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2" idx="2"/>
            <a:endCxn id="74" idx="1"/>
          </p:cNvCxnSpPr>
          <p:nvPr/>
        </p:nvCxnSpPr>
        <p:spPr>
          <a:xfrm rot="16200000" flipH="1">
            <a:off x="2664141" y="4679315"/>
            <a:ext cx="1204935" cy="9000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6" idx="0"/>
            <a:endCxn id="62" idx="0"/>
          </p:cNvCxnSpPr>
          <p:nvPr/>
        </p:nvCxnSpPr>
        <p:spPr>
          <a:xfrm rot="16200000" flipH="1" flipV="1">
            <a:off x="3490678" y="3562918"/>
            <a:ext cx="1859" cy="1350000"/>
          </a:xfrm>
          <a:prstGeom prst="bentConnector3">
            <a:avLst>
              <a:gd name="adj1" fmla="val -1229693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6" idx="2"/>
            <a:endCxn id="71" idx="0"/>
          </p:cNvCxnSpPr>
          <p:nvPr/>
        </p:nvCxnSpPr>
        <p:spPr>
          <a:xfrm>
            <a:off x="4166608" y="4524989"/>
            <a:ext cx="0" cy="3873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1" idx="3"/>
            <a:endCxn id="76" idx="3"/>
          </p:cNvCxnSpPr>
          <p:nvPr/>
        </p:nvCxnSpPr>
        <p:spPr>
          <a:xfrm flipV="1">
            <a:off x="4616608" y="4380989"/>
            <a:ext cx="12700" cy="6753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556940" y="1996184"/>
            <a:ext cx="2233492" cy="64389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b="1" dirty="0">
                <a:solidFill>
                  <a:schemeClr val="tx1"/>
                </a:solidFill>
              </a:rPr>
              <a:t> 상세 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중앙조달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680599" y="225691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7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775196" y="225691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물품목록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492190" y="5392498"/>
            <a:ext cx="1063310" cy="783216"/>
            <a:chOff x="492190" y="5392498"/>
            <a:chExt cx="1063310" cy="783216"/>
          </a:xfrm>
        </p:grpSpPr>
        <p:grpSp>
          <p:nvGrpSpPr>
            <p:cNvPr id="81" name="그룹 80"/>
            <p:cNvGrpSpPr/>
            <p:nvPr/>
          </p:nvGrpSpPr>
          <p:grpSpPr>
            <a:xfrm>
              <a:off x="492190" y="5624092"/>
              <a:ext cx="235869" cy="548293"/>
              <a:chOff x="669822" y="4927621"/>
              <a:chExt cx="912149" cy="1378059"/>
            </a:xfrm>
          </p:grpSpPr>
          <p:sp>
            <p:nvSpPr>
              <p:cNvPr id="89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5466998"/>
                <a:ext cx="899998" cy="288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69822" y="4927621"/>
                <a:ext cx="899998" cy="28800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사각형: 둥근 모서리 5">
                <a:extLst>
                  <a:ext uri="{FF2B5EF4-FFF2-40B4-BE49-F238E27FC236}">
                    <a16:creationId xmlns:a16="http://schemas.microsoft.com/office/drawing/2014/main" id="{410E5459-200D-7630-863C-88E5109259DF}"/>
                  </a:ext>
                </a:extLst>
              </p:cNvPr>
              <p:cNvSpPr/>
              <p:nvPr/>
            </p:nvSpPr>
            <p:spPr>
              <a:xfrm>
                <a:off x="681971" y="6006377"/>
                <a:ext cx="900000" cy="299303"/>
              </a:xfrm>
              <a:prstGeom prst="roundRect">
                <a:avLst>
                  <a:gd name="adj" fmla="val 5227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t"/>
              <a:lstStyle/>
              <a:p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499695" y="5392498"/>
              <a:ext cx="20518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범례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617943"/>
              <a:ext cx="652423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화면목록</a:t>
              </a:r>
              <a:r>
                <a:rPr lang="ko-KR" altLang="en-US" sz="800" dirty="0">
                  <a:solidFill>
                    <a:schemeClr val="tx1"/>
                  </a:solidFill>
                </a:rPr>
                <a:t> 항목</a:t>
              </a: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5834434"/>
              <a:ext cx="68929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흐름 참고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F249990F-1DE5-C694-BDBD-2DE7009D57EA}"/>
                </a:ext>
              </a:extLst>
            </p:cNvPr>
            <p:cNvSpPr/>
            <p:nvPr/>
          </p:nvSpPr>
          <p:spPr>
            <a:xfrm>
              <a:off x="829339" y="6052603"/>
              <a:ext cx="726161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r>
                <a:rPr lang="ko-KR" altLang="en-US" sz="800" dirty="0" smtClean="0">
                  <a:solidFill>
                    <a:schemeClr val="tx1"/>
                  </a:solidFill>
                </a:rPr>
                <a:t>탭 등 그룹 항목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9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556940" y="2844435"/>
            <a:ext cx="2233492" cy="64389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b="1" dirty="0">
                <a:solidFill>
                  <a:schemeClr val="tx1"/>
                </a:solidFill>
              </a:rPr>
              <a:t> 상세 </a:t>
            </a:r>
            <a:r>
              <a:rPr lang="en-US" altLang="ko-KR" sz="800" b="1" dirty="0">
                <a:solidFill>
                  <a:schemeClr val="tx1"/>
                </a:solidFill>
              </a:rPr>
              <a:t>(</a:t>
            </a:r>
            <a:r>
              <a:rPr lang="ko-KR" altLang="en-US" sz="800" b="1" dirty="0" err="1">
                <a:solidFill>
                  <a:schemeClr val="tx1"/>
                </a:solidFill>
              </a:rPr>
              <a:t>부대조달</a:t>
            </a:r>
            <a:r>
              <a:rPr lang="en-US" altLang="ko-KR" sz="800" b="1" dirty="0" smtClean="0">
                <a:solidFill>
                  <a:schemeClr val="tx1"/>
                </a:solidFill>
              </a:rPr>
              <a:t>)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9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680599" y="310516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9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775196" y="310516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물품목록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6022170" y="3083939"/>
            <a:ext cx="534770" cy="8244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151378" y="5347199"/>
            <a:ext cx="2233492" cy="643896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검사 및 </a:t>
            </a:r>
            <a:r>
              <a:rPr lang="ko-KR" altLang="en-US" sz="800" b="1" dirty="0" err="1" smtClean="0">
                <a:solidFill>
                  <a:schemeClr val="tx1"/>
                </a:solidFill>
              </a:rPr>
              <a:t>납품조서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</a:t>
            </a:r>
            <a:r>
              <a:rPr lang="ko-KR" altLang="en-US" sz="800" b="1" dirty="0" err="1" smtClean="0">
                <a:solidFill>
                  <a:schemeClr val="tx1"/>
                </a:solidFill>
              </a:rPr>
              <a:t>결과상세</a:t>
            </a:r>
            <a:r>
              <a:rPr lang="ko-KR" altLang="en-US" sz="800" b="1" dirty="0" smtClean="0">
                <a:solidFill>
                  <a:schemeClr val="tx1"/>
                </a:solidFill>
              </a:rPr>
              <a:t>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9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275037" y="560792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10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369634" y="560792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물품목록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4" idx="3"/>
            <a:endCxn id="97" idx="1"/>
          </p:cNvCxnSpPr>
          <p:nvPr/>
        </p:nvCxnSpPr>
        <p:spPr>
          <a:xfrm flipV="1">
            <a:off x="4616608" y="5669147"/>
            <a:ext cx="534770" cy="6263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7" idx="3"/>
            <a:endCxn id="158" idx="2"/>
          </p:cNvCxnSpPr>
          <p:nvPr/>
        </p:nvCxnSpPr>
        <p:spPr>
          <a:xfrm flipV="1">
            <a:off x="7384870" y="3083939"/>
            <a:ext cx="1864457" cy="2585208"/>
          </a:xfrm>
          <a:prstGeom prst="bentConnector3">
            <a:avLst>
              <a:gd name="adj1" fmla="val 8736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3" idx="3"/>
            <a:endCxn id="158" idx="2"/>
          </p:cNvCxnSpPr>
          <p:nvPr/>
        </p:nvCxnSpPr>
        <p:spPr>
          <a:xfrm flipV="1">
            <a:off x="8790432" y="3083939"/>
            <a:ext cx="458895" cy="8244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7" idx="3"/>
            <a:endCxn id="158" idx="2"/>
          </p:cNvCxnSpPr>
          <p:nvPr/>
        </p:nvCxnSpPr>
        <p:spPr>
          <a:xfrm>
            <a:off x="8790432" y="2318132"/>
            <a:ext cx="458895" cy="76580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납품통지목록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3720468" y="2189132"/>
            <a:ext cx="95378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 계약 선택</a:t>
            </a:r>
          </a:p>
        </p:txBody>
      </p:sp>
      <p:sp>
        <p:nvSpPr>
          <p:cNvPr id="7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716608" y="293724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0" idx="2"/>
            <a:endCxn id="79" idx="0"/>
          </p:cNvCxnSpPr>
          <p:nvPr/>
        </p:nvCxnSpPr>
        <p:spPr>
          <a:xfrm>
            <a:off x="4166608" y="2598537"/>
            <a:ext cx="0" cy="33870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9" idx="3"/>
            <a:endCxn id="162" idx="1"/>
          </p:cNvCxnSpPr>
          <p:nvPr/>
        </p:nvCxnSpPr>
        <p:spPr>
          <a:xfrm flipV="1">
            <a:off x="4616608" y="2454537"/>
            <a:ext cx="505562" cy="62670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9" idx="3"/>
            <a:endCxn id="23" idx="1"/>
          </p:cNvCxnSpPr>
          <p:nvPr/>
        </p:nvCxnSpPr>
        <p:spPr>
          <a:xfrm>
            <a:off x="4616608" y="3081242"/>
            <a:ext cx="505562" cy="26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87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020885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검사통합목록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InspIntgListInqPage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020885" y="216638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검색필터</a:t>
            </a:r>
            <a:r>
              <a:rPr lang="en-US" altLang="ko-KR" sz="1000" dirty="0">
                <a:solidFill>
                  <a:schemeClr val="tx1"/>
                </a:solidFill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</a:rPr>
              <a:t>검사통합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InspIntgListInq_SrchFilter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268863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중앙조달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45167" y="2747194"/>
            <a:ext cx="2263702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검사및납품조서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>
                <a:solidFill>
                  <a:schemeClr val="tx1"/>
                </a:solidFill>
              </a:rPr>
              <a:t>inspDlvdoc</a:t>
            </a:r>
            <a:r>
              <a:rPr lang="en-US" altLang="ko-KR" sz="1100" dirty="0" err="1"/>
              <a:t>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748085" y="1865266"/>
            <a:ext cx="1212006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748085" y="2387512"/>
            <a:ext cx="1212006" cy="602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748085" y="2909758"/>
            <a:ext cx="1212006" cy="8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578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321087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상세정보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373312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물품목록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InspDlvdocDtl_CmdtyList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425536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InspDlvdocPrstPage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477761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상세정보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InspDlvdocDtlSbsdPrcmDtl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748085" y="2990174"/>
            <a:ext cx="1212006" cy="441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748085" y="2990174"/>
            <a:ext cx="1212006" cy="964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748085" y="2990174"/>
            <a:ext cx="1212006" cy="1486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748085" y="2990174"/>
            <a:ext cx="1212006" cy="2008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5299862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물품목록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InspDlvdocDtlSbsdPrcmDtl_CmdtyList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748085" y="2990174"/>
            <a:ext cx="1212006" cy="2530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020885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기성및준공검사상세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PxcndCmcnInspDtlPage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8" idx="3"/>
            <a:endCxn id="9" idx="1"/>
          </p:cNvCxnSpPr>
          <p:nvPr/>
        </p:nvCxnSpPr>
        <p:spPr>
          <a:xfrm flipV="1">
            <a:off x="2748085" y="2990174"/>
            <a:ext cx="1212006" cy="307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54" idx="0"/>
            <a:endCxn id="9" idx="2"/>
          </p:cNvCxnSpPr>
          <p:nvPr/>
        </p:nvCxnSpPr>
        <p:spPr>
          <a:xfrm flipV="1">
            <a:off x="3659208" y="3810190"/>
            <a:ext cx="1164483" cy="203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5" idx="0"/>
            <a:endCxn id="9" idx="2"/>
          </p:cNvCxnSpPr>
          <p:nvPr/>
        </p:nvCxnSpPr>
        <p:spPr>
          <a:xfrm flipH="1" flipV="1">
            <a:off x="4823691" y="3810190"/>
            <a:ext cx="437321" cy="203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4" idx="0"/>
            <a:endCxn id="9" idx="2"/>
          </p:cNvCxnSpPr>
          <p:nvPr/>
        </p:nvCxnSpPr>
        <p:spPr>
          <a:xfrm flipH="1" flipV="1">
            <a:off x="4823691" y="3810190"/>
            <a:ext cx="437321" cy="1489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3" idx="0"/>
            <a:endCxn id="9" idx="2"/>
          </p:cNvCxnSpPr>
          <p:nvPr/>
        </p:nvCxnSpPr>
        <p:spPr>
          <a:xfrm flipH="1" flipV="1">
            <a:off x="4823691" y="3810190"/>
            <a:ext cx="437321" cy="967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53" idx="0"/>
            <a:endCxn id="9" idx="2"/>
          </p:cNvCxnSpPr>
          <p:nvPr/>
        </p:nvCxnSpPr>
        <p:spPr>
          <a:xfrm flipV="1">
            <a:off x="3659208" y="3810190"/>
            <a:ext cx="1164483" cy="1489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52" idx="0"/>
            <a:endCxn id="9" idx="2"/>
          </p:cNvCxnSpPr>
          <p:nvPr/>
        </p:nvCxnSpPr>
        <p:spPr>
          <a:xfrm flipV="1">
            <a:off x="3659208" y="3810190"/>
            <a:ext cx="1164483" cy="967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937431" y="4777615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검사및납품조서현황목록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InspDlvdocPrstPage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937431" y="5299862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검색필터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InspDlvdocPrst_SrchFilter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937431" y="5846371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조서발행번호정보조회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RecrdPblcnNoInfoInqPage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539235" y="4777615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검사및납품조서결과상세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DlvdocRsltDtlpage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539235" y="5299862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검사및납품조서결과상세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상세정보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DlvdocRsltDtl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539235" y="5846371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검사및납품조서결과상세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물품목록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DlvdocRsltDtl_CmdtyList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2937431" y="4255369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납품통지목록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DlvgdsAvtsmtListPage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4539235" y="4255369"/>
            <a:ext cx="1443554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42" idx="0"/>
            <a:endCxn id="9" idx="2"/>
          </p:cNvCxnSpPr>
          <p:nvPr/>
        </p:nvCxnSpPr>
        <p:spPr>
          <a:xfrm flipV="1">
            <a:off x="3659208" y="3810190"/>
            <a:ext cx="1164483" cy="445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43" idx="0"/>
            <a:endCxn id="9" idx="2"/>
          </p:cNvCxnSpPr>
          <p:nvPr/>
        </p:nvCxnSpPr>
        <p:spPr>
          <a:xfrm flipH="1" flipV="1">
            <a:off x="4823691" y="3810190"/>
            <a:ext cx="437321" cy="445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4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검사 </a:t>
            </a:r>
            <a:r>
              <a:rPr lang="ko-KR" altLang="en-US" dirty="0" err="1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기성 및 준공검사 대상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검사통합목록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51354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73775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0775" y="3858386"/>
            <a:ext cx="47448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32921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3329212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04202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06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3024315" y="3090999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모서리가 둥근 직사각형 79"/>
          <p:cNvSpPr/>
          <p:nvPr/>
        </p:nvSpPr>
        <p:spPr>
          <a:xfrm>
            <a:off x="4320532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621458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49224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22551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4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예산구분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553817"/>
            <a:ext cx="558256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검사의뢰완료</a:t>
            </a: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939870" y="355648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검사반려</a:t>
            </a:r>
            <a:endParaRPr lang="ko-KR" altLang="en-US" sz="6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55965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399093" y="3556484"/>
            <a:ext cx="247535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저장</a:t>
            </a:r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711660" y="3556484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24073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5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7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379425"/>
            <a:ext cx="2473257" cy="821562"/>
            <a:chOff x="781461" y="3087955"/>
            <a:chExt cx="2473257" cy="821562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/>
                <a:t>계약 명칭 </a:t>
              </a:r>
              <a:r>
                <a:rPr lang="ko-KR" altLang="en-US" sz="900" b="1" dirty="0" err="1"/>
                <a:t>표시영역</a:t>
              </a:r>
              <a:endParaRPr lang="ko-KR" altLang="en-US" sz="900" b="1" dirty="0"/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762378" y="3617129"/>
              <a:ext cx="47288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5198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본조</a:t>
              </a:r>
              <a:endParaRPr lang="ko-KR" altLang="en-US" sz="600" dirty="0"/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8808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6" name="모서리가 둥근 직사각형 165"/>
          <p:cNvSpPr/>
          <p:nvPr/>
        </p:nvSpPr>
        <p:spPr>
          <a:xfrm>
            <a:off x="1372190" y="437428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검사완료</a:t>
            </a:r>
            <a:endParaRPr lang="ko-KR" altLang="en-US" sz="600" dirty="0"/>
          </a:p>
        </p:txBody>
      </p: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4318634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검사저장</a:t>
            </a:r>
            <a:endParaRPr lang="ko-KR" altLang="en-US" sz="600" dirty="0"/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782098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검사완료</a:t>
            </a:r>
            <a:endParaRPr lang="ko-KR" altLang="en-US" sz="600" dirty="0"/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5245543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출납완료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711660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조달접수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6176377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조달반려</a:t>
            </a:r>
            <a:endParaRPr lang="ko-KR" altLang="en-US" sz="600" dirty="0"/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4322406" y="3891192"/>
            <a:ext cx="554484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납품조서반려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4920116" y="3893838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청구저장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4320532" y="321227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납지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810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납지구분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5090510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당년국채</a:t>
            </a:r>
            <a:endParaRPr lang="ko-KR" altLang="en-US" sz="600" dirty="0"/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4783876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본조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99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0668" y="151983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상단 </a:t>
            </a:r>
            <a:r>
              <a:rPr lang="ko-KR" altLang="en-US" sz="700" dirty="0" err="1" smtClean="0"/>
              <a:t>업무도움은</a:t>
            </a:r>
            <a:r>
              <a:rPr lang="ko-KR" altLang="en-US" sz="700" dirty="0" smtClean="0"/>
              <a:t> 기본 값으로 접힘 상태로 정보 제공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기본값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접힘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사용자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확장하여 정보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업무도움</a:t>
            </a:r>
            <a:r>
              <a:rPr lang="en-US" altLang="ko-KR" sz="700" dirty="0" smtClean="0"/>
              <a:t> &gt; </a:t>
            </a:r>
            <a:r>
              <a:rPr lang="ko-KR" altLang="en-US" sz="700" dirty="0" smtClean="0"/>
              <a:t>내역이 있는 경우 표시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내역이 없으면 항목을 표시하지 않음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ko-KR" altLang="en-US" sz="700" dirty="0" smtClean="0"/>
              <a:t> 항목 참고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en-US" altLang="ko-KR" sz="800" dirty="0" smtClean="0">
                <a:latin typeface="+mn-ea"/>
              </a:rPr>
              <a:t>MUI-EX-01-P08 </a:t>
            </a:r>
            <a:r>
              <a:rPr lang="ko-KR" altLang="en-US" sz="800" dirty="0" err="1">
                <a:latin typeface="+mn-ea"/>
              </a:rPr>
              <a:t>검색필터</a:t>
            </a:r>
            <a:r>
              <a:rPr lang="en-US" altLang="ko-KR" sz="800" dirty="0">
                <a:latin typeface="+mn-ea"/>
              </a:rPr>
              <a:t>-</a:t>
            </a:r>
            <a:r>
              <a:rPr lang="ko-KR" altLang="en-US" sz="800" dirty="0" err="1">
                <a:latin typeface="+mn-ea"/>
              </a:rPr>
              <a:t>검사통합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표시 개수 영역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총 개수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표시 개수 </a:t>
            </a:r>
            <a:r>
              <a:rPr lang="en-US" altLang="ko-KR" sz="700" dirty="0" smtClean="0"/>
              <a:t>(</a:t>
            </a:r>
            <a:r>
              <a:rPr lang="ko-KR" altLang="en-US" sz="700" dirty="0" smtClean="0"/>
              <a:t>선택한 건수 만큼 보여주고 </a:t>
            </a:r>
            <a:r>
              <a:rPr lang="ko-KR" altLang="en-US" sz="700" dirty="0" err="1" smtClean="0"/>
              <a:t>더보기시</a:t>
            </a:r>
            <a:r>
              <a:rPr lang="ko-KR" altLang="en-US" sz="700" dirty="0" smtClean="0"/>
              <a:t> 추가로 불러옴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ko-KR" altLang="en-US" sz="700" dirty="0" smtClean="0"/>
              <a:t>목록 카드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카드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상세 페이지 이동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3-1]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클릭 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용역 </a:t>
            </a:r>
            <a:r>
              <a:rPr lang="en-US" altLang="ko-KR" sz="700" dirty="0" smtClean="0"/>
              <a:t>: </a:t>
            </a:r>
            <a:r>
              <a:rPr lang="en-US" altLang="ko-KR" sz="800" dirty="0" smtClean="0">
                <a:latin typeface="+mn-ea"/>
              </a:rPr>
              <a:t>MUI-EX-01-P10 </a:t>
            </a:r>
            <a:r>
              <a:rPr lang="ko-KR" altLang="en-US" sz="800" dirty="0" smtClean="0">
                <a:latin typeface="+mn-ea"/>
              </a:rPr>
              <a:t>납품통지목록</a:t>
            </a:r>
            <a:r>
              <a:rPr lang="en-US" altLang="ko-KR" sz="800" dirty="0" smtClean="0">
                <a:latin typeface="+mn-ea"/>
              </a:rPr>
              <a:t/>
            </a:r>
            <a:br>
              <a:rPr lang="en-US" altLang="ko-KR" sz="800" dirty="0" smtClean="0">
                <a:latin typeface="+mn-ea"/>
              </a:rPr>
            </a:br>
            <a:r>
              <a:rPr lang="en-US" altLang="ko-KR" sz="800" dirty="0" smtClean="0">
                <a:latin typeface="+mn-ea"/>
              </a:rPr>
              <a:t>- </a:t>
            </a:r>
            <a:r>
              <a:rPr lang="ko-KR" altLang="en-US" sz="800" dirty="0" smtClean="0">
                <a:latin typeface="+mn-ea"/>
              </a:rPr>
              <a:t>공사 </a:t>
            </a:r>
            <a:r>
              <a:rPr lang="en-US" altLang="ko-KR" sz="800" dirty="0">
                <a:latin typeface="+mn-ea"/>
              </a:rPr>
              <a:t>: </a:t>
            </a:r>
            <a:r>
              <a:rPr lang="en-US" altLang="ko-KR" sz="800" dirty="0" smtClean="0">
                <a:latin typeface="+mn-ea"/>
              </a:rPr>
              <a:t>MUI-EX-01-M04 </a:t>
            </a:r>
            <a:r>
              <a:rPr lang="ko-KR" altLang="en-US" sz="800" dirty="0" err="1">
                <a:latin typeface="+mn-ea"/>
              </a:rPr>
              <a:t>기성및준공검사상세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레이블이 화면을 넘치는 경우 드래그하여 확인 가능 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스와이프기능</a:t>
            </a:r>
            <a:r>
              <a:rPr lang="ko-KR" altLang="en-US" sz="700" dirty="0" smtClean="0"/>
              <a:t> 반영 필요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4-1] </a:t>
            </a:r>
            <a:r>
              <a:rPr lang="ko-KR" altLang="en-US" sz="700" dirty="0" err="1" smtClean="0"/>
              <a:t>표시레이블</a:t>
            </a:r>
            <a:r>
              <a:rPr lang="ko-KR" altLang="en-US" sz="700" dirty="0" smtClean="0"/>
              <a:t> 영역 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공사</a:t>
            </a:r>
            <a:r>
              <a:rPr lang="en-US" altLang="ko-KR" sz="700" strike="sngStrike" dirty="0" smtClean="0"/>
              <a:t>, </a:t>
            </a:r>
            <a:r>
              <a:rPr lang="ko-KR" altLang="en-US" sz="700" strike="sngStrike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예산구분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전년국채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본조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당년국채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4-2] </a:t>
            </a:r>
            <a:r>
              <a:rPr lang="ko-KR" altLang="en-US" sz="700" dirty="0" smtClean="0"/>
              <a:t>수정계약요청수신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수정계약사유 항목 확인 불가</a:t>
            </a:r>
            <a:r>
              <a:rPr lang="en-US" altLang="ko-KR" sz="700" dirty="0" smtClean="0"/>
              <a:t>.</a:t>
            </a:r>
            <a:r>
              <a:rPr lang="ko-KR" altLang="en-US" sz="700" dirty="0" smtClean="0"/>
              <a:t> 항목명과 코드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전달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4-4] </a:t>
            </a:r>
            <a:r>
              <a:rPr lang="ko-KR" altLang="en-US" sz="700" dirty="0" smtClean="0"/>
              <a:t>문서 정보 영역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</a:t>
            </a:r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노출시</a:t>
            </a:r>
            <a:r>
              <a:rPr lang="ko-KR" altLang="en-US" sz="700" dirty="0" smtClean="0"/>
              <a:t> 해당 라인을 넘어가면 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: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4-5] </a:t>
            </a:r>
            <a:r>
              <a:rPr lang="ko-KR" altLang="en-US" sz="700" dirty="0" smtClean="0"/>
              <a:t>문서 제목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제목은 </a:t>
            </a:r>
            <a:r>
              <a:rPr lang="en-US" altLang="ko-KR" sz="700" dirty="0" smtClean="0"/>
              <a:t>2</a:t>
            </a:r>
            <a:r>
              <a:rPr lang="ko-KR" altLang="en-US" sz="700" dirty="0" smtClean="0"/>
              <a:t>줄 까지 노출 이후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기능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- 3</a:t>
            </a:r>
            <a:r>
              <a:rPr lang="ko-KR" altLang="en-US" sz="700" dirty="0" err="1" smtClean="0"/>
              <a:t>번항목</a:t>
            </a:r>
            <a:r>
              <a:rPr lang="ko-KR" altLang="en-US" sz="700" dirty="0" smtClean="0"/>
              <a:t> 표시 개수 영역에서 선택한 개수로 증가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ko-KR" altLang="en-US" sz="700" dirty="0" smtClean="0"/>
              <a:t>예</a:t>
            </a:r>
            <a:r>
              <a:rPr lang="en-US" altLang="ko-KR" sz="700" dirty="0" smtClean="0"/>
              <a:t>) 10</a:t>
            </a:r>
            <a:r>
              <a:rPr lang="ko-KR" altLang="en-US" sz="700" dirty="0" smtClean="0"/>
              <a:t>개 노출 이후 </a:t>
            </a: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버튼 클릭으로 </a:t>
            </a:r>
            <a:r>
              <a:rPr lang="en-US" altLang="ko-KR" sz="700" dirty="0" smtClean="0"/>
              <a:t>10</a:t>
            </a:r>
            <a:r>
              <a:rPr lang="ko-KR" altLang="en-US" sz="700" dirty="0" smtClean="0"/>
              <a:t>개씩 추가 로드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endParaRPr lang="en-US" altLang="ko-KR" sz="700" dirty="0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53358" y="43384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70286" y="218009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3506" y="44706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4-4</a:t>
            </a:r>
            <a:endParaRPr lang="ko-KR" altLang="en-US" sz="600" b="1" dirty="0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1637" y="48521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4-5</a:t>
            </a:r>
            <a:endParaRPr lang="ko-KR" altLang="en-US" sz="600" b="1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17061" y="33960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  <a:endParaRPr lang="en-US" altLang="ko-KR" sz="500" b="1" dirty="0" smtClean="0"/>
          </a:p>
        </p:txBody>
      </p:sp>
      <p:sp>
        <p:nvSpPr>
          <p:cNvPr id="123" name="직사각형 122"/>
          <p:cNvSpPr/>
          <p:nvPr/>
        </p:nvSpPr>
        <p:spPr>
          <a:xfrm>
            <a:off x="7065497" y="5939649"/>
            <a:ext cx="2325632" cy="362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</a:p>
          <a:p>
            <a:r>
              <a:rPr lang="ko-KR" altLang="en-US" sz="500" dirty="0" smtClean="0"/>
              <a:t>계약시작일자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종료일자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기성준공구분코드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계약업체명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검사일자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기성차수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납부기성금액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누락</a:t>
            </a:r>
            <a:r>
              <a:rPr lang="en-US" altLang="ko-KR" sz="500" dirty="0" smtClean="0"/>
              <a:t> 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3867434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 err="1">
                <a:latin typeface="+mn-ea"/>
              </a:rPr>
              <a:t>검사통합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이행 </a:t>
            </a:r>
            <a:r>
              <a:rPr lang="en-US" altLang="ko-KR" dirty="0"/>
              <a:t>&gt; </a:t>
            </a:r>
            <a:r>
              <a:rPr lang="ko-KR" altLang="en-US" dirty="0"/>
              <a:t>검사통합목록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MUI-EX-01-P08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00691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37072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국외</a:t>
            </a:r>
            <a:endParaRPr lang="en-US" altLang="ko-KR" sz="7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72169" y="2303384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/>
          <p:cNvSpPr/>
          <p:nvPr/>
        </p:nvSpPr>
        <p:spPr>
          <a:xfrm>
            <a:off x="772169" y="2520610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104604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7" name="직사각형 136"/>
          <p:cNvSpPr/>
          <p:nvPr/>
        </p:nvSpPr>
        <p:spPr>
          <a:xfrm>
            <a:off x="772169" y="271770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772169" y="2932361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/>
          <p:cNvSpPr/>
          <p:nvPr/>
        </p:nvSpPr>
        <p:spPr>
          <a:xfrm>
            <a:off x="772169" y="3144327"/>
            <a:ext cx="107950" cy="107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712771" y="2482252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1004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73653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95907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483422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498670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500665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521737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498670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61471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61925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716943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389974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847618"/>
            <a:ext cx="670770" cy="452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공사검사구분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247" name="그룹 246"/>
          <p:cNvGrpSpPr/>
          <p:nvPr/>
        </p:nvGrpSpPr>
        <p:grpSpPr>
          <a:xfrm>
            <a:off x="6261284" y="3970484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5818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903622" y="1956581"/>
            <a:ext cx="2516607" cy="689248"/>
            <a:chOff x="778515" y="4388257"/>
            <a:chExt cx="2516607" cy="689248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7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675399" y="3511086"/>
            <a:ext cx="2712027" cy="1190034"/>
            <a:chOff x="675399" y="1977748"/>
            <a:chExt cx="2712027" cy="1190034"/>
          </a:xfrm>
        </p:grpSpPr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16778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0461" y="1977748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공사검사구분</a:t>
              </a:r>
            </a:p>
          </p:txBody>
        </p:sp>
        <p:grpSp>
          <p:nvGrpSpPr>
            <p:cNvPr id="283" name="그룹 282"/>
            <p:cNvGrpSpPr/>
            <p:nvPr/>
          </p:nvGrpSpPr>
          <p:grpSpPr>
            <a:xfrm flipV="1">
              <a:off x="3162895" y="2075438"/>
              <a:ext cx="91438" cy="45719"/>
              <a:chOff x="6812560" y="3297172"/>
              <a:chExt cx="94010" cy="47005"/>
            </a:xfrm>
          </p:grpSpPr>
          <p:cxnSp>
            <p:nvCxnSpPr>
              <p:cNvPr id="284" name="직선 연결선 28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63566" y="2221573"/>
              <a:ext cx="2305144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전체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기성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smtClean="0">
                  <a:latin typeface="+mn-ea"/>
                </a:rPr>
                <a:t>준공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69" name="그룹 168"/>
            <p:cNvGrpSpPr/>
            <p:nvPr/>
          </p:nvGrpSpPr>
          <p:grpSpPr>
            <a:xfrm>
              <a:off x="772169" y="2297325"/>
              <a:ext cx="107950" cy="522266"/>
              <a:chOff x="772169" y="2297325"/>
              <a:chExt cx="107950" cy="522266"/>
            </a:xfrm>
          </p:grpSpPr>
          <p:sp>
            <p:nvSpPr>
              <p:cNvPr id="170" name="직사각형 169"/>
              <p:cNvSpPr/>
              <p:nvPr/>
            </p:nvSpPr>
            <p:spPr>
              <a:xfrm>
                <a:off x="772169" y="2297325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" name="직사각형 172"/>
              <p:cNvSpPr/>
              <p:nvPr/>
            </p:nvSpPr>
            <p:spPr>
              <a:xfrm>
                <a:off x="772169" y="2514551"/>
                <a:ext cx="107950" cy="10795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" name="직사각형 173"/>
              <p:cNvSpPr/>
              <p:nvPr/>
            </p:nvSpPr>
            <p:spPr>
              <a:xfrm>
                <a:off x="772169" y="2711641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77" name="TextBox 176"/>
            <p:cNvSpPr txBox="1"/>
            <p:nvPr/>
          </p:nvSpPr>
          <p:spPr>
            <a:xfrm>
              <a:off x="712771" y="2469709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" name="모서리가 둥근 직사각형 99"/>
          <p:cNvSpPr/>
          <p:nvPr/>
        </p:nvSpPr>
        <p:spPr>
          <a:xfrm>
            <a:off x="4569619" y="4133550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6261284" y="4204290"/>
            <a:ext cx="91438" cy="45719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8" name="타원 1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507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060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61451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7</a:t>
            </a:r>
            <a:endParaRPr lang="ko-KR" altLang="en-US" sz="900" b="1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49066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  <a:endParaRPr lang="ko-KR" altLang="en-US" sz="500" b="1" dirty="0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219722" y="49066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  <a:endParaRPr lang="ko-KR" altLang="en-US" sz="500" b="1" dirty="0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361392" y="15199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070821" y="15232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08364" y="517378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  <a:endParaRPr lang="ko-KR" altLang="en-US" sz="500" b="1" dirty="0"/>
          </a:p>
        </p:txBody>
      </p:sp>
      <p:sp>
        <p:nvSpPr>
          <p:cNvPr id="141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ko-KR" altLang="en-US" sz="700" dirty="0" smtClean="0"/>
              <a:t> 페이지 타이틀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1-1] </a:t>
            </a:r>
            <a:r>
              <a:rPr lang="ko-KR" altLang="en-US" sz="700" dirty="0" smtClean="0"/>
              <a:t>초기화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1-2] </a:t>
            </a:r>
            <a:r>
              <a:rPr lang="ko-KR" altLang="en-US" sz="700" dirty="0" smtClean="0"/>
              <a:t>창 닫기 버튼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ko-KR" altLang="en-US" sz="700" dirty="0" smtClean="0"/>
              <a:t>각 </a:t>
            </a:r>
            <a:r>
              <a:rPr lang="ko-KR" altLang="en-US" sz="700" dirty="0" err="1"/>
              <a:t>섹션명</a:t>
            </a:r>
            <a:r>
              <a:rPr lang="ko-KR" altLang="en-US" sz="700" dirty="0"/>
              <a:t> 클릭 시 아코디언 </a:t>
            </a:r>
            <a:r>
              <a:rPr lang="ko-KR" altLang="en-US" sz="700" dirty="0" smtClean="0"/>
              <a:t>동작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/>
              <a:t>업무 구분</a:t>
            </a:r>
            <a:r>
              <a:rPr lang="en-US" altLang="ko-KR" sz="700" dirty="0"/>
              <a:t>(</a:t>
            </a:r>
            <a:r>
              <a:rPr lang="ko-KR" altLang="en-US" sz="700" dirty="0" err="1"/>
              <a:t>필수값</a:t>
            </a:r>
            <a:r>
              <a:rPr lang="en-US" altLang="ko-KR" sz="700" dirty="0"/>
              <a:t>)</a:t>
            </a:r>
            <a:br>
              <a:rPr lang="en-US" altLang="ko-KR" sz="700" dirty="0"/>
            </a:br>
            <a:r>
              <a:rPr lang="en-US" altLang="ko-KR" sz="700" dirty="0"/>
              <a:t>- </a:t>
            </a:r>
            <a:r>
              <a:rPr lang="ko-KR" altLang="en-US" sz="700" dirty="0"/>
              <a:t>항목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ko-KR" altLang="en-US" sz="700" dirty="0"/>
              <a:t>전체</a:t>
            </a:r>
            <a:r>
              <a:rPr lang="en-US" altLang="ko-KR" sz="700" dirty="0"/>
              <a:t>, </a:t>
            </a:r>
            <a:r>
              <a:rPr lang="ko-KR" altLang="en-US" sz="700" dirty="0"/>
              <a:t>물품</a:t>
            </a:r>
            <a:r>
              <a:rPr lang="en-US" altLang="ko-KR" sz="700" dirty="0"/>
              <a:t>,</a:t>
            </a:r>
            <a:r>
              <a:rPr lang="ko-KR" altLang="en-US" sz="700" dirty="0"/>
              <a:t>용역</a:t>
            </a:r>
            <a:r>
              <a:rPr lang="en-US" altLang="ko-KR" sz="700" dirty="0"/>
              <a:t>,</a:t>
            </a:r>
            <a:r>
              <a:rPr lang="ko-KR" altLang="en-US" sz="700" dirty="0"/>
              <a:t>공사</a:t>
            </a:r>
            <a:r>
              <a:rPr lang="en-US" altLang="ko-KR" sz="700" dirty="0"/>
              <a:t>,</a:t>
            </a:r>
            <a:r>
              <a:rPr lang="ko-KR" altLang="en-US" sz="700" dirty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default)</a:t>
            </a:r>
            <a:r>
              <a:rPr lang="ko-KR" altLang="en-US" sz="700" dirty="0" smtClean="0"/>
              <a:t> 전체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국외 선택 불가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공사검사</a:t>
            </a:r>
            <a:r>
              <a:rPr lang="ko-KR" altLang="en-US" sz="700" dirty="0" smtClean="0"/>
              <a:t> 구분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필수값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ko-KR" altLang="en-US" sz="700" dirty="0" smtClean="0"/>
              <a:t>전체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기성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준공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default) </a:t>
            </a:r>
            <a:r>
              <a:rPr lang="ko-KR" altLang="en-US" sz="700" dirty="0" smtClean="0"/>
              <a:t>전체</a:t>
            </a: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검색 설정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서류요청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수신일자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/ </a:t>
            </a:r>
            <a:r>
              <a:rPr lang="ko-KR" altLang="en-US" sz="700" dirty="0" err="1" smtClean="0"/>
              <a:t>계약일자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default) </a:t>
            </a:r>
            <a:r>
              <a:rPr lang="ko-KR" altLang="en-US" sz="700" dirty="0" smtClean="0"/>
              <a:t>당일 포함 과거 </a:t>
            </a:r>
            <a:r>
              <a:rPr lang="en-US" altLang="ko-KR" sz="700" dirty="0" smtClean="0"/>
              <a:t>7</a:t>
            </a:r>
            <a:r>
              <a:rPr lang="ko-KR" altLang="en-US" sz="700" dirty="0" smtClean="0"/>
              <a:t>일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>
                <a:sym typeface="Wingdings" panose="05000000000000000000" pitchFamily="2" charset="2"/>
              </a:rPr>
              <a:t>선택 날짜 즉시 </a:t>
            </a:r>
            <a:r>
              <a:rPr lang="ko-KR" altLang="en-US" sz="700" dirty="0" smtClean="0">
                <a:sym typeface="Wingdings" panose="05000000000000000000" pitchFamily="2" charset="2"/>
              </a:rPr>
              <a:t>업데이트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- 4-1)</a:t>
            </a:r>
            <a:r>
              <a:rPr lang="ko-KR" altLang="en-US" sz="700" dirty="0" smtClean="0"/>
              <a:t>직접 입력 가능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/>
              <a:t>좌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과거 우</a:t>
            </a:r>
            <a:r>
              <a:rPr lang="en-US" altLang="ko-KR" sz="700" dirty="0" smtClean="0"/>
              <a:t>)</a:t>
            </a:r>
            <a:r>
              <a:rPr lang="ko-KR" altLang="en-US" sz="700" dirty="0" err="1" smtClean="0"/>
              <a:t>현재로한다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우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 값은 미래를 선택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입력 할 </a:t>
            </a:r>
            <a:r>
              <a:rPr lang="ko-KR" altLang="en-US" sz="700" dirty="0" err="1" smtClean="0"/>
              <a:t>수없다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우</a:t>
            </a:r>
            <a:r>
              <a:rPr lang="en-US" altLang="ko-KR" sz="700" dirty="0" smtClean="0"/>
              <a:t>) </a:t>
            </a:r>
            <a:r>
              <a:rPr lang="ko-KR" altLang="en-US" sz="700" dirty="0" smtClean="0"/>
              <a:t>값이 미래를 입력한 경우 오늘로 자동 변경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당일 기준 최대 </a:t>
            </a:r>
            <a:r>
              <a:rPr lang="en-US" altLang="ko-KR" sz="700" dirty="0"/>
              <a:t>1</a:t>
            </a:r>
            <a:r>
              <a:rPr lang="ko-KR" altLang="en-US" sz="700" dirty="0" smtClean="0"/>
              <a:t>년</a:t>
            </a:r>
            <a:r>
              <a:rPr lang="en-US" altLang="ko-KR" sz="700" dirty="0" smtClean="0"/>
              <a:t>(365</a:t>
            </a:r>
            <a:r>
              <a:rPr lang="ko-KR" altLang="en-US" sz="700" dirty="0" smtClean="0"/>
              <a:t>일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까지 조회 가능</a:t>
            </a:r>
            <a:r>
              <a:rPr lang="en-US" altLang="ko-KR" sz="700" dirty="0"/>
              <a:t/>
            </a:r>
            <a:br>
              <a:rPr lang="en-US" altLang="ko-KR" sz="700" dirty="0"/>
            </a:br>
            <a:r>
              <a:rPr lang="en-US" altLang="ko-KR" sz="700" dirty="0" smtClean="0"/>
              <a:t>- 4-2) </a:t>
            </a:r>
            <a:r>
              <a:rPr lang="ko-KR" altLang="en-US" sz="700" dirty="0" smtClean="0"/>
              <a:t>아이콘 </a:t>
            </a:r>
            <a:r>
              <a:rPr lang="en-US" altLang="ko-KR" sz="700" dirty="0" smtClean="0">
                <a:sym typeface="Wingdings" panose="05000000000000000000" pitchFamily="2" charset="2"/>
              </a:rPr>
              <a:t> </a:t>
            </a:r>
            <a:r>
              <a:rPr lang="ko-KR" altLang="en-US" sz="700" dirty="0" smtClean="0">
                <a:sym typeface="Wingdings" panose="05000000000000000000" pitchFamily="2" charset="2"/>
              </a:rPr>
              <a:t>데이트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피커</a:t>
            </a:r>
            <a:r>
              <a:rPr lang="ko-KR" altLang="en-US" sz="700" dirty="0" smtClean="0">
                <a:sym typeface="Wingdings" panose="05000000000000000000" pitchFamily="2" charset="2"/>
              </a:rPr>
              <a:t> 호출</a:t>
            </a:r>
            <a:r>
              <a:rPr lang="en-US" altLang="ko-KR" sz="700" dirty="0" smtClean="0">
                <a:sym typeface="Wingdings" panose="05000000000000000000" pitchFamily="2" charset="2"/>
              </a:rPr>
              <a:t>(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미래불가</a:t>
            </a:r>
            <a:r>
              <a:rPr lang="en-US" altLang="ko-KR" sz="700" dirty="0" smtClean="0">
                <a:sym typeface="Wingdings" panose="05000000000000000000" pitchFamily="2" charset="2"/>
              </a:rPr>
              <a:t>)</a:t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- 4-3) </a:t>
            </a:r>
            <a:r>
              <a:rPr lang="ko-KR" altLang="en-US" sz="700" dirty="0" smtClean="0">
                <a:sym typeface="Wingdings" panose="05000000000000000000" pitchFamily="2" charset="2"/>
              </a:rPr>
              <a:t>최근</a:t>
            </a:r>
            <a:r>
              <a:rPr lang="en-US" altLang="ko-KR" sz="700" dirty="0" smtClean="0">
                <a:sym typeface="Wingdings" panose="05000000000000000000" pitchFamily="2" charset="2"/>
              </a:rPr>
              <a:t>1,3,6</a:t>
            </a:r>
            <a:r>
              <a:rPr lang="ko-KR" altLang="en-US" sz="700" dirty="0" smtClean="0">
                <a:sym typeface="Wingdings" panose="05000000000000000000" pitchFamily="2" charset="2"/>
              </a:rPr>
              <a:t>개월 버튼으로 당일 포함하여 </a:t>
            </a:r>
            <a:r>
              <a:rPr lang="en-US" altLang="ko-KR" sz="700" dirty="0" smtClean="0">
                <a:sym typeface="Wingdings" panose="05000000000000000000" pitchFamily="2" charset="2"/>
              </a:rPr>
              <a:t>30</a:t>
            </a:r>
            <a:r>
              <a:rPr lang="ko-KR" altLang="en-US" sz="700" dirty="0" smtClean="0">
                <a:sym typeface="Wingdings" panose="05000000000000000000" pitchFamily="2" charset="2"/>
              </a:rPr>
              <a:t>일</a:t>
            </a:r>
            <a:r>
              <a:rPr lang="en-US" altLang="ko-KR" sz="700" dirty="0" smtClean="0">
                <a:sym typeface="Wingdings" panose="05000000000000000000" pitchFamily="2" charset="2"/>
              </a:rPr>
              <a:t>, 90</a:t>
            </a:r>
            <a:r>
              <a:rPr lang="ko-KR" altLang="en-US" sz="700" dirty="0" smtClean="0">
                <a:sym typeface="Wingdings" panose="05000000000000000000" pitchFamily="2" charset="2"/>
              </a:rPr>
              <a:t>일</a:t>
            </a:r>
            <a:r>
              <a:rPr lang="en-US" altLang="ko-KR" sz="700" dirty="0" smtClean="0">
                <a:sym typeface="Wingdings" panose="05000000000000000000" pitchFamily="2" charset="2"/>
              </a:rPr>
              <a:t>,180</a:t>
            </a:r>
            <a:r>
              <a:rPr lang="ko-KR" altLang="en-US" sz="700" dirty="0" smtClean="0">
                <a:sym typeface="Wingdings" panose="05000000000000000000" pitchFamily="2" charset="2"/>
              </a:rPr>
              <a:t>일 이전 값을 표시</a:t>
            </a:r>
            <a:r>
              <a:rPr lang="en-US" altLang="ko-KR" sz="700" dirty="0" smtClean="0">
                <a:sym typeface="Wingdings" panose="05000000000000000000" pitchFamily="2" charset="2"/>
              </a:rPr>
              <a:t>.</a:t>
            </a:r>
          </a:p>
          <a:p>
            <a:pPr marL="228600" lvl="0" indent="-228600">
              <a:buFont typeface="+mj-lt"/>
              <a:buAutoNum type="arabicPeriod"/>
            </a:pPr>
            <a:r>
              <a:rPr lang="ko-KR" altLang="en-US" sz="700" dirty="0" err="1" smtClean="0">
                <a:sym typeface="Wingdings" panose="05000000000000000000" pitchFamily="2" charset="2"/>
              </a:rPr>
              <a:t>검색어</a:t>
            </a:r>
            <a:r>
              <a:rPr lang="ko-KR" altLang="en-US" sz="700" dirty="0" smtClean="0">
                <a:sym typeface="Wingdings" panose="05000000000000000000" pitchFamily="2" charset="2"/>
              </a:rPr>
              <a:t> 영역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sz="700" dirty="0">
                <a:sym typeface="Wingdings" panose="05000000000000000000" pitchFamily="2" charset="2"/>
              </a:rPr>
              <a:t/>
            </a:r>
            <a:br>
              <a:rPr lang="en-US" altLang="ko-KR" sz="700" dirty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계약명</a:t>
            </a:r>
            <a:r>
              <a:rPr lang="en-US" altLang="ko-KR" sz="700" dirty="0" smtClean="0">
                <a:sym typeface="Wingdings" panose="05000000000000000000" pitchFamily="2" charset="2"/>
              </a:rPr>
              <a:t>,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smtClean="0">
                <a:sym typeface="Wingdings" panose="05000000000000000000" pitchFamily="2" charset="2"/>
              </a:rPr>
              <a:t>조서발행번호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신청번호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통지번호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납지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글자검색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계약명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납지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숫자검색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신청번호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통지번호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조서발행번호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>(UI-EX-01-M02)</a:t>
            </a:r>
            <a:r>
              <a:rPr lang="ko-KR" altLang="en-US" sz="700" dirty="0" err="1" smtClean="0">
                <a:latin typeface="+mn-ea"/>
              </a:rPr>
              <a:t>검사및납품조서</a:t>
            </a:r>
            <a:endParaRPr lang="ko-KR" altLang="en-US" sz="700" dirty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endParaRPr lang="en-US" altLang="ko-KR" sz="7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sym typeface="Wingdings" panose="05000000000000000000" pitchFamily="2" charset="2"/>
              </a:rPr>
              <a:t>구분 설정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드롭 다운으로 각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구분값</a:t>
            </a:r>
            <a:r>
              <a:rPr lang="ko-KR" altLang="en-US" sz="700" dirty="0" smtClean="0">
                <a:sym typeface="Wingdings" panose="05000000000000000000" pitchFamily="2" charset="2"/>
              </a:rPr>
              <a:t> 설정</a:t>
            </a:r>
            <a:r>
              <a:rPr lang="en-US" altLang="ko-KR" sz="700" dirty="0">
                <a:sym typeface="Wingdings" panose="05000000000000000000" pitchFamily="2" charset="2"/>
              </a:rPr>
              <a:t/>
            </a:r>
            <a:br>
              <a:rPr lang="en-US" altLang="ko-KR" sz="700" dirty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>
                <a:solidFill>
                  <a:prstClr val="black"/>
                </a:solidFill>
              </a:rPr>
              <a:t>항목 설명 </a:t>
            </a:r>
            <a:r>
              <a:rPr lang="ko-KR" altLang="en-US" sz="700" dirty="0" smtClean="0">
                <a:solidFill>
                  <a:prstClr val="black"/>
                </a:solidFill>
              </a:rPr>
              <a:t>페이지 참고</a:t>
            </a:r>
            <a:endParaRPr lang="en-US" altLang="ko-KR" sz="7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플로팅</a:t>
            </a:r>
            <a:r>
              <a:rPr lang="ko-KR" altLang="en-US" sz="700" dirty="0" smtClean="0">
                <a:sym typeface="Wingdings" panose="05000000000000000000" pitchFamily="2" charset="2"/>
              </a:rPr>
              <a:t> 처리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endParaRPr lang="en-US" altLang="ko-KR" sz="700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700" dirty="0"/>
          </a:p>
          <a:p>
            <a:pPr marL="228600" indent="-228600">
              <a:buFont typeface="+mj-lt"/>
              <a:buAutoNum type="arabicPeriod"/>
            </a:pPr>
            <a:endParaRPr lang="en-US" altLang="ko-KR" sz="700" dirty="0" smtClean="0"/>
          </a:p>
        </p:txBody>
      </p:sp>
      <p:grpSp>
        <p:nvGrpSpPr>
          <p:cNvPr id="116" name="그룹 11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7" name="직사각형 11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2026-07-20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수정</a:t>
              </a:r>
              <a:endParaRPr lang="ko-KR" altLang="en-US" dirty="0"/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err="1" smtClean="0"/>
                <a:t>업무구분</a:t>
              </a:r>
              <a:r>
                <a:rPr lang="en-US" altLang="ko-KR" sz="700" dirty="0" smtClean="0"/>
                <a:t>, </a:t>
              </a:r>
              <a:r>
                <a:rPr lang="ko-KR" altLang="en-US" sz="700" dirty="0" smtClean="0"/>
                <a:t>공사검사구분 항목 변경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49183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98215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검사통합목록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dml_InspIntgListSrchCnd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45FD0-B8C5-4B98-203E-A36908FB8DD4}"/>
              </a:ext>
            </a:extLst>
          </p:cNvPr>
          <p:cNvSpPr txBox="1"/>
          <p:nvPr/>
        </p:nvSpPr>
        <p:spPr>
          <a:xfrm>
            <a:off x="458117" y="495905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420529"/>
            <a:ext cx="262308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dlt_InspIntgList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계약시작일자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ctrtBgngYmd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계약시작일자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계약종료일자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ctrtEndYmd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계약종료일자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38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taskSecd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기성준공구분코드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pxcndCmcnSecd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:UB64(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408593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1F6A43-1297-CF99-ABFA-B1F80565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377013"/>
              </p:ext>
            </p:extLst>
          </p:nvPr>
        </p:nvGraphicFramePr>
        <p:xfrm>
          <a:off x="453000" y="5160184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73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417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4417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계약일자를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카드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Scwin.grd_srchRsltList_onclick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계약번호에 해당하는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 및 준공검사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</a:rPr>
                        <a:t>MUI-EX-01-P10 </a:t>
                      </a:r>
                      <a:r>
                        <a:rPr lang="ko-KR" altLang="en-US" sz="800" dirty="0" smtClean="0">
                          <a:latin typeface="+mn-ea"/>
                        </a:rPr>
                        <a:t>납품통지목록</a:t>
                      </a:r>
                      <a:endParaRPr lang="en-US" altLang="ko-KR" sz="800" dirty="0" smtClean="0">
                        <a:latin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MUI-EX-01-M04 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기성및준공검사상세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검색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Scwin.btn_srch_onclick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검사통합목록을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091840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601708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lt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계약일자 조회결과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338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ctrtNo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pxcndCycl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기성차수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64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기성준공구분코드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pxcndCmcnSecd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공사업무의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:UB64(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69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ctrtBzentyNm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916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납품기성금액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dlvgdsPxcndAmt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검수기성금액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 조회결과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검사일자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53052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75457464-9D76-7948-2B1A-9B65EC2CD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0851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납품통지목록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이행 </a:t>
            </a:r>
            <a:r>
              <a:rPr lang="en-US" altLang="ko-KR" dirty="0"/>
              <a:t>&gt; </a:t>
            </a:r>
            <a:r>
              <a:rPr lang="ko-KR" altLang="en-US" dirty="0"/>
              <a:t>검사통합목록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납품통지목록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MUI-EX-01-P10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smtClean="0">
                <a:latin typeface="+mn-ea"/>
              </a:rPr>
              <a:t>납품 통지 목록</a:t>
            </a:r>
            <a:endParaRPr lang="ko-KR" altLang="en-US" sz="900" dirty="0">
              <a:latin typeface="+mn-ea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41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납품 통지 목록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풀페이지</a:t>
            </a:r>
            <a:r>
              <a:rPr lang="ko-KR" altLang="en-US" dirty="0" smtClean="0"/>
              <a:t> 팝업으로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이전 목록에서 선택한 </a:t>
            </a:r>
            <a:r>
              <a:rPr lang="ko-KR" altLang="en-US" dirty="0" err="1" smtClean="0"/>
              <a:t>계약번호에</a:t>
            </a:r>
            <a:r>
              <a:rPr lang="ko-KR" altLang="en-US" dirty="0" smtClean="0"/>
              <a:t> 맞는 목록만을 표시함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별도의 기간 제한 없이 계약에 물려 있는 모든 내역을 불러와서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건수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표시개수</a:t>
            </a:r>
            <a:r>
              <a:rPr lang="ko-KR" altLang="en-US" dirty="0" smtClean="0"/>
              <a:t> 설정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납품 통지 내역 카드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노출 항목은 항목 설명 참조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클릭 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en-US" altLang="ko-KR" dirty="0" smtClean="0">
                <a:latin typeface="+mn-ea"/>
              </a:rPr>
              <a:t>MUI-EX-01-P11 </a:t>
            </a:r>
            <a:r>
              <a:rPr lang="ko-KR" altLang="en-US" dirty="0" err="1" smtClean="0">
                <a:latin typeface="+mn-ea"/>
              </a:rPr>
              <a:t>검사및납품조서목록</a:t>
            </a:r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바텀시트</a:t>
            </a:r>
            <a:r>
              <a:rPr lang="ko-KR" altLang="en-US" dirty="0" smtClean="0">
                <a:latin typeface="+mn-ea"/>
              </a:rPr>
              <a:t> 호출</a:t>
            </a:r>
            <a:endParaRPr lang="en-US" altLang="ko-KR" dirty="0" smtClean="0"/>
          </a:p>
        </p:txBody>
      </p:sp>
      <p:grpSp>
        <p:nvGrpSpPr>
          <p:cNvPr id="116" name="그룹 11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7" name="직사각형 11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2026-07-20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납품통지목록 화면 추가</a:t>
              </a:r>
              <a:endParaRPr lang="ko-KR" altLang="en-US" sz="700" dirty="0"/>
            </a:p>
          </p:txBody>
        </p:sp>
      </p:grp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8410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116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980670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1976616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1976616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67" name="그룹 166"/>
          <p:cNvGrpSpPr/>
          <p:nvPr/>
        </p:nvGrpSpPr>
        <p:grpSpPr>
          <a:xfrm>
            <a:off x="3143548" y="2078439"/>
            <a:ext cx="94010" cy="47005"/>
            <a:chOff x="6812560" y="3297172"/>
            <a:chExt cx="94010" cy="47005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직선 연결선 17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01060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53358" y="29916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0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55642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통지번호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100</a:t>
            </a:r>
            <a:endParaRPr lang="en-US" altLang="ko-KR" sz="700" dirty="0"/>
          </a:p>
          <a:p>
            <a:r>
              <a:rPr lang="ko-KR" altLang="en-US" sz="900" b="1" dirty="0" smtClean="0"/>
              <a:t>관사 </a:t>
            </a:r>
            <a:r>
              <a:rPr lang="ko-KR" altLang="en-US" sz="900" b="1" dirty="0"/>
              <a:t>비품 구매</a:t>
            </a:r>
          </a:p>
        </p:txBody>
      </p:sp>
      <p:sp>
        <p:nvSpPr>
          <p:cNvPr id="209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916652"/>
            <a:ext cx="461665" cy="95167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계약수량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작성수량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납품완료수량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계약단가</a:t>
            </a: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납기일자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납지명</a:t>
            </a:r>
            <a:endParaRPr lang="en-US" altLang="ko-KR" sz="600" dirty="0">
              <a:latin typeface="+mn-ea"/>
            </a:endParaRPr>
          </a:p>
        </p:txBody>
      </p:sp>
      <p:sp>
        <p:nvSpPr>
          <p:cNvPr id="210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20700" y="2916652"/>
            <a:ext cx="514564" cy="9694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200,000,000 </a:t>
            </a:r>
            <a:r>
              <a:rPr lang="ko-KR" altLang="en-US" sz="600" dirty="0" smtClean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100,000 </a:t>
            </a:r>
            <a:r>
              <a:rPr lang="ko-KR" altLang="en-US" sz="600" dirty="0" smtClean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2025-12-01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001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</p:txBody>
      </p:sp>
      <p:sp>
        <p:nvSpPr>
          <p:cNvPr id="211" name="모서리가 둥근 직사각형 210"/>
          <p:cNvSpPr/>
          <p:nvPr/>
        </p:nvSpPr>
        <p:spPr>
          <a:xfrm>
            <a:off x="781461" y="237208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213" name="모서리가 둥근 직사각형 212"/>
          <p:cNvSpPr/>
          <p:nvPr/>
        </p:nvSpPr>
        <p:spPr>
          <a:xfrm>
            <a:off x="1075655" y="2372089"/>
            <a:ext cx="25198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본조</a:t>
            </a:r>
            <a:endParaRPr lang="ko-KR" altLang="en-US" sz="600" dirty="0"/>
          </a:p>
        </p:txBody>
      </p: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6527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15" name="그룹 214"/>
          <p:cNvGrpSpPr/>
          <p:nvPr/>
        </p:nvGrpSpPr>
        <p:grpSpPr>
          <a:xfrm>
            <a:off x="781461" y="4064053"/>
            <a:ext cx="2473257" cy="1496234"/>
            <a:chOff x="781461" y="3087955"/>
            <a:chExt cx="2473257" cy="1496234"/>
          </a:xfrm>
        </p:grpSpPr>
        <p:sp>
          <p:nvSpPr>
            <p:cNvPr id="21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통지번호</a:t>
              </a:r>
              <a:r>
                <a:rPr lang="ko-KR" altLang="en-US" sz="700" dirty="0"/>
                <a:t> </a:t>
              </a:r>
              <a:r>
                <a:rPr lang="en-US" altLang="ko-KR" sz="700" dirty="0" smtClean="0"/>
                <a:t>99</a:t>
              </a:r>
              <a:endParaRPr lang="en-US" altLang="ko-KR" sz="700" dirty="0"/>
            </a:p>
            <a:p>
              <a:r>
                <a:rPr lang="ko-KR" altLang="en-US" sz="900" b="1" dirty="0"/>
                <a:t>관사 비품 구매</a:t>
              </a:r>
            </a:p>
          </p:txBody>
        </p:sp>
        <p:sp>
          <p:nvSpPr>
            <p:cNvPr id="217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461665" cy="95167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계약수량</a:t>
              </a:r>
              <a:endParaRPr lang="ko-KR" altLang="en-US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작성수량</a:t>
              </a:r>
              <a:endParaRPr lang="ko-KR" altLang="en-US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납품완료수량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계약단가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납기일자</a:t>
              </a:r>
              <a:endParaRPr lang="ko-KR" altLang="en-US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납지명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21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720700" y="3632518"/>
              <a:ext cx="514564" cy="95167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1,000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1,000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2025-12-01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219" name="모서리가 둥근 직사각형 218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  <p:sp>
          <p:nvSpPr>
            <p:cNvPr id="220" name="모서리가 둥근 직사각형 219"/>
            <p:cNvSpPr/>
            <p:nvPr/>
          </p:nvSpPr>
          <p:spPr>
            <a:xfrm>
              <a:off x="1075655" y="3087955"/>
              <a:ext cx="25198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본조</a:t>
              </a:r>
              <a:endParaRPr lang="ko-KR" altLang="en-US" sz="600" dirty="0"/>
            </a:p>
          </p:txBody>
        </p:sp>
      </p:grp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63427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688751"/>
            <a:ext cx="76863" cy="292489"/>
            <a:chOff x="3750067" y="4683795"/>
            <a:chExt cx="76863" cy="292489"/>
          </a:xfrm>
        </p:grpSpPr>
        <p:sp>
          <p:nvSpPr>
            <p:cNvPr id="233" name="타원 23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35" name="타원 23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4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검사및납품조서목록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이행 </a:t>
            </a:r>
            <a:r>
              <a:rPr lang="en-US" altLang="ko-KR" dirty="0"/>
              <a:t>&gt; </a:t>
            </a:r>
            <a:r>
              <a:rPr lang="ko-KR" altLang="en-US" dirty="0"/>
              <a:t>검사통합목록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검사및납품조서목록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MUI-EX-01-P11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9755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1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목록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smtClean="0"/>
              <a:t>이전 목록에서 선택한 </a:t>
            </a:r>
            <a:r>
              <a:rPr lang="ko-KR" altLang="en-US" dirty="0" err="1" smtClean="0"/>
              <a:t>계약명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건수</a:t>
            </a:r>
            <a:r>
              <a:rPr lang="en-US" altLang="ko-KR" dirty="0"/>
              <a:t>, </a:t>
            </a:r>
            <a:r>
              <a:rPr lang="ko-KR" altLang="en-US" dirty="0" err="1"/>
              <a:t>표시개수</a:t>
            </a:r>
            <a:r>
              <a:rPr lang="ko-KR" altLang="en-US" dirty="0"/>
              <a:t> 설정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납품 통지 내역 카드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노출 항목은 항목 설명 참조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클릭 시 조건에 따라 </a:t>
            </a:r>
            <a:r>
              <a:rPr lang="ko-KR" altLang="en-US" dirty="0" err="1" smtClean="0"/>
              <a:t>중앙조달</a:t>
            </a:r>
            <a:r>
              <a:rPr lang="en-US" altLang="ko-KR" dirty="0" smtClean="0"/>
              <a:t>(</a:t>
            </a:r>
            <a:r>
              <a:rPr lang="ko-KR" altLang="en-US" dirty="0" smtClean="0"/>
              <a:t>통사</a:t>
            </a:r>
            <a:r>
              <a:rPr lang="en-US" altLang="ko-KR" dirty="0" smtClean="0"/>
              <a:t>), </a:t>
            </a:r>
            <a:r>
              <a:rPr lang="ko-KR" altLang="en-US" dirty="0" err="1" smtClean="0"/>
              <a:t>부대조달로</a:t>
            </a:r>
            <a:r>
              <a:rPr lang="ko-KR" altLang="en-US" dirty="0" smtClean="0"/>
              <a:t> 분기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&gt; </a:t>
            </a:r>
            <a:r>
              <a:rPr lang="en-US" altLang="ko-KR" dirty="0" smtClean="0">
                <a:latin typeface="+mn-ea"/>
              </a:rPr>
              <a:t>MUI-EX-01-M02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 smtClean="0">
                <a:latin typeface="+mn-ea"/>
              </a:rPr>
              <a:t>)</a:t>
            </a:r>
            <a:br>
              <a:rPr lang="en-US" altLang="ko-KR" dirty="0" smtClean="0">
                <a:latin typeface="+mn-ea"/>
              </a:rPr>
            </a:br>
            <a:r>
              <a:rPr lang="en-US" altLang="ko-KR" dirty="0" smtClean="0">
                <a:latin typeface="+mn-ea"/>
              </a:rPr>
              <a:t>  </a:t>
            </a:r>
            <a:r>
              <a:rPr lang="en-US" altLang="ko-KR" dirty="0">
                <a:latin typeface="+mn-ea"/>
              </a:rPr>
              <a:t>&gt; </a:t>
            </a:r>
            <a:r>
              <a:rPr lang="en-US" altLang="ko-KR" dirty="0" smtClean="0">
                <a:latin typeface="+mn-ea"/>
              </a:rPr>
              <a:t>MUI-EX-01-M03 </a:t>
            </a:r>
            <a:r>
              <a:rPr lang="ko-KR" altLang="en-US" dirty="0" err="1" smtClean="0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</a:p>
        </p:txBody>
      </p:sp>
      <p:grpSp>
        <p:nvGrpSpPr>
          <p:cNvPr id="116" name="그룹 11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7" name="직사각형 116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2026-07-20 </a:t>
              </a:r>
              <a:r>
                <a:rPr lang="ko-KR" altLang="en-US" dirty="0"/>
                <a:t>화면 </a:t>
              </a:r>
              <a:r>
                <a:rPr lang="ko-KR" altLang="en-US" dirty="0" smtClean="0"/>
                <a:t>추가</a:t>
              </a:r>
              <a:endParaRPr lang="ko-KR" altLang="en-US" dirty="0"/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납품통지목록 화면 추가</a:t>
              </a:r>
              <a:endParaRPr lang="ko-KR" altLang="en-US" sz="700" dirty="0"/>
            </a:p>
          </p:txBody>
        </p:sp>
      </p:grp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77471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06299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 smtClean="0"/>
              <a:t>계약차수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00</a:t>
            </a:r>
          </a:p>
          <a:p>
            <a:r>
              <a:rPr lang="ko-KR" altLang="en-US" sz="900" b="1" dirty="0" smtClean="0"/>
              <a:t>조서발행번호 </a:t>
            </a:r>
            <a:r>
              <a:rPr lang="en-US" altLang="ko-KR" sz="900" b="1" dirty="0" smtClean="0"/>
              <a:t>M2025MST000200-0001</a:t>
            </a:r>
            <a:endParaRPr lang="ko-KR" altLang="en-US" sz="900" b="1" dirty="0"/>
          </a:p>
        </p:txBody>
      </p:sp>
      <p:sp>
        <p:nvSpPr>
          <p:cNvPr id="14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423231"/>
            <a:ext cx="307777" cy="6746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납품금액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작성수량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납지명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지체일수</a:t>
            </a:r>
            <a:endParaRPr lang="ko-KR" altLang="en-US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지체상금</a:t>
            </a:r>
            <a:endParaRPr lang="en-US" altLang="ko-KR" sz="600" dirty="0">
              <a:latin typeface="+mn-ea"/>
            </a:endParaRPr>
          </a:p>
        </p:txBody>
      </p:sp>
      <p:sp>
        <p:nvSpPr>
          <p:cNvPr id="14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908251" y="3423231"/>
            <a:ext cx="327013" cy="6746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1,000,000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 smtClean="0">
                <a:latin typeface="+mn-ea"/>
              </a:rPr>
              <a:t>100</a:t>
            </a:r>
            <a:endParaRPr lang="ko-KR" altLang="en-US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002</a:t>
            </a:r>
            <a:r>
              <a:rPr lang="ko-KR" altLang="en-US" sz="600" dirty="0">
                <a:latin typeface="+mn-ea"/>
              </a:rPr>
              <a:t>부대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10,000</a:t>
            </a:r>
            <a:endParaRPr lang="en-US" altLang="ko-KR" sz="600" dirty="0">
              <a:latin typeface="+mn-ea"/>
            </a:endParaRP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781461" y="287866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1075655" y="2878668"/>
            <a:ext cx="25198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 smtClean="0"/>
              <a:t>본조</a:t>
            </a:r>
            <a:endParaRPr lang="ko-KR" altLang="en-US" sz="600" dirty="0"/>
          </a:p>
        </p:txBody>
      </p: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1930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47128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46723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46723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67" name="그룹 166"/>
          <p:cNvGrpSpPr/>
          <p:nvPr/>
        </p:nvGrpSpPr>
        <p:grpSpPr>
          <a:xfrm>
            <a:off x="3143548" y="2569056"/>
            <a:ext cx="94010" cy="47005"/>
            <a:chOff x="6812560" y="3297172"/>
            <a:chExt cx="94010" cy="47005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직선 연결선 17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양쪽 모서리가 둥근 사각형 51"/>
          <p:cNvSpPr/>
          <p:nvPr/>
        </p:nvSpPr>
        <p:spPr>
          <a:xfrm>
            <a:off x="675399" y="1983583"/>
            <a:ext cx="2712027" cy="4248715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1761412" y="2020211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3164338" y="2154627"/>
            <a:ext cx="94010" cy="94010"/>
            <a:chOff x="6812560" y="3297172"/>
            <a:chExt cx="94010" cy="94010"/>
          </a:xfrm>
        </p:grpSpPr>
        <p:cxnSp>
          <p:nvCxnSpPr>
            <p:cNvPr id="55" name="직선 연결선 54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135306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관사 비품 </a:t>
            </a:r>
            <a:r>
              <a:rPr lang="ko-KR" altLang="en-US" sz="900" dirty="0" smtClean="0">
                <a:latin typeface="+mn-ea"/>
              </a:rPr>
              <a:t>구매 목록</a:t>
            </a:r>
            <a:endParaRPr lang="ko-KR" altLang="en-US" sz="900" dirty="0">
              <a:latin typeface="+mn-ea"/>
            </a:endParaRP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59587"/>
            <a:ext cx="76863" cy="292489"/>
            <a:chOff x="3750067" y="4683795"/>
            <a:chExt cx="76863" cy="292489"/>
          </a:xfrm>
        </p:grpSpPr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4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962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51460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53358" y="364562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60" name="모서리가 둥근 직사각형 59"/>
          <p:cNvSpPr/>
          <p:nvPr/>
        </p:nvSpPr>
        <p:spPr>
          <a:xfrm>
            <a:off x="1378354" y="2878668"/>
            <a:ext cx="41710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smtClean="0"/>
              <a:t>진행상태</a:t>
            </a:r>
            <a:endParaRPr lang="ko-KR" altLang="en-US" sz="6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161888"/>
              </p:ext>
            </p:extLst>
          </p:nvPr>
        </p:nvGraphicFramePr>
        <p:xfrm>
          <a:off x="7127453" y="4471854"/>
          <a:ext cx="2248720" cy="1939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835987172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2166707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납품조서진행상태코드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47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207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2380903"/>
            <a:ext cx="258140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납품통지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dmt_dlvntcList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5031056"/>
            <a:ext cx="312802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</a:t>
            </a:r>
            <a:r>
              <a:rPr lang="ko-KR" altLang="en-US" sz="900" b="1" dirty="0">
                <a:solidFill>
                  <a:prstClr val="black"/>
                </a:solidFill>
              </a:rPr>
              <a:t>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dlt_InspDlvdocList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627965"/>
          <a:ext cx="8994883" cy="2255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bgtSecdNm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:UZ03(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작성수량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작성수량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853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dlvgdsCmptnQty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46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5236429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조회결과 자료 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ctrtCycl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계약차수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예산구분코드명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bgtSecdNm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053A1CD7-9DC2-B421-A267-F42EBBA5E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EBA32-FB5E-5FDA-BFAE-884EA5701CC5}"/>
              </a:ext>
            </a:extLst>
          </p:cNvPr>
          <p:cNvSpPr txBox="1"/>
          <p:nvPr/>
        </p:nvSpPr>
        <p:spPr>
          <a:xfrm>
            <a:off x="458117" y="803113"/>
            <a:ext cx="309757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dml_InspDlvdocSrchCnd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2BFF73A-0C08-F363-EE95-E47D4194540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납기시작일자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dudt</a:t>
                      </a:r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BgngYmd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납기시작일자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납기종료일자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dudt</a:t>
                      </a:r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납기종료일자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38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납지명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838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A8CC61D-0667-F917-677C-1AEF74264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120340"/>
              </p:ext>
            </p:extLst>
          </p:nvPr>
        </p:nvGraphicFramePr>
        <p:xfrm>
          <a:off x="453000" y="2765910"/>
          <a:ext cx="8995591" cy="1263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검사의뢰서 작성대상 계약 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카드 </a:t>
                      </a:r>
                      <a:r>
                        <a:rPr lang="ko-KR" altLang="en-US" sz="800" dirty="0"/>
                        <a:t>클릭 </a:t>
                      </a:r>
                      <a:r>
                        <a:rPr lang="ko-KR" altLang="en-US" sz="800" dirty="0" smtClean="0"/>
                        <a:t>이벤트</a:t>
                      </a:r>
                      <a:r>
                        <a:rPr lang="en-US" altLang="ko-KR" sz="800" dirty="0" smtClean="0"/>
                        <a:t/>
                      </a:r>
                      <a:br>
                        <a:rPr lang="en-US" altLang="ko-KR" sz="800" dirty="0" smtClean="0"/>
                      </a:br>
                      <a:r>
                        <a:rPr lang="en-US" altLang="ko-KR" sz="800" dirty="0" smtClean="0"/>
                        <a:t>- </a:t>
                      </a:r>
                      <a:r>
                        <a:rPr lang="ko-KR" altLang="en-US" sz="800" dirty="0" smtClean="0"/>
                        <a:t>납품통지목록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Scwin.grd_inspRqstdocList_onclick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해당하는 검사 및 </a:t>
                      </a:r>
                      <a:r>
                        <a:rPr lang="ko-KR" altLang="en-US" sz="800" dirty="0" err="1" smtClean="0"/>
                        <a:t>검사및납품조서목록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dirty="0" smtClean="0">
                          <a:latin typeface="+mn-ea"/>
                        </a:rPr>
                        <a:t>MUI-EX-01-P11 </a:t>
                      </a:r>
                      <a:r>
                        <a:rPr lang="ko-KR" altLang="en-US" sz="800" dirty="0" err="1" smtClean="0">
                          <a:latin typeface="+mn-ea"/>
                        </a:rPr>
                        <a:t>검사및납품조서목록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7304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smtClean="0"/>
                        <a:t>카드 클릭 이벤트</a:t>
                      </a:r>
                      <a:r>
                        <a:rPr lang="en-US" altLang="ko-KR" sz="800" dirty="0" smtClean="0"/>
                        <a:t/>
                      </a:r>
                      <a:br>
                        <a:rPr lang="en-US" altLang="ko-KR" sz="800" dirty="0" smtClean="0"/>
                      </a:br>
                      <a:r>
                        <a:rPr lang="en-US" altLang="ko-KR" sz="800" dirty="0" smtClean="0"/>
                        <a:t>- </a:t>
                      </a:r>
                      <a:r>
                        <a:rPr lang="ko-KR" altLang="en-US" sz="800" dirty="0" err="1" smtClean="0"/>
                        <a:t>검사및납품조서목록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Scwin.grd_inspDlvdocList_onclick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상세조회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MUI-EX-01-M02 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endParaRPr kumimoji="0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MUI-EX-01-M03 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B3F5A8-438A-C006-99A2-D2855E6B9511}"/>
              </a:ext>
            </a:extLst>
          </p:cNvPr>
          <p:cNvSpPr txBox="1"/>
          <p:nvPr/>
        </p:nvSpPr>
        <p:spPr>
          <a:xfrm>
            <a:off x="458117" y="253285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ABBACDD-A06B-69C6-BB18-5EA66C87D4D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969228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작성수량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작성수량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납품조서진행상태코드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:GTSA0003(</a:t>
                      </a:r>
                      <a:r>
                        <a:rPr lang="ko-KR" altLang="en-US" sz="700" dirty="0">
                          <a:latin typeface="+mn-ea"/>
                          <a:ea typeface="+mn-ea"/>
                        </a:rPr>
                        <a:t>납품조서진행상태</a:t>
                      </a:r>
                      <a:r>
                        <a:rPr lang="en-US" altLang="ko-KR" sz="7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지체일수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arrsDayCnt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지체일수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lqdmg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49F1048-3526-2581-608B-BA432F2BC057}"/>
              </a:ext>
            </a:extLst>
          </p:cNvPr>
          <p:cNvSpPr txBox="1"/>
          <p:nvPr/>
        </p:nvSpPr>
        <p:spPr>
          <a:xfrm>
            <a:off x="458117" y="701103"/>
            <a:ext cx="34822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</a:t>
            </a:r>
            <a:r>
              <a:rPr lang="ko-KR" altLang="en-US" sz="900" b="1" dirty="0">
                <a:solidFill>
                  <a:prstClr val="black"/>
                </a:solidFill>
              </a:rPr>
              <a:t>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dlt_InspDlvdocList</a:t>
            </a:r>
            <a:r>
              <a:rPr lang="en-US" altLang="ko-KR" sz="900" b="1" dirty="0">
                <a:solidFill>
                  <a:prstClr val="black"/>
                </a:solidFill>
              </a:rPr>
              <a:t>) (</a:t>
            </a:r>
            <a:r>
              <a:rPr lang="ko-KR" altLang="en-US" sz="900" b="1" dirty="0">
                <a:solidFill>
                  <a:prstClr val="black"/>
                </a:solidFill>
              </a:rPr>
              <a:t>계속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4" name="Text Box 73">
            <a:extLst>
              <a:ext uri="{FF2B5EF4-FFF2-40B4-BE49-F238E27FC236}">
                <a16:creationId xmlns:a16="http://schemas.microsoft.com/office/drawing/2014/main" id="{2C8739B4-2482-3E82-AC41-FA83FDA01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2397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</a:t>
            </a:r>
            <a:r>
              <a:rPr lang="ko-KR" altLang="en-US" dirty="0" smtClean="0">
                <a:latin typeface="+mn-ea"/>
              </a:rPr>
              <a:t>화면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err="1" smtClean="0">
                <a:latin typeface="+mn-ea"/>
              </a:rPr>
              <a:t>중앙조달</a:t>
            </a:r>
            <a:r>
              <a:rPr lang="en-US" altLang="ko-KR" dirty="0" smtClean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검사통합목록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smtClean="0">
                <a:latin typeface="+mn-ea"/>
              </a:rPr>
              <a:t>상세 </a:t>
            </a:r>
            <a:r>
              <a:rPr lang="ko-KR" altLang="en-US" dirty="0">
                <a:latin typeface="+mn-ea"/>
              </a:rPr>
              <a:t>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 err="1">
                <a:latin typeface="+mn-ea"/>
              </a:rPr>
              <a:t>중앙조달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361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050144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8"/>
            <a:ext cx="792000" cy="1299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납품요구일시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73322" y="50999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4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물품목록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144" name="직사각형 143"/>
          <p:cNvSpPr/>
          <p:nvPr/>
        </p:nvSpPr>
        <p:spPr>
          <a:xfrm>
            <a:off x="7063882" y="5893849"/>
            <a:ext cx="2314808" cy="362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smtClean="0"/>
              <a:t>납품완료수량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납기일자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납지명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작성수량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조서발행번호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예산구분코드명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납품금액</a:t>
            </a:r>
            <a:r>
              <a:rPr lang="ko-KR" altLang="en-US" sz="500" dirty="0" smtClean="0"/>
              <a:t> </a:t>
            </a:r>
            <a:endParaRPr lang="en-US" altLang="ko-KR" sz="500" dirty="0" smtClean="0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862843" y="24079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36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4966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49665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48" name="그룹 147"/>
          <p:cNvGrpSpPr/>
          <p:nvPr/>
        </p:nvGrpSpPr>
        <p:grpSpPr>
          <a:xfrm>
            <a:off x="6027618" y="1594935"/>
            <a:ext cx="422853" cy="187961"/>
            <a:chOff x="3641308" y="2234886"/>
            <a:chExt cx="422853" cy="187961"/>
          </a:xfrm>
        </p:grpSpPr>
        <p:sp>
          <p:nvSpPr>
            <p:cNvPr id="149" name="타원 148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0" name="그룹 149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55" name="직선 연결선 15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7" name="직선 연결선 15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1" name="타원 150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2" name="그룹 151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53" name="직선 연결선 15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163265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1632654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63" name="그룹 162"/>
          <p:cNvGrpSpPr/>
          <p:nvPr/>
        </p:nvGrpSpPr>
        <p:grpSpPr>
          <a:xfrm>
            <a:off x="3792723" y="1884145"/>
            <a:ext cx="2712026" cy="2185367"/>
            <a:chOff x="696358" y="1533275"/>
            <a:chExt cx="2712026" cy="2185367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703" y="1533275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비고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5" name="그룹 164"/>
            <p:cNvGrpSpPr/>
            <p:nvPr/>
          </p:nvGrpSpPr>
          <p:grpSpPr>
            <a:xfrm flipV="1">
              <a:off x="3140790" y="1646606"/>
              <a:ext cx="94010" cy="47005"/>
              <a:chOff x="6812560" y="3297172"/>
              <a:chExt cx="94010" cy="47005"/>
            </a:xfrm>
          </p:grpSpPr>
          <p:cxnSp>
            <p:nvCxnSpPr>
              <p:cNvPr id="171" name="직선 연결선 17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96358" y="3718642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19291" y="1847909"/>
              <a:ext cx="25326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 내용 표시 영역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49450" y="182741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4" name="모서리가 둥근 직사각형 173"/>
          <p:cNvSpPr/>
          <p:nvPr/>
        </p:nvSpPr>
        <p:spPr>
          <a:xfrm rot="5400000">
            <a:off x="6098765" y="250925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464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상세정보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</a:t>
            </a:r>
            <a:r>
              <a:rPr lang="ko-KR" altLang="en-US" dirty="0" smtClean="0">
                <a:latin typeface="+mn-ea"/>
              </a:rPr>
              <a:t>화면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err="1" smtClean="0">
                <a:latin typeface="+mn-ea"/>
              </a:rPr>
              <a:t>중앙조달</a:t>
            </a:r>
            <a:r>
              <a:rPr lang="en-US" altLang="ko-KR" dirty="0" smtClean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MUI-EX-01-T01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203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645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84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9845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645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60172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62783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76114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70269"/>
            <a:ext cx="792000" cy="1299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7026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70268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납품요구일시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70268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50137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1508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878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14249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562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6990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1" name="그룹 180"/>
          <p:cNvGrpSpPr/>
          <p:nvPr/>
        </p:nvGrpSpPr>
        <p:grpSpPr>
          <a:xfrm>
            <a:off x="676983" y="3700858"/>
            <a:ext cx="2712026" cy="2185367"/>
            <a:chOff x="696358" y="1533275"/>
            <a:chExt cx="2712026" cy="2185367"/>
          </a:xfrm>
        </p:grpSpPr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703" y="1533275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비고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87" name="그룹 186"/>
            <p:cNvGrpSpPr/>
            <p:nvPr/>
          </p:nvGrpSpPr>
          <p:grpSpPr>
            <a:xfrm flipV="1">
              <a:off x="3140790" y="1646606"/>
              <a:ext cx="94010" cy="47005"/>
              <a:chOff x="6812560" y="3297172"/>
              <a:chExt cx="94010" cy="47005"/>
            </a:xfrm>
          </p:grpSpPr>
          <p:cxnSp>
            <p:nvCxnSpPr>
              <p:cNvPr id="219" name="직선 연결선 21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06" name="직선 연결선 20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96358" y="3718642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19291" y="1847909"/>
              <a:ext cx="25326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 내용 표시 영역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49450" y="182741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8038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4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물품목록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144" name="직사각형 143"/>
          <p:cNvSpPr/>
          <p:nvPr/>
        </p:nvSpPr>
        <p:spPr>
          <a:xfrm>
            <a:off x="7063882" y="5893849"/>
            <a:ext cx="2314808" cy="362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smtClean="0"/>
              <a:t>납품완료수량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납기일자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납지명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작성수량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조서발행번호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예산구분코드명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납품금액</a:t>
            </a:r>
            <a:r>
              <a:rPr lang="ko-KR" altLang="en-US" sz="500" dirty="0" smtClean="0"/>
              <a:t> </a:t>
            </a:r>
            <a:endParaRPr lang="en-US" altLang="ko-KR" sz="500" dirty="0" smtClean="0"/>
          </a:p>
        </p:txBody>
      </p:sp>
    </p:spTree>
    <p:extLst>
      <p:ext uri="{BB962C8B-B14F-4D97-AF65-F5344CB8AC3E}">
        <p14:creationId xmlns:p14="http://schemas.microsoft.com/office/powerpoint/2010/main" val="304269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MUI-EX-01-T02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935144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202122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83791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27478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0694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2" name="그룹 51"/>
          <p:cNvGrpSpPr/>
          <p:nvPr/>
        </p:nvGrpSpPr>
        <p:grpSpPr>
          <a:xfrm>
            <a:off x="716366" y="3804937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203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645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84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상세정보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9845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물품목록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212580" y="185645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그룹 48"/>
          <p:cNvGrpSpPr/>
          <p:nvPr/>
        </p:nvGrpSpPr>
        <p:grpSpPr>
          <a:xfrm>
            <a:off x="2924086" y="1601722"/>
            <a:ext cx="422853" cy="187961"/>
            <a:chOff x="3641308" y="2234886"/>
            <a:chExt cx="422853" cy="187961"/>
          </a:xfrm>
        </p:grpSpPr>
        <p:sp>
          <p:nvSpPr>
            <p:cNvPr id="50" name="타원 4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4" name="그룹 63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70" name="직선 연결선 6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직선 연결선 7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6" name="타원 65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7" name="그룹 66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68" name="직선 연결선 6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직선 연결선 6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3525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287906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예산구분코드명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7166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누적 작성수량 조회결과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tstmDlvgdsQty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D996EE-2D40-91AC-7780-FEBC0CF4B2E0}"/>
              </a:ext>
            </a:extLst>
          </p:cNvPr>
          <p:cNvSpPr txBox="1"/>
          <p:nvPr/>
        </p:nvSpPr>
        <p:spPr>
          <a:xfrm>
            <a:off x="458117" y="4227813"/>
            <a:ext cx="184241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dmt_Rmrk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52333D1-7A13-5322-9835-A414405A42F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511567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84101F97-8F9F-076F-8AE7-28B5FE069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F28EA37-76BE-6350-49C9-C7023D579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69258"/>
              </p:ext>
            </p:extLst>
          </p:nvPr>
        </p:nvGraphicFramePr>
        <p:xfrm>
          <a:off x="453000" y="5221270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490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594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8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2D3E0ED-2BEB-8A79-9CF2-85650746C923}"/>
              </a:ext>
            </a:extLst>
          </p:cNvPr>
          <p:cNvSpPr txBox="1"/>
          <p:nvPr/>
        </p:nvSpPr>
        <p:spPr>
          <a:xfrm>
            <a:off x="458117" y="498821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</p:spTree>
    <p:extLst>
      <p:ext uri="{BB962C8B-B14F-4D97-AF65-F5344CB8AC3E}">
        <p14:creationId xmlns:p14="http://schemas.microsoft.com/office/powerpoint/2010/main" val="2048331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 smtClean="0">
                <a:latin typeface="+mn-ea"/>
              </a:rPr>
              <a:t>- </a:t>
            </a:r>
            <a:r>
              <a:rPr lang="ko-KR" altLang="en-US" dirty="0" err="1" smtClean="0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 err="1">
                <a:latin typeface="+mn-ea"/>
              </a:rPr>
              <a:t>부대조달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5934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050144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7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검사희망일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7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836701" y="2497642"/>
            <a:ext cx="2630093" cy="1186690"/>
            <a:chOff x="3801854" y="3355661"/>
            <a:chExt cx="2630093" cy="118669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3734347"/>
            <a:ext cx="2630093" cy="2677365"/>
            <a:chOff x="3801854" y="3355661"/>
            <a:chExt cx="2630093" cy="2677365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직사각형 157"/>
            <p:cNvSpPr/>
            <p:nvPr/>
          </p:nvSpPr>
          <p:spPr>
            <a:xfrm>
              <a:off x="3803947" y="3663146"/>
              <a:ext cx="792000" cy="21904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기술검사기관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기술검사관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물량검사관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⁞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 </a:t>
              </a:r>
              <a:r>
                <a:rPr lang="ko-KR" altLang="en-US" sz="700" dirty="0">
                  <a:latin typeface="+mn-ea"/>
                </a:rPr>
                <a:t>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김길동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3726178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688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73322" y="50999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6143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69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862843" y="24079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207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물품목록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218" name="직사각형 217"/>
          <p:cNvSpPr/>
          <p:nvPr/>
        </p:nvSpPr>
        <p:spPr>
          <a:xfrm>
            <a:off x="7062318" y="5883956"/>
            <a:ext cx="2341251" cy="362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smtClean="0"/>
              <a:t>납품조서번호 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납지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납기일자</a:t>
            </a:r>
            <a:r>
              <a:rPr lang="ko-KR" altLang="en-US" sz="500" dirty="0" smtClean="0"/>
              <a:t> 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계약업체명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계약업체주소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품목명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단위코드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 </a:t>
            </a:r>
            <a:r>
              <a:rPr lang="ko-KR" altLang="en-US" sz="500" dirty="0" err="1" smtClean="0"/>
              <a:t>총계약수량</a:t>
            </a:r>
            <a:r>
              <a:rPr lang="en-US" altLang="ko-KR" sz="500" dirty="0" smtClean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481691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상세정보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MUI-EX-01-T03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392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4834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17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1733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483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9361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54671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6800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62156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6215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62156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검사희망일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62156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932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069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067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13438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4808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6179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38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4983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49836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1595106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163282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1632825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76929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836701" y="1880259"/>
            <a:ext cx="2630093" cy="1186690"/>
            <a:chOff x="3801854" y="3355661"/>
            <a:chExt cx="2630093" cy="118669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2509422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3116964"/>
            <a:ext cx="2630093" cy="2892808"/>
            <a:chOff x="3801854" y="3355661"/>
            <a:chExt cx="2630093" cy="289280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25853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기술검사기관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기술검사관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물량검사관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 </a:t>
              </a:r>
              <a:r>
                <a:rPr lang="ko-KR" altLang="en-US" sz="700" dirty="0">
                  <a:latin typeface="+mn-ea"/>
                </a:rPr>
                <a:t>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김길동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박길동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000-0000-0000</a:t>
              </a: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8035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0347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2484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3108795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3098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6876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0774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07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물품목록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218" name="직사각형 217"/>
          <p:cNvSpPr/>
          <p:nvPr/>
        </p:nvSpPr>
        <p:spPr>
          <a:xfrm>
            <a:off x="7062318" y="5883956"/>
            <a:ext cx="2341251" cy="3626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smtClean="0"/>
              <a:t>납품조서번호 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납지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납기일자</a:t>
            </a:r>
            <a:r>
              <a:rPr lang="ko-KR" altLang="en-US" sz="500" dirty="0" smtClean="0"/>
              <a:t> 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계약업체명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계약업체주소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품목명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단위코드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 </a:t>
            </a:r>
            <a:r>
              <a:rPr lang="ko-KR" altLang="en-US" sz="500" dirty="0" err="1" smtClean="0"/>
              <a:t>총계약수량</a:t>
            </a:r>
            <a:r>
              <a:rPr lang="en-US" altLang="ko-KR" sz="500" dirty="0" smtClean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791818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MUI-EX-01-T04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885047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152025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3369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74814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16366" y="3754840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930409" y="5919620"/>
            <a:ext cx="22020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품목의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검사합격을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품목이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남품되었음을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2192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83614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50203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645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984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상세정보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9845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물품목록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212580" y="185645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7" name="그룹 66"/>
          <p:cNvGrpSpPr/>
          <p:nvPr/>
        </p:nvGrpSpPr>
        <p:grpSpPr>
          <a:xfrm>
            <a:off x="2924086" y="1601722"/>
            <a:ext cx="422853" cy="187961"/>
            <a:chOff x="3641308" y="2234886"/>
            <a:chExt cx="422853" cy="187961"/>
          </a:xfrm>
        </p:grpSpPr>
        <p:sp>
          <p:nvSpPr>
            <p:cNvPr id="68" name="타원 6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9" name="그룹 68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74" name="직선 연결선 7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직선 연결선 7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0" name="타원 69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1" name="그룹 70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72" name="직선 연결선 7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직선 연결선 7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78453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644960"/>
            <a:ext cx="24130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계약자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181761"/>
              </p:ext>
            </p:extLst>
          </p:nvPr>
        </p:nvGraphicFramePr>
        <p:xfrm>
          <a:off x="452999" y="1014316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예산구분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납품조서번호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납품조서번호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납기일자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비고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975713"/>
              </p:ext>
            </p:extLst>
          </p:nvPr>
        </p:nvGraphicFramePr>
        <p:xfrm>
          <a:off x="452999" y="2928714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계약업체주소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배송업체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C7231-6C17-87A2-BE5A-9F9C226BFDD6}"/>
              </a:ext>
            </a:extLst>
          </p:cNvPr>
          <p:cNvSpPr txBox="1"/>
          <p:nvPr/>
        </p:nvSpPr>
        <p:spPr>
          <a:xfrm>
            <a:off x="458117" y="4028133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41BEF0-2F1E-675B-DE42-9DB82DD4D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455249"/>
              </p:ext>
            </p:extLst>
          </p:nvPr>
        </p:nvGraphicFramePr>
        <p:xfrm>
          <a:off x="452999" y="4311887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총계약수량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tstmDlvgdsQty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246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520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igiYmd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rcpmNo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기술검사기관명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techInspInstNm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기술검사기관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기술검사관명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techInsptrNm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amtmtrInsptrOgdpNm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물량검사관소속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4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acofOgdpNm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출납관소속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118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amtmtrInsptrNm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물량검사관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64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4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출납관전화번호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출납관전화번호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0008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3615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35FD6C4-6456-DFB7-0DAC-148C0990C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32451"/>
              </p:ext>
            </p:extLst>
          </p:nvPr>
        </p:nvGraphicFramePr>
        <p:xfrm>
          <a:off x="453000" y="1058554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60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062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373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4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검사의뢰서를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(UI-EX-01-R13)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517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059791-0E8E-B3FC-9AB7-2DE7C96BC523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3" name="Text Box 73">
            <a:extLst>
              <a:ext uri="{FF2B5EF4-FFF2-40B4-BE49-F238E27FC236}">
                <a16:creationId xmlns:a16="http://schemas.microsoft.com/office/drawing/2014/main" id="{DB5438FA-D58B-C3B2-6714-6B2906A33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6932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1850213"/>
            <a:ext cx="2630093" cy="1514947"/>
            <a:chOff x="3801854" y="3663145"/>
            <a:chExt cx="2630093" cy="1514947"/>
          </a:xfrm>
        </p:grpSpPr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15149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착공일자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실 </a:t>
              </a:r>
              <a:r>
                <a:rPr lang="ko-KR" altLang="en-US" sz="700" dirty="0" err="1">
                  <a:latin typeface="+mn-ea"/>
                </a:rPr>
                <a:t>준공일자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준공기한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준공계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제출일자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준공내용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000 000000000</a:t>
              </a: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 smtClean="0">
                <a:latin typeface="+mn-ea"/>
              </a:rPr>
              <a:t>기성및준공검사상세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기성 및 준공검사의 상세내역을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 smtClean="0">
                <a:latin typeface="+mn-ea"/>
              </a:rPr>
              <a:t>기성및준공검사상세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기성 및 준공검사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6361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7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계약금액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기성차수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검사일자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2025-01-01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명칭 </a:t>
            </a:r>
            <a:r>
              <a:rPr lang="ko-KR" altLang="en-US" sz="700" dirty="0" err="1">
                <a:latin typeface="+mn-ea"/>
              </a:rPr>
              <a:t>표시영역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2025-01-01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49537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13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18513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1596621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1634340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7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5" name="모서리가 둥근 직사각형 234"/>
          <p:cNvSpPr/>
          <p:nvPr/>
        </p:nvSpPr>
        <p:spPr>
          <a:xfrm rot="5400000">
            <a:off x="6098765" y="3087172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3796091" y="3430059"/>
            <a:ext cx="2712027" cy="830059"/>
            <a:chOff x="3796091" y="4337014"/>
            <a:chExt cx="2712027" cy="830059"/>
          </a:xfrm>
        </p:grpSpPr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33701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368544"/>
              <a:ext cx="128540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검사관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87" name="그룹 186"/>
            <p:cNvGrpSpPr/>
            <p:nvPr/>
          </p:nvGrpSpPr>
          <p:grpSpPr>
            <a:xfrm flipV="1">
              <a:off x="6264240" y="4481875"/>
              <a:ext cx="94010" cy="47005"/>
              <a:chOff x="6812560" y="3297172"/>
              <a:chExt cx="94010" cy="47005"/>
            </a:xfrm>
          </p:grpSpPr>
          <p:cxnSp>
            <p:nvCxnSpPr>
              <p:cNvPr id="200" name="직선 연결선 19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소속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성명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계급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9" name="모서리가 둥근 직사각형 218"/>
            <p:cNvSpPr/>
            <p:nvPr/>
          </p:nvSpPr>
          <p:spPr>
            <a:xfrm>
              <a:off x="3831550" y="4822263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940807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계약담당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940807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29" name="그룹 228"/>
          <p:cNvGrpSpPr/>
          <p:nvPr/>
        </p:nvGrpSpPr>
        <p:grpSpPr>
          <a:xfrm>
            <a:off x="3796091" y="4359751"/>
            <a:ext cx="2712027" cy="921016"/>
            <a:chOff x="3796091" y="4337014"/>
            <a:chExt cx="2712027" cy="921016"/>
          </a:xfrm>
        </p:grpSpPr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33701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368544"/>
              <a:ext cx="128540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감독관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232" name="그룹 231"/>
            <p:cNvGrpSpPr/>
            <p:nvPr/>
          </p:nvGrpSpPr>
          <p:grpSpPr>
            <a:xfrm flipV="1">
              <a:off x="6264240" y="4481875"/>
              <a:ext cx="94010" cy="47005"/>
              <a:chOff x="6812560" y="3297172"/>
              <a:chExt cx="94010" cy="47005"/>
            </a:xfrm>
          </p:grpSpPr>
          <p:cxnSp>
            <p:nvCxnSpPr>
              <p:cNvPr id="242" name="직선 연결선 2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6" name="직선 연결선 24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소속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성명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계급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8" name="모서리가 둥근 직사각형 237"/>
            <p:cNvSpPr/>
            <p:nvPr/>
          </p:nvSpPr>
          <p:spPr>
            <a:xfrm>
              <a:off x="3831550" y="4822263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940807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계약담당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940807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525803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2" name="타원 16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4237" y="20463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1676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73322" y="50999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6692" y="223285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16218" y="26000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221" name="타원 2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883392" y="24079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22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224" name="직사각형 223"/>
          <p:cNvSpPr/>
          <p:nvPr/>
        </p:nvSpPr>
        <p:spPr>
          <a:xfrm>
            <a:off x="7063881" y="6147648"/>
            <a:ext cx="2314807" cy="1788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err="1" smtClean="0"/>
              <a:t>기성및준공검사상세</a:t>
            </a:r>
            <a:r>
              <a:rPr lang="en-US" altLang="ko-KR" sz="500" dirty="0"/>
              <a:t>-</a:t>
            </a:r>
            <a:r>
              <a:rPr lang="ko-KR" altLang="en-US" sz="500" dirty="0" err="1" smtClean="0"/>
              <a:t>공사현황</a:t>
            </a:r>
            <a:r>
              <a:rPr lang="ko-KR" altLang="en-US" sz="500" dirty="0" smtClean="0"/>
              <a:t> 에서 </a:t>
            </a:r>
            <a:r>
              <a:rPr lang="en-US" altLang="ko-KR" sz="500" dirty="0" smtClean="0"/>
              <a:t>UI</a:t>
            </a:r>
            <a:r>
              <a:rPr lang="ko-KR" altLang="en-US" sz="500" dirty="0" smtClean="0"/>
              <a:t>명 변경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개요내용변경 </a:t>
            </a:r>
            <a:endParaRPr lang="en-US" altLang="ko-KR" sz="500" dirty="0" smtClean="0"/>
          </a:p>
        </p:txBody>
      </p:sp>
      <p:sp>
        <p:nvSpPr>
          <p:cNvPr id="225" name="직사각형 224"/>
          <p:cNvSpPr/>
          <p:nvPr/>
        </p:nvSpPr>
        <p:spPr>
          <a:xfrm>
            <a:off x="7079460" y="5896635"/>
            <a:ext cx="2299229" cy="236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smtClean="0"/>
              <a:t>계약금액</a:t>
            </a:r>
            <a:r>
              <a:rPr lang="en-US" altLang="ko-KR" sz="500" dirty="0" smtClean="0"/>
              <a:t>(</a:t>
            </a:r>
            <a:r>
              <a:rPr lang="ko-KR" altLang="en-US" sz="500" dirty="0" smtClean="0"/>
              <a:t>원</a:t>
            </a:r>
            <a:r>
              <a:rPr lang="en-US" altLang="ko-KR" sz="500" dirty="0" smtClean="0"/>
              <a:t>), </a:t>
            </a:r>
            <a:r>
              <a:rPr lang="ko-KR" altLang="en-US" sz="500" dirty="0" err="1" smtClean="0"/>
              <a:t>기성비율</a:t>
            </a:r>
            <a:r>
              <a:rPr lang="en-US" altLang="ko-KR" sz="500" dirty="0" smtClean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2104248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3811914"/>
            <a:ext cx="198829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검사관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dmt_Insptr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193522"/>
              </p:ext>
            </p:extLst>
          </p:nvPr>
        </p:nvGraphicFramePr>
        <p:xfrm>
          <a:off x="452999" y="1014316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3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계약명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110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441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계약금액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213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기성차수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pxcndCycl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기성차수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780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검사일자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80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기성금액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517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기성비율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기성비율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9,4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착공일자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bgncstYmd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착공일자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실준공일자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rlccYmd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실준공일자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준공기한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cmcnTermYmd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준공기한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준공계제출일자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cmdocSbmsnYmd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준공계제출일자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준공내용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cmcnCn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095668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검사관소속명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 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검사관계급명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insptrEchlnNm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 계급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05C0EB-275D-E506-3616-3581C05850A1}"/>
              </a:ext>
            </a:extLst>
          </p:cNvPr>
          <p:cNvSpPr txBox="1"/>
          <p:nvPr/>
        </p:nvSpPr>
        <p:spPr>
          <a:xfrm>
            <a:off x="458117" y="4954066"/>
            <a:ext cx="191295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감독관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dmt_Sprv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B6A7BFD-8C3C-42C1-9F9A-3ACB3788261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5237820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감독관소속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감독관계급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sprvEchlnNm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계급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F09CEF94-E7CA-DC88-306B-AB018690C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3633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1F6A43-1297-CF99-ABFA-B1F80565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0928"/>
              </p:ext>
            </p:extLst>
          </p:nvPr>
        </p:nvGraphicFramePr>
        <p:xfrm>
          <a:off x="453000" y="1058554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33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634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888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검사관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정보를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766CFCB-C363-5412-5544-0340E25C273A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5DBF2411-506C-6DFD-5BA7-B35E2C37F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58904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 smtClean="0">
                <a:latin typeface="+mn-ea"/>
              </a:rPr>
              <a:t>검사및납품조서현황목록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ko-KR" altLang="en-US" dirty="0">
                <a:latin typeface="+mn-ea"/>
              </a:rPr>
              <a:t> 현황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검사및납품조서현황목록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현황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51354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73775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합격일자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납품일자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2378" y="3858386"/>
            <a:ext cx="47288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2026-06-10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-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32921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3329212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8027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3024315" y="3090999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모서리가 둥근 직사각형 79"/>
          <p:cNvSpPr/>
          <p:nvPr/>
        </p:nvSpPr>
        <p:spPr>
          <a:xfrm>
            <a:off x="4320532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3979" y="232565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621458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49224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22551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4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예산구분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553817"/>
            <a:ext cx="958216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dlvdocPrgrsStcd</a:t>
            </a:r>
            <a:endParaRPr lang="ko-KR" altLang="en-US" sz="6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55965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5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7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79049"/>
            <a:ext cx="2473257" cy="1083172"/>
            <a:chOff x="781461" y="3087955"/>
            <a:chExt cx="2473257" cy="1083172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/>
                <a:t>계약 명칭 </a:t>
              </a:r>
              <a:r>
                <a:rPr lang="ko-KR" altLang="en-US" sz="900" b="1" dirty="0" err="1"/>
                <a:t>표시영역</a:t>
              </a:r>
              <a:endParaRPr lang="ko-KR" altLang="en-US" sz="900" b="1" dirty="0"/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합격일자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납품일자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762378" y="3617129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2026-04-10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2026-08-15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물품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5198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본조</a:t>
              </a:r>
              <a:endParaRPr lang="ko-KR" altLang="en-US" sz="600" dirty="0"/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1679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4320532" y="321227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납지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810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납지구분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5090510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당년국채</a:t>
            </a:r>
            <a:endParaRPr lang="ko-KR" altLang="en-US" sz="600" dirty="0"/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4783876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본조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98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0668" y="151983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상단 </a:t>
            </a:r>
            <a:r>
              <a:rPr lang="ko-KR" altLang="en-US" sz="700" dirty="0" err="1" smtClean="0"/>
              <a:t>업무도움은</a:t>
            </a:r>
            <a:r>
              <a:rPr lang="ko-KR" altLang="en-US" sz="700" dirty="0" smtClean="0"/>
              <a:t> 기본 값으로 접힘 상태로 정보 제공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기본값 </a:t>
            </a:r>
            <a:r>
              <a:rPr lang="en-US" altLang="ko-KR" sz="700" dirty="0" smtClean="0"/>
              <a:t>: </a:t>
            </a:r>
            <a:r>
              <a:rPr lang="ko-KR" altLang="en-US" sz="700" dirty="0" smtClean="0"/>
              <a:t>접힘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사용자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확장하여 정보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업무도움</a:t>
            </a:r>
            <a:r>
              <a:rPr lang="en-US" altLang="ko-KR" sz="700" dirty="0" smtClean="0"/>
              <a:t> &gt; </a:t>
            </a:r>
            <a:r>
              <a:rPr lang="ko-KR" altLang="en-US" sz="700" dirty="0" smtClean="0"/>
              <a:t>내역이 있는 경우 표시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내역이 없으면 항목을 표시하지 않음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ko-KR" altLang="en-US" sz="700" dirty="0" smtClean="0"/>
              <a:t> 항목 참고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>
                <a:latin typeface="+mn-ea"/>
              </a:rPr>
              <a:t>검색 필터 </a:t>
            </a:r>
            <a:endParaRPr lang="en-US" altLang="ko-KR" sz="700" dirty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표시 개수 영역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총 개수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표시 개수 </a:t>
            </a:r>
            <a:r>
              <a:rPr lang="en-US" altLang="ko-KR" sz="700" dirty="0" smtClean="0"/>
              <a:t>(</a:t>
            </a:r>
            <a:r>
              <a:rPr lang="ko-KR" altLang="en-US" sz="700" dirty="0" smtClean="0"/>
              <a:t>선택한 건수 만큼 보여주고 </a:t>
            </a:r>
            <a:r>
              <a:rPr lang="ko-KR" altLang="en-US" sz="700" dirty="0" err="1" smtClean="0"/>
              <a:t>더보기시</a:t>
            </a:r>
            <a:r>
              <a:rPr lang="ko-KR" altLang="en-US" sz="700" dirty="0" smtClean="0"/>
              <a:t> 추가로 불러옴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ko-KR" altLang="en-US" sz="700" dirty="0" smtClean="0"/>
              <a:t>목록 카드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카드 </a:t>
            </a:r>
            <a:r>
              <a:rPr lang="ko-KR" altLang="en-US" sz="700" dirty="0" err="1" smtClean="0"/>
              <a:t>클릭시</a:t>
            </a:r>
            <a:r>
              <a:rPr lang="ko-KR" altLang="en-US" sz="700" dirty="0" smtClean="0"/>
              <a:t> 상세 페이지 이동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3-1]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레이블이 화면을 넘치는 경우 드래그하여 확인 가능 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스와이프기능</a:t>
            </a:r>
            <a:r>
              <a:rPr lang="ko-KR" altLang="en-US" sz="700" dirty="0" smtClean="0"/>
              <a:t> 반영 필요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4-1] </a:t>
            </a:r>
            <a:r>
              <a:rPr lang="ko-KR" altLang="en-US" sz="700" dirty="0" err="1" smtClean="0"/>
              <a:t>표시레이블</a:t>
            </a:r>
            <a:r>
              <a:rPr lang="ko-KR" altLang="en-US" sz="700" dirty="0" smtClean="0"/>
              <a:t> 영역 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업무구분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공사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예산구분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전년국채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본조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당년국채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납지구분</a:t>
            </a:r>
            <a:r>
              <a:rPr lang="ko-KR" altLang="en-US" sz="700" dirty="0" smtClean="0"/>
              <a:t>  </a:t>
            </a:r>
            <a:r>
              <a:rPr lang="en-US" altLang="ko-KR" sz="700" dirty="0" smtClean="0"/>
              <a:t>: </a:t>
            </a:r>
            <a:r>
              <a:rPr lang="ko-KR" altLang="en-US" sz="700" dirty="0" err="1" smtClean="0"/>
              <a:t>납지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진행상태 </a:t>
            </a:r>
            <a:r>
              <a:rPr lang="en-US" altLang="ko-KR" sz="700" dirty="0" smtClean="0"/>
              <a:t>: </a:t>
            </a:r>
            <a:r>
              <a:rPr lang="en-US" altLang="ko-KR" sz="7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dlvdocPrgrsStcd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4-2] </a:t>
            </a:r>
            <a:r>
              <a:rPr lang="ko-KR" altLang="en-US" sz="700" dirty="0" smtClean="0"/>
              <a:t>문서 정보 영역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</a:t>
            </a:r>
            <a:r>
              <a:rPr lang="ko-KR" altLang="en-US" sz="700" dirty="0" err="1" smtClean="0"/>
              <a:t>계약번호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노출시</a:t>
            </a:r>
            <a:r>
              <a:rPr lang="ko-KR" altLang="en-US" sz="700" dirty="0" smtClean="0"/>
              <a:t> 해당 라인을 넘어가면 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: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계약번호</a:t>
            </a:r>
            <a:r>
              <a:rPr lang="en-US" altLang="ko-KR" sz="700" dirty="0" smtClean="0"/>
              <a:t>+</a:t>
            </a:r>
            <a:r>
              <a:rPr lang="ko-KR" altLang="en-US" sz="700" dirty="0" smtClean="0"/>
              <a:t>계약번호차수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4-3] </a:t>
            </a:r>
            <a:r>
              <a:rPr lang="ko-KR" altLang="en-US" sz="700" dirty="0" smtClean="0"/>
              <a:t>문서 제목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제목은 </a:t>
            </a:r>
            <a:r>
              <a:rPr lang="en-US" altLang="ko-KR" sz="700" dirty="0" smtClean="0"/>
              <a:t>2</a:t>
            </a:r>
            <a:r>
              <a:rPr lang="ko-KR" altLang="en-US" sz="700" dirty="0" smtClean="0"/>
              <a:t>줄 까지 노출 이후</a:t>
            </a:r>
            <a:r>
              <a:rPr lang="en-US" altLang="ko-KR" sz="700" dirty="0" smtClean="0"/>
              <a:t>(…) </a:t>
            </a:r>
            <a:r>
              <a:rPr lang="ko-KR" altLang="en-US" sz="700" dirty="0" err="1" smtClean="0"/>
              <a:t>말줄임</a:t>
            </a:r>
            <a:r>
              <a:rPr lang="ko-KR" altLang="en-US" sz="700" dirty="0" smtClean="0"/>
              <a:t> 표시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기능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- 3</a:t>
            </a:r>
            <a:r>
              <a:rPr lang="ko-KR" altLang="en-US" sz="700" dirty="0" err="1" smtClean="0"/>
              <a:t>번항목</a:t>
            </a:r>
            <a:r>
              <a:rPr lang="ko-KR" altLang="en-US" sz="700" dirty="0" smtClean="0"/>
              <a:t> 표시 개수 영역에서 선택한 개수로 증가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ko-KR" altLang="en-US" sz="700" dirty="0" smtClean="0"/>
              <a:t>예</a:t>
            </a:r>
            <a:r>
              <a:rPr lang="en-US" altLang="ko-KR" sz="700" dirty="0" smtClean="0"/>
              <a:t>) 10</a:t>
            </a:r>
            <a:r>
              <a:rPr lang="ko-KR" altLang="en-US" sz="700" dirty="0" smtClean="0"/>
              <a:t>개 노출 이후 </a:t>
            </a:r>
            <a:r>
              <a:rPr lang="ko-KR" altLang="en-US" sz="700" dirty="0" err="1" smtClean="0"/>
              <a:t>더보기</a:t>
            </a:r>
            <a:r>
              <a:rPr lang="ko-KR" altLang="en-US" sz="700" dirty="0" smtClean="0"/>
              <a:t> 버튼 클릭으로 </a:t>
            </a:r>
            <a:r>
              <a:rPr lang="en-US" altLang="ko-KR" sz="700" dirty="0" smtClean="0"/>
              <a:t>10</a:t>
            </a:r>
            <a:r>
              <a:rPr lang="ko-KR" altLang="en-US" sz="700" dirty="0" smtClean="0"/>
              <a:t>개씩 추가 로드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이벤트 호출 </a:t>
            </a:r>
            <a:r>
              <a: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endParaRPr lang="en-US" altLang="ko-KR" sz="700" dirty="0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53358" y="43384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70286" y="218009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3506" y="44706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4-2</a:t>
            </a:r>
            <a:endParaRPr lang="ko-KR" altLang="en-US" sz="600" b="1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1637" y="48521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4-3</a:t>
            </a:r>
            <a:endParaRPr lang="ko-KR" altLang="en-US" sz="600" b="1" dirty="0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17061" y="33960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3-1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7065496" y="6120986"/>
            <a:ext cx="2305455" cy="222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</a:t>
            </a:r>
            <a:br>
              <a:rPr lang="en-US" altLang="ko-KR" sz="500" dirty="0" smtClean="0"/>
            </a:br>
            <a:r>
              <a:rPr lang="ko-KR" altLang="en-US" sz="500" dirty="0" err="1" smtClean="0"/>
              <a:t>업무구분명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납품금액</a:t>
            </a:r>
            <a:r>
              <a:rPr lang="en-US" altLang="ko-KR" sz="500" dirty="0" smtClean="0"/>
              <a:t> , </a:t>
            </a:r>
            <a:r>
              <a:rPr lang="ko-KR" altLang="en-US" sz="500" dirty="0" err="1" smtClean="0"/>
              <a:t>납지명</a:t>
            </a:r>
            <a:r>
              <a:rPr lang="en-US" altLang="ko-KR" sz="500" dirty="0" smtClean="0"/>
              <a:t> , </a:t>
            </a:r>
            <a:r>
              <a:rPr lang="ko-KR" altLang="en-US" sz="500" dirty="0" err="1" smtClean="0"/>
              <a:t>납품조서진행상태코드</a:t>
            </a:r>
            <a:r>
              <a:rPr lang="ko-KR" altLang="en-US" sz="500" dirty="0" smtClean="0"/>
              <a:t> </a:t>
            </a:r>
            <a:endParaRPr lang="en-US" altLang="ko-KR" sz="500" dirty="0" smtClean="0"/>
          </a:p>
        </p:txBody>
      </p:sp>
      <p:sp>
        <p:nvSpPr>
          <p:cNvPr id="113" name="타원 112"/>
          <p:cNvSpPr/>
          <p:nvPr/>
        </p:nvSpPr>
        <p:spPr>
          <a:xfrm>
            <a:off x="3511035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5" name="그룹 114"/>
          <p:cNvGrpSpPr/>
          <p:nvPr/>
        </p:nvGrpSpPr>
        <p:grpSpPr>
          <a:xfrm>
            <a:off x="3640502" y="5769705"/>
            <a:ext cx="124144" cy="124144"/>
            <a:chOff x="162544" y="5299917"/>
            <a:chExt cx="124144" cy="124144"/>
          </a:xfrm>
        </p:grpSpPr>
        <p:cxnSp>
          <p:nvCxnSpPr>
            <p:cNvPr id="118" name="직선 연결선 11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직선 연결선 11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2250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latin typeface="+mn-ea"/>
              </a:rPr>
              <a:t> </a:t>
            </a:r>
            <a:endParaRPr lang="ko-KR" altLang="en-US" sz="900" dirty="0">
              <a:latin typeface="+mn-ea"/>
            </a:endParaRP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528" y="2831248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502209" y="560058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72764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 smtClean="0">
                <a:latin typeface="+mn-ea"/>
              </a:rPr>
              <a:t>검사및납품조서현황목록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ko-KR" altLang="en-US" dirty="0">
                <a:latin typeface="+mn-ea"/>
              </a:rPr>
              <a:t> 현황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 smtClean="0">
                <a:latin typeface="+mn-ea"/>
              </a:rPr>
              <a:t>검사및납품조서현황목록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현황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51354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73775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합격일자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납품일자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2378" y="3858386"/>
            <a:ext cx="47288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2026-06-10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-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32921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3329212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8027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2" name="모서리가 둥근 직사각형 111"/>
          <p:cNvSpPr/>
          <p:nvPr/>
        </p:nvSpPr>
        <p:spPr>
          <a:xfrm>
            <a:off x="4318634" y="3553817"/>
            <a:ext cx="958216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dlvdocPrgrsStcd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5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7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79049"/>
            <a:ext cx="2473257" cy="1083172"/>
            <a:chOff x="781461" y="3087955"/>
            <a:chExt cx="2473257" cy="1083172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/>
                <a:t>계약 명칭 </a:t>
              </a:r>
              <a:r>
                <a:rPr lang="ko-KR" altLang="en-US" sz="900" b="1" dirty="0" err="1"/>
                <a:t>표시영역</a:t>
              </a:r>
              <a:endParaRPr lang="ko-KR" altLang="en-US" sz="900" b="1" dirty="0"/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합격일자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납품일자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762378" y="3617129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2026-04-10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2026-08-15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물품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5198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본조</a:t>
              </a:r>
              <a:endParaRPr lang="ko-KR" altLang="en-US" sz="600" dirty="0"/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1679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8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0668" y="151983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이벤트 호출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- (UI-EX-01-M14</a:t>
            </a: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700" dirty="0">
                <a:latin typeface="+mn-ea"/>
              </a:rPr>
              <a:t> 납품조서결과상세</a:t>
            </a: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>- (UI-EX-01-M04)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검사및납품조서상세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 err="1">
                <a:latin typeface="+mn-ea"/>
              </a:rPr>
              <a:t>부대조달</a:t>
            </a:r>
            <a:r>
              <a:rPr lang="en-US" altLang="ko-KR" sz="700" dirty="0">
                <a:latin typeface="+mn-ea"/>
              </a:rPr>
              <a:t>)</a:t>
            </a: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</a:rPr>
              <a:t>- (UI-EX-01-M05)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기성및준공검사상세</a:t>
            </a:r>
            <a:endParaRPr lang="en-US" altLang="ko-KR" sz="700" dirty="0"/>
          </a:p>
        </p:txBody>
      </p:sp>
      <p:sp>
        <p:nvSpPr>
          <p:cNvPr id="113" name="타원 112"/>
          <p:cNvSpPr/>
          <p:nvPr/>
        </p:nvSpPr>
        <p:spPr>
          <a:xfrm>
            <a:off x="3511035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5" name="그룹 114"/>
          <p:cNvGrpSpPr/>
          <p:nvPr/>
        </p:nvGrpSpPr>
        <p:grpSpPr>
          <a:xfrm>
            <a:off x="3640502" y="5769705"/>
            <a:ext cx="124144" cy="124144"/>
            <a:chOff x="162544" y="5299917"/>
            <a:chExt cx="124144" cy="124144"/>
          </a:xfrm>
        </p:grpSpPr>
        <p:cxnSp>
          <p:nvCxnSpPr>
            <p:cNvPr id="118" name="직선 연결선 11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직선 연결선 11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양쪽 모서리가 둥근 사각형 123"/>
          <p:cNvSpPr/>
          <p:nvPr/>
        </p:nvSpPr>
        <p:spPr>
          <a:xfrm>
            <a:off x="3793173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4879186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430891" y="55541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grpSp>
        <p:nvGrpSpPr>
          <p:cNvPr id="133" name="그룹 132"/>
          <p:cNvGrpSpPr/>
          <p:nvPr/>
        </p:nvGrpSpPr>
        <p:grpSpPr>
          <a:xfrm>
            <a:off x="6282112" y="3182696"/>
            <a:ext cx="94010" cy="94010"/>
            <a:chOff x="6812560" y="3297172"/>
            <a:chExt cx="94010" cy="94010"/>
          </a:xfrm>
        </p:grpSpPr>
        <p:cxnSp>
          <p:nvCxnSpPr>
            <p:cNvPr id="137" name="직선 연결선 136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직선 연결선 137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3173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모서리가 둥근 직사각형 40">
            <a:extLst>
              <a:ext uri="{FF2B5EF4-FFF2-40B4-BE49-F238E27FC236}">
                <a16:creationId xmlns:a16="http://schemas.microsoft.com/office/drawing/2014/main" id="{3BE5C28A-F0C3-8BA2-3AC1-EFA405ADE137}"/>
              </a:ext>
            </a:extLst>
          </p:cNvPr>
          <p:cNvSpPr/>
          <p:nvPr/>
        </p:nvSpPr>
        <p:spPr bwMode="auto">
          <a:xfrm>
            <a:off x="3885476" y="3546317"/>
            <a:ext cx="2522014" cy="244350"/>
          </a:xfrm>
          <a:prstGeom prst="roundRect">
            <a:avLst/>
          </a:prstGeom>
          <a:solidFill>
            <a:srgbClr val="0F4294"/>
          </a:solidFill>
          <a:ln w="6350">
            <a:solidFill>
              <a:srgbClr val="0F4294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 algn="ctr">
              <a:defRPr/>
            </a:pPr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납품조서결과상세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" name="모서리가 둥근 직사각형 40">
            <a:extLst>
              <a:ext uri="{FF2B5EF4-FFF2-40B4-BE49-F238E27FC236}">
                <a16:creationId xmlns:a16="http://schemas.microsoft.com/office/drawing/2014/main" id="{3BE5C28A-F0C3-8BA2-3AC1-EFA405ADE137}"/>
              </a:ext>
            </a:extLst>
          </p:cNvPr>
          <p:cNvSpPr/>
          <p:nvPr/>
        </p:nvSpPr>
        <p:spPr bwMode="auto">
          <a:xfrm>
            <a:off x="3885476" y="3884130"/>
            <a:ext cx="2522014" cy="244350"/>
          </a:xfrm>
          <a:prstGeom prst="roundRect">
            <a:avLst/>
          </a:prstGeom>
          <a:solidFill>
            <a:srgbClr val="0F4294"/>
          </a:solidFill>
          <a:ln w="6350">
            <a:solidFill>
              <a:srgbClr val="0F4294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 algn="ctr">
              <a:defRPr/>
            </a:pPr>
            <a:r>
              <a:rPr lang="ko-KR" altLang="en-US" sz="800" dirty="0" err="1">
                <a:solidFill>
                  <a:schemeClr val="bg1"/>
                </a:solidFill>
                <a:latin typeface="+mn-ea"/>
              </a:rPr>
              <a:t>검사및납품조서상세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800" dirty="0" err="1">
                <a:solidFill>
                  <a:schemeClr val="bg1"/>
                </a:solidFill>
                <a:latin typeface="+mn-ea"/>
              </a:rPr>
              <a:t>부대조달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2" name="모서리가 둥근 직사각형 40">
            <a:extLst>
              <a:ext uri="{FF2B5EF4-FFF2-40B4-BE49-F238E27FC236}">
                <a16:creationId xmlns:a16="http://schemas.microsoft.com/office/drawing/2014/main" id="{3BE5C28A-F0C3-8BA2-3AC1-EFA405ADE137}"/>
              </a:ext>
            </a:extLst>
          </p:cNvPr>
          <p:cNvSpPr/>
          <p:nvPr/>
        </p:nvSpPr>
        <p:spPr bwMode="auto">
          <a:xfrm>
            <a:off x="3885476" y="4216636"/>
            <a:ext cx="2522014" cy="244350"/>
          </a:xfrm>
          <a:prstGeom prst="roundRect">
            <a:avLst/>
          </a:prstGeom>
          <a:solidFill>
            <a:srgbClr val="0F4294"/>
          </a:solidFill>
          <a:ln w="6350">
            <a:solidFill>
              <a:srgbClr val="0F4294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rIns="36000" anchor="ctr"/>
          <a:lstStyle/>
          <a:p>
            <a:pPr algn="ctr"/>
            <a:r>
              <a:rPr lang="ko-KR" altLang="en-US" sz="800" dirty="0" err="1" smtClean="0">
                <a:solidFill>
                  <a:schemeClr val="bg1"/>
                </a:solidFill>
                <a:latin typeface="+mn-ea"/>
              </a:rPr>
              <a:t>기성및준공검사상세</a:t>
            </a:r>
            <a:endParaRPr lang="en-US" altLang="ko-KR" sz="800" dirty="0">
              <a:solidFill>
                <a:schemeClr val="bg1"/>
              </a:solidFill>
            </a:endParaRPr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30062" y="5693123"/>
            <a:ext cx="76863" cy="292489"/>
            <a:chOff x="3750067" y="4683795"/>
            <a:chExt cx="76863" cy="292489"/>
          </a:xfrm>
        </p:grpSpPr>
        <p:sp>
          <p:nvSpPr>
            <p:cNvPr id="155" name="타원 154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11" name="타원 1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52672" y="29172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3623662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 err="1">
                <a:latin typeface="+mn-ea"/>
              </a:rPr>
              <a:t>검사및납품조서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이행 </a:t>
            </a:r>
            <a:r>
              <a:rPr lang="en-US" altLang="ko-KR" dirty="0"/>
              <a:t>&gt; </a:t>
            </a:r>
            <a:r>
              <a:rPr lang="ko-KR" altLang="en-US" dirty="0" err="1">
                <a:latin typeface="+mn-ea"/>
              </a:rPr>
              <a:t>검사및납품조서현황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MUI-EX-01-P09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00691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37072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72169" y="2303384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/>
          <p:cNvSpPr/>
          <p:nvPr/>
        </p:nvSpPr>
        <p:spPr>
          <a:xfrm>
            <a:off x="772169" y="2520610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104604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7" name="직사각형 136"/>
          <p:cNvSpPr/>
          <p:nvPr/>
        </p:nvSpPr>
        <p:spPr>
          <a:xfrm>
            <a:off x="772169" y="271770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772169" y="2932361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/>
          <p:cNvSpPr/>
          <p:nvPr/>
        </p:nvSpPr>
        <p:spPr>
          <a:xfrm>
            <a:off x="772169" y="3144327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712771" y="2482252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1004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73653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95907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483422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498670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500665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521737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498670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17838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903622" y="1956581"/>
            <a:ext cx="2519558" cy="1495349"/>
            <a:chOff x="778515" y="4388257"/>
            <a:chExt cx="2519558" cy="1495349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12583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조서발행번호를 선택하세요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675399" y="3511086"/>
            <a:ext cx="2712027" cy="1190034"/>
            <a:chOff x="675399" y="1977748"/>
            <a:chExt cx="2712027" cy="1190034"/>
          </a:xfrm>
        </p:grpSpPr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16778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0461" y="1977748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예산구분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83" name="그룹 282"/>
            <p:cNvGrpSpPr/>
            <p:nvPr/>
          </p:nvGrpSpPr>
          <p:grpSpPr>
            <a:xfrm flipV="1">
              <a:off x="3162895" y="2075438"/>
              <a:ext cx="91438" cy="45719"/>
              <a:chOff x="6812560" y="3297172"/>
              <a:chExt cx="94010" cy="47005"/>
            </a:xfrm>
          </p:grpSpPr>
          <p:cxnSp>
            <p:nvCxnSpPr>
              <p:cNvPr id="284" name="직선 연결선 28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63566" y="2221573"/>
              <a:ext cx="2305144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 예산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전년국채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당년국채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69" name="그룹 168"/>
            <p:cNvGrpSpPr/>
            <p:nvPr/>
          </p:nvGrpSpPr>
          <p:grpSpPr>
            <a:xfrm>
              <a:off x="772169" y="2297325"/>
              <a:ext cx="107950" cy="736927"/>
              <a:chOff x="772169" y="2297325"/>
              <a:chExt cx="107950" cy="736927"/>
            </a:xfrm>
          </p:grpSpPr>
          <p:sp>
            <p:nvSpPr>
              <p:cNvPr id="170" name="직사각형 169"/>
              <p:cNvSpPr/>
              <p:nvPr/>
            </p:nvSpPr>
            <p:spPr>
              <a:xfrm>
                <a:off x="772169" y="2297325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" name="직사각형 172"/>
              <p:cNvSpPr/>
              <p:nvPr/>
            </p:nvSpPr>
            <p:spPr>
              <a:xfrm>
                <a:off x="772169" y="2514551"/>
                <a:ext cx="107950" cy="10795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" name="직사각형 173"/>
              <p:cNvSpPr/>
              <p:nvPr/>
            </p:nvSpPr>
            <p:spPr>
              <a:xfrm>
                <a:off x="772169" y="2711641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직사각형 174"/>
              <p:cNvSpPr/>
              <p:nvPr/>
            </p:nvSpPr>
            <p:spPr>
              <a:xfrm>
                <a:off x="772169" y="2926302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77" name="TextBox 176"/>
            <p:cNvSpPr txBox="1"/>
            <p:nvPr/>
          </p:nvSpPr>
          <p:spPr>
            <a:xfrm>
              <a:off x="712771" y="2469709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5560953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합격일자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5588584"/>
            <a:ext cx="859319" cy="188244"/>
            <a:chOff x="5613534" y="2854836"/>
            <a:chExt cx="804671" cy="188244"/>
          </a:xfrm>
        </p:grpSpPr>
        <p:sp>
          <p:nvSpPr>
            <p:cNvPr id="102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05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5608531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106" name="그룹 105"/>
          <p:cNvGrpSpPr/>
          <p:nvPr/>
        </p:nvGrpSpPr>
        <p:grpSpPr>
          <a:xfrm>
            <a:off x="1464781" y="5819253"/>
            <a:ext cx="1845146" cy="188135"/>
            <a:chOff x="1430277" y="4057651"/>
            <a:chExt cx="1845146" cy="188135"/>
          </a:xfrm>
        </p:grpSpPr>
        <p:sp>
          <p:nvSpPr>
            <p:cNvPr id="107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08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09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5588584"/>
            <a:ext cx="859319" cy="188244"/>
            <a:chOff x="5613534" y="2854836"/>
            <a:chExt cx="804671" cy="188244"/>
          </a:xfrm>
        </p:grpSpPr>
        <p:sp>
          <p:nvSpPr>
            <p:cNvPr id="11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12" name="그림 11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grpSp>
        <p:nvGrpSpPr>
          <p:cNvPr id="113" name="그룹 112"/>
          <p:cNvGrpSpPr/>
          <p:nvPr/>
        </p:nvGrpSpPr>
        <p:grpSpPr>
          <a:xfrm rot="16200000">
            <a:off x="6261284" y="2754410"/>
            <a:ext cx="91438" cy="45719"/>
            <a:chOff x="6812560" y="3297172"/>
            <a:chExt cx="94010" cy="47005"/>
          </a:xfrm>
        </p:grpSpPr>
        <p:cxnSp>
          <p:nvCxnSpPr>
            <p:cNvPr id="114" name="직선 연결선 1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61925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124" name="그룹 123"/>
          <p:cNvGrpSpPr/>
          <p:nvPr/>
        </p:nvGrpSpPr>
        <p:grpSpPr>
          <a:xfrm flipV="1">
            <a:off x="6261284" y="3716943"/>
            <a:ext cx="91438" cy="45719"/>
            <a:chOff x="6812560" y="3297172"/>
            <a:chExt cx="94010" cy="47005"/>
          </a:xfrm>
        </p:grpSpPr>
        <p:cxnSp>
          <p:nvCxnSpPr>
            <p:cNvPr id="125" name="직선 연결선 12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직선 연결선 12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모서리가 둥근 직사각형 140"/>
          <p:cNvSpPr/>
          <p:nvPr/>
        </p:nvSpPr>
        <p:spPr>
          <a:xfrm>
            <a:off x="4569619" y="389974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847618"/>
            <a:ext cx="670770" cy="452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공사검사구분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44" name="그룹 143"/>
          <p:cNvGrpSpPr/>
          <p:nvPr/>
        </p:nvGrpSpPr>
        <p:grpSpPr>
          <a:xfrm>
            <a:off x="6261284" y="3970484"/>
            <a:ext cx="91438" cy="45719"/>
            <a:chOff x="6812560" y="3297172"/>
            <a:chExt cx="94010" cy="47005"/>
          </a:xfrm>
        </p:grpSpPr>
        <p:cxnSp>
          <p:nvCxnSpPr>
            <p:cNvPr id="145" name="직선 연결선 14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직선 연결선 14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5818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모서리가 둥근 직사각형 147"/>
          <p:cNvSpPr/>
          <p:nvPr/>
        </p:nvSpPr>
        <p:spPr>
          <a:xfrm>
            <a:off x="4569619" y="4133550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grpSp>
        <p:nvGrpSpPr>
          <p:cNvPr id="149" name="그룹 148"/>
          <p:cNvGrpSpPr/>
          <p:nvPr/>
        </p:nvGrpSpPr>
        <p:grpSpPr>
          <a:xfrm>
            <a:off x="6261284" y="4204290"/>
            <a:ext cx="91438" cy="45719"/>
            <a:chOff x="6812560" y="3297172"/>
            <a:chExt cx="94010" cy="47005"/>
          </a:xfrm>
        </p:grpSpPr>
        <p:cxnSp>
          <p:nvCxnSpPr>
            <p:cNvPr id="150" name="직선 연결선 14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직선 연결선 15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2" name="모서리가 둥근 직사각형 151"/>
          <p:cNvSpPr/>
          <p:nvPr/>
        </p:nvSpPr>
        <p:spPr>
          <a:xfrm>
            <a:off x="4574391" y="3359918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납지를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6154" y="17446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6154" y="22015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6154" y="38584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6154" y="476691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18040" y="48736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4-1</a:t>
            </a:r>
            <a:endParaRPr lang="ko-KR" altLang="en-US" sz="500" b="1" dirty="0"/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372122" y="48736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4-2</a:t>
            </a:r>
            <a:endParaRPr lang="ko-KR" altLang="en-US" sz="500" b="1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513792" y="167237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223221" y="16756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18040" y="51804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4-3</a:t>
            </a:r>
            <a:endParaRPr lang="ko-KR" altLang="en-US" sz="500" b="1" dirty="0"/>
          </a:p>
        </p:txBody>
      </p:sp>
      <p:sp>
        <p:nvSpPr>
          <p:cNvPr id="186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90845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검색필터</a:t>
            </a:r>
            <a:r>
              <a:rPr lang="ko-KR" altLang="en-US" sz="700" dirty="0" smtClean="0"/>
              <a:t> 페이지 타이틀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1-1] </a:t>
            </a:r>
            <a:r>
              <a:rPr lang="ko-KR" altLang="en-US" sz="700" dirty="0" smtClean="0"/>
              <a:t>초기화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1-2] </a:t>
            </a:r>
            <a:r>
              <a:rPr lang="ko-KR" altLang="en-US" sz="700" dirty="0" smtClean="0"/>
              <a:t>창 닫기 버튼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ko-KR" altLang="en-US" sz="700" dirty="0" smtClean="0"/>
              <a:t>각 </a:t>
            </a:r>
            <a:r>
              <a:rPr lang="ko-KR" altLang="en-US" sz="700" dirty="0" err="1" smtClean="0"/>
              <a:t>섹션명</a:t>
            </a:r>
            <a:r>
              <a:rPr lang="ko-KR" altLang="en-US" sz="700" dirty="0" smtClean="0"/>
              <a:t> 클릭 시 아코디언 동작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업무 구분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필수값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ko-KR" altLang="en-US" sz="700" dirty="0" smtClean="0"/>
              <a:t>전체</a:t>
            </a:r>
            <a:r>
              <a:rPr lang="en-US" altLang="ko-KR" sz="700" dirty="0" smtClean="0"/>
              <a:t>, </a:t>
            </a:r>
            <a:r>
              <a:rPr lang="ko-KR" altLang="en-US" sz="700" dirty="0" smtClean="0"/>
              <a:t>물품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용역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공사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국외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default) </a:t>
            </a:r>
            <a:r>
              <a:rPr lang="ko-KR" altLang="en-US" sz="700" dirty="0" smtClean="0"/>
              <a:t>전체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/>
              <a:t>예산구분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(</a:t>
            </a:r>
            <a:r>
              <a:rPr lang="ko-KR" altLang="en-US" sz="700" dirty="0" err="1" smtClean="0"/>
              <a:t>필수값</a:t>
            </a:r>
            <a:r>
              <a:rPr lang="en-US" altLang="ko-KR" sz="700" dirty="0" smtClean="0"/>
              <a:t>)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항목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ko-KR" altLang="en-US" sz="700" dirty="0" err="1" smtClean="0"/>
              <a:t>전체예산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전년국채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본조</a:t>
            </a:r>
            <a:r>
              <a:rPr lang="en-US" altLang="ko-KR" sz="700" dirty="0" smtClean="0"/>
              <a:t>, </a:t>
            </a:r>
            <a:r>
              <a:rPr lang="ko-KR" altLang="en-US" sz="700" dirty="0" err="1" smtClean="0"/>
              <a:t>당년국채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(default) </a:t>
            </a:r>
            <a:r>
              <a:rPr lang="ko-KR" altLang="en-US" sz="700" dirty="0" err="1" smtClean="0"/>
              <a:t>전체예산</a:t>
            </a: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/>
              <a:t>검색 설정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err="1" smtClean="0"/>
              <a:t>서류요청</a:t>
            </a:r>
            <a:r>
              <a:rPr lang="ko-KR" altLang="en-US" sz="700" dirty="0" smtClean="0"/>
              <a:t> </a:t>
            </a:r>
            <a:r>
              <a:rPr lang="ko-KR" altLang="en-US" sz="700" dirty="0" err="1" smtClean="0"/>
              <a:t>수신일자</a:t>
            </a:r>
            <a:r>
              <a:rPr lang="ko-KR" altLang="en-US" sz="700" dirty="0" smtClean="0"/>
              <a:t> </a:t>
            </a:r>
            <a:r>
              <a:rPr lang="en-US" altLang="ko-KR" sz="700" dirty="0" smtClean="0"/>
              <a:t>/ </a:t>
            </a:r>
            <a:r>
              <a:rPr lang="ko-KR" altLang="en-US" sz="700" dirty="0" err="1" smtClean="0"/>
              <a:t>계약일자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default) </a:t>
            </a:r>
            <a:r>
              <a:rPr lang="ko-KR" altLang="en-US" sz="700" dirty="0" smtClean="0"/>
              <a:t>당일 포함 과거 </a:t>
            </a:r>
            <a:r>
              <a:rPr lang="en-US" altLang="ko-KR" sz="700" dirty="0" smtClean="0"/>
              <a:t>7</a:t>
            </a:r>
            <a:r>
              <a:rPr lang="ko-KR" altLang="en-US" sz="700" dirty="0" smtClean="0"/>
              <a:t>일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선택 날짜 즉시 업데이트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- 4-1)</a:t>
            </a:r>
            <a:r>
              <a:rPr lang="ko-KR" altLang="en-US" sz="700" dirty="0" smtClean="0"/>
              <a:t>직접 입력 가능 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좌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과거 우</a:t>
            </a:r>
            <a:r>
              <a:rPr lang="en-US" altLang="ko-KR" sz="700" dirty="0" smtClean="0"/>
              <a:t>)</a:t>
            </a:r>
            <a:r>
              <a:rPr lang="ko-KR" altLang="en-US" sz="700" dirty="0" err="1" smtClean="0"/>
              <a:t>현재로한다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우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 값은 미래를 선택</a:t>
            </a:r>
            <a:r>
              <a:rPr lang="en-US" altLang="ko-KR" sz="700" dirty="0" smtClean="0"/>
              <a:t>,</a:t>
            </a:r>
            <a:r>
              <a:rPr lang="ko-KR" altLang="en-US" sz="700" dirty="0" smtClean="0"/>
              <a:t>입력 할 </a:t>
            </a:r>
            <a:r>
              <a:rPr lang="ko-KR" altLang="en-US" sz="700" dirty="0" err="1" smtClean="0"/>
              <a:t>수없다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우</a:t>
            </a:r>
            <a:r>
              <a:rPr lang="en-US" altLang="ko-KR" sz="700" dirty="0" smtClean="0"/>
              <a:t>) </a:t>
            </a:r>
            <a:r>
              <a:rPr lang="ko-KR" altLang="en-US" sz="700" dirty="0" smtClean="0"/>
              <a:t>값이 미래를 입력한 경우 오늘로 자동 변경</a:t>
            </a:r>
            <a:r>
              <a:rPr lang="en-US" altLang="ko-KR" sz="700" dirty="0" smtClean="0"/>
              <a:t>.</a:t>
            </a:r>
            <a:br>
              <a:rPr lang="en-US" altLang="ko-KR" sz="700" dirty="0" smtClean="0"/>
            </a:br>
            <a:r>
              <a:rPr lang="en-US" altLang="ko-KR" sz="700" dirty="0" smtClean="0"/>
              <a:t>- </a:t>
            </a:r>
            <a:r>
              <a:rPr lang="ko-KR" altLang="en-US" sz="700" dirty="0" smtClean="0"/>
              <a:t>당일 기준 최대 </a:t>
            </a:r>
            <a:r>
              <a:rPr lang="en-US" altLang="ko-KR" sz="700" dirty="0" smtClean="0"/>
              <a:t>1</a:t>
            </a:r>
            <a:r>
              <a:rPr lang="ko-KR" altLang="en-US" sz="700" dirty="0" smtClean="0"/>
              <a:t>년</a:t>
            </a:r>
            <a:r>
              <a:rPr lang="en-US" altLang="ko-KR" sz="700" dirty="0" smtClean="0"/>
              <a:t>(365</a:t>
            </a:r>
            <a:r>
              <a:rPr lang="ko-KR" altLang="en-US" sz="700" dirty="0" smtClean="0"/>
              <a:t>일</a:t>
            </a:r>
            <a:r>
              <a:rPr lang="en-US" altLang="ko-KR" sz="700" dirty="0" smtClean="0"/>
              <a:t>)</a:t>
            </a:r>
            <a:r>
              <a:rPr lang="ko-KR" altLang="en-US" sz="700" dirty="0" smtClean="0"/>
              <a:t>까지 조회 가능</a:t>
            </a:r>
            <a:r>
              <a:rPr lang="en-US" altLang="ko-KR" sz="700" dirty="0" smtClean="0"/>
              <a:t/>
            </a:r>
            <a:br>
              <a:rPr lang="en-US" altLang="ko-KR" sz="700" dirty="0" smtClean="0"/>
            </a:br>
            <a:r>
              <a:rPr lang="en-US" altLang="ko-KR" sz="700" dirty="0" smtClean="0"/>
              <a:t>- 4-2) </a:t>
            </a:r>
            <a:r>
              <a:rPr lang="ko-KR" altLang="en-US" sz="700" dirty="0" smtClean="0"/>
              <a:t>아이콘 </a:t>
            </a:r>
            <a:r>
              <a:rPr lang="en-US" altLang="ko-KR" sz="700" dirty="0" smtClean="0">
                <a:sym typeface="Wingdings" panose="05000000000000000000" pitchFamily="2" charset="2"/>
              </a:rPr>
              <a:t> </a:t>
            </a:r>
            <a:r>
              <a:rPr lang="ko-KR" altLang="en-US" sz="700" dirty="0" smtClean="0">
                <a:sym typeface="Wingdings" panose="05000000000000000000" pitchFamily="2" charset="2"/>
              </a:rPr>
              <a:t>데이트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피커</a:t>
            </a:r>
            <a:r>
              <a:rPr lang="ko-KR" altLang="en-US" sz="700" dirty="0" smtClean="0">
                <a:sym typeface="Wingdings" panose="05000000000000000000" pitchFamily="2" charset="2"/>
              </a:rPr>
              <a:t> 호출</a:t>
            </a:r>
            <a:r>
              <a:rPr lang="en-US" altLang="ko-KR" sz="700" dirty="0" smtClean="0">
                <a:sym typeface="Wingdings" panose="05000000000000000000" pitchFamily="2" charset="2"/>
              </a:rPr>
              <a:t>(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미래불가</a:t>
            </a:r>
            <a:r>
              <a:rPr lang="en-US" altLang="ko-KR" sz="700" dirty="0" smtClean="0">
                <a:sym typeface="Wingdings" panose="05000000000000000000" pitchFamily="2" charset="2"/>
              </a:rPr>
              <a:t>)</a:t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- 4-3) </a:t>
            </a:r>
            <a:r>
              <a:rPr lang="ko-KR" altLang="en-US" sz="700" dirty="0" smtClean="0">
                <a:sym typeface="Wingdings" panose="05000000000000000000" pitchFamily="2" charset="2"/>
              </a:rPr>
              <a:t>최근</a:t>
            </a:r>
            <a:r>
              <a:rPr lang="en-US" altLang="ko-KR" sz="700" dirty="0" smtClean="0">
                <a:sym typeface="Wingdings" panose="05000000000000000000" pitchFamily="2" charset="2"/>
              </a:rPr>
              <a:t>1,3,6</a:t>
            </a:r>
            <a:r>
              <a:rPr lang="ko-KR" altLang="en-US" sz="700" dirty="0" smtClean="0">
                <a:sym typeface="Wingdings" panose="05000000000000000000" pitchFamily="2" charset="2"/>
              </a:rPr>
              <a:t>개월 버튼으로 당일 포함하여 </a:t>
            </a:r>
            <a:r>
              <a:rPr lang="en-US" altLang="ko-KR" sz="700" dirty="0" smtClean="0">
                <a:sym typeface="Wingdings" panose="05000000000000000000" pitchFamily="2" charset="2"/>
              </a:rPr>
              <a:t>30</a:t>
            </a:r>
            <a:r>
              <a:rPr lang="ko-KR" altLang="en-US" sz="700" dirty="0" smtClean="0">
                <a:sym typeface="Wingdings" panose="05000000000000000000" pitchFamily="2" charset="2"/>
              </a:rPr>
              <a:t>일</a:t>
            </a:r>
            <a:r>
              <a:rPr lang="en-US" altLang="ko-KR" sz="700" dirty="0" smtClean="0">
                <a:sym typeface="Wingdings" panose="05000000000000000000" pitchFamily="2" charset="2"/>
              </a:rPr>
              <a:t>, 90</a:t>
            </a:r>
            <a:r>
              <a:rPr lang="ko-KR" altLang="en-US" sz="700" dirty="0" smtClean="0">
                <a:sym typeface="Wingdings" panose="05000000000000000000" pitchFamily="2" charset="2"/>
              </a:rPr>
              <a:t>일</a:t>
            </a:r>
            <a:r>
              <a:rPr lang="en-US" altLang="ko-KR" sz="700" dirty="0" smtClean="0">
                <a:sym typeface="Wingdings" panose="05000000000000000000" pitchFamily="2" charset="2"/>
              </a:rPr>
              <a:t>,180</a:t>
            </a:r>
            <a:r>
              <a:rPr lang="ko-KR" altLang="en-US" sz="700" dirty="0" smtClean="0">
                <a:sym typeface="Wingdings" panose="05000000000000000000" pitchFamily="2" charset="2"/>
              </a:rPr>
              <a:t>일 이전 값을 표시</a:t>
            </a:r>
            <a:r>
              <a:rPr lang="en-US" altLang="ko-KR" sz="700" dirty="0" smtClean="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err="1" smtClean="0">
                <a:sym typeface="Wingdings" panose="05000000000000000000" pitchFamily="2" charset="2"/>
              </a:rPr>
              <a:t>검색어</a:t>
            </a:r>
            <a:r>
              <a:rPr lang="ko-KR" altLang="en-US" sz="700" dirty="0" smtClean="0">
                <a:sym typeface="Wingdings" panose="05000000000000000000" pitchFamily="2" charset="2"/>
              </a:rPr>
              <a:t> 영역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계약명</a:t>
            </a:r>
            <a:r>
              <a:rPr lang="en-US" altLang="ko-KR" sz="700" dirty="0" smtClean="0">
                <a:sym typeface="Wingdings" panose="05000000000000000000" pitchFamily="2" charset="2"/>
              </a:rPr>
              <a:t>,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smtClean="0">
                <a:sym typeface="Wingdings" panose="05000000000000000000" pitchFamily="2" charset="2"/>
              </a:rPr>
              <a:t>조서발행번호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신청번호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통지번호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납지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글자검색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계약명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납지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숫자검색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계약번호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신청번호</a:t>
            </a:r>
            <a:r>
              <a:rPr lang="en-US" altLang="ko-KR" sz="700" dirty="0" smtClean="0">
                <a:sym typeface="Wingdings" panose="05000000000000000000" pitchFamily="2" charset="2"/>
              </a:rPr>
              <a:t>,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통지번호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조서발행번호</a:t>
            </a:r>
            <a:r>
              <a:rPr lang="en-US" altLang="ko-KR" sz="700" dirty="0" smtClean="0">
                <a:sym typeface="Wingdings" panose="05000000000000000000" pitchFamily="2" charset="2"/>
              </a:rPr>
              <a:t>: </a:t>
            </a:r>
            <a:r>
              <a:rPr lang="en-US" altLang="ko-KR" sz="7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>(UI-EX-01-M02)</a:t>
            </a:r>
            <a:r>
              <a:rPr lang="ko-KR" altLang="en-US" sz="700" dirty="0" err="1" smtClean="0">
                <a:latin typeface="+mn-ea"/>
              </a:rPr>
              <a:t>검사및납품조서</a:t>
            </a:r>
            <a:endParaRPr lang="en-US" altLang="ko-KR" sz="7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sym typeface="Wingdings" panose="05000000000000000000" pitchFamily="2" charset="2"/>
              </a:rPr>
              <a:t>구분 설정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ym typeface="Wingdings" panose="05000000000000000000" pitchFamily="2" charset="2"/>
              </a:rPr>
              <a:t>드롭 다운으로 각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구분값</a:t>
            </a:r>
            <a:r>
              <a:rPr lang="ko-KR" altLang="en-US" sz="700" dirty="0" smtClean="0">
                <a:sym typeface="Wingdings" panose="05000000000000000000" pitchFamily="2" charset="2"/>
              </a:rPr>
              <a:t> 설정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r>
              <a:rPr lang="en-US" altLang="ko-KR" sz="700" dirty="0" smtClean="0">
                <a:sym typeface="Wingdings" panose="05000000000000000000" pitchFamily="2" charset="2"/>
              </a:rPr>
              <a:t>- </a:t>
            </a:r>
            <a:r>
              <a:rPr lang="ko-KR" altLang="en-US" sz="700" dirty="0" smtClean="0">
                <a:solidFill>
                  <a:prstClr val="black"/>
                </a:solidFill>
              </a:rPr>
              <a:t>항목 설명 페이지 참고</a:t>
            </a:r>
            <a:endParaRPr lang="en-US" altLang="ko-KR" sz="700" dirty="0" smtClean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700" dirty="0" smtClean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sz="700" dirty="0" err="1" smtClean="0">
                <a:sym typeface="Wingdings" panose="05000000000000000000" pitchFamily="2" charset="2"/>
              </a:rPr>
              <a:t>플로팅</a:t>
            </a:r>
            <a:r>
              <a:rPr lang="ko-KR" altLang="en-US" sz="700" dirty="0" smtClean="0">
                <a:sym typeface="Wingdings" panose="05000000000000000000" pitchFamily="2" charset="2"/>
              </a:rPr>
              <a:t> 처리</a:t>
            </a:r>
            <a:r>
              <a:rPr lang="en-US" altLang="ko-KR" sz="700" dirty="0" smtClean="0">
                <a:sym typeface="Wingdings" panose="05000000000000000000" pitchFamily="2" charset="2"/>
              </a:rPr>
              <a:t/>
            </a:r>
            <a:br>
              <a:rPr lang="en-US" altLang="ko-KR" sz="700" dirty="0" smtClean="0">
                <a:sym typeface="Wingdings" panose="05000000000000000000" pitchFamily="2" charset="2"/>
              </a:rPr>
            </a:br>
            <a:endParaRPr lang="en-US" altLang="ko-KR" sz="700" dirty="0" smtClean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700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sz="700" dirty="0" smtClean="0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507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7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042377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5111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dml_InspDlvdocPrstSrchCnd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329464"/>
            <a:ext cx="315207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dlt_InspDlvdocPrst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839879"/>
              </p:ext>
            </p:extLst>
          </p:nvPr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계약시작일자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계약시작일자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계약종료일자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계약종료일자 입력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244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업무구분명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106273"/>
              </p:ext>
            </p:extLst>
          </p:nvPr>
        </p:nvGraphicFramePr>
        <p:xfrm>
          <a:off x="452999" y="2552258"/>
          <a:ext cx="8994883" cy="2498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업무구분명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7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55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조서발행번호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74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납지명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납품조서진행상태코드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dlvdocPrgrsStcd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상태조회결과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'E':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검사의뢰완료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저장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'EY':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검사저장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'A':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'R':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조달접수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조달반려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납품조서반려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청구저장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4F9ADD0A-13A1-5C33-A250-66B3A46D9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6E373-50AF-BDFB-07C6-76A91AE9B53A}"/>
              </a:ext>
            </a:extLst>
          </p:cNvPr>
          <p:cNvSpPr txBox="1"/>
          <p:nvPr/>
        </p:nvSpPr>
        <p:spPr>
          <a:xfrm>
            <a:off x="458117" y="508790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348E565-F813-3E47-DD9B-2CC3378DF5EC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5349334"/>
          <a:ext cx="8995591" cy="947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검사기간을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계약번호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Scwin.grd_inspDlvdocList_onclick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계약번호에 해당하는 검사 및 납품조서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 및 준공검사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(UI-EX-01-M14)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납품조서결과상세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(UI-EX-01-M04)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(UI-EX-01-M05)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기성및준공검사상세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2840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조서발행번호 검색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영역 하단 검색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조서발행번호정보조회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조서발행번호에 대한 정보를 조회하는 </a:t>
            </a:r>
            <a:r>
              <a:rPr lang="ko-KR" altLang="en-US" dirty="0" err="1">
                <a:latin typeface="+mn-ea"/>
              </a:rPr>
              <a:t>팝업화면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>
                <a:latin typeface="+mn-ea"/>
              </a:rPr>
              <a:t>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MUI-EX-01-P06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조서발행번호정보조회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14655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0141" y="20010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836701" y="2528179"/>
            <a:ext cx="2630093" cy="1976511"/>
            <a:chOff x="3836701" y="3418175"/>
            <a:chExt cx="2630093" cy="1976511"/>
          </a:xfrm>
        </p:grpSpPr>
        <p:sp>
          <p:nvSpPr>
            <p:cNvPr id="166" name="직사각형 165"/>
            <p:cNvSpPr/>
            <p:nvPr/>
          </p:nvSpPr>
          <p:spPr>
            <a:xfrm>
              <a:off x="3838794" y="3671136"/>
              <a:ext cx="792000" cy="17155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367113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3671137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납품완료수량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3671137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 정보 표시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</p:txBody>
        </p: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022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159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296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433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7570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9690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9" name="직선 연결선 1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3866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1778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0977" y="3418175"/>
              <a:ext cx="1250843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검색결과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69283" y="3418175"/>
              <a:ext cx="1250843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solidFill>
                    <a:srgbClr val="0070C0"/>
                  </a:solidFill>
                  <a:latin typeface="+mn-ea"/>
                </a:rPr>
                <a:t>000</a:t>
              </a:r>
              <a:r>
                <a:rPr lang="en-US" altLang="ko-KR" sz="700" dirty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</p:grpSp>
      <p:grpSp>
        <p:nvGrpSpPr>
          <p:cNvPr id="202" name="그룹 201"/>
          <p:cNvGrpSpPr/>
          <p:nvPr/>
        </p:nvGrpSpPr>
        <p:grpSpPr>
          <a:xfrm>
            <a:off x="3836701" y="4559523"/>
            <a:ext cx="2630093" cy="1723550"/>
            <a:chOff x="3836701" y="3671136"/>
            <a:chExt cx="2630093" cy="1723550"/>
          </a:xfrm>
        </p:grpSpPr>
        <p:sp>
          <p:nvSpPr>
            <p:cNvPr id="203" name="직사각형 202"/>
            <p:cNvSpPr/>
            <p:nvPr/>
          </p:nvSpPr>
          <p:spPr>
            <a:xfrm>
              <a:off x="3838794" y="3671136"/>
              <a:ext cx="792000" cy="17155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367113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3671137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납품완료수량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3671137"/>
              <a:ext cx="1775839" cy="16892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99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 정보 표시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</p:txBody>
        </p:sp>
        <p:cxnSp>
          <p:nvCxnSpPr>
            <p:cNvPr id="207" name="직선 연결선 20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022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" name="직선 연결선 20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159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296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433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7570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9690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3866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1778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17" name="TextBox 21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18" name="그룹 117"/>
          <p:cNvGrpSpPr/>
          <p:nvPr/>
        </p:nvGrpSpPr>
        <p:grpSpPr>
          <a:xfrm>
            <a:off x="675399" y="3011653"/>
            <a:ext cx="2712027" cy="3215510"/>
            <a:chOff x="675399" y="3435608"/>
            <a:chExt cx="2712027" cy="3215510"/>
          </a:xfrm>
        </p:grpSpPr>
        <p:sp>
          <p:nvSpPr>
            <p:cNvPr id="119" name="양쪽 모서리가 둥근 사각형 118"/>
            <p:cNvSpPr/>
            <p:nvPr/>
          </p:nvSpPr>
          <p:spPr>
            <a:xfrm>
              <a:off x="675399" y="3435608"/>
              <a:ext cx="2712027" cy="3215510"/>
            </a:xfrm>
            <a:prstGeom prst="round2SameRect">
              <a:avLst>
                <a:gd name="adj1" fmla="val 4887"/>
                <a:gd name="adj2" fmla="val 0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122" name="모서리가 둥근 직사각형 121"/>
            <p:cNvSpPr/>
            <p:nvPr/>
          </p:nvSpPr>
          <p:spPr>
            <a:xfrm>
              <a:off x="1761412" y="3472235"/>
              <a:ext cx="540000" cy="4571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3164338" y="3606651"/>
              <a:ext cx="94010" cy="94010"/>
              <a:chOff x="6812560" y="3297172"/>
              <a:chExt cx="94010" cy="94010"/>
            </a:xfrm>
          </p:grpSpPr>
          <p:cxnSp>
            <p:nvCxnSpPr>
              <p:cNvPr id="133" name="직선 연결선 132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4476" y="3587330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조서발행번호정보조회</a:t>
              </a:r>
              <a:endParaRPr lang="ko-KR" altLang="en-US" sz="900" dirty="0">
                <a:latin typeface="+mn-ea"/>
              </a:endParaRPr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84873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6" name="모서리가 둥근 직사각형 125"/>
            <p:cNvSpPr/>
            <p:nvPr/>
          </p:nvSpPr>
          <p:spPr>
            <a:xfrm>
              <a:off x="1443878" y="3987279"/>
              <a:ext cx="1845838" cy="244348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</a:t>
              </a:r>
              <a:r>
                <a:rPr lang="ko-KR" altLang="en-US" sz="700" dirty="0">
                  <a:solidFill>
                    <a:schemeClr val="tx1"/>
                  </a:solidFill>
                </a:rPr>
                <a:t> 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입력해주세요</a:t>
              </a:r>
              <a:r>
                <a:rPr lang="en-US" altLang="ko-KR" sz="700" dirty="0">
                  <a:solidFill>
                    <a:schemeClr val="tx1"/>
                  </a:solidFill>
                </a:rPr>
                <a:t>.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4476" y="4055592"/>
              <a:ext cx="67077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4320994"/>
              <a:ext cx="2522014" cy="24435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9" name="타원 128"/>
            <p:cNvSpPr/>
            <p:nvPr/>
          </p:nvSpPr>
          <p:spPr>
            <a:xfrm>
              <a:off x="3112794" y="4025565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0" name="그룹 129"/>
            <p:cNvGrpSpPr/>
            <p:nvPr/>
          </p:nvGrpSpPr>
          <p:grpSpPr>
            <a:xfrm>
              <a:off x="3156699" y="4069469"/>
              <a:ext cx="58075" cy="58074"/>
              <a:chOff x="6812560" y="3297172"/>
              <a:chExt cx="94010" cy="94010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7062319" y="6036456"/>
            <a:ext cx="2328810" cy="1907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00" dirty="0" smtClean="0">
                <a:latin typeface="+mn-ea"/>
              </a:rPr>
              <a:t/>
            </a:r>
            <a:br>
              <a:rPr lang="en-US" altLang="ko-KR" sz="400" dirty="0" smtClean="0">
                <a:latin typeface="+mn-ea"/>
              </a:rPr>
            </a:br>
            <a:r>
              <a:rPr lang="en-US" altLang="ko-KR" sz="400" dirty="0" smtClean="0">
                <a:latin typeface="+mn-ea"/>
              </a:rPr>
              <a:t>0629 </a:t>
            </a:r>
            <a:r>
              <a:rPr lang="ko-KR" altLang="en-US" sz="400" dirty="0" smtClean="0">
                <a:latin typeface="+mn-ea"/>
              </a:rPr>
              <a:t>개요내용변경</a:t>
            </a:r>
            <a:r>
              <a:rPr lang="en-US" altLang="ko-KR" sz="400" dirty="0" smtClean="0">
                <a:latin typeface="+mn-ea"/>
              </a:rPr>
              <a:t>]</a:t>
            </a:r>
            <a:br>
              <a:rPr lang="en-US" altLang="ko-KR" sz="400" dirty="0" smtClean="0">
                <a:latin typeface="+mn-ea"/>
              </a:rPr>
            </a:br>
            <a:r>
              <a:rPr lang="ko-KR" altLang="en-US" sz="400" dirty="0" err="1" smtClean="0">
                <a:latin typeface="+mn-ea"/>
              </a:rPr>
              <a:t>부대조달</a:t>
            </a:r>
            <a:r>
              <a:rPr lang="ko-KR" altLang="en-US" sz="400" dirty="0" smtClean="0">
                <a:latin typeface="+mn-ea"/>
              </a:rPr>
              <a:t> </a:t>
            </a:r>
            <a:r>
              <a:rPr lang="ko-KR" altLang="en-US" sz="400" dirty="0" err="1">
                <a:latin typeface="+mn-ea"/>
              </a:rPr>
              <a:t>검사및납품조서</a:t>
            </a:r>
            <a:r>
              <a:rPr lang="ko-KR" altLang="en-US" sz="400" dirty="0">
                <a:latin typeface="+mn-ea"/>
              </a:rPr>
              <a:t> 조서발행번호 조회 팝업 </a:t>
            </a:r>
            <a:r>
              <a:rPr lang="ko-KR" altLang="en-US" sz="400" dirty="0" smtClean="0">
                <a:latin typeface="+mn-ea"/>
              </a:rPr>
              <a:t>화면 </a:t>
            </a:r>
            <a:r>
              <a:rPr lang="en-US" altLang="ko-KR" sz="400" dirty="0" smtClean="0">
                <a:latin typeface="+mn-ea"/>
              </a:rPr>
              <a:t>&gt; </a:t>
            </a:r>
            <a:r>
              <a:rPr lang="ko-KR" altLang="en-US" sz="400" dirty="0" smtClean="0">
                <a:latin typeface="+mn-ea"/>
              </a:rPr>
              <a:t>조서발행번호에 </a:t>
            </a:r>
            <a:r>
              <a:rPr lang="ko-KR" altLang="en-US" sz="400" dirty="0">
                <a:latin typeface="+mn-ea"/>
              </a:rPr>
              <a:t>대한 정보를 조회하는 </a:t>
            </a:r>
            <a:r>
              <a:rPr lang="ko-KR" altLang="en-US" sz="400" dirty="0" err="1">
                <a:latin typeface="+mn-ea"/>
              </a:rPr>
              <a:t>팝업화면</a:t>
            </a:r>
            <a:endParaRPr lang="ko-KR" altLang="en-US" sz="400" dirty="0"/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400" dirty="0" smtClean="0">
                <a:latin typeface="+mn-ea"/>
              </a:rPr>
              <a:t> </a:t>
            </a:r>
            <a:endParaRPr lang="ko-KR" altLang="en-US" sz="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934711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79139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조서발행번호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dmt_RecrdPblcnNo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1550946"/>
            <a:ext cx="369068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조서발행번호품목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dlt_RecrdPblcnNoItemInfo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조서발행번호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796600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7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55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74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dlvgdsCmptnQty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06C419-581B-B071-DD01-2B3425C31AA5}"/>
              </a:ext>
            </a:extLst>
          </p:cNvPr>
          <p:cNvSpPr txBox="1"/>
          <p:nvPr/>
        </p:nvSpPr>
        <p:spPr>
          <a:xfrm>
            <a:off x="458117" y="36993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sp>
        <p:nvSpPr>
          <p:cNvPr id="7" name="Text Box 73">
            <a:extLst>
              <a:ext uri="{FF2B5EF4-FFF2-40B4-BE49-F238E27FC236}">
                <a16:creationId xmlns:a16="http://schemas.microsoft.com/office/drawing/2014/main" id="{71646BA9-ABFF-1794-8AE4-F502103D4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59D83A4-5828-98C4-8ECD-BF7B6AF8ED16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013019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정보를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815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검사및납품조서결과상세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latin typeface="+mn-ea"/>
              </a:rPr>
              <a:t>납품조서결과를 </a:t>
            </a:r>
            <a:r>
              <a:rPr lang="ko-KR" altLang="en-US" dirty="0">
                <a:latin typeface="+mn-ea"/>
              </a:rPr>
              <a:t>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smtClean="0">
                <a:latin typeface="+mn-ea"/>
              </a:rPr>
              <a:t>이행 </a:t>
            </a:r>
            <a:r>
              <a:rPr lang="en-US" altLang="ko-KR" dirty="0" smtClean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검사및납품조서현황목록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검사및납품조서결과상세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 err="1">
                <a:latin typeface="+mn-ea"/>
              </a:rPr>
              <a:t>부대조달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합격일자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납품일자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2026-06-10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-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801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2137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1389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452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27223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757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5918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59183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7579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2106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82121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69545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889606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88960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889606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납품장소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납품기일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조서발행번호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889606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071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44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481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18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755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92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2246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75284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44924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75284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75284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44924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44924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04805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44924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04805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39674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836701" y="2497642"/>
            <a:ext cx="2630093" cy="1186690"/>
            <a:chOff x="3801854" y="3355661"/>
            <a:chExt cx="2630093" cy="118669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5103480"/>
            <a:ext cx="2630093" cy="1169259"/>
            <a:chOff x="3801854" y="3355661"/>
            <a:chExt cx="2630093" cy="1169259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821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납품일자</a:t>
              </a:r>
              <a:endParaRPr lang="en-US" altLang="ko-KR" sz="700" dirty="0" smtClean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⁞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 smtClean="0">
                  <a:latin typeface="+mn-ea"/>
                </a:rPr>
                <a:t>⁞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3726178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80" name="그룹 179"/>
          <p:cNvGrpSpPr/>
          <p:nvPr/>
        </p:nvGrpSpPr>
        <p:grpSpPr>
          <a:xfrm>
            <a:off x="3836701" y="3819909"/>
            <a:ext cx="2630093" cy="1186690"/>
            <a:chOff x="3801854" y="3355661"/>
            <a:chExt cx="2630093" cy="1186690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정비 정보</a:t>
              </a:r>
            </a:p>
          </p:txBody>
        </p:sp>
        <p:grpSp>
          <p:nvGrpSpPr>
            <p:cNvPr id="185" name="그룹 184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230" name="직선 연결선 22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1" name="직선 연결선 23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7" name="직사각형 186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753836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입고일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 err="1">
                  <a:latin typeface="+mn-ea"/>
                </a:rPr>
                <a:t>정비지시일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출고일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2025-01-30 / 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2025-03-10</a:t>
              </a: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" name="직선 연결선 21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5048445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06386" y="2075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38806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36" name="타원 2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42584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237" name="타원 2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4648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38" name="타원 2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25722" y="472930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39" name="타원 2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21897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241" name="타원 24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686459" y="24829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242" name="타원 24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28433" y="23945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246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1237" y="1502396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타이틀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1-1] </a:t>
            </a:r>
            <a:r>
              <a:rPr lang="ko-KR" altLang="en-US" sz="800" dirty="0" smtClean="0"/>
              <a:t>레이블이 화면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1-2] </a:t>
            </a:r>
            <a:r>
              <a:rPr lang="ko-KR" altLang="en-US" sz="800" dirty="0" smtClean="0"/>
              <a:t>문서 정보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노출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1-3]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내역이 있는 경우 만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탭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상세내용 </a:t>
            </a:r>
            <a:r>
              <a:rPr lang="en-US" altLang="ko-KR" sz="800" dirty="0" smtClean="0"/>
              <a:t>Tab</a:t>
            </a:r>
            <a:r>
              <a:rPr lang="ko-KR" altLang="en-US" sz="800" dirty="0" smtClean="0"/>
              <a:t>은 진입 시 고정 노출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탭 내용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ko-KR" altLang="en-US" sz="800" dirty="0" smtClean="0"/>
              <a:t>상세정보</a:t>
            </a:r>
            <a:r>
              <a:rPr lang="en-US" altLang="ko-KR" sz="800" dirty="0" smtClean="0"/>
              <a:t>,</a:t>
            </a:r>
            <a:r>
              <a:rPr lang="ko-KR" altLang="en-US" sz="800" dirty="0"/>
              <a:t> </a:t>
            </a:r>
            <a:r>
              <a:rPr lang="ko-KR" altLang="en-US" sz="800" dirty="0" err="1" smtClean="0"/>
              <a:t>물품목록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&gt; </a:t>
            </a:r>
            <a:r>
              <a:rPr lang="ko-KR" altLang="en-US" sz="800" dirty="0" smtClean="0"/>
              <a:t>로그인 필요 서비스 안내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화면을 </a:t>
            </a:r>
            <a:r>
              <a:rPr lang="ko-KR" altLang="en-US" sz="800" dirty="0" err="1" smtClean="0"/>
              <a:t>넘치는경우</a:t>
            </a:r>
            <a:r>
              <a:rPr lang="ko-KR" altLang="en-US" sz="800" dirty="0" smtClean="0"/>
              <a:t> 드래그하여 확인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계약 상세 정보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각 공고에 맞춰 폼 변화에 유의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상세내용에</a:t>
            </a:r>
            <a:r>
              <a:rPr lang="ko-KR" altLang="en-US" sz="800" dirty="0" smtClean="0"/>
              <a:t> 포함된 정보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기본값은 상단 이동 버튼</a:t>
            </a:r>
            <a:endParaRPr lang="en-US" altLang="ko-KR" sz="800" dirty="0" smtClean="0"/>
          </a:p>
        </p:txBody>
      </p:sp>
      <p:sp>
        <p:nvSpPr>
          <p:cNvPr id="247" name="직사각형 246"/>
          <p:cNvSpPr/>
          <p:nvPr/>
        </p:nvSpPr>
        <p:spPr>
          <a:xfrm>
            <a:off x="7071236" y="5893850"/>
            <a:ext cx="2332333" cy="389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 smtClean="0"/>
              <a:t>0629] </a:t>
            </a:r>
            <a:r>
              <a:rPr lang="ko-KR" altLang="en-US" sz="500" dirty="0" err="1" smtClean="0"/>
              <a:t>항목설명과</a:t>
            </a:r>
            <a:r>
              <a:rPr lang="ko-KR" altLang="en-US" sz="500" dirty="0" smtClean="0"/>
              <a:t> 이름이 </a:t>
            </a:r>
            <a:r>
              <a:rPr lang="ko-KR" altLang="en-US" sz="500" dirty="0" err="1" smtClean="0"/>
              <a:t>다른것도</a:t>
            </a:r>
            <a:r>
              <a:rPr lang="ko-KR" altLang="en-US" sz="500" dirty="0" smtClean="0"/>
              <a:t> 함께 표기</a:t>
            </a:r>
            <a:r>
              <a:rPr lang="en-US" altLang="ko-KR" sz="500" dirty="0" smtClean="0"/>
              <a:t/>
            </a:r>
            <a:br>
              <a:rPr lang="en-US" altLang="ko-KR" sz="500" dirty="0" smtClean="0"/>
            </a:br>
            <a:r>
              <a:rPr lang="ko-KR" altLang="en-US" sz="500" dirty="0" err="1" smtClean="0"/>
              <a:t>예산구분명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납품장소명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납품기한일자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계약업체명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계약업체주소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대표자명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출고일자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단위코드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총계약수량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기술검사기관명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기술검사관명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출납관소속명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물량검사관명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출납관명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출납관전화번호 </a:t>
            </a:r>
            <a:endParaRPr lang="en-US" altLang="ko-KR" sz="500" dirty="0" smtClean="0"/>
          </a:p>
        </p:txBody>
      </p:sp>
    </p:spTree>
    <p:extLst>
      <p:ext uri="{BB962C8B-B14F-4D97-AF65-F5344CB8AC3E}">
        <p14:creationId xmlns:p14="http://schemas.microsoft.com/office/powerpoint/2010/main" val="39625010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계약자 정보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정비조회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이행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상세정보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납품조서결과를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MUI-EX-01-T05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8" name="그룹 77"/>
          <p:cNvGrpSpPr/>
          <p:nvPr/>
        </p:nvGrpSpPr>
        <p:grpSpPr>
          <a:xfrm>
            <a:off x="720490" y="1527996"/>
            <a:ext cx="2630093" cy="1815590"/>
            <a:chOff x="720490" y="4582121"/>
            <a:chExt cx="2630093" cy="1815590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58212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상세정보</a:t>
              </a:r>
            </a:p>
          </p:txBody>
        </p:sp>
        <p:grpSp>
          <p:nvGrpSpPr>
            <p:cNvPr id="80" name="그룹 79"/>
            <p:cNvGrpSpPr/>
            <p:nvPr/>
          </p:nvGrpSpPr>
          <p:grpSpPr>
            <a:xfrm flipV="1">
              <a:off x="3143548" y="4695452"/>
              <a:ext cx="94010" cy="47005"/>
              <a:chOff x="6812560" y="3297172"/>
              <a:chExt cx="94010" cy="4700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1" name="직사각형 80"/>
            <p:cNvSpPr/>
            <p:nvPr/>
          </p:nvSpPr>
          <p:spPr>
            <a:xfrm>
              <a:off x="722583" y="4889606"/>
              <a:ext cx="792000" cy="1506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88960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889606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납품장소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납품기일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889606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(01)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12345 6789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전년국채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2025-12-30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8385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2026-10-15 08:00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2071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3441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4812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6183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755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18924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3967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4" name="그룹 93"/>
          <p:cNvGrpSpPr/>
          <p:nvPr/>
        </p:nvGrpSpPr>
        <p:grpSpPr>
          <a:xfrm>
            <a:off x="720490" y="3443397"/>
            <a:ext cx="2630093" cy="1186690"/>
            <a:chOff x="3801854" y="3355661"/>
            <a:chExt cx="2630093" cy="1186690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96" name="그룹 95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05" name="직선 연결선 1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직사각형 96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512" y="468428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512" y="3396876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3836701" y="1527996"/>
            <a:ext cx="2630093" cy="1186690"/>
            <a:chOff x="3801854" y="3355661"/>
            <a:chExt cx="2630093" cy="1186690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정비 정보</a:t>
              </a:r>
            </a:p>
          </p:txBody>
        </p:sp>
        <p:grpSp>
          <p:nvGrpSpPr>
            <p:cNvPr id="112" name="그룹 111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4" name="직사각형 113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753836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입고일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 err="1">
                  <a:latin typeface="+mn-ea"/>
                </a:rPr>
                <a:t>정비지시일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출고일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2025-01-30 / 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2025-03-10</a:t>
              </a: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4" name="그룹 123"/>
          <p:cNvGrpSpPr/>
          <p:nvPr/>
        </p:nvGrpSpPr>
        <p:grpSpPr>
          <a:xfrm>
            <a:off x="3836701" y="2806727"/>
            <a:ext cx="2630093" cy="2892808"/>
            <a:chOff x="3801854" y="3355661"/>
            <a:chExt cx="2630093" cy="2892808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26" name="그룹 125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8" name="직선 연결선 14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7" name="직사각형 126"/>
            <p:cNvSpPr/>
            <p:nvPr/>
          </p:nvSpPr>
          <p:spPr>
            <a:xfrm>
              <a:off x="3803947" y="3663145"/>
              <a:ext cx="792000" cy="25853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기술검사기관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기술검사관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물량검사관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 </a:t>
              </a:r>
              <a:r>
                <a:rPr lang="ko-KR" altLang="en-US" sz="700" dirty="0">
                  <a:latin typeface="+mn-ea"/>
                </a:rPr>
                <a:t>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김길동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박길동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000-0000-0000</a:t>
              </a:r>
            </a:p>
          </p:txBody>
        </p: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8035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0347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2484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1610" y="276281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1610" y="5746970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2" name="타원 1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5748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519" y="157371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519" y="2841031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6304766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납품조서결과를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MUI-EX-01-T06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7763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16366" y="3397789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930409" y="5562569"/>
            <a:ext cx="22020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품목의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검사합격을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품목이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남품되었음을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8621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4790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3493528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383700"/>
            <a:ext cx="24130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계약자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25021"/>
              </p:ext>
            </p:extLst>
          </p:nvPr>
        </p:nvGraphicFramePr>
        <p:xfrm>
          <a:off x="452999" y="101431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예산구분명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전년국채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당년국채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납품장소명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dlvgdsPlcNm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납품장소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납품기한일자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dlvtrmYmd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납품기한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조서발행번호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266585"/>
              </p:ext>
            </p:extLst>
          </p:nvPr>
        </p:nvGraphicFramePr>
        <p:xfrm>
          <a:off x="452999" y="260649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계약업체주소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계약업체주소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대표자명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배송업체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C7231-6C17-87A2-BE5A-9F9C226BFDD6}"/>
              </a:ext>
            </a:extLst>
          </p:cNvPr>
          <p:cNvSpPr txBox="1"/>
          <p:nvPr/>
        </p:nvSpPr>
        <p:spPr>
          <a:xfrm>
            <a:off x="458117" y="4768369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41BEF0-2F1E-675B-DE42-9DB82DD4D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363677"/>
              </p:ext>
            </p:extLst>
          </p:nvPr>
        </p:nvGraphicFramePr>
        <p:xfrm>
          <a:off x="452999" y="4982451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unitCd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총계약수량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tctrtQty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tstmDlvgdsQty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C3E33B-D53C-1740-F6B2-DB73DC3B4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191713"/>
              </p:ext>
            </p:extLst>
          </p:nvPr>
        </p:nvGraphicFramePr>
        <p:xfrm>
          <a:off x="452999" y="3783839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0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20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계약정비일수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ctrtMtncDayCnt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계약정비일수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실정비일수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rlmtDayCnt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실정비일수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입고일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정비지시일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wrhsYmd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mtncDrctnYmd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정비지시일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출고일자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spmtYmd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출고일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72445F-640E-7784-6FB3-49FCBBD8F128}"/>
              </a:ext>
            </a:extLst>
          </p:cNvPr>
          <p:cNvSpPr txBox="1"/>
          <p:nvPr/>
        </p:nvSpPr>
        <p:spPr>
          <a:xfrm>
            <a:off x="458117" y="3587173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정비조회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dmt_MtncInq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4596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84241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dmt_Rmrk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03DB9D-A2D3-D9FE-1EFB-369BD6199734}"/>
              </a:ext>
            </a:extLst>
          </p:cNvPr>
          <p:cNvSpPr txBox="1"/>
          <p:nvPr/>
        </p:nvSpPr>
        <p:spPr>
          <a:xfrm>
            <a:off x="458117" y="1465604"/>
            <a:ext cx="260063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납품조서결과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dmt_DlvdocRslt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E480574-8FDA-09E2-1AEF-7B0B06DAC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765327"/>
              </p:ext>
            </p:extLst>
          </p:nvPr>
        </p:nvGraphicFramePr>
        <p:xfrm>
          <a:off x="452999" y="1676807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검수일자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igiYmd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납품일자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출납번호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rcpmNo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합격일자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passYmd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기술검사기관명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vfofcr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Ogdp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기술검사관명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물량검사관소속명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IdfrNm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확인자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4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출납관소속명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vfofcrNm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118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물량검사관명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4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출납관명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전화번호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00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9063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35FD6C4-6456-DFB7-0DAC-148C0990C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159408"/>
              </p:ext>
            </p:extLst>
          </p:nvPr>
        </p:nvGraphicFramePr>
        <p:xfrm>
          <a:off x="453000" y="1058554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779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524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059791-0E8E-B3FC-9AB7-2DE7C96BC523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3" name="Text Box 73">
            <a:extLst>
              <a:ext uri="{FF2B5EF4-FFF2-40B4-BE49-F238E27FC236}">
                <a16:creationId xmlns:a16="http://schemas.microsoft.com/office/drawing/2014/main" id="{DB5438FA-D58B-C3B2-6714-6B2906A33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28580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423455"/>
              </p:ext>
            </p:extLst>
          </p:nvPr>
        </p:nvGraphicFramePr>
        <p:xfrm>
          <a:off x="635474" y="1413419"/>
          <a:ext cx="8701200" cy="38918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견적의뢰서목록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ovsEstmtRqdcListPage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목록을 조회하고 통보서 진행상태를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ovsEstmtRqdcListPage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OvsEstmtRqdcListPage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MUI-EX-02-P80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ovsEstmtRqdcList_SrchFilter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ovsEstmtRqdcListPage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ovsEstmtRqdcList_SrchFilter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3325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ovsEstmtRqdcDtlPage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ovsEstmtRqdcDtlPage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OvsEstmtRqdcDtlPage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88514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상세정보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ovsEstmtRqdcDtl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상세정보를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ovsEstmtRqdcDtlPage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ovsEstmtRqdcDtl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03446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물품목록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ovsEstmtRqdcDtl_CmdtyList</a:t>
                      </a:r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물품목록을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ovsEstmtRqdcDtlPage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ovsEstmtRqdcDtl_CmdtyList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72375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견적통보서목록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ovsEstmtNtdcListPage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견적통보서목록을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ovsEstmtNtdcList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OvsEstmtNtdcListPage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UC-EX-03-02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8745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견적통보서상세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ovsEstmtNtdcDtlPage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ovsEstmtNtdcDtl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OvsEstmtNtdcDtlPage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UC-EX-03-02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24284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상세정보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ovsEstmtNtdcDtl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상세정보를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ovsEstmtNtdcDtl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ovsEstmtNtdcDtl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UC-EX-03-02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53778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물품목록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ovsEstmtNtdcDtl_CmdtyList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물품목록을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ovsEstmtNtdcDtl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ovsEstmtNtdcDtl_CmdtyList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UC-EX-03-02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32488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36166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</a:t>
            </a:r>
            <a:r>
              <a:rPr lang="ko-KR" altLang="en-US" dirty="0" smtClean="0"/>
              <a:t>목록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966510"/>
              </p:ext>
            </p:extLst>
          </p:nvPr>
        </p:nvGraphicFramePr>
        <p:xfrm>
          <a:off x="635474" y="1413419"/>
          <a:ext cx="8701200" cy="408574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발주의뢰서목록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ovsOrderRqdcListPage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목록을 조회하고 통보서 진행상태를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573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MUI-EX-02-P81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검색필터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발주의뢰서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ovsOrderRqdcList_SrchFilter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검색필터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ovsOrderRqdcList_SrchFilter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70027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발주의뢰서상세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ovsOrderRqdcDtlPage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0538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MUI-EX-02-T75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상세정보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ovsOrderRqdcDtl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상세정보를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ovsOrderRqdcDtl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03678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MUI-EX-02-T76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물품목록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ovsOrderRqdcDtl_CmdtyList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물품목록를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src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ui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/biz/ex/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ovsOrderRqdcDtl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ovsOrderRqdcDtl_CmdtyList</a:t>
                      </a: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r>
                        <a:rPr kumimoji="0" lang="en-US" altLang="ko-KR" sz="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tsx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854008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발주통보서목록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ovsOrderNtdcListPage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발주통보서목록을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ovsOrderNtdcList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OvsOrderNtdcListPage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4763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발주통보서상세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ovsOrderNtdcDtlPage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 확인하는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5102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MUI-EX-02-T77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상세정보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ovsOrderNtdcDtl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상세정보를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82378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sz="7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MUI-EX-02-T78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물품목록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ovsOrderNtdcDtl_CmdtyList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물품목록를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확인하는 탭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ovsOrderNtdcDtl_CmdtyList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33901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MUI-EX-02-P79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계약번호조회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vsCtrtNoInq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계약년도와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계약번호로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계약정보목록을 조회하는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ovsCtrtNoInqe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OvsCtrtNoInqPage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37040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40088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한도액계약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견적의뢰서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19879" y="316638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48876" y="2993939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견적통보서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1310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6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419089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발주의뢰서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544185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발주통보서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34" idx="1"/>
          </p:cNvCxnSpPr>
          <p:nvPr/>
        </p:nvCxnSpPr>
        <p:spPr>
          <a:xfrm>
            <a:off x="3266608" y="1772964"/>
            <a:ext cx="931134" cy="381289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4" idx="3"/>
            <a:endCxn id="158" idx="2"/>
          </p:cNvCxnSpPr>
          <p:nvPr/>
        </p:nvCxnSpPr>
        <p:spPr>
          <a:xfrm flipV="1">
            <a:off x="6926739" y="3083939"/>
            <a:ext cx="722137" cy="312347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4" idx="3"/>
            <a:endCxn id="158" idx="2"/>
          </p:cNvCxnSpPr>
          <p:nvPr/>
        </p:nvCxnSpPr>
        <p:spPr>
          <a:xfrm flipV="1">
            <a:off x="6926739" y="3083939"/>
            <a:ext cx="722137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>
            <a:off x="3266608" y="1772964"/>
            <a:ext cx="931134" cy="256193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25836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견적의뢰서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sp>
        <p:nvSpPr>
          <p:cNvPr id="4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356934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견적통보서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4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419089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cxnSp>
        <p:nvCxnSpPr>
          <p:cNvPr id="5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0" idx="3"/>
            <a:endCxn id="158" idx="2"/>
          </p:cNvCxnSpPr>
          <p:nvPr/>
        </p:nvCxnSpPr>
        <p:spPr>
          <a:xfrm>
            <a:off x="6928876" y="2402366"/>
            <a:ext cx="720000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41" idx="1"/>
          </p:cNvCxnSpPr>
          <p:nvPr/>
        </p:nvCxnSpPr>
        <p:spPr>
          <a:xfrm>
            <a:off x="5097742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43" idx="1"/>
          </p:cNvCxnSpPr>
          <p:nvPr/>
        </p:nvCxnSpPr>
        <p:spPr>
          <a:xfrm>
            <a:off x="5097742" y="3083939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3" idx="3"/>
            <a:endCxn id="45" idx="1"/>
          </p:cNvCxnSpPr>
          <p:nvPr/>
        </p:nvCxnSpPr>
        <p:spPr>
          <a:xfrm>
            <a:off x="5097742" y="4334897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34" idx="3"/>
            <a:endCxn id="73" idx="1"/>
          </p:cNvCxnSpPr>
          <p:nvPr/>
        </p:nvCxnSpPr>
        <p:spPr>
          <a:xfrm>
            <a:off x="5097742" y="5585854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cxnSp>
        <p:nvCxnSpPr>
          <p:cNvPr id="5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3"/>
            <a:endCxn id="40" idx="1"/>
          </p:cNvCxnSpPr>
          <p:nvPr/>
        </p:nvCxnSpPr>
        <p:spPr>
          <a:xfrm>
            <a:off x="5097742" y="1772964"/>
            <a:ext cx="931134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1" idx="0"/>
            <a:endCxn id="69" idx="0"/>
          </p:cNvCxnSpPr>
          <p:nvPr/>
        </p:nvCxnSpPr>
        <p:spPr>
          <a:xfrm rot="16200000" flipV="1">
            <a:off x="5563309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481245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발주의뢰서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7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544185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sp>
        <p:nvSpPr>
          <p:cNvPr id="7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606341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발주통보서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7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44" idx="1"/>
          </p:cNvCxnSpPr>
          <p:nvPr/>
        </p:nvCxnSpPr>
        <p:spPr>
          <a:xfrm>
            <a:off x="5097742" y="3083939"/>
            <a:ext cx="928997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3"/>
            <a:endCxn id="71" idx="1"/>
          </p:cNvCxnSpPr>
          <p:nvPr/>
        </p:nvCxnSpPr>
        <p:spPr>
          <a:xfrm>
            <a:off x="5097742" y="4334897"/>
            <a:ext cx="928997" cy="62155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74" idx="1"/>
          </p:cNvCxnSpPr>
          <p:nvPr/>
        </p:nvCxnSpPr>
        <p:spPr>
          <a:xfrm>
            <a:off x="5097742" y="5585854"/>
            <a:ext cx="928997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1" idx="3"/>
            <a:endCxn id="158" idx="2"/>
          </p:cNvCxnSpPr>
          <p:nvPr/>
        </p:nvCxnSpPr>
        <p:spPr>
          <a:xfrm flipV="1">
            <a:off x="6926739" y="3083939"/>
            <a:ext cx="722137" cy="187251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3" idx="0"/>
            <a:endCxn id="162" idx="0"/>
          </p:cNvCxnSpPr>
          <p:nvPr/>
        </p:nvCxnSpPr>
        <p:spPr>
          <a:xfrm rot="16200000" flipV="1">
            <a:off x="5562241" y="2025440"/>
            <a:ext cx="12700" cy="18289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5" idx="0"/>
            <a:endCxn id="23" idx="0"/>
          </p:cNvCxnSpPr>
          <p:nvPr/>
        </p:nvCxnSpPr>
        <p:spPr>
          <a:xfrm rot="16200000" flipV="1">
            <a:off x="5562241" y="3276398"/>
            <a:ext cx="12700" cy="18289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3" idx="0"/>
            <a:endCxn id="34" idx="0"/>
          </p:cNvCxnSpPr>
          <p:nvPr/>
        </p:nvCxnSpPr>
        <p:spPr>
          <a:xfrm rot="16200000" flipV="1">
            <a:off x="5562241" y="4527355"/>
            <a:ext cx="12700" cy="18289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1277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견적의뢰서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OvsEstmtRqdcListPage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견적의뢰서</a:t>
            </a:r>
            <a:r>
              <a:rPr lang="ko-KR" altLang="en-US" sz="1000" dirty="0">
                <a:solidFill>
                  <a:schemeClr val="tx1"/>
                </a:solidFill>
              </a:rPr>
              <a:t>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OvsEstmtRqdcDtlPage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견적통보서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OvsEstmtNtdcListPage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27750" y="2747194"/>
            <a:ext cx="2298536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한도액계약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OvsLmtamtCtrtController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65266"/>
            <a:ext cx="967509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465584"/>
            <a:ext cx="967509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045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견적통보서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OvsEstmtNtdcDtlPage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발주의뢰서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OvsOrderRqdcListPage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발주의뢰서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OvsOrderRqdcDtlPage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246050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발주통보서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OvsOrderNtdcListPage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2477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발주통보서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 상세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OvsOrderNtdcDtlPage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992582" y="2990174"/>
            <a:ext cx="967509" cy="307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3229064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계약번호조회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OvsCtrtNoInqPage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1" idx="0"/>
            <a:endCxn id="9" idx="2"/>
          </p:cNvCxnSpPr>
          <p:nvPr/>
        </p:nvCxnSpPr>
        <p:spPr>
          <a:xfrm flipV="1">
            <a:off x="4092664" y="3810190"/>
            <a:ext cx="731027" cy="203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9064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목록을 조회하고 통보서 진행상태를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견적의뢰서</a:t>
            </a:r>
            <a:r>
              <a:rPr lang="ko-KR" altLang="en-US" sz="800" dirty="0">
                <a:latin typeface="+mn-ea"/>
              </a:rPr>
              <a:t> 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468991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견적번호</a:t>
            </a:r>
            <a:r>
              <a:rPr lang="ko-KR" altLang="en-US" sz="700" dirty="0"/>
              <a:t> </a:t>
            </a:r>
            <a:r>
              <a:rPr lang="en-US" altLang="ko-KR" sz="700" dirty="0"/>
              <a:t>01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29223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37655" y="3813834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28466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38509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368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504921" y="226200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53529" y="208381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805846" y="2262009"/>
            <a:ext cx="3329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00394" y="226200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53529" y="226784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52466"/>
            <a:ext cx="2473257" cy="1080735"/>
            <a:chOff x="781461" y="3087955"/>
            <a:chExt cx="2473257" cy="1080735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 err="1">
                  <a:solidFill>
                    <a:prstClr val="black"/>
                  </a:solidFill>
                </a:rPr>
                <a:t>견적번호</a:t>
              </a:r>
              <a:r>
                <a:rPr lang="ko-KR" altLang="en-US" sz="700" dirty="0">
                  <a:solidFill>
                    <a:prstClr val="black"/>
                  </a:solidFill>
                </a:rPr>
                <a:t> </a:t>
              </a:r>
              <a:r>
                <a:rPr lang="en-US" altLang="ko-KR" sz="700" dirty="0">
                  <a:solidFill>
                    <a:prstClr val="black"/>
                  </a:solidFill>
                </a:rPr>
                <a:t>02</a:t>
              </a:r>
            </a:p>
            <a:p>
              <a:pPr lvl="0"/>
              <a:r>
                <a:rPr lang="en-US" altLang="ko-KR" sz="900" b="1" dirty="0">
                  <a:solidFill>
                    <a:prstClr val="black"/>
                  </a:solidFill>
                </a:rPr>
                <a:t>F-15 </a:t>
              </a:r>
              <a:r>
                <a:rPr lang="ko-KR" altLang="en-US" sz="900" b="1" dirty="0">
                  <a:solidFill>
                    <a:prstClr val="black"/>
                  </a:solidFill>
                </a:rPr>
                <a:t>부품구매</a:t>
              </a:r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항목 수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무역대리점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납기일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작성일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837719" y="3617129"/>
              <a:ext cx="397545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3 </a:t>
              </a:r>
              <a:r>
                <a:rPr lang="ko-KR" altLang="en-US" sz="600" dirty="0">
                  <a:latin typeface="+mn-ea"/>
                </a:rPr>
                <a:t>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332964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>
                  <a:solidFill>
                    <a:schemeClr val="dk1"/>
                  </a:solidFill>
                </a:rPr>
                <a:t>미작성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039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2707397" y="2270279"/>
            <a:ext cx="582849" cy="15479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검색필터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7073235" y="5982789"/>
            <a:ext cx="2317894" cy="2495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smtClean="0"/>
              <a:t>수신일</a:t>
            </a:r>
            <a:r>
              <a:rPr lang="en-US" altLang="ko-KR" sz="500" dirty="0"/>
              <a:t> </a:t>
            </a:r>
            <a:r>
              <a:rPr lang="en-US" altLang="ko-KR" sz="500" dirty="0" smtClean="0"/>
              <a:t>from, </a:t>
            </a:r>
            <a:r>
              <a:rPr lang="ko-KR" altLang="en-US" sz="500" dirty="0" smtClean="0"/>
              <a:t>수신일 </a:t>
            </a:r>
            <a:r>
              <a:rPr lang="en-US" altLang="ko-KR" sz="500" dirty="0" smtClean="0"/>
              <a:t>to, </a:t>
            </a:r>
            <a:r>
              <a:rPr lang="ko-KR" altLang="ko-KR" sz="500" dirty="0" err="1" smtClean="0"/>
              <a:t>견적번호</a:t>
            </a:r>
            <a:r>
              <a:rPr lang="en-US" altLang="ko-KR" sz="500" dirty="0" smtClean="0"/>
              <a:t>,</a:t>
            </a:r>
            <a:r>
              <a:rPr lang="ko-KR" altLang="ko-KR" sz="500" dirty="0" err="1" smtClean="0"/>
              <a:t>항목수</a:t>
            </a:r>
            <a:r>
              <a:rPr lang="en-US" altLang="ko-KR" sz="500" dirty="0" smtClean="0"/>
              <a:t>,</a:t>
            </a:r>
            <a:r>
              <a:rPr lang="ko-KR" altLang="ko-KR" sz="500" dirty="0" err="1" smtClean="0"/>
              <a:t>무역대리점</a:t>
            </a:r>
            <a:r>
              <a:rPr lang="en-US" altLang="ko-KR" sz="500" dirty="0" smtClean="0"/>
              <a:t>,</a:t>
            </a:r>
            <a:r>
              <a:rPr lang="ko-KR" altLang="ko-KR" sz="500" dirty="0" err="1" smtClean="0"/>
              <a:t>사업명</a:t>
            </a:r>
            <a:endParaRPr lang="ko-KR" altLang="ko-KR" sz="500" dirty="0"/>
          </a:p>
          <a:p>
            <a:endParaRPr lang="en-US" altLang="ko-KR" sz="500" dirty="0" smtClean="0"/>
          </a:p>
        </p:txBody>
      </p:sp>
      <p:sp>
        <p:nvSpPr>
          <p:cNvPr id="7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8406" y="149558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상단 </a:t>
            </a:r>
            <a:r>
              <a:rPr lang="ko-KR" altLang="en-US" sz="800" dirty="0" err="1" smtClean="0"/>
              <a:t>업무도움은</a:t>
            </a:r>
            <a:r>
              <a:rPr lang="ko-KR" altLang="en-US" sz="800" dirty="0" smtClean="0"/>
              <a:t> 기본 값으로 접힘 상태로 정보 제공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기본값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접힘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사용자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확장하여 정보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업무도움</a:t>
            </a:r>
            <a:r>
              <a:rPr lang="en-US" altLang="ko-KR" sz="800" dirty="0" smtClean="0"/>
              <a:t> &gt; </a:t>
            </a:r>
            <a:r>
              <a:rPr lang="ko-KR" altLang="en-US" sz="800" dirty="0" smtClean="0"/>
              <a:t>내역이 있는 경우 표시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내역이 없으면 항목을 표시하지 않음</a:t>
            </a:r>
            <a:r>
              <a:rPr lang="en-US" altLang="ko-KR" sz="800" dirty="0" smtClean="0"/>
              <a:t>.</a:t>
            </a:r>
            <a:br>
              <a:rPr lang="en-US" altLang="ko-KR" sz="800" dirty="0" smtClean="0"/>
            </a:b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검색필터</a:t>
            </a:r>
            <a:r>
              <a:rPr lang="ko-KR" altLang="en-US" sz="800" dirty="0" smtClean="0"/>
              <a:t> 항목 참고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>
                <a:latin typeface="+mn-ea"/>
              </a:rPr>
              <a:t>검색 필터 </a:t>
            </a:r>
            <a:endParaRPr lang="en-US" altLang="ko-KR" sz="800" dirty="0">
              <a:latin typeface="+mn-ea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표시 개수 영역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총 개수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표시 개수 </a:t>
            </a:r>
            <a:r>
              <a:rPr lang="en-US" altLang="ko-KR" sz="800" dirty="0" smtClean="0"/>
              <a:t>(</a:t>
            </a:r>
            <a:r>
              <a:rPr lang="ko-KR" altLang="en-US" sz="800" dirty="0" smtClean="0"/>
              <a:t>선택한 건수 만큼 보여주고 </a:t>
            </a:r>
            <a:r>
              <a:rPr lang="ko-KR" altLang="en-US" sz="800" dirty="0" err="1" smtClean="0"/>
              <a:t>더보기시</a:t>
            </a:r>
            <a:r>
              <a:rPr lang="ko-KR" altLang="en-US" sz="800" dirty="0" smtClean="0"/>
              <a:t> 추가로 불러옴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ko-KR" altLang="en-US" sz="800" dirty="0" smtClean="0"/>
              <a:t>목록 카드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카드 </a:t>
            </a:r>
            <a:r>
              <a:rPr lang="ko-KR" altLang="en-US" sz="800" dirty="0" err="1" smtClean="0"/>
              <a:t>클릭시</a:t>
            </a:r>
            <a:r>
              <a:rPr lang="ko-KR" altLang="en-US" sz="800" dirty="0" smtClean="0"/>
              <a:t> 상세 페이지 이동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3-1] </a:t>
            </a:r>
            <a:r>
              <a:rPr lang="ko-KR" altLang="en-US" sz="800" dirty="0" err="1" smtClean="0"/>
              <a:t>견적번호</a:t>
            </a:r>
            <a:r>
              <a:rPr lang="ko-KR" altLang="en-US" sz="800" dirty="0" smtClean="0"/>
              <a:t>  </a:t>
            </a:r>
            <a:r>
              <a:rPr lang="en-US" altLang="ko-KR" sz="800" dirty="0" smtClean="0"/>
              <a:t>+</a:t>
            </a:r>
            <a:r>
              <a:rPr lang="ko-KR" altLang="en-US" sz="800" dirty="0"/>
              <a:t> </a:t>
            </a:r>
            <a:r>
              <a:rPr lang="ko-KR" altLang="en-US" sz="800" dirty="0" smtClean="0"/>
              <a:t>차수 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smtClean="0"/>
              <a:t>레이블이 화면을 넘치는 경우 드래그하여 확인 가능 </a:t>
            </a:r>
            <a:r>
              <a:rPr lang="en-US" altLang="ko-KR" sz="800" dirty="0" smtClean="0"/>
              <a:t>(</a:t>
            </a:r>
            <a:r>
              <a:rPr lang="ko-KR" altLang="en-US" sz="800" dirty="0" err="1" smtClean="0"/>
              <a:t>스와이프기능</a:t>
            </a:r>
            <a:r>
              <a:rPr lang="ko-KR" altLang="en-US" sz="800" dirty="0" smtClean="0"/>
              <a:t> 반영 필요</a:t>
            </a:r>
            <a:r>
              <a:rPr lang="en-US" altLang="ko-KR" sz="800" dirty="0" smtClean="0"/>
              <a:t>)</a:t>
            </a:r>
            <a:br>
              <a:rPr lang="en-US" altLang="ko-KR" sz="800" dirty="0" smtClean="0"/>
            </a:br>
            <a:r>
              <a:rPr lang="en-US" altLang="ko-KR" sz="800" dirty="0" smtClean="0"/>
              <a:t>4-1] </a:t>
            </a:r>
            <a:r>
              <a:rPr lang="ko-KR" altLang="en-US" sz="800" dirty="0" err="1" smtClean="0"/>
              <a:t>표시레이블</a:t>
            </a:r>
            <a:r>
              <a:rPr lang="ko-KR" altLang="en-US" sz="800" dirty="0" smtClean="0"/>
              <a:t> 영역 항목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통보서 상태 </a:t>
            </a:r>
            <a:r>
              <a:rPr lang="en-US" altLang="ko-KR" sz="800" dirty="0" smtClean="0"/>
              <a:t>: </a:t>
            </a:r>
            <a:r>
              <a:rPr lang="ko-KR" altLang="en-US" sz="800" dirty="0" smtClean="0"/>
              <a:t>작성</a:t>
            </a:r>
            <a:r>
              <a:rPr lang="en-US" altLang="ko-KR" sz="800" dirty="0" smtClean="0"/>
              <a:t>, </a:t>
            </a:r>
            <a:r>
              <a:rPr lang="ko-KR" altLang="en-US" sz="800" dirty="0" err="1" smtClean="0"/>
              <a:t>미작성</a:t>
            </a:r>
            <a:r>
              <a:rPr lang="en-US" altLang="ko-KR" sz="800" dirty="0" smtClean="0"/>
              <a:t>, </a:t>
            </a:r>
            <a:r>
              <a:rPr lang="ko-KR" altLang="en-US" sz="800" dirty="0" smtClean="0"/>
              <a:t>송신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4-2] </a:t>
            </a:r>
            <a:r>
              <a:rPr lang="ko-KR" altLang="en-US" sz="800" dirty="0" smtClean="0"/>
              <a:t>문서 정보 영역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</a:t>
            </a:r>
            <a:r>
              <a:rPr lang="ko-KR" altLang="en-US" sz="800" dirty="0" err="1" smtClean="0"/>
              <a:t>계약번호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노출시</a:t>
            </a:r>
            <a:r>
              <a:rPr lang="ko-KR" altLang="en-US" sz="800" dirty="0" smtClean="0"/>
              <a:t> 해당 라인을 넘어가면 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err="1" smtClean="0"/>
              <a:t>계약번호</a:t>
            </a:r>
            <a:r>
              <a:rPr lang="en-US" altLang="ko-KR" sz="800" dirty="0" smtClean="0"/>
              <a:t>:</a:t>
            </a:r>
            <a:r>
              <a:rPr lang="ko-KR" altLang="en-US" sz="800" dirty="0" smtClean="0"/>
              <a:t> </a:t>
            </a:r>
            <a:r>
              <a:rPr lang="ko-KR" altLang="en-US" sz="800" dirty="0" err="1" smtClean="0"/>
              <a:t>계약번호</a:t>
            </a:r>
            <a:r>
              <a:rPr lang="en-US" altLang="ko-KR" sz="800" dirty="0" smtClean="0"/>
              <a:t>+</a:t>
            </a:r>
            <a:r>
              <a:rPr lang="ko-KR" altLang="en-US" sz="800" dirty="0" smtClean="0"/>
              <a:t>계약번호차수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4-3] </a:t>
            </a:r>
            <a:r>
              <a:rPr lang="ko-KR" altLang="en-US" sz="800" dirty="0" smtClean="0"/>
              <a:t>문서 제목 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</a:t>
            </a:r>
            <a:r>
              <a:rPr lang="ko-KR" altLang="en-US" sz="800" dirty="0" smtClean="0"/>
              <a:t>제목은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줄 까지 노출 이후</a:t>
            </a:r>
            <a:r>
              <a:rPr lang="en-US" altLang="ko-KR" sz="800" dirty="0" smtClean="0"/>
              <a:t>(…) </a:t>
            </a:r>
            <a:r>
              <a:rPr lang="ko-KR" altLang="en-US" sz="800" dirty="0" err="1" smtClean="0"/>
              <a:t>말줄임</a:t>
            </a:r>
            <a:r>
              <a:rPr lang="ko-KR" altLang="en-US" sz="800" dirty="0" smtClean="0"/>
              <a:t> 표시</a:t>
            </a:r>
            <a:endParaRPr lang="en-US" altLang="ko-KR" sz="800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/>
              <a:t>더보기</a:t>
            </a:r>
            <a:r>
              <a:rPr lang="ko-KR" altLang="en-US" sz="800" dirty="0" smtClean="0"/>
              <a:t> 기능</a:t>
            </a: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r>
              <a:rPr lang="en-US" altLang="ko-KR" sz="800" dirty="0" smtClean="0"/>
              <a:t>- 3</a:t>
            </a:r>
            <a:r>
              <a:rPr lang="ko-KR" altLang="en-US" sz="800" dirty="0" err="1" smtClean="0"/>
              <a:t>번항목</a:t>
            </a:r>
            <a:r>
              <a:rPr lang="ko-KR" altLang="en-US" sz="800" dirty="0" smtClean="0"/>
              <a:t> 표시 개수 영역에서 선택한 개수로 증가</a:t>
            </a:r>
            <a:r>
              <a:rPr lang="en-US" altLang="ko-KR" sz="800" dirty="0" smtClean="0"/>
              <a:t>.</a:t>
            </a:r>
            <a:br>
              <a:rPr lang="en-US" altLang="ko-KR" sz="800" dirty="0" smtClean="0"/>
            </a:br>
            <a:r>
              <a:rPr lang="ko-KR" altLang="en-US" sz="800" dirty="0" smtClean="0"/>
              <a:t>예</a:t>
            </a:r>
            <a:r>
              <a:rPr lang="en-US" altLang="ko-KR" sz="800" dirty="0" smtClean="0"/>
              <a:t>) 10</a:t>
            </a:r>
            <a:r>
              <a:rPr lang="ko-KR" altLang="en-US" sz="800" dirty="0" smtClean="0"/>
              <a:t>개 노출 이후 </a:t>
            </a:r>
            <a:r>
              <a:rPr lang="ko-KR" altLang="en-US" sz="800" dirty="0" err="1" smtClean="0"/>
              <a:t>더보기</a:t>
            </a:r>
            <a:r>
              <a:rPr lang="ko-KR" altLang="en-US" sz="800" dirty="0" smtClean="0"/>
              <a:t> 버튼 클릭으로 </a:t>
            </a:r>
            <a:r>
              <a:rPr lang="en-US" altLang="ko-KR" sz="800" dirty="0" smtClean="0"/>
              <a:t>10</a:t>
            </a:r>
            <a:r>
              <a:rPr lang="ko-KR" altLang="en-US" sz="800" dirty="0" smtClean="0"/>
              <a:t>개씩 추가 로드</a:t>
            </a:r>
            <a:r>
              <a:rPr lang="en-US" altLang="ko-KR" sz="8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sz="800" dirty="0" smtClean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sz="800" dirty="0" smtClean="0"/>
              <a:t/>
            </a:r>
            <a:br>
              <a:rPr lang="en-US" altLang="ko-KR" sz="800" dirty="0" smtClean="0"/>
            </a:br>
            <a:endParaRPr lang="en-US" altLang="ko-KR" sz="800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53358" y="43384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42020" y="2204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670286" y="218009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3506" y="44706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4-2</a:t>
            </a:r>
            <a:endParaRPr lang="ko-KR" altLang="en-US" sz="600" b="1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81637" y="48521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4-3</a:t>
            </a:r>
            <a:endParaRPr lang="ko-KR" altLang="en-US" sz="600" b="1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8278" y="33822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3-1</a:t>
            </a:r>
          </a:p>
        </p:txBody>
      </p:sp>
    </p:spTree>
    <p:extLst>
      <p:ext uri="{BB962C8B-B14F-4D97-AF65-F5344CB8AC3E}">
        <p14:creationId xmlns:p14="http://schemas.microsoft.com/office/powerpoint/2010/main" val="6196052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800" dirty="0"/>
              <a:t>검색 설정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 err="1"/>
              <a:t>서류요청</a:t>
            </a:r>
            <a:r>
              <a:rPr lang="ko-KR" altLang="en-US" sz="800" dirty="0"/>
              <a:t> </a:t>
            </a:r>
            <a:r>
              <a:rPr lang="ko-KR" altLang="en-US" sz="800" dirty="0" err="1"/>
              <a:t>수신일자</a:t>
            </a:r>
            <a:r>
              <a:rPr lang="ko-KR" altLang="en-US" sz="800" dirty="0"/>
              <a:t> </a:t>
            </a:r>
            <a:r>
              <a:rPr lang="en-US" altLang="ko-KR" sz="800" dirty="0"/>
              <a:t>/ </a:t>
            </a:r>
            <a:r>
              <a:rPr lang="ko-KR" altLang="en-US" sz="800" dirty="0" err="1"/>
              <a:t>계약일자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default) </a:t>
            </a:r>
            <a:r>
              <a:rPr lang="ko-KR" altLang="en-US" sz="800" dirty="0"/>
              <a:t>당일 포함 과거 </a:t>
            </a:r>
            <a:r>
              <a:rPr lang="en-US" altLang="ko-KR" sz="800" dirty="0"/>
              <a:t>7</a:t>
            </a:r>
            <a:r>
              <a:rPr lang="ko-KR" altLang="en-US" sz="800" dirty="0"/>
              <a:t>일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ko-KR" altLang="en-US" sz="800" dirty="0">
                <a:sym typeface="Wingdings" panose="05000000000000000000" pitchFamily="2" charset="2"/>
              </a:rPr>
              <a:t>선택 날짜 즉시 업데이트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1-1</a:t>
            </a:r>
            <a:r>
              <a:rPr lang="en-US" altLang="ko-KR" sz="800" dirty="0"/>
              <a:t>)</a:t>
            </a:r>
            <a:r>
              <a:rPr lang="ko-KR" altLang="en-US" sz="800" dirty="0"/>
              <a:t>직접 입력 가능 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좌</a:t>
            </a:r>
            <a:r>
              <a:rPr lang="en-US" altLang="ko-KR" sz="800" dirty="0"/>
              <a:t>)</a:t>
            </a:r>
            <a:r>
              <a:rPr lang="ko-KR" altLang="en-US" sz="800" dirty="0"/>
              <a:t>과거 우</a:t>
            </a:r>
            <a:r>
              <a:rPr lang="en-US" altLang="ko-KR" sz="800" dirty="0"/>
              <a:t>)</a:t>
            </a:r>
            <a:r>
              <a:rPr lang="ko-KR" altLang="en-US" sz="800" dirty="0" err="1"/>
              <a:t>현재로한다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</a:t>
            </a:r>
            <a:r>
              <a:rPr lang="ko-KR" altLang="en-US" sz="800" dirty="0"/>
              <a:t> 값은 미래를 선택</a:t>
            </a:r>
            <a:r>
              <a:rPr lang="en-US" altLang="ko-KR" sz="800" dirty="0"/>
              <a:t>,</a:t>
            </a:r>
            <a:r>
              <a:rPr lang="ko-KR" altLang="en-US" sz="800" dirty="0"/>
              <a:t>입력 할 </a:t>
            </a:r>
            <a:r>
              <a:rPr lang="ko-KR" altLang="en-US" sz="800" dirty="0" err="1"/>
              <a:t>수없다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우</a:t>
            </a:r>
            <a:r>
              <a:rPr lang="en-US" altLang="ko-KR" sz="800" dirty="0"/>
              <a:t>) </a:t>
            </a:r>
            <a:r>
              <a:rPr lang="ko-KR" altLang="en-US" sz="800" dirty="0"/>
              <a:t>값이 미래를 입력한 경우 오늘로 자동 변경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ko-KR" altLang="en-US" sz="800" dirty="0"/>
              <a:t>당일 기준 최대 </a:t>
            </a:r>
            <a:r>
              <a:rPr lang="en-US" altLang="ko-KR" sz="800" dirty="0"/>
              <a:t>1</a:t>
            </a:r>
            <a:r>
              <a:rPr lang="ko-KR" altLang="en-US" sz="800" dirty="0"/>
              <a:t>년</a:t>
            </a:r>
            <a:r>
              <a:rPr lang="en-US" altLang="ko-KR" sz="800" dirty="0"/>
              <a:t>(365</a:t>
            </a:r>
            <a:r>
              <a:rPr lang="ko-KR" altLang="en-US" sz="800" dirty="0"/>
              <a:t>일</a:t>
            </a:r>
            <a:r>
              <a:rPr lang="en-US" altLang="ko-KR" sz="800" dirty="0"/>
              <a:t>)</a:t>
            </a:r>
            <a:r>
              <a:rPr lang="ko-KR" altLang="en-US" sz="800" dirty="0"/>
              <a:t>까지 조회 가능</a:t>
            </a:r>
            <a:r>
              <a:rPr lang="en-US" altLang="ko-KR" sz="800" dirty="0"/>
              <a:t/>
            </a:r>
            <a:br>
              <a:rPr lang="en-US" altLang="ko-KR" sz="800" dirty="0"/>
            </a:br>
            <a:r>
              <a:rPr lang="en-US" altLang="ko-KR" sz="800" dirty="0"/>
              <a:t>- </a:t>
            </a:r>
            <a:r>
              <a:rPr lang="en-US" altLang="ko-KR" sz="800" dirty="0" smtClean="0"/>
              <a:t>1-2</a:t>
            </a:r>
            <a:r>
              <a:rPr lang="en-US" altLang="ko-KR" sz="800" dirty="0"/>
              <a:t>) </a:t>
            </a:r>
            <a:r>
              <a:rPr lang="ko-KR" altLang="en-US" sz="800" dirty="0"/>
              <a:t>아이콘 </a:t>
            </a:r>
            <a:r>
              <a:rPr lang="en-US" altLang="ko-KR" sz="800" dirty="0">
                <a:sym typeface="Wingdings" panose="05000000000000000000" pitchFamily="2" charset="2"/>
              </a:rPr>
              <a:t> </a:t>
            </a:r>
            <a:r>
              <a:rPr lang="ko-KR" altLang="en-US" sz="800" dirty="0">
                <a:sym typeface="Wingdings" panose="05000000000000000000" pitchFamily="2" charset="2"/>
              </a:rPr>
              <a:t>데이트 </a:t>
            </a:r>
            <a:r>
              <a:rPr lang="ko-KR" altLang="en-US" sz="800" dirty="0" err="1">
                <a:sym typeface="Wingdings" panose="05000000000000000000" pitchFamily="2" charset="2"/>
              </a:rPr>
              <a:t>피커</a:t>
            </a:r>
            <a:r>
              <a:rPr lang="ko-KR" altLang="en-US" sz="800" dirty="0">
                <a:sym typeface="Wingdings" panose="05000000000000000000" pitchFamily="2" charset="2"/>
              </a:rPr>
              <a:t> 호출</a:t>
            </a:r>
            <a:r>
              <a:rPr lang="en-US" altLang="ko-KR" sz="800" dirty="0">
                <a:sym typeface="Wingdings" panose="05000000000000000000" pitchFamily="2" charset="2"/>
              </a:rPr>
              <a:t>( </a:t>
            </a:r>
            <a:r>
              <a:rPr lang="ko-KR" altLang="en-US" sz="800" dirty="0" err="1">
                <a:sym typeface="Wingdings" panose="05000000000000000000" pitchFamily="2" charset="2"/>
              </a:rPr>
              <a:t>미래불가</a:t>
            </a:r>
            <a:r>
              <a:rPr lang="en-US" altLang="ko-KR" sz="800" dirty="0">
                <a:sym typeface="Wingdings" panose="05000000000000000000" pitchFamily="2" charset="2"/>
              </a:rPr>
              <a:t>)</a:t>
            </a:r>
            <a:br>
              <a:rPr lang="en-US" altLang="ko-KR" sz="800" dirty="0">
                <a:sym typeface="Wingdings" panose="05000000000000000000" pitchFamily="2" charset="2"/>
              </a:rPr>
            </a:br>
            <a:r>
              <a:rPr lang="en-US" altLang="ko-KR" sz="800" dirty="0">
                <a:sym typeface="Wingdings" panose="05000000000000000000" pitchFamily="2" charset="2"/>
              </a:rPr>
              <a:t>- </a:t>
            </a:r>
            <a:r>
              <a:rPr lang="en-US" altLang="ko-KR" sz="800" dirty="0" smtClean="0">
                <a:sym typeface="Wingdings" panose="05000000000000000000" pitchFamily="2" charset="2"/>
              </a:rPr>
              <a:t>1-3</a:t>
            </a:r>
            <a:r>
              <a:rPr lang="en-US" altLang="ko-KR" sz="800" dirty="0">
                <a:sym typeface="Wingdings" panose="05000000000000000000" pitchFamily="2" charset="2"/>
              </a:rPr>
              <a:t>) </a:t>
            </a:r>
            <a:r>
              <a:rPr lang="ko-KR" altLang="en-US" sz="800" dirty="0">
                <a:sym typeface="Wingdings" panose="05000000000000000000" pitchFamily="2" charset="2"/>
              </a:rPr>
              <a:t>최근</a:t>
            </a:r>
            <a:r>
              <a:rPr lang="en-US" altLang="ko-KR" sz="800" dirty="0">
                <a:sym typeface="Wingdings" panose="05000000000000000000" pitchFamily="2" charset="2"/>
              </a:rPr>
              <a:t>1,3,6</a:t>
            </a:r>
            <a:r>
              <a:rPr lang="ko-KR" altLang="en-US" sz="800" dirty="0">
                <a:sym typeface="Wingdings" panose="05000000000000000000" pitchFamily="2" charset="2"/>
              </a:rPr>
              <a:t>개월 버튼으로 당일 포함하여 </a:t>
            </a:r>
            <a:r>
              <a:rPr lang="en-US" altLang="ko-KR" sz="800" dirty="0">
                <a:sym typeface="Wingdings" panose="05000000000000000000" pitchFamily="2" charset="2"/>
              </a:rPr>
              <a:t>30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 90</a:t>
            </a:r>
            <a:r>
              <a:rPr lang="ko-KR" altLang="en-US" sz="800" dirty="0">
                <a:sym typeface="Wingdings" panose="05000000000000000000" pitchFamily="2" charset="2"/>
              </a:rPr>
              <a:t>일</a:t>
            </a:r>
            <a:r>
              <a:rPr lang="en-US" altLang="ko-KR" sz="800" dirty="0">
                <a:sym typeface="Wingdings" panose="05000000000000000000" pitchFamily="2" charset="2"/>
              </a:rPr>
              <a:t>,180</a:t>
            </a:r>
            <a:r>
              <a:rPr lang="ko-KR" altLang="en-US" sz="800" dirty="0">
                <a:sym typeface="Wingdings" panose="05000000000000000000" pitchFamily="2" charset="2"/>
              </a:rPr>
              <a:t>일 이전 값을 표시</a:t>
            </a:r>
            <a:r>
              <a:rPr lang="en-US" altLang="ko-KR" sz="800" dirty="0" smtClean="0">
                <a:sym typeface="Wingdings" panose="05000000000000000000" pitchFamily="2" charset="2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800" dirty="0" err="1" smtClean="0">
                <a:sym typeface="Wingdings" panose="05000000000000000000" pitchFamily="2" charset="2"/>
              </a:rPr>
              <a:t>플로팅</a:t>
            </a:r>
            <a:r>
              <a:rPr lang="ko-KR" altLang="en-US" sz="800" dirty="0" smtClean="0">
                <a:sym typeface="Wingdings" panose="05000000000000000000" pitchFamily="2" charset="2"/>
              </a:rPr>
              <a:t> 영역 검색기능 제공 </a:t>
            </a:r>
            <a:endParaRPr lang="en-US" altLang="ko-KR" sz="800" dirty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 err="1">
                <a:latin typeface="+mn-ea"/>
              </a:rPr>
              <a:t>견적의뢰서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MUI-EX-02-P80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675399" y="2006807"/>
            <a:ext cx="2712027" cy="789619"/>
            <a:chOff x="675399" y="4736534"/>
            <a:chExt cx="2712027" cy="78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736534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검색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959072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4834224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4986703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2025-10-15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5006650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5217372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4986703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2026-01-16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52615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564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4607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 flipV="1">
            <a:off x="3145721" y="2943764"/>
            <a:ext cx="91438" cy="45719"/>
            <a:chOff x="6812560" y="3297172"/>
            <a:chExt cx="94010" cy="47005"/>
          </a:xfrm>
        </p:grpSpPr>
        <p:cxnSp>
          <p:nvCxnSpPr>
            <p:cNvPr id="149" name="직선 연결선 14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직선 연결선 14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83065"/>
            <a:ext cx="67077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1457007" y="312850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 rot="16200000">
            <a:off x="3140950" y="3197306"/>
            <a:ext cx="91438" cy="45719"/>
            <a:chOff x="6812560" y="3297172"/>
            <a:chExt cx="94010" cy="47005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0300" y="203892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52186" y="21456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1-1</a:t>
            </a:r>
            <a:endParaRPr lang="ko-KR" altLang="en-US" sz="500" b="1" dirty="0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2306268" y="21456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1-2</a:t>
            </a:r>
            <a:endParaRPr lang="ko-KR" altLang="en-US" sz="500" b="1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352186" y="24524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00" b="1" dirty="0" smtClean="0"/>
              <a:t>1-3</a:t>
            </a:r>
            <a:endParaRPr lang="ko-KR" altLang="en-US" sz="500" b="1" dirty="0"/>
          </a:p>
        </p:txBody>
      </p:sp>
    </p:spTree>
    <p:extLst>
      <p:ext uri="{BB962C8B-B14F-4D97-AF65-F5344CB8AC3E}">
        <p14:creationId xmlns:p14="http://schemas.microsoft.com/office/powerpoint/2010/main" val="21702751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C3181-74F9-5FAE-8260-B8C585F42331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13154"/>
            <a:ext cx="277216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견적의뢰서목록조회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057601"/>
              </p:ext>
            </p:extLst>
          </p:nvPr>
        </p:nvGraphicFramePr>
        <p:xfrm>
          <a:off x="452999" y="1024357"/>
          <a:ext cx="8994883" cy="89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81841203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04067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375921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907187"/>
              </p:ext>
            </p:extLst>
          </p:nvPr>
        </p:nvGraphicFramePr>
        <p:xfrm>
          <a:off x="452291" y="3987494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2277400484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수신일을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년전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부터 현재일로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scwin.grd_EstmtRqdc_oncellclick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견적의뢰서상세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UI-EX-02-M73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26166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1928291"/>
            <a:ext cx="26839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dl_estmtRqdc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069867"/>
              </p:ext>
            </p:extLst>
          </p:nvPr>
        </p:nvGraphicFramePr>
        <p:xfrm>
          <a:off x="455558" y="2139494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94791476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112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항목수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</a:t>
                      </a:r>
                      <a:r>
                        <a:rPr lang="ko-KR" altLang="en-US" sz="800" dirty="0" err="1">
                          <a:latin typeface="+mn-ea"/>
                        </a:rPr>
                        <a:t>항목수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무역대리점 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납기일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dudtYmd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납기일자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작성일자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통보서상태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ntdcStts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진행상태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3921AF14-0A7A-7CF4-2518-3705EA0CF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88605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견적의뢰서상세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견적의뢰서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견적번호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5662"/>
            <a:ext cx="2630093" cy="1551341"/>
            <a:chOff x="3839894" y="2802481"/>
            <a:chExt cx="2630093" cy="1551341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2481"/>
              <a:ext cx="792000" cy="15513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견적번호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1059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38806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2584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648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15636" y="52523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5140" y="2375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65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71237" y="1502396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견적번호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err="1" smtClean="0"/>
              <a:t>회차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견적번호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상세내용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상세정보</a:t>
            </a:r>
            <a:r>
              <a:rPr lang="en-US" altLang="ko-KR" dirty="0" smtClean="0"/>
              <a:t>,</a:t>
            </a:r>
            <a:r>
              <a:rPr lang="ko-KR" altLang="en-US" dirty="0"/>
              <a:t> </a:t>
            </a:r>
            <a:r>
              <a:rPr lang="ko-KR" altLang="en-US" dirty="0" err="1" smtClean="0"/>
              <a:t>물품목록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계약 상세 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기본값은 상단 이동 버튼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2476451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상세정보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MUI-EX-02-T71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55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339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3396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95273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56334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69665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63820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63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63819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63819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9492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0863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233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13604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497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6345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23767" y="3521645"/>
            <a:ext cx="2630093" cy="1551341"/>
            <a:chOff x="3839894" y="2802481"/>
            <a:chExt cx="2630093" cy="1551341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2481"/>
              <a:ext cx="792000" cy="15513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7" name="타원 1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16158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00565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65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502396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노출 항목은 항목설명 참조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9940197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</a:t>
            </a:r>
            <a:r>
              <a:rPr lang="ko-KR" altLang="en-US" dirty="0" smtClean="0"/>
              <a:t>참조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>
                <a:solidFill>
                  <a:prstClr val="black"/>
                </a:solidFill>
              </a:rPr>
              <a:t>견적의뢰서품목 </a:t>
            </a:r>
            <a:r>
              <a:rPr lang="ko-KR" altLang="en-US" dirty="0">
                <a:solidFill>
                  <a:prstClr val="black"/>
                </a:solidFill>
              </a:rPr>
              <a:t>데이터 영역 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en-US" altLang="ko-KR" dirty="0" err="1">
                <a:solidFill>
                  <a:prstClr val="black"/>
                </a:solidFill>
              </a:rPr>
              <a:t>dl_estmtRqdcItem</a:t>
            </a:r>
            <a:r>
              <a:rPr lang="en-US" altLang="ko-KR" dirty="0">
                <a:solidFill>
                  <a:prstClr val="black"/>
                </a:solidFill>
              </a:rPr>
              <a:t>)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MUI-EX-02-T72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862847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129825"/>
            <a:ext cx="2630093" cy="2369881"/>
            <a:chOff x="3865118" y="2946203"/>
            <a:chExt cx="2630093" cy="236988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69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납품요구일자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AFLC IM : IG(6</a:t>
              </a: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급 홍길동</a:t>
              </a: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)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1149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38526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55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339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상세정보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3396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물품목록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258688" y="185000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1" name="그룹 40"/>
          <p:cNvGrpSpPr/>
          <p:nvPr/>
        </p:nvGrpSpPr>
        <p:grpSpPr>
          <a:xfrm>
            <a:off x="2924086" y="1595273"/>
            <a:ext cx="422853" cy="187961"/>
            <a:chOff x="3641308" y="2234886"/>
            <a:chExt cx="422853" cy="187961"/>
          </a:xfrm>
        </p:grpSpPr>
        <p:sp>
          <p:nvSpPr>
            <p:cNvPr id="42" name="타원 41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3" name="그룹 4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54" name="직선 연결선 5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9" name="타원 48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0" name="그룹 49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52" name="직선 연결선 5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6" name="타원 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16158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3033578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799261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1010464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14640541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</a:t>
                      </a: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3924675"/>
            <a:ext cx="293406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141289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4316845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부품번호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적용장비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trnsMthdCd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운송구분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납품요구일자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dlvgdsRqtYmd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납품요구일자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수량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1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4805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16F95F2-604A-CD71-A157-16ADC3AFA5D2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E2B1C658-9190-4D02-673B-5B3242230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47765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B9AF66-64E6-DF62-3BAF-E50637821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7857E-A467-2211-5885-613C98FA5232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1A43DC5-460A-FFCD-4D6F-A07499D3F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871437"/>
              </p:ext>
            </p:extLst>
          </p:nvPr>
        </p:nvGraphicFramePr>
        <p:xfrm>
          <a:off x="458117" y="799547"/>
          <a:ext cx="8995591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5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982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315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6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견적의뢰서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/>
                        <a:t>견적의뢰서출력물</a:t>
                      </a:r>
                      <a:r>
                        <a:rPr lang="ko-KR" altLang="en-US" sz="800" dirty="0"/>
                        <a:t> 화면을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UI-EX-02-R85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04730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2819AA99-5229-6305-7DF5-CFF892B9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47345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검색한 </a:t>
            </a:r>
            <a:r>
              <a:rPr lang="ko-KR" altLang="en-US" dirty="0" err="1" smtClean="0"/>
              <a:t>계약번호가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없는경우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/>
              <a:t>- “</a:t>
            </a:r>
            <a:r>
              <a:rPr lang="ko-KR" altLang="en-US" dirty="0" err="1"/>
              <a:t>계약번호를</a:t>
            </a:r>
            <a:r>
              <a:rPr lang="ko-KR" altLang="en-US" dirty="0"/>
              <a:t> 검색하여 조회해 주세요</a:t>
            </a:r>
            <a:r>
              <a:rPr lang="en-US" altLang="ko-KR" dirty="0"/>
              <a:t>“ </a:t>
            </a:r>
            <a:r>
              <a:rPr lang="ko-KR" altLang="en-US" dirty="0" err="1"/>
              <a:t>안내문구</a:t>
            </a:r>
            <a:r>
              <a:rPr lang="ko-KR" altLang="en-US" dirty="0"/>
              <a:t> </a:t>
            </a:r>
            <a:r>
              <a:rPr lang="ko-KR" altLang="en-US" dirty="0" smtClean="0"/>
              <a:t>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내역이 있는 경우 만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이벤트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2-1] default)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2-2] </a:t>
            </a:r>
            <a:r>
              <a:rPr lang="ko-KR" altLang="en-US" dirty="0" smtClean="0"/>
              <a:t>검색할 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입력하여 조회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2-3]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조회 팝업 호출 </a:t>
            </a:r>
            <a:r>
              <a:rPr lang="en-US" altLang="ko-KR" dirty="0" smtClean="0"/>
              <a:t>(MUI-EX-02-P79)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>
                <a:latin typeface="+mn-ea"/>
              </a:rPr>
              <a:t>견적통보서목록을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  <a:t>MUI-EX-02-M73</a:t>
            </a:r>
            <a:endParaRPr lang="ko-KR" altLang="en-US" sz="1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견적통보서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6166" y="171100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3332" y="231649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41421" y="258019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6166" y="21185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465241" y="21805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smtClean="0"/>
              <a:t>2-3</a:t>
            </a:r>
            <a:endParaRPr lang="ko-KR" altLang="en-US" sz="600" b="1" dirty="0"/>
          </a:p>
        </p:txBody>
      </p:sp>
      <p:sp>
        <p:nvSpPr>
          <p:cNvPr id="209" name="직사각형 208"/>
          <p:cNvSpPr/>
          <p:nvPr/>
        </p:nvSpPr>
        <p:spPr>
          <a:xfrm>
            <a:off x="7071988" y="5982789"/>
            <a:ext cx="2331582" cy="2495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smtClean="0"/>
              <a:t>건수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사업명</a:t>
            </a:r>
            <a:r>
              <a:rPr lang="en-US" altLang="ko-KR" sz="500" dirty="0" smtClean="0"/>
              <a:t>,  </a:t>
            </a:r>
            <a:r>
              <a:rPr lang="ko-KR" altLang="en-US" sz="500" dirty="0" smtClean="0"/>
              <a:t>작성일자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진행상태</a:t>
            </a:r>
            <a:endParaRPr lang="en-US" altLang="ko-KR" sz="500" dirty="0" smtClean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72073" y="4207300"/>
            <a:ext cx="188636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계약 번호를 조회해 주세요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9873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ko-KR" altLang="en-US" dirty="0" err="1" smtClean="0"/>
              <a:t>계약번호로</a:t>
            </a:r>
            <a:r>
              <a:rPr lang="ko-KR" altLang="en-US" dirty="0" smtClean="0"/>
              <a:t> 검색한 계약 정보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해당 </a:t>
            </a:r>
            <a:r>
              <a:rPr lang="ko-KR" altLang="en-US" dirty="0" err="1" smtClean="0"/>
              <a:t>계약건에</a:t>
            </a:r>
            <a:r>
              <a:rPr lang="ko-KR" altLang="en-US" dirty="0" smtClean="0"/>
              <a:t> 연계된 견적 정보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 </a:t>
            </a:r>
            <a:r>
              <a:rPr lang="en-US" altLang="ko-KR" dirty="0"/>
              <a:t>(</a:t>
            </a:r>
            <a:r>
              <a:rPr lang="ko-KR" altLang="en-US" dirty="0"/>
              <a:t>선택한 건수 만큼 보여주고 </a:t>
            </a:r>
            <a:r>
              <a:rPr lang="ko-KR" altLang="en-US" dirty="0" err="1"/>
              <a:t>더보기시</a:t>
            </a:r>
            <a:r>
              <a:rPr lang="ko-KR" altLang="en-US" dirty="0"/>
              <a:t> 추가로 불러옴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목록 카드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카드 </a:t>
            </a:r>
            <a:r>
              <a:rPr lang="ko-KR" altLang="en-US" dirty="0" err="1"/>
              <a:t>클릭시</a:t>
            </a:r>
            <a:r>
              <a:rPr lang="ko-KR" altLang="en-US" dirty="0"/>
              <a:t> 상세 페이지 </a:t>
            </a:r>
            <a:r>
              <a:rPr lang="ko-KR" altLang="en-US" dirty="0" smtClean="0"/>
              <a:t>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레이블이 화면을 넘치는 경우 드래그하여 확인 가능 </a:t>
            </a:r>
            <a:r>
              <a:rPr lang="en-US" altLang="ko-KR" dirty="0"/>
              <a:t>(</a:t>
            </a:r>
            <a:r>
              <a:rPr lang="ko-KR" altLang="en-US" dirty="0" err="1"/>
              <a:t>스와이프기능</a:t>
            </a:r>
            <a:r>
              <a:rPr lang="ko-KR" altLang="en-US" dirty="0"/>
              <a:t> 반영 필요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4-1] </a:t>
            </a:r>
            <a:r>
              <a:rPr lang="ko-KR" altLang="en-US" dirty="0" err="1"/>
              <a:t>표시레이블</a:t>
            </a:r>
            <a:r>
              <a:rPr lang="ko-KR" altLang="en-US" dirty="0"/>
              <a:t> 영역 항목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통보서 상태 </a:t>
            </a:r>
            <a:r>
              <a:rPr lang="en-US" altLang="ko-KR" dirty="0"/>
              <a:t>: </a:t>
            </a:r>
            <a:r>
              <a:rPr lang="ko-KR" altLang="en-US" dirty="0"/>
              <a:t>작성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송신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반려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4-2] </a:t>
            </a:r>
            <a:r>
              <a:rPr lang="ko-KR" altLang="en-US" dirty="0"/>
              <a:t>문서 정보 영역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en-US" altLang="ko-KR" dirty="0" err="1" smtClean="0"/>
              <a:t>RQNo</a:t>
            </a:r>
            <a:r>
              <a:rPr lang="ko-KR" altLang="en-US" dirty="0"/>
              <a:t> </a:t>
            </a:r>
            <a:r>
              <a:rPr lang="ko-KR" altLang="en-US" dirty="0" err="1" smtClean="0"/>
              <a:t>노출시</a:t>
            </a:r>
            <a:r>
              <a:rPr lang="en-US" altLang="ko-KR" dirty="0" smtClean="0"/>
              <a:t>,</a:t>
            </a:r>
            <a:r>
              <a:rPr lang="ko-KR" altLang="en-US" dirty="0" smtClean="0"/>
              <a:t>해당 </a:t>
            </a:r>
            <a:r>
              <a:rPr lang="ko-KR" altLang="en-US" dirty="0"/>
              <a:t>라인을 넘어가면 </a:t>
            </a:r>
            <a:r>
              <a:rPr lang="en-US" altLang="ko-KR" dirty="0"/>
              <a:t>(…) </a:t>
            </a:r>
            <a:r>
              <a:rPr lang="ko-KR" altLang="en-US" dirty="0" err="1"/>
              <a:t>말줄임</a:t>
            </a:r>
            <a:r>
              <a:rPr lang="ko-KR" altLang="en-US" dirty="0"/>
              <a:t> </a:t>
            </a:r>
            <a:r>
              <a:rPr lang="ko-KR" altLang="en-US" dirty="0" smtClean="0"/>
              <a:t>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4-3] </a:t>
            </a:r>
            <a:r>
              <a:rPr lang="ko-KR" altLang="en-US" dirty="0"/>
              <a:t>문서 제목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제목은 </a:t>
            </a:r>
            <a:r>
              <a:rPr lang="en-US" altLang="ko-KR" dirty="0"/>
              <a:t>2</a:t>
            </a:r>
            <a:r>
              <a:rPr lang="ko-KR" altLang="en-US" dirty="0"/>
              <a:t>줄 까지 노출 이후</a:t>
            </a:r>
            <a:r>
              <a:rPr lang="en-US" altLang="ko-KR" dirty="0"/>
              <a:t>(…) </a:t>
            </a:r>
            <a:r>
              <a:rPr lang="ko-KR" altLang="en-US" dirty="0" err="1"/>
              <a:t>말줄임</a:t>
            </a:r>
            <a:r>
              <a:rPr lang="ko-KR" altLang="en-US" dirty="0"/>
              <a:t> </a:t>
            </a:r>
            <a:r>
              <a:rPr lang="ko-KR" altLang="en-US" dirty="0" smtClean="0"/>
              <a:t>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더보기</a:t>
            </a:r>
            <a:r>
              <a:rPr lang="ko-KR" altLang="en-US" dirty="0"/>
              <a:t> 기능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번항목</a:t>
            </a:r>
            <a:r>
              <a:rPr lang="ko-KR" altLang="en-US" dirty="0"/>
              <a:t> 표시 개수 영역에서 선택한 개수로 증가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예</a:t>
            </a:r>
            <a:r>
              <a:rPr lang="en-US" altLang="ko-KR" dirty="0"/>
              <a:t>) 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 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>
                <a:latin typeface="+mn-ea"/>
              </a:rPr>
              <a:t>견적통보서목록을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  <a:t>MUI-EX-02-M73</a:t>
            </a:r>
            <a:endParaRPr lang="ko-KR" altLang="en-US" sz="1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견적통보서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720490" y="3147273"/>
            <a:ext cx="2630093" cy="1299640"/>
            <a:chOff x="720490" y="4906390"/>
            <a:chExt cx="2630093" cy="1299640"/>
          </a:xfrm>
        </p:grpSpPr>
        <p:sp>
          <p:nvSpPr>
            <p:cNvPr id="74" name="직사각형 73"/>
            <p:cNvSpPr/>
            <p:nvPr/>
          </p:nvSpPr>
          <p:spPr>
            <a:xfrm>
              <a:off x="722583" y="4906391"/>
              <a:ext cx="792000" cy="12996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906390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906390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미청구금액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906390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TESLA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5,000,000.00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2,000.00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374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5120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649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786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923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0603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686" y="2866981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143548" y="2980312"/>
            <a:ext cx="94010" cy="47005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52320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30705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243077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2721616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3081848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3066459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3901796" y="253728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37063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058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212734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98541" y="212329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48325" y="212329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6263883" y="2225116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그룹 13"/>
          <p:cNvGrpSpPr/>
          <p:nvPr/>
        </p:nvGrpSpPr>
        <p:grpSpPr>
          <a:xfrm>
            <a:off x="3795734" y="1580377"/>
            <a:ext cx="2712027" cy="266560"/>
            <a:chOff x="3732083" y="1580377"/>
            <a:chExt cx="2712027" cy="26656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87585" y="1608356"/>
              <a:ext cx="230514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dirty="0" err="1"/>
                <a:t>견적통보서</a:t>
              </a:r>
              <a:r>
                <a:rPr lang="ko-KR" altLang="en-US" sz="800" dirty="0"/>
                <a:t> 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32083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3" name="그룹 92"/>
            <p:cNvGrpSpPr/>
            <p:nvPr/>
          </p:nvGrpSpPr>
          <p:grpSpPr>
            <a:xfrm rot="5400000">
              <a:off x="3806526" y="1640499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6" name="타원 95"/>
            <p:cNvSpPr/>
            <p:nvPr/>
          </p:nvSpPr>
          <p:spPr>
            <a:xfrm>
              <a:off x="6096050" y="1580377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399472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2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108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4354955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109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4339566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3901796" y="381039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49794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타원 11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1550" y="193531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68" y="36358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79504" y="577102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059209" y="37197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210" name="타원 20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498" y="39226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4-2</a:t>
            </a:r>
            <a:endParaRPr lang="ko-KR" altLang="en-US" sz="600" b="1" dirty="0"/>
          </a:p>
        </p:txBody>
      </p:sp>
      <p:sp>
        <p:nvSpPr>
          <p:cNvPr id="211" name="타원 21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40825" y="216858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530862" y="40363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4-3</a:t>
            </a:r>
            <a:endParaRPr lang="ko-KR" altLang="en-US" sz="600" b="1" dirty="0"/>
          </a:p>
        </p:txBody>
      </p:sp>
      <p:sp>
        <p:nvSpPr>
          <p:cNvPr id="213" name="모서리가 둥근 직사각형 212"/>
          <p:cNvSpPr/>
          <p:nvPr/>
        </p:nvSpPr>
        <p:spPr>
          <a:xfrm>
            <a:off x="7885954" y="6297397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34562" y="612098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215" name="모서리가 둥근 직사각형 214"/>
          <p:cNvSpPr/>
          <p:nvPr/>
        </p:nvSpPr>
        <p:spPr>
          <a:xfrm>
            <a:off x="8212174" y="6297397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34562" y="630323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sp>
        <p:nvSpPr>
          <p:cNvPr id="217" name="모서리가 둥근 직사각형 216"/>
          <p:cNvSpPr/>
          <p:nvPr/>
        </p:nvSpPr>
        <p:spPr>
          <a:xfrm>
            <a:off x="8538394" y="6297397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반려</a:t>
            </a:r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82859" y="59999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11258146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13154"/>
            <a:ext cx="23104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견적통보서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24357"/>
          <a:ext cx="8994883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04732633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3350691"/>
            <a:ext cx="26278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337830"/>
              </p:ext>
            </p:extLst>
          </p:nvPr>
        </p:nvGraphicFramePr>
        <p:xfrm>
          <a:off x="455558" y="3561894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94875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RQ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품목건수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tradeSbtBzentyNm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docSttsCd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54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rcvrNm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7039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FE9E77-2FE3-C19F-069E-B1A968551E18}"/>
              </a:ext>
            </a:extLst>
          </p:cNvPr>
          <p:cNvSpPr txBox="1"/>
          <p:nvPr/>
        </p:nvSpPr>
        <p:spPr>
          <a:xfrm>
            <a:off x="458117" y="1667203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3384321-1FDA-D7DB-A01D-492525E74D2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87840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71085391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35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0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3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견적통보 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76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미청구금액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uclmAmt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견적통보 미청구금액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412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0A187A-601E-C504-77A1-6408CAB89188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247E2B1C-DD05-DA89-5308-75E3059E3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291281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58675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048822"/>
              </p:ext>
            </p:extLst>
          </p:nvPr>
        </p:nvGraphicFramePr>
        <p:xfrm>
          <a:off x="452291" y="815034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731515477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계약번호 검색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scwin.btn_ctrtNoSrch_onclick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계약번호조회 팝업창을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scwin.grd_EstmtNtdc_oncellclick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견적통보서상세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UI-EX-02-M77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505276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6791A0A1-FC99-8362-722B-7163A15A8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85341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견적통보서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r>
              <a:rPr lang="ko-KR" altLang="en-US" sz="700" dirty="0" smtClean="0">
                <a:latin typeface="+mn-ea"/>
              </a:rPr>
              <a:t> 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3613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1059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38806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2584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648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15636" y="52523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5140" y="2375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5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86148" y="150025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견적번호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err="1" smtClean="0"/>
              <a:t>회차</a:t>
            </a:r>
            <a:r>
              <a:rPr lang="ko-KR" altLang="en-US" dirty="0" smtClean="0"/>
              <a:t> 노출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견적번호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ko-KR" altLang="en-US" dirty="0" smtClean="0"/>
              <a:t> 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상세내용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상세정보</a:t>
            </a:r>
            <a:r>
              <a:rPr lang="en-US" altLang="ko-KR" dirty="0" smtClean="0"/>
              <a:t>,</a:t>
            </a:r>
            <a:r>
              <a:rPr lang="ko-KR" altLang="en-US" dirty="0"/>
              <a:t> </a:t>
            </a:r>
            <a:r>
              <a:rPr lang="ko-KR" altLang="en-US" dirty="0" err="1" smtClean="0"/>
              <a:t>물품목록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계약 상세 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기본값은 상단 이동 버튼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9399805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상세정보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MUI-EX-02-T73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392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4834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17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1733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483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9361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54671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6800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62157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6215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62156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62156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932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069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067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13438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4808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6179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20490" y="3525371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16141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00399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5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86148" y="1500253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참조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667365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</a:t>
            </a:r>
            <a:r>
              <a:rPr lang="ko-KR" altLang="en-US" dirty="0" smtClean="0"/>
              <a:t>참조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품목수</a:t>
            </a:r>
            <a:r>
              <a:rPr lang="ko-KR" altLang="en-US" dirty="0" smtClean="0"/>
              <a:t> </a:t>
            </a:r>
            <a:r>
              <a:rPr lang="ko-KR" altLang="en-US" dirty="0" smtClean="0"/>
              <a:t>데이터 영역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견적통보서품목데이터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참조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MUI-EX-02-T74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878259"/>
            <a:ext cx="2456098" cy="181140"/>
            <a:chOff x="763156" y="1527996"/>
            <a:chExt cx="2456098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요약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145237"/>
            <a:ext cx="2630093" cy="666849"/>
            <a:chOff x="3865118" y="2946203"/>
            <a:chExt cx="2630093" cy="666849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6668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품목수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변경 </a:t>
              </a:r>
              <a:r>
                <a:rPr lang="ko-KR" altLang="en-US" sz="700" dirty="0" err="1">
                  <a:latin typeface="+mn-ea"/>
                </a:rPr>
                <a:t>품목수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총 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2690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89771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16366" y="2905987"/>
            <a:ext cx="2630093" cy="3283189"/>
            <a:chOff x="3608521" y="2295944"/>
            <a:chExt cx="2630093" cy="3283189"/>
          </a:xfrm>
        </p:grpSpPr>
        <p:grpSp>
          <p:nvGrpSpPr>
            <p:cNvPr id="36" name="그룹 35"/>
            <p:cNvGrpSpPr/>
            <p:nvPr/>
          </p:nvGrpSpPr>
          <p:grpSpPr>
            <a:xfrm>
              <a:off x="3695518" y="2295944"/>
              <a:ext cx="2456098" cy="215444"/>
              <a:chOff x="763156" y="1527996"/>
              <a:chExt cx="2456098" cy="21544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3156" y="1527996"/>
                <a:ext cx="118961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물품 목록 </a:t>
                </a: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총 </a:t>
                </a:r>
                <a:r>
                  <a:rPr lang="en-US" altLang="ko-KR" sz="700" dirty="0">
                    <a:latin typeface="+mn-ea"/>
                  </a:rPr>
                  <a:t>00 </a:t>
                </a:r>
                <a:r>
                  <a:rPr lang="ko-KR" altLang="en-US" sz="700" dirty="0">
                    <a:latin typeface="+mn-ea"/>
                  </a:rPr>
                  <a:t>건</a:t>
                </a:r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 flipV="1">
                <a:off x="3125244" y="1641327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9" name="직선 연결선 3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" name="그룹 40"/>
            <p:cNvGrpSpPr/>
            <p:nvPr/>
          </p:nvGrpSpPr>
          <p:grpSpPr>
            <a:xfrm>
              <a:off x="3608521" y="2562922"/>
              <a:ext cx="2630093" cy="3016211"/>
              <a:chOff x="3865118" y="2946203"/>
              <a:chExt cx="2630093" cy="3016211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3867211" y="2946203"/>
                <a:ext cx="792000" cy="29994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재고번호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부품번호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적용장비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단가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운송구분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납품가능일자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Serial No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품명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수량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MISSING </a:t>
                </a:r>
                <a:r>
                  <a:rPr lang="ko-KR" altLang="en-US" sz="700" dirty="0">
                    <a:latin typeface="+mn-ea"/>
                  </a:rPr>
                  <a:t>구분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비고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1111111111111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00000-010000-123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F-15K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항공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2025-05-01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12345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IRST LRU-1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EA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endPara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AFLC IM : IG(6</a:t>
                </a:r>
                <a:r>
                  <a:rPr lang="ko-KR" altLang="en-US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급 홍길동</a:t>
                </a:r>
                <a:r>
                  <a:rPr lang="en-US" altLang="ko-KR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)</a:t>
                </a:r>
                <a:endParaRPr lang="en-US" altLang="ko-KR" sz="700" dirty="0">
                  <a:latin typeface="+mn-ea"/>
                </a:endParaRP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4590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66503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8787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09244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31587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52087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744297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94973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6627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/>
          <p:cNvGrpSpPr/>
          <p:nvPr/>
        </p:nvGrpSpPr>
        <p:grpSpPr>
          <a:xfrm>
            <a:off x="3836701" y="1548098"/>
            <a:ext cx="2630093" cy="3016211"/>
            <a:chOff x="3865118" y="2946203"/>
            <a:chExt cx="2630093" cy="3016211"/>
          </a:xfrm>
        </p:grpSpPr>
        <p:sp>
          <p:nvSpPr>
            <p:cNvPr id="71" name="직사각형 70"/>
            <p:cNvSpPr/>
            <p:nvPr/>
          </p:nvSpPr>
          <p:spPr>
            <a:xfrm>
              <a:off x="3867211" y="2946203"/>
              <a:ext cx="792000" cy="29994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납품가능일자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MISSING </a:t>
              </a:r>
              <a:r>
                <a:rPr lang="ko-KR" altLang="en-US" sz="700" dirty="0">
                  <a:latin typeface="+mn-ea"/>
                </a:rPr>
                <a:t>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AFLC IM : IG(6</a:t>
              </a: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급 홍길동</a:t>
              </a: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)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087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42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97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9321" y="2937338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392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4834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17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상세정보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1733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물품목록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483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5" name="그룹 94"/>
          <p:cNvGrpSpPr/>
          <p:nvPr/>
        </p:nvGrpSpPr>
        <p:grpSpPr>
          <a:xfrm>
            <a:off x="2924086" y="1593610"/>
            <a:ext cx="422853" cy="187961"/>
            <a:chOff x="3641308" y="2234886"/>
            <a:chExt cx="422853" cy="187961"/>
          </a:xfrm>
        </p:grpSpPr>
        <p:sp>
          <p:nvSpPr>
            <p:cNvPr id="96" name="타원 95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7" name="그룹 96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02" name="직선 연결선 1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8" name="타원 97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9" name="그룹 98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00" name="직선 연결선 9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4" name="타원 10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16141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0897330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31519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1042722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77358683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견적일자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</a:t>
                      </a: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3956933"/>
            <a:ext cx="287795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173547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39155174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부품번호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적용장비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단가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운송구분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납품가능일자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A540FFE-2400-F72E-FEF3-C0213792E88D}"/>
              </a:ext>
            </a:extLst>
          </p:cNvPr>
          <p:cNvSpPr txBox="1"/>
          <p:nvPr/>
        </p:nvSpPr>
        <p:spPr>
          <a:xfrm>
            <a:off x="458117" y="570805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F88B6F33-3B59-4E72-BA0A-6E61393E8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85248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830447"/>
            <a:ext cx="287795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047061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44627006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964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수량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18,3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MISSING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estmtChgSeCd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MISSING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15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567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B4853B-77A9-063D-FD79-4874F64197E8}"/>
              </a:ext>
            </a:extLst>
          </p:cNvPr>
          <p:cNvSpPr txBox="1"/>
          <p:nvPr/>
        </p:nvSpPr>
        <p:spPr>
          <a:xfrm>
            <a:off x="449462" y="2346846"/>
            <a:ext cx="23201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품목수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dm_itemCntInfo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4774463-17E5-59BA-C57D-82FEFFD58F5A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2563460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92632093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ko-KR" altLang="en-US" sz="800" dirty="0" err="1">
                          <a:latin typeface="+mn-ea"/>
                        </a:rPr>
                        <a:t>작성품목수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변경품목수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chgItemCnt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ko-KR" altLang="en-US" sz="800" dirty="0" err="1">
                          <a:latin typeface="+mn-ea"/>
                        </a:rPr>
                        <a:t>변경품목수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15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</a:t>
                      </a:r>
                      <a:r>
                        <a:rPr lang="ko-KR" altLang="en-US" sz="800" dirty="0" err="1">
                          <a:latin typeface="+mn-ea"/>
                        </a:rPr>
                        <a:t>총금액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5673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D5E5C85-FD4B-87B2-89FB-EFADA1BC3AFF}"/>
              </a:ext>
            </a:extLst>
          </p:cNvPr>
          <p:cNvSpPr txBox="1"/>
          <p:nvPr/>
        </p:nvSpPr>
        <p:spPr>
          <a:xfrm>
            <a:off x="458117" y="576901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7CFAF236-CC1E-CBBA-7EA4-443CFC13C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36985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A18B3F-D143-C88D-B9A9-71068F2A7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09EDC-0ED7-3553-9AB2-299F5F45A058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44E6FDD-3643-671D-43FC-9D1C9000A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382061"/>
              </p:ext>
            </p:extLst>
          </p:nvPr>
        </p:nvGraphicFramePr>
        <p:xfrm>
          <a:off x="458117" y="79954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견적통보서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견적통보서출력물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출력화면을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UI-EX-02-R86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19699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94BB505-861D-7349-B600-49B8BD8C7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58657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목록을 조회하고 통보서 진행상태를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발주의뢰서</a:t>
            </a:r>
            <a:r>
              <a:rPr lang="ko-KR" altLang="en-US" sz="800" dirty="0">
                <a:latin typeface="+mn-ea"/>
              </a:rPr>
              <a:t> 목록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78516" y="2279604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2707397" y="2270279"/>
            <a:ext cx="582849" cy="15479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검색필터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152929" y="35174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3-1</a:t>
            </a:r>
            <a:endParaRPr lang="ko-KR" altLang="en-US" sz="600" b="1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3-3</a:t>
            </a:r>
            <a:endParaRPr lang="ko-KR" altLang="en-US" sz="600" b="1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5140" y="2375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3-2</a:t>
            </a:r>
            <a:endParaRPr lang="ko-KR" altLang="en-US" sz="600" b="1" dirty="0"/>
          </a:p>
        </p:txBody>
      </p:sp>
      <p:sp>
        <p:nvSpPr>
          <p:cNvPr id="9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검색한 </a:t>
            </a:r>
            <a:r>
              <a:rPr lang="ko-KR" altLang="en-US" dirty="0" err="1" smtClean="0"/>
              <a:t>계약번호가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없는경우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“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검색하여 조회해 주세요</a:t>
            </a:r>
            <a:r>
              <a:rPr lang="en-US" altLang="ko-KR" dirty="0" smtClean="0"/>
              <a:t>“ </a:t>
            </a:r>
            <a:r>
              <a:rPr lang="ko-KR" altLang="en-US" dirty="0" err="1" smtClean="0"/>
              <a:t>안내문구</a:t>
            </a:r>
            <a:r>
              <a:rPr lang="ko-KR" altLang="en-US" dirty="0" smtClean="0"/>
              <a:t>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이벤트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3-1] default)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선택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3-2] </a:t>
            </a:r>
            <a:r>
              <a:rPr lang="ko-KR" altLang="en-US" dirty="0" smtClean="0"/>
              <a:t>검색할 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입력하여 조회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3-3]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조회 팝업 호출 </a:t>
            </a:r>
            <a:r>
              <a:rPr lang="en-US" altLang="ko-KR" dirty="0" smtClean="0"/>
              <a:t>(MUI-EX-02-P79)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21205" y="3664242"/>
            <a:ext cx="188636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계약 번호를 검색하여 조회해 주세요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34447" y="20508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40703" y="18066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02" name="직사각형 101"/>
          <p:cNvSpPr/>
          <p:nvPr/>
        </p:nvSpPr>
        <p:spPr>
          <a:xfrm>
            <a:off x="7071987" y="6052457"/>
            <a:ext cx="2319141" cy="2581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smtClean="0"/>
              <a:t>수신일</a:t>
            </a:r>
            <a:r>
              <a:rPr lang="en-US" altLang="ko-KR" sz="500" dirty="0" err="1" smtClean="0"/>
              <a:t>frome</a:t>
            </a:r>
            <a:r>
              <a:rPr lang="en-US" altLang="ko-KR" sz="500" dirty="0" smtClean="0"/>
              <a:t>,</a:t>
            </a:r>
            <a:r>
              <a:rPr lang="ko-KR" altLang="en-US" sz="500" dirty="0" smtClean="0"/>
              <a:t>수신일 </a:t>
            </a:r>
            <a:r>
              <a:rPr lang="en-US" altLang="ko-KR" sz="500" dirty="0" smtClean="0"/>
              <a:t>to, </a:t>
            </a:r>
            <a:r>
              <a:rPr lang="ko-KR" altLang="en-US" sz="500" dirty="0" err="1" smtClean="0"/>
              <a:t>사업명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통보서상태</a:t>
            </a:r>
            <a:r>
              <a:rPr lang="ko-KR" altLang="en-US" sz="500" dirty="0" smtClean="0"/>
              <a:t> </a:t>
            </a:r>
            <a:r>
              <a:rPr lang="en-US" altLang="ko-KR" sz="500" dirty="0" smtClean="0"/>
              <a:t/>
            </a:r>
            <a:br>
              <a:rPr lang="en-US" altLang="ko-KR" sz="500" dirty="0" smtClean="0"/>
            </a:br>
            <a:endParaRPr lang="en-US" altLang="ko-KR" sz="500" dirty="0" smtClean="0"/>
          </a:p>
        </p:txBody>
      </p:sp>
    </p:spTree>
    <p:extLst>
      <p:ext uri="{BB962C8B-B14F-4D97-AF65-F5344CB8AC3E}">
        <p14:creationId xmlns:p14="http://schemas.microsoft.com/office/powerpoint/2010/main" val="29993993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목록을 조회하고 통보서 진행상태를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발주의뢰서</a:t>
            </a:r>
            <a:r>
              <a:rPr lang="ko-KR" altLang="en-US" sz="800" dirty="0">
                <a:latin typeface="+mn-ea"/>
              </a:rPr>
              <a:t> 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468991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발주번호</a:t>
            </a:r>
            <a:r>
              <a:rPr lang="ko-KR" altLang="en-US" sz="700" dirty="0"/>
              <a:t> </a:t>
            </a:r>
            <a:r>
              <a:rPr lang="en-US" altLang="ko-KR" sz="700" dirty="0"/>
              <a:t>01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29223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화폐단위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37655" y="3813834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미 달러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1,000.00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28466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38509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368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491839" y="250560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042" y="231264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792764" y="2505600"/>
            <a:ext cx="3329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187312" y="250560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1143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52466"/>
            <a:ext cx="2473257" cy="1080735"/>
            <a:chOff x="781461" y="3087955"/>
            <a:chExt cx="2473257" cy="1080735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 err="1">
                  <a:solidFill>
                    <a:prstClr val="black"/>
                  </a:solidFill>
                </a:rPr>
                <a:t>견적번호</a:t>
              </a:r>
              <a:r>
                <a:rPr lang="ko-KR" altLang="en-US" sz="700" dirty="0">
                  <a:solidFill>
                    <a:prstClr val="black"/>
                  </a:solidFill>
                </a:rPr>
                <a:t> </a:t>
              </a:r>
              <a:r>
                <a:rPr lang="en-US" altLang="ko-KR" sz="700" dirty="0">
                  <a:solidFill>
                    <a:prstClr val="black"/>
                  </a:solidFill>
                </a:rPr>
                <a:t>02</a:t>
              </a:r>
            </a:p>
            <a:p>
              <a:pPr lvl="0"/>
              <a:r>
                <a:rPr lang="en-US" altLang="ko-KR" sz="900" b="1" dirty="0">
                  <a:solidFill>
                    <a:prstClr val="black"/>
                  </a:solidFill>
                </a:rPr>
                <a:t>F-15 </a:t>
              </a:r>
              <a:r>
                <a:rPr lang="ko-KR" altLang="en-US" sz="900" b="1" dirty="0">
                  <a:solidFill>
                    <a:prstClr val="black"/>
                  </a:solidFill>
                </a:rPr>
                <a:t>부품구매</a:t>
              </a:r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항목 수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화폐단위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납기일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837719" y="3617129"/>
              <a:ext cx="397545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3 </a:t>
              </a:r>
              <a:r>
                <a:rPr lang="ko-KR" altLang="en-US" sz="600" dirty="0">
                  <a:latin typeface="+mn-ea"/>
                </a:rPr>
                <a:t>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미 달러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1,000.00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332964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>
                  <a:solidFill>
                    <a:schemeClr val="dk1"/>
                  </a:solidFill>
                </a:rPr>
                <a:t>미작성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039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2707397" y="2270279"/>
            <a:ext cx="582849" cy="15479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검색필터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73713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54110" y="31956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50214" y="578852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9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표시 개수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총 개수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표시 개수 </a:t>
            </a:r>
            <a:r>
              <a:rPr lang="en-US" altLang="ko-KR" dirty="0" smtClean="0"/>
              <a:t>(</a:t>
            </a:r>
            <a:r>
              <a:rPr lang="ko-KR" altLang="en-US" dirty="0" smtClean="0"/>
              <a:t>선택한 건수 만큼 보여주고 </a:t>
            </a:r>
            <a:r>
              <a:rPr lang="ko-KR" altLang="en-US" dirty="0" err="1" smtClean="0"/>
              <a:t>더보기시</a:t>
            </a:r>
            <a:r>
              <a:rPr lang="ko-KR" altLang="en-US" dirty="0" smtClean="0"/>
              <a:t> 추가로 불러옴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/>
              <a:t> </a:t>
            </a:r>
            <a:r>
              <a:rPr lang="ko-KR" altLang="en-US" dirty="0" smtClean="0"/>
              <a:t>해당 목록에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목록 카드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카드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상세 페이지 이동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레이블이 화면을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2-1] </a:t>
            </a:r>
            <a:r>
              <a:rPr lang="ko-KR" altLang="en-US" dirty="0" err="1" smtClean="0"/>
              <a:t>표시레이블</a:t>
            </a:r>
            <a:r>
              <a:rPr lang="ko-KR" altLang="en-US" dirty="0" smtClean="0"/>
              <a:t> 영역 항목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통보서 상태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작성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미작성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송신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2-2] </a:t>
            </a:r>
            <a:r>
              <a:rPr lang="ko-KR" altLang="en-US" dirty="0" smtClean="0"/>
              <a:t>문서 정보 영역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발주번호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en-US" altLang="ko-KR" dirty="0" smtClean="0"/>
              <a:t>,</a:t>
            </a:r>
            <a:r>
              <a:rPr lang="ko-KR" altLang="en-US" dirty="0" smtClean="0"/>
              <a:t>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2-3]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더보기</a:t>
            </a:r>
            <a:r>
              <a:rPr lang="ko-KR" altLang="en-US" dirty="0" smtClean="0"/>
              <a:t> 기능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- 3</a:t>
            </a:r>
            <a:r>
              <a:rPr lang="ko-KR" altLang="en-US" dirty="0" err="1" smtClean="0"/>
              <a:t>번항목</a:t>
            </a:r>
            <a:r>
              <a:rPr lang="ko-KR" altLang="en-US" dirty="0" smtClean="0"/>
              <a:t> 표시 개수 영역에서 선택한 개수로 증가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예</a:t>
            </a:r>
            <a:r>
              <a:rPr lang="en-US" altLang="ko-KR" dirty="0" smtClean="0"/>
              <a:t>) 10</a:t>
            </a:r>
            <a:r>
              <a:rPr lang="ko-KR" altLang="en-US" dirty="0" smtClean="0"/>
              <a:t>개 노출 이후 </a:t>
            </a:r>
            <a:r>
              <a:rPr lang="ko-KR" altLang="en-US" dirty="0" err="1" smtClean="0"/>
              <a:t>더보기</a:t>
            </a:r>
            <a:r>
              <a:rPr lang="ko-KR" altLang="en-US" dirty="0" smtClean="0"/>
              <a:t> 버튼 클릭으로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개씩 추가 로드</a:t>
            </a:r>
            <a:r>
              <a:rPr lang="en-US" altLang="ko-KR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dirty="0" smtClean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9660" y="22265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2-1</a:t>
            </a:r>
            <a:endParaRPr lang="ko-KR" altLang="en-US" sz="600" b="1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06316" y="33645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2-2</a:t>
            </a:r>
            <a:endParaRPr lang="ko-KR" altLang="en-US" sz="600" b="1" dirty="0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31070" y="355772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2-3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32886866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검색필터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 err="1">
                <a:latin typeface="+mn-ea"/>
              </a:rPr>
              <a:t>발주의뢰서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MUI-EX-02-P81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675399" y="2006807"/>
            <a:ext cx="2712027" cy="789619"/>
            <a:chOff x="675399" y="4736534"/>
            <a:chExt cx="2712027" cy="78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736534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검색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959072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4834224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4986703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2025-10-15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5006650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5217372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4986703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2026-01-16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52615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564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4607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 flipV="1">
            <a:off x="3145721" y="2943764"/>
            <a:ext cx="91438" cy="45719"/>
            <a:chOff x="6812560" y="3297172"/>
            <a:chExt cx="94010" cy="47005"/>
          </a:xfrm>
        </p:grpSpPr>
        <p:cxnSp>
          <p:nvCxnSpPr>
            <p:cNvPr id="149" name="직선 연결선 14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직선 연결선 14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83065"/>
            <a:ext cx="67077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1457007" y="312850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 rot="16200000">
            <a:off x="3140950" y="3197306"/>
            <a:ext cx="91438" cy="45719"/>
            <a:chOff x="6812560" y="3297172"/>
            <a:chExt cx="94010" cy="47005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80601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910690"/>
            <a:ext cx="23104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발주의뢰서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121893"/>
          <a:ext cx="8994883" cy="89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81687254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3148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4133147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796007"/>
              </p:ext>
            </p:extLst>
          </p:nvPr>
        </p:nvGraphicFramePr>
        <p:xfrm>
          <a:off x="452291" y="4361426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1023524960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수신일을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년전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부터 현재일로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scwin.grd_orderRqdc_oncellclick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발주의뢰서상세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UI-EX-02-M80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27619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2081243"/>
            <a:ext cx="262468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255722"/>
              </p:ext>
            </p:extLst>
          </p:nvPr>
        </p:nvGraphicFramePr>
        <p:xfrm>
          <a:off x="455558" y="2292446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3836786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항목수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itemSeq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항목수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화폐단위</a:t>
                      </a:r>
                      <a:endParaRPr lang="en-US" altLang="ko-KR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납기일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dudtYmd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통보서상태</a:t>
                      </a:r>
                      <a:endParaRPr lang="ko-KR" altLang="en-US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ntdcStts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진행상태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3216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8224788-20B5-1038-4512-AA9F9D45169D}"/>
              </a:ext>
            </a:extLst>
          </p:cNvPr>
          <p:cNvSpPr txBox="1"/>
          <p:nvPr/>
        </p:nvSpPr>
        <p:spPr>
          <a:xfrm>
            <a:off x="458117" y="680533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66BE2E44-CE92-75DD-1730-97CE577E8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18180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발주의뢰서상세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발주의뢰서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발주번호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화폐단위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미 달러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1,000.00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r>
              <a:rPr lang="ko-KR" altLang="en-US" sz="700" dirty="0" smtClean="0">
                <a:latin typeface="+mn-ea"/>
              </a:rPr>
              <a:t> 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62389"/>
            <a:ext cx="2630093" cy="1773664"/>
            <a:chOff x="3839894" y="2789208"/>
            <a:chExt cx="2630093" cy="1773664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789208"/>
              <a:ext cx="792000" cy="17707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신용장정보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MD1111111111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56139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발주번호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1059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38806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2584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46482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5140" y="23750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1-1] </a:t>
            </a:r>
            <a:r>
              <a:rPr lang="ko-KR" altLang="en-US" dirty="0"/>
              <a:t>레이블이 화면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화면 넘치는 경우 드래그하여 확인 가능 </a:t>
            </a:r>
            <a:r>
              <a:rPr lang="en-US" altLang="ko-KR" dirty="0"/>
              <a:t>(</a:t>
            </a:r>
            <a:r>
              <a:rPr lang="ko-KR" altLang="en-US" dirty="0" err="1"/>
              <a:t>스와이프기능</a:t>
            </a:r>
            <a:r>
              <a:rPr lang="ko-KR" altLang="en-US" dirty="0"/>
              <a:t> 반영 필요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1-2] </a:t>
            </a:r>
            <a:r>
              <a:rPr lang="ko-KR" altLang="en-US" dirty="0"/>
              <a:t>문서 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 smtClean="0"/>
              <a:t>발주번호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err="1" smtClean="0"/>
              <a:t>회차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해당 </a:t>
            </a:r>
            <a:r>
              <a:rPr lang="ko-KR" altLang="en-US" dirty="0"/>
              <a:t>라인을 넘어가면 </a:t>
            </a:r>
            <a:r>
              <a:rPr lang="en-US" altLang="ko-KR" dirty="0"/>
              <a:t>(…) </a:t>
            </a:r>
            <a:r>
              <a:rPr lang="ko-KR" altLang="en-US" dirty="0" err="1"/>
              <a:t>말줄임</a:t>
            </a:r>
            <a:r>
              <a:rPr lang="ko-KR" altLang="en-US" dirty="0"/>
              <a:t>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1-3] </a:t>
            </a:r>
            <a:r>
              <a:rPr lang="ko-KR" altLang="en-US" dirty="0"/>
              <a:t>문서 제목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제목은 </a:t>
            </a:r>
            <a:r>
              <a:rPr lang="en-US" altLang="ko-KR" dirty="0"/>
              <a:t>2</a:t>
            </a:r>
            <a:r>
              <a:rPr lang="ko-KR" altLang="en-US" dirty="0"/>
              <a:t>줄 까지 노출 이후</a:t>
            </a:r>
            <a:r>
              <a:rPr lang="en-US" altLang="ko-KR" dirty="0"/>
              <a:t>(…) </a:t>
            </a:r>
            <a:r>
              <a:rPr lang="ko-KR" altLang="en-US" dirty="0" err="1"/>
              <a:t>말줄임</a:t>
            </a:r>
            <a:r>
              <a:rPr lang="ko-KR" altLang="en-US" dirty="0"/>
              <a:t>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내역이 있는 경우 만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내용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상세정보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물품목록</a:t>
            </a:r>
            <a:r>
              <a:rPr lang="ko-KR" altLang="en-US" dirty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&gt; </a:t>
            </a:r>
            <a:r>
              <a:rPr lang="ko-KR" altLang="en-US" dirty="0"/>
              <a:t>로그인 필요 서비스 안내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화면을 </a:t>
            </a:r>
            <a:r>
              <a:rPr lang="ko-KR" altLang="en-US" dirty="0" err="1"/>
              <a:t>넘치는경우</a:t>
            </a:r>
            <a:r>
              <a:rPr lang="ko-KR" altLang="en-US" dirty="0"/>
              <a:t> 드래그하여 확인</a:t>
            </a:r>
            <a:r>
              <a:rPr lang="en-US" altLang="ko-KR" dirty="0"/>
              <a:t>(</a:t>
            </a:r>
            <a:r>
              <a:rPr lang="ko-KR" altLang="en-US" dirty="0" err="1"/>
              <a:t>스와이프기능</a:t>
            </a:r>
            <a:r>
              <a:rPr lang="ko-KR" altLang="en-US" dirty="0"/>
              <a:t> 반영 필요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 상세 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공고에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기본값은 상단 이동 버튼</a:t>
            </a:r>
            <a:endParaRPr lang="en-US" altLang="ko-KR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719458" y="482036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5663725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상세정보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MUI-EX-02-T75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55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339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3396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95273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56334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69665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63820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63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63819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63819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9492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0863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233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13604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497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6345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20490" y="3511585"/>
            <a:ext cx="2630093" cy="1773664"/>
            <a:chOff x="3839894" y="2789208"/>
            <a:chExt cx="2630093" cy="1773664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789208"/>
              <a:ext cx="792000" cy="17707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신용장정보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MD1111111111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56139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16158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200565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참조</a:t>
            </a:r>
            <a:endParaRPr lang="en-US" altLang="ko-KR" dirty="0"/>
          </a:p>
        </p:txBody>
      </p:sp>
      <p:sp>
        <p:nvSpPr>
          <p:cNvPr id="153" name="직사각형 152"/>
          <p:cNvSpPr/>
          <p:nvPr/>
        </p:nvSpPr>
        <p:spPr>
          <a:xfrm>
            <a:off x="7091292" y="5963807"/>
            <a:ext cx="2287397" cy="2422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err="1" smtClean="0"/>
              <a:t>발주일자</a:t>
            </a:r>
            <a:r>
              <a:rPr lang="en-US" altLang="ko-KR" sz="500" dirty="0" smtClean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27992522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물품 </a:t>
            </a:r>
            <a:r>
              <a:rPr lang="ko-KR" altLang="en-US" dirty="0"/>
              <a:t>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MUI-EX-02-T76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854884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121861"/>
            <a:ext cx="2630093" cy="3662543"/>
            <a:chOff x="3865118" y="2946202"/>
            <a:chExt cx="2630093" cy="366254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2"/>
              <a:ext cx="792000" cy="36601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우선순위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하자보증</a:t>
              </a:r>
              <a:r>
                <a:rPr lang="ko-KR" altLang="en-US" sz="700" dirty="0">
                  <a:latin typeface="+mn-ea"/>
                </a:rPr>
                <a:t> 유무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err="1">
                  <a:latin typeface="+mn-ea"/>
                </a:rPr>
                <a:t>PriceList</a:t>
              </a:r>
              <a:r>
                <a:rPr lang="en-US" altLang="ko-KR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적용년도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납품요구일자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KD111000001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ROU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W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 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72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506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567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7041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8411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6075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3531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91915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55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339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상세정보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3396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물품목록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212580" y="185000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3" name="그룹 52"/>
          <p:cNvGrpSpPr/>
          <p:nvPr/>
        </p:nvGrpSpPr>
        <p:grpSpPr>
          <a:xfrm>
            <a:off x="2924086" y="1595273"/>
            <a:ext cx="422853" cy="187961"/>
            <a:chOff x="3641308" y="2234886"/>
            <a:chExt cx="422853" cy="187961"/>
          </a:xfrm>
        </p:grpSpPr>
        <p:sp>
          <p:nvSpPr>
            <p:cNvPr id="54" name="타원 53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5" name="그룹 54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60" name="직선 연결선 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6" name="타원 55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7" name="그룹 56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58" name="직선 연결선 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62" name="타원 6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2826" y="16158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4312978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70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96797"/>
            <a:ext cx="21501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348342"/>
              </p:ext>
            </p:extLst>
          </p:nvPr>
        </p:nvGraphicFramePr>
        <p:xfrm>
          <a:off x="455558" y="1108000"/>
          <a:ext cx="8994883" cy="290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49510346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발주일자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신용장번호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lcNo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신용장번호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493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4205091"/>
            <a:ext cx="287475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421705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2403028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orderClmNo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청구번호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0CA2773-291A-19B7-A65A-DF8C1BC71574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0570B5D5-1017-6AB3-E03A-8DC4E32B7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83334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941699"/>
            <a:ext cx="287475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58313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82848911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1)</a:t>
                      </a:r>
                      <a:endParaRPr lang="en-US" altLang="ko-KR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필수여부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운송구분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운송구분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우선순위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우선순위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하자보증유무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flwGrnteEn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하자보증유무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prcAplcnYr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481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납품요구일자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납품요구일자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76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5064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D19E31C-2FDE-08F4-520A-F1BA3FF8AC3E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BF2EC95A-5A84-AF72-3864-F745DCE21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82447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1176E2-B3F1-8A10-4975-9EAFB535D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4B1C8-80A0-2A21-E2D6-F082A20592E4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57236D2-C531-C445-3790-00FDF6F2D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613164"/>
              </p:ext>
            </p:extLst>
          </p:nvPr>
        </p:nvGraphicFramePr>
        <p:xfrm>
          <a:off x="458117" y="799547"/>
          <a:ext cx="8995591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1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297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발주통보서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발주의뢰서출력물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UI-EX-02-R87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04730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2228E10E-5D1D-7B44-A1BC-AD5D10541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13492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MUI-EX-02-M77</a:t>
            </a:r>
            <a:endParaRPr lang="ko-KR" altLang="en-US" dirty="0"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152929" y="35174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3080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3-1</a:t>
            </a:r>
            <a:endParaRPr lang="ko-KR" altLang="en-US" sz="600" b="1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775" y="25499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3-3</a:t>
            </a:r>
            <a:endParaRPr lang="ko-KR" altLang="en-US" sz="600" b="1" dirty="0"/>
          </a:p>
        </p:txBody>
      </p:sp>
      <p:sp>
        <p:nvSpPr>
          <p:cNvPr id="115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16122" y="1483462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검색한 </a:t>
            </a:r>
            <a:r>
              <a:rPr lang="ko-KR" altLang="en-US" dirty="0" err="1" smtClean="0"/>
              <a:t>계약번호가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없는경우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“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검색하여 조회해 주세요</a:t>
            </a:r>
            <a:r>
              <a:rPr lang="en-US" altLang="ko-KR" dirty="0" smtClean="0"/>
              <a:t>“ </a:t>
            </a:r>
            <a:r>
              <a:rPr lang="ko-KR" altLang="en-US" dirty="0" err="1" smtClean="0"/>
              <a:t>안내문구</a:t>
            </a:r>
            <a:r>
              <a:rPr lang="ko-KR" altLang="en-US" dirty="0" smtClean="0"/>
              <a:t>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이벤트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3-1] default)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선택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3-2] </a:t>
            </a:r>
            <a:r>
              <a:rPr lang="ko-KR" altLang="en-US" dirty="0" smtClean="0"/>
              <a:t>검색할 </a:t>
            </a:r>
            <a:r>
              <a:rPr lang="ko-KR" altLang="en-US" dirty="0" err="1" smtClean="0"/>
              <a:t>계약번호를</a:t>
            </a:r>
            <a:r>
              <a:rPr lang="ko-KR" altLang="en-US" dirty="0" smtClean="0"/>
              <a:t> 입력하여 조회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3-3]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조회 팝업 호출 </a:t>
            </a:r>
            <a:r>
              <a:rPr lang="en-US" altLang="ko-KR" dirty="0" smtClean="0"/>
              <a:t>(MUI-EX-02-P79)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321205" y="3664242"/>
            <a:ext cx="188636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계약 번호를 검색하여 조회해 주세요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34447" y="20508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40703" y="180664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24" name="직사각형 123"/>
          <p:cNvSpPr/>
          <p:nvPr/>
        </p:nvSpPr>
        <p:spPr>
          <a:xfrm>
            <a:off x="7066669" y="5986847"/>
            <a:ext cx="2324460" cy="3396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smtClean="0"/>
              <a:t>건수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유효일자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무역대리점</a:t>
            </a:r>
            <a:r>
              <a:rPr lang="ko-KR" altLang="en-US" sz="500" dirty="0" smtClean="0"/>
              <a:t> </a:t>
            </a:r>
            <a:r>
              <a:rPr lang="en-US" altLang="ko-KR" sz="500" dirty="0" smtClean="0"/>
              <a:t>, </a:t>
            </a:r>
            <a:r>
              <a:rPr lang="ko-KR" altLang="en-US" sz="500" dirty="0" err="1" smtClean="0"/>
              <a:t>사업명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작성일자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진행상태 </a:t>
            </a:r>
            <a:endParaRPr lang="en-US" altLang="ko-KR" sz="500" dirty="0" smtClean="0"/>
          </a:p>
        </p:txBody>
      </p:sp>
    </p:spTree>
    <p:extLst>
      <p:ext uri="{BB962C8B-B14F-4D97-AF65-F5344CB8AC3E}">
        <p14:creationId xmlns:p14="http://schemas.microsoft.com/office/powerpoint/2010/main" val="29885029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MUI-EX-02-M77</a:t>
            </a:r>
            <a:endParaRPr lang="ko-KR" altLang="en-US" dirty="0"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7844941" y="628174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193549" y="606712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8171161" y="628174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193549" y="628758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720490" y="3147273"/>
            <a:ext cx="2630093" cy="1299640"/>
            <a:chOff x="720490" y="4906390"/>
            <a:chExt cx="2630093" cy="1299640"/>
          </a:xfrm>
        </p:grpSpPr>
        <p:sp>
          <p:nvSpPr>
            <p:cNvPr id="74" name="직사각형 73"/>
            <p:cNvSpPr/>
            <p:nvPr/>
          </p:nvSpPr>
          <p:spPr>
            <a:xfrm>
              <a:off x="722583" y="4906391"/>
              <a:ext cx="792000" cy="12996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906390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906390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미청구금액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906390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TESLA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5,000,000.00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2,000.00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374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5120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649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786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923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0603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모서리가 둥근 직사각형 88"/>
          <p:cNvSpPr/>
          <p:nvPr/>
        </p:nvSpPr>
        <p:spPr>
          <a:xfrm>
            <a:off x="8497381" y="628174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반려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686" y="2866981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143548" y="2980312"/>
            <a:ext cx="94010" cy="47005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52320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30705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243077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2721616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3081848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3066459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3901796" y="253728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37063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058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212734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98541" y="212329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48325" y="212329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6263883" y="2225116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그룹 13"/>
          <p:cNvGrpSpPr/>
          <p:nvPr/>
        </p:nvGrpSpPr>
        <p:grpSpPr>
          <a:xfrm>
            <a:off x="3795734" y="1580377"/>
            <a:ext cx="2712027" cy="266560"/>
            <a:chOff x="3732083" y="1580377"/>
            <a:chExt cx="2712027" cy="26656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87585" y="1608356"/>
              <a:ext cx="230514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dirty="0" err="1"/>
                <a:t>발주통보서</a:t>
              </a:r>
              <a:r>
                <a:rPr lang="ko-KR" altLang="en-US" sz="800" dirty="0"/>
                <a:t> 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32083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3" name="그룹 92"/>
            <p:cNvGrpSpPr/>
            <p:nvPr/>
          </p:nvGrpSpPr>
          <p:grpSpPr>
            <a:xfrm rot="5400000">
              <a:off x="3806526" y="1640499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6" name="타원 95"/>
            <p:cNvSpPr/>
            <p:nvPr/>
          </p:nvSpPr>
          <p:spPr>
            <a:xfrm>
              <a:off x="6096050" y="1580377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399472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2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108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4354955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109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4339566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3901796" y="381039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49794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 txBox="1">
            <a:spLocks/>
          </p:cNvSpPr>
          <p:nvPr/>
        </p:nvSpPr>
        <p:spPr>
          <a:xfrm>
            <a:off x="7020182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ko-KR" altLang="en-US" dirty="0" err="1" smtClean="0"/>
              <a:t>계약번호로</a:t>
            </a:r>
            <a:r>
              <a:rPr lang="ko-KR" altLang="en-US" dirty="0" smtClean="0"/>
              <a:t> 검색한 계약 정보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해당 </a:t>
            </a:r>
            <a:r>
              <a:rPr lang="ko-KR" altLang="en-US" dirty="0" err="1" smtClean="0"/>
              <a:t>계약건에</a:t>
            </a:r>
            <a:r>
              <a:rPr lang="ko-KR" altLang="en-US" dirty="0" smtClean="0"/>
              <a:t> 연계된 견적 정보 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표시 개수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총 개수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표시 개수 </a:t>
            </a:r>
            <a:r>
              <a:rPr lang="en-US" altLang="ko-KR" dirty="0" smtClean="0"/>
              <a:t>(</a:t>
            </a:r>
            <a:r>
              <a:rPr lang="ko-KR" altLang="en-US" dirty="0" smtClean="0"/>
              <a:t>선택한 건수 만큼 보여주고 </a:t>
            </a:r>
            <a:r>
              <a:rPr lang="ko-KR" altLang="en-US" dirty="0" err="1" smtClean="0"/>
              <a:t>더보기시</a:t>
            </a:r>
            <a:r>
              <a:rPr lang="ko-KR" altLang="en-US" dirty="0" smtClean="0"/>
              <a:t> 추가로 불러옴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ko-KR" altLang="en-US" dirty="0" smtClean="0"/>
              <a:t>목록 카드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카드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상세 페이지 이동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레이블이 화면을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4-1] </a:t>
            </a:r>
            <a:r>
              <a:rPr lang="ko-KR" altLang="en-US" dirty="0" err="1" smtClean="0"/>
              <a:t>표시레이블</a:t>
            </a:r>
            <a:r>
              <a:rPr lang="ko-KR" altLang="en-US" dirty="0" smtClean="0"/>
              <a:t> 영역 항목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통보서 상태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작성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송신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반려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4-2] </a:t>
            </a:r>
            <a:r>
              <a:rPr lang="ko-KR" altLang="en-US" dirty="0" smtClean="0"/>
              <a:t>문서 정보 영역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dirty="0" err="1" smtClean="0"/>
              <a:t>RQNo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노출시</a:t>
            </a:r>
            <a:r>
              <a:rPr lang="en-US" altLang="ko-KR" dirty="0" smtClean="0"/>
              <a:t>,</a:t>
            </a:r>
            <a:r>
              <a:rPr lang="ko-KR" altLang="en-US" dirty="0" smtClean="0"/>
              <a:t>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4-3]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더보기</a:t>
            </a:r>
            <a:r>
              <a:rPr lang="ko-KR" altLang="en-US" dirty="0" smtClean="0"/>
              <a:t> 기능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- 3</a:t>
            </a:r>
            <a:r>
              <a:rPr lang="ko-KR" altLang="en-US" dirty="0" err="1" smtClean="0"/>
              <a:t>번항목</a:t>
            </a:r>
            <a:r>
              <a:rPr lang="ko-KR" altLang="en-US" dirty="0" smtClean="0"/>
              <a:t> 표시 개수 영역에서 선택한 개수로 증가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예</a:t>
            </a:r>
            <a:r>
              <a:rPr lang="en-US" altLang="ko-KR" dirty="0" smtClean="0"/>
              <a:t>) 10</a:t>
            </a:r>
            <a:r>
              <a:rPr lang="ko-KR" altLang="en-US" dirty="0" smtClean="0"/>
              <a:t>개 노출 이후 </a:t>
            </a:r>
            <a:r>
              <a:rPr lang="ko-KR" altLang="en-US" dirty="0" err="1" smtClean="0"/>
              <a:t>더보기</a:t>
            </a:r>
            <a:r>
              <a:rPr lang="ko-KR" altLang="en-US" dirty="0" smtClean="0"/>
              <a:t> 버튼 클릭으로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개씩 추가 로드</a:t>
            </a:r>
            <a:r>
              <a:rPr lang="en-US" altLang="ko-KR" dirty="0" smtClean="0"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br>
              <a:rPr lang="en-US" altLang="ko-KR" dirty="0" smtClean="0">
                <a:solidFill>
                  <a:prstClr val="black"/>
                </a:solidFill>
                <a:latin typeface="맑은 고딕" panose="020B0503020000020004" pitchFamily="50" charset="-127"/>
              </a:rPr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0465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1550" y="193531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68" y="36358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79504" y="577102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059209" y="37197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498" y="392263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4-2</a:t>
            </a:r>
            <a:endParaRPr lang="ko-KR" altLang="en-US" sz="600" b="1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840825" y="216858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530862" y="40363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4-3</a:t>
            </a:r>
            <a:endParaRPr lang="ko-KR" altLang="en-US" sz="600" b="1" dirty="0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077771" y="594885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20353229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75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910690"/>
            <a:ext cx="185684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발주통보서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121893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3198629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3448227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979325"/>
              </p:ext>
            </p:extLst>
          </p:nvPr>
        </p:nvGraphicFramePr>
        <p:xfrm>
          <a:off x="455558" y="3659430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840203791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RQ</a:t>
                      </a:r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orderSeq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itemSeq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품목건수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vldYmd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bzentyCd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bizNm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wrtYmd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docSttsCd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54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err="1">
                          <a:latin typeface="+mn-ea"/>
                          <a:ea typeface="+mn-ea"/>
                        </a:rPr>
                        <a:t>rcvrNm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7039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FE9E77-2FE3-C19F-069E-B1A968551E18}"/>
              </a:ext>
            </a:extLst>
          </p:cNvPr>
          <p:cNvSpPr txBox="1"/>
          <p:nvPr/>
        </p:nvSpPr>
        <p:spPr>
          <a:xfrm>
            <a:off x="458117" y="1661107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3384321-1FDA-D7DB-A01D-492525E74D2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872310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27763422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35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0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3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발주통보 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76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미청구금액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uclmAmt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발주통보 미청구금액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412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CAD3C8-5A1E-77CB-E6FB-DBE0E1FEA2E4}"/>
              </a:ext>
            </a:extLst>
          </p:cNvPr>
          <p:cNvSpPr txBox="1"/>
          <p:nvPr/>
        </p:nvSpPr>
        <p:spPr>
          <a:xfrm>
            <a:off x="458117" y="680533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1D17EA86-8CD2-2112-B4CD-897EC68D4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58153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76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68429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382291"/>
              </p:ext>
            </p:extLst>
          </p:nvPr>
        </p:nvGraphicFramePr>
        <p:xfrm>
          <a:off x="452291" y="912570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792744967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목록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042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scwin.grd_orderNtdc_oncellclick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발주통보서상세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UI-EX-02-M83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02036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5921939B-CCFC-7195-120A-D0BB70A01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20583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발주통보서상세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발주통보서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 smtClean="0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3613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8509" y="22583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8509" y="37788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8509" y="41845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8509" y="46026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5458" y="24604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1-1</a:t>
            </a:r>
            <a:endParaRPr lang="ko-KR" altLang="en-US" sz="600" b="1" dirty="0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5458" y="27023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1-3</a:t>
            </a:r>
            <a:endParaRPr lang="ko-KR" altLang="en-US" sz="600" b="1" dirty="0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1230823" y="25274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1-2</a:t>
            </a:r>
            <a:endParaRPr lang="ko-KR" altLang="en-US" sz="600" b="1" dirty="0"/>
          </a:p>
        </p:txBody>
      </p:sp>
      <p:sp>
        <p:nvSpPr>
          <p:cNvPr id="152" name="텍스트 개체 틀 4"/>
          <p:cNvSpPr txBox="1">
            <a:spLocks/>
          </p:cNvSpPr>
          <p:nvPr/>
        </p:nvSpPr>
        <p:spPr>
          <a:xfrm>
            <a:off x="706889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타이틀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1-1] </a:t>
            </a:r>
            <a:r>
              <a:rPr lang="ko-KR" altLang="en-US" dirty="0" smtClean="0"/>
              <a:t>레이블이 화면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 넘치는 경우 드래그하여 확인 가능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1-2] </a:t>
            </a:r>
            <a:r>
              <a:rPr lang="ko-KR" altLang="en-US" dirty="0" smtClean="0"/>
              <a:t>문서 정보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발주번호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err="1" smtClean="0"/>
              <a:t>회차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해당 라인을 넘어가면 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1-3] </a:t>
            </a:r>
            <a:r>
              <a:rPr lang="ko-KR" altLang="en-US" dirty="0" smtClean="0"/>
              <a:t>문서 제목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제목은 </a:t>
            </a:r>
            <a:r>
              <a:rPr lang="en-US" altLang="ko-KR" dirty="0" smtClean="0"/>
              <a:t>2</a:t>
            </a:r>
            <a:r>
              <a:rPr lang="ko-KR" altLang="en-US" dirty="0" smtClean="0"/>
              <a:t>줄 까지 노출 이후</a:t>
            </a:r>
            <a:r>
              <a:rPr lang="en-US" altLang="ko-KR" dirty="0" smtClean="0"/>
              <a:t>(…) </a:t>
            </a:r>
            <a:r>
              <a:rPr lang="ko-KR" altLang="en-US" dirty="0" err="1" smtClean="0"/>
              <a:t>말줄임</a:t>
            </a:r>
            <a:r>
              <a:rPr lang="ko-KR" altLang="en-US" dirty="0" smtClean="0"/>
              <a:t>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기본값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접힘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확장하여 정보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업무도움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내역이 있는 경우 만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탭 영역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상세내용 </a:t>
            </a:r>
            <a:r>
              <a:rPr lang="en-US" altLang="ko-KR" dirty="0" smtClean="0"/>
              <a:t>Tab</a:t>
            </a:r>
            <a:r>
              <a:rPr lang="ko-KR" altLang="en-US" dirty="0" smtClean="0"/>
              <a:t>은 진입 시 고정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탭 내용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상세정보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물품목록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&gt; </a:t>
            </a:r>
            <a:r>
              <a:rPr lang="ko-KR" altLang="en-US" dirty="0" smtClean="0"/>
              <a:t>로그인 필요 서비스 안내 표시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화면을 </a:t>
            </a:r>
            <a:r>
              <a:rPr lang="ko-KR" altLang="en-US" dirty="0" err="1" smtClean="0"/>
              <a:t>넘치는경우</a:t>
            </a:r>
            <a:r>
              <a:rPr lang="ko-KR" altLang="en-US" dirty="0" smtClean="0"/>
              <a:t> 드래그하여 확인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스와이프기능</a:t>
            </a:r>
            <a:r>
              <a:rPr lang="ko-KR" altLang="en-US" dirty="0" smtClean="0"/>
              <a:t> 반영 필요</a:t>
            </a:r>
            <a:r>
              <a:rPr lang="en-US" altLang="ko-KR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계약 상세 정보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각 공고에 맞춰 폼 변화에 유의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상세내용에</a:t>
            </a:r>
            <a:r>
              <a:rPr lang="ko-KR" altLang="en-US" dirty="0" smtClean="0"/>
              <a:t> 포함된 정보 표시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기본값은 상단 이동 버튼</a:t>
            </a:r>
            <a:endParaRPr lang="en-US" altLang="ko-KR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994" y="48320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6631410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상세정보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MUI-EX-02-T77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55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339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3396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595273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1956334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2069665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2263820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63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2263819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2263819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49492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70863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292233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13604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3497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6345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20490" y="3526893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68844" y="15419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68844" y="19600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152" name="텍스트 개체 틀 4"/>
          <p:cNvSpPr txBox="1">
            <a:spLocks/>
          </p:cNvSpPr>
          <p:nvPr/>
        </p:nvSpPr>
        <p:spPr>
          <a:xfrm>
            <a:off x="706889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 algn="l" defTabSz="914400" rtl="0" eaLnBrk="1" latinLnBrk="1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참조</a:t>
            </a:r>
            <a:endParaRPr lang="en-US" altLang="ko-KR" dirty="0"/>
          </a:p>
        </p:txBody>
      </p:sp>
      <p:sp>
        <p:nvSpPr>
          <p:cNvPr id="153" name="직사각형 152"/>
          <p:cNvSpPr/>
          <p:nvPr/>
        </p:nvSpPr>
        <p:spPr>
          <a:xfrm>
            <a:off x="7066335" y="5992323"/>
            <a:ext cx="2324794" cy="254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fontAlgn="ctr"/>
            <a:r>
              <a:rPr lang="en-US" altLang="ko-KR" sz="500" dirty="0" smtClean="0"/>
              <a:t>0630]</a:t>
            </a:r>
            <a:br>
              <a:rPr lang="en-US" altLang="ko-KR" sz="500" dirty="0" smtClean="0"/>
            </a:br>
            <a:r>
              <a:rPr lang="ko-KR" altLang="en-US" sz="500" dirty="0" err="1" smtClean="0"/>
              <a:t>발주번호</a:t>
            </a:r>
            <a:r>
              <a:rPr lang="en-US" altLang="ko-KR" sz="500" dirty="0" smtClean="0"/>
              <a:t>,</a:t>
            </a:r>
            <a:r>
              <a:rPr lang="ko-KR" altLang="en-US" sz="500" dirty="0" err="1" smtClean="0"/>
              <a:t>발주일자</a:t>
            </a:r>
            <a:r>
              <a:rPr lang="en-US" altLang="ko-KR" sz="500" dirty="0" smtClean="0"/>
              <a:t>, </a:t>
            </a:r>
            <a:r>
              <a:rPr lang="ko-KR" altLang="en-US" sz="500" dirty="0" smtClean="0"/>
              <a:t>하자보증유무</a:t>
            </a:r>
            <a:r>
              <a:rPr lang="en-US" altLang="ko-KR" sz="500" dirty="0" smtClean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5374662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정보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항목은 항목설명 참조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 smtClean="0">
                <a:latin typeface="+mn-ea"/>
              </a:rPr>
              <a:t>물품목록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MUI-EX-02-T78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836217"/>
            <a:ext cx="2456098" cy="181140"/>
            <a:chOff x="763156" y="1527996"/>
            <a:chExt cx="2456098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요약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103195"/>
            <a:ext cx="2630093" cy="1087280"/>
            <a:chOff x="3865118" y="2946203"/>
            <a:chExt cx="2630093" cy="1087280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0868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 smtClean="0">
                  <a:latin typeface="+mn-ea"/>
                </a:rPr>
                <a:t>수락품목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거부품목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 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수락 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4,000.00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1977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334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88486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55743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16366" y="3269519"/>
            <a:ext cx="2630093" cy="3283189"/>
            <a:chOff x="3608521" y="2295944"/>
            <a:chExt cx="2630093" cy="3283189"/>
          </a:xfrm>
        </p:grpSpPr>
        <p:grpSp>
          <p:nvGrpSpPr>
            <p:cNvPr id="36" name="그룹 35"/>
            <p:cNvGrpSpPr/>
            <p:nvPr/>
          </p:nvGrpSpPr>
          <p:grpSpPr>
            <a:xfrm>
              <a:off x="3695518" y="2295944"/>
              <a:ext cx="2456098" cy="215444"/>
              <a:chOff x="763156" y="1527996"/>
              <a:chExt cx="2456098" cy="21544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3156" y="1527996"/>
                <a:ext cx="118961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물품 목록 </a:t>
                </a: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총 </a:t>
                </a:r>
                <a:r>
                  <a:rPr lang="en-US" altLang="ko-KR" sz="700" dirty="0">
                    <a:latin typeface="+mn-ea"/>
                  </a:rPr>
                  <a:t>00 </a:t>
                </a:r>
                <a:r>
                  <a:rPr lang="ko-KR" altLang="en-US" sz="700" dirty="0">
                    <a:latin typeface="+mn-ea"/>
                  </a:rPr>
                  <a:t>건</a:t>
                </a:r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 flipV="1">
                <a:off x="3125244" y="1641327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9" name="직선 연결선 3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" name="그룹 40"/>
            <p:cNvGrpSpPr/>
            <p:nvPr/>
          </p:nvGrpSpPr>
          <p:grpSpPr>
            <a:xfrm>
              <a:off x="3608521" y="2562922"/>
              <a:ext cx="2630093" cy="3016211"/>
              <a:chOff x="3865118" y="2946203"/>
              <a:chExt cx="2630093" cy="3016211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3867211" y="2946203"/>
                <a:ext cx="792000" cy="29994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4" y="2946204"/>
                <a:ext cx="715881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청구번호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재고번호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Serial No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부품번호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품명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적용장비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수량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단가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운송구분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우선순위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err="1">
                    <a:latin typeface="+mn-ea"/>
                  </a:rPr>
                  <a:t>PriceList</a:t>
                </a:r>
                <a:r>
                  <a:rPr lang="en-US" altLang="ko-KR" sz="700" dirty="0">
                    <a:latin typeface="+mn-ea"/>
                  </a:rPr>
                  <a:t> </a:t>
                </a:r>
                <a:r>
                  <a:rPr lang="ko-KR" altLang="en-US" sz="700" dirty="0" err="1">
                    <a:latin typeface="+mn-ea"/>
                  </a:rPr>
                  <a:t>적용년도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KD111000001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1111111111111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12345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00000-010000-123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IRST LRU-1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F-15K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EA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항공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ROU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2025</a:t>
                </a: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4590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66503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8787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09244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31587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52087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744297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94973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298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/>
          <p:cNvGrpSpPr/>
          <p:nvPr/>
        </p:nvGrpSpPr>
        <p:grpSpPr>
          <a:xfrm>
            <a:off x="3836701" y="1548097"/>
            <a:ext cx="2630093" cy="3447100"/>
            <a:chOff x="3865118" y="2946202"/>
            <a:chExt cx="2630093" cy="3447100"/>
          </a:xfrm>
        </p:grpSpPr>
        <p:sp>
          <p:nvSpPr>
            <p:cNvPr id="71" name="직사각형 70"/>
            <p:cNvSpPr/>
            <p:nvPr/>
          </p:nvSpPr>
          <p:spPr>
            <a:xfrm>
              <a:off x="3867211" y="2946202"/>
              <a:ext cx="792000" cy="3417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729934" cy="34470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우선순위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err="1">
                  <a:latin typeface="+mn-ea"/>
                </a:rPr>
                <a:t>PriceList</a:t>
              </a:r>
              <a:r>
                <a:rPr lang="en-US" altLang="ko-KR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적용년도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납품가능일자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수락여부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4470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KD111000001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ROU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수락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087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42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97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83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38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4955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633396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1633396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50003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8" name="그룹 97"/>
          <p:cNvGrpSpPr/>
          <p:nvPr/>
        </p:nvGrpSpPr>
        <p:grpSpPr>
          <a:xfrm>
            <a:off x="2924086" y="1595273"/>
            <a:ext cx="422853" cy="187961"/>
            <a:chOff x="3641308" y="2234886"/>
            <a:chExt cx="422853" cy="187961"/>
          </a:xfrm>
        </p:grpSpPr>
        <p:sp>
          <p:nvSpPr>
            <p:cNvPr id="99" name="타원 98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0" name="그룹 99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05" name="직선 연결선 1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1" name="타원 100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2" name="그룹 101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7" name="타원 10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68844" y="154194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4094224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80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96797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561892"/>
              </p:ext>
            </p:extLst>
          </p:nvPr>
        </p:nvGraphicFramePr>
        <p:xfrm>
          <a:off x="455558" y="1108000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4945169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계약번호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발주일자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유효일자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계약일자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사업명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군담당자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latin typeface="+mn-ea"/>
                          <a:ea typeface="+mn-ea"/>
                        </a:rPr>
                        <a:t>무역대리점</a:t>
                      </a:r>
                      <a:endParaRPr lang="ko-KR" altLang="en-US" sz="800" b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4205091"/>
            <a:ext cx="286353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421705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2578951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CFD3310-381B-C4C2-9BA0-63548DC395DF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910AE220-4A38-A146-1540-B5150A285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95969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918839"/>
            <a:ext cx="286353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35453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37182689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우선순위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우선순위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하자보증유무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flwGrnteEn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하자보증유무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prcAplcnYr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481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76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acptYn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5064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ED4DD6-163E-4927-19F6-7FD68A853F05}"/>
              </a:ext>
            </a:extLst>
          </p:cNvPr>
          <p:cNvSpPr txBox="1"/>
          <p:nvPr/>
        </p:nvSpPr>
        <p:spPr>
          <a:xfrm>
            <a:off x="449462" y="3040247"/>
            <a:ext cx="23201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품목수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dm_itemCntInfo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934117D-FD60-A747-5571-D9B5B3D877F1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3256861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36870763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7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</a:t>
                      </a:r>
                      <a:r>
                        <a:rPr lang="ko-KR" altLang="en-US" sz="800" dirty="0" err="1">
                          <a:latin typeface="+mn-ea"/>
                        </a:rPr>
                        <a:t>발주품목수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</a:t>
                      </a:r>
                      <a:r>
                        <a:rPr lang="ko-KR" altLang="en-US" sz="800" dirty="0" err="1">
                          <a:latin typeface="+mn-ea"/>
                        </a:rPr>
                        <a:t>수락품목수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거부품목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rjtItemCnt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거부품목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수락금액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D93E30-7A8D-CBC4-E413-05F3E468868F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B85DE731-3AC1-F719-6910-09E0E135D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58729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428E51B-26C0-C10E-47E7-1C935F6C8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82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08A2ED-2D93-8941-BBD8-93B38E7B3455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EBB6FA0-53AC-6096-D82C-DD9F4C7EC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219264"/>
              </p:ext>
            </p:extLst>
          </p:nvPr>
        </p:nvGraphicFramePr>
        <p:xfrm>
          <a:off x="458117" y="79954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발주통보서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출력화면을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UI-EX-02-R88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70802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67FF8F2-87CF-A6B6-1C9B-8B9543742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519101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</a:t>
            </a:r>
            <a:r>
              <a:rPr lang="ko-KR" altLang="en-US" dirty="0" smtClean="0"/>
              <a:t>검색조건</a:t>
            </a:r>
            <a:r>
              <a:rPr lang="en-US" altLang="ko-KR" dirty="0" smtClean="0"/>
              <a:t>(</a:t>
            </a:r>
            <a:r>
              <a:rPr lang="ko-KR" altLang="en-US" dirty="0" smtClean="0"/>
              <a:t>필수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당해 년도부터 과거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년까지 조회 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계약번호</a:t>
            </a:r>
            <a:r>
              <a:rPr lang="ko-KR" altLang="en-US" dirty="0" smtClean="0"/>
              <a:t> 검색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</a:t>
            </a:r>
            <a:r>
              <a:rPr lang="ko-KR" altLang="en-US" dirty="0" smtClean="0"/>
              <a:t>항에 선택한 계약 연도와 </a:t>
            </a:r>
            <a:r>
              <a:rPr lang="en-US" altLang="ko-KR" dirty="0" smtClean="0"/>
              <a:t>And </a:t>
            </a:r>
            <a:r>
              <a:rPr lang="ko-KR" altLang="en-US" dirty="0" smtClean="0"/>
              <a:t>조건으로 검색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클릭 이벤트 실행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바텀시트</a:t>
            </a:r>
            <a:r>
              <a:rPr lang="ko-KR" altLang="en-US" dirty="0" smtClean="0"/>
              <a:t> 호출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검색 결과 목록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- 4-1] </a:t>
            </a:r>
            <a:r>
              <a:rPr lang="ko-KR" altLang="en-US" dirty="0" err="1" smtClean="0"/>
              <a:t>결과항목</a:t>
            </a:r>
            <a:r>
              <a:rPr lang="ko-KR" altLang="en-US" dirty="0" smtClean="0"/>
              <a:t> 선택 후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선택시</a:t>
            </a:r>
            <a:r>
              <a:rPr lang="ko-KR" altLang="en-US" dirty="0" smtClean="0"/>
              <a:t> 화면에 결과값 노출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계약번호조회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계약년도와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계약번호로</a:t>
            </a:r>
            <a:r>
              <a:rPr lang="ko-KR" altLang="en-US" dirty="0">
                <a:latin typeface="+mn-ea"/>
              </a:rPr>
              <a:t> 계약정보목록을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>
                <a:latin typeface="+mn-ea"/>
              </a:rPr>
              <a:t>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MUI-EX-02-P79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0141" y="25705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278114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0977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검색결과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69283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19" name="양쪽 모서리가 둥근 사각형 118"/>
          <p:cNvSpPr/>
          <p:nvPr/>
        </p:nvSpPr>
        <p:spPr>
          <a:xfrm>
            <a:off x="675399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1761412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3164338" y="3182696"/>
            <a:ext cx="94010" cy="94010"/>
            <a:chOff x="6812560" y="3297172"/>
            <a:chExt cx="94010" cy="94010"/>
          </a:xfrm>
        </p:grpSpPr>
        <p:cxnSp>
          <p:nvCxnSpPr>
            <p:cNvPr id="133" name="직선 연결선 132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직선 연결선 133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모서리가 둥근 직사각형 125"/>
          <p:cNvSpPr/>
          <p:nvPr/>
        </p:nvSpPr>
        <p:spPr>
          <a:xfrm>
            <a:off x="1443878" y="3849748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tx1"/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1806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28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83463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3112794" y="388803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56699" y="3931938"/>
            <a:ext cx="58075" cy="58074"/>
            <a:chOff x="6812560" y="3297172"/>
            <a:chExt cx="94010" cy="94010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951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7" name="모서리가 둥근 직사각형 66"/>
          <p:cNvSpPr/>
          <p:nvPr/>
        </p:nvSpPr>
        <p:spPr>
          <a:xfrm>
            <a:off x="1443878" y="3563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2026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31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계약연도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*</a:t>
            </a:r>
          </a:p>
        </p:txBody>
      </p:sp>
      <p:grpSp>
        <p:nvGrpSpPr>
          <p:cNvPr id="76" name="그룹 75"/>
          <p:cNvGrpSpPr/>
          <p:nvPr/>
        </p:nvGrpSpPr>
        <p:grpSpPr>
          <a:xfrm>
            <a:off x="3091726" y="3661996"/>
            <a:ext cx="94010" cy="47005"/>
            <a:chOff x="6812560" y="3297172"/>
            <a:chExt cx="94010" cy="47005"/>
          </a:xfrm>
        </p:grpSpPr>
        <p:cxnSp>
          <p:nvCxnSpPr>
            <p:cNvPr id="82" name="직선 연결선 8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2858556"/>
            <a:ext cx="19842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2858556"/>
            <a:ext cx="49390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계약번호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업체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3831550" y="2981558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3134786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021971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KD000000000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88803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29300" y="2858556"/>
            <a:ext cx="59082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화폐구분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계약일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080925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3831550" y="3441902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3595130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482315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KD000000001</a:t>
            </a:r>
          </a:p>
          <a:p>
            <a:r>
              <a:rPr lang="ko-KR" altLang="en-US" sz="700" b="1" dirty="0">
                <a:solidFill>
                  <a:srgbClr val="0070C0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srgbClr val="0070C0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541269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3831550" y="3896493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4049721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936906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KD000000002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995860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3831550" y="4357859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4511087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4398272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KD000000003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4457226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346276"/>
            <a:ext cx="2446613" cy="213131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04993"/>
            <a:ext cx="76863" cy="292489"/>
            <a:chOff x="3750067" y="4683795"/>
            <a:chExt cx="76863" cy="292489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err="1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계약번호</a:t>
              </a: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 선택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1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95674" y="413695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68241" y="339527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 smtClean="0"/>
              <a:t>4-1</a:t>
            </a:r>
            <a:endParaRPr lang="ko-KR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178425873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선택시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하일라이트</a:t>
            </a:r>
            <a:r>
              <a:rPr lang="ko-KR" altLang="en-US" dirty="0" smtClean="0"/>
              <a:t>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계약번호</a:t>
            </a:r>
            <a:r>
              <a:rPr lang="ko-KR" altLang="en-US" dirty="0" smtClean="0"/>
              <a:t> 선택 클릭 시 선택한 </a:t>
            </a:r>
            <a:r>
              <a:rPr lang="ko-KR" altLang="en-US" dirty="0" err="1" smtClean="0"/>
              <a:t>계약번호</a:t>
            </a:r>
            <a:r>
              <a:rPr lang="ko-KR" altLang="en-US" dirty="0" smtClean="0"/>
              <a:t> 반환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87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계약번호조회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계약년도와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계약번호로</a:t>
            </a:r>
            <a:r>
              <a:rPr lang="ko-KR" altLang="en-US" dirty="0">
                <a:latin typeface="+mn-ea"/>
              </a:rPr>
              <a:t> 계약정보목록을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>
                <a:latin typeface="+mn-ea"/>
              </a:rPr>
              <a:t>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MUI-EX-02-P79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675399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1761412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3164338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6366" y="278114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0642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검색결과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048948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2858556"/>
            <a:ext cx="19842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2858556"/>
            <a:ext cx="49390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계약번호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업체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711215" y="2981558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3134786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3021971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KD000000000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08965" y="2858556"/>
            <a:ext cx="59082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화폐구분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계약일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52277" y="3080925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711215" y="3441902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3595130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3482315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KD000000001</a:t>
            </a:r>
          </a:p>
          <a:p>
            <a:r>
              <a:rPr lang="ko-KR" altLang="en-US" sz="700" b="1" dirty="0">
                <a:solidFill>
                  <a:srgbClr val="0070C0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srgbClr val="0070C0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52277" y="3541269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711215" y="3896493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4049721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3936906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KD000000002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52277" y="3995860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711215" y="4357859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12612" y="4511087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43431" y="4398272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KD000000003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52277" y="4457226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346276"/>
            <a:ext cx="2446613" cy="213131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04993"/>
            <a:ext cx="76863" cy="292489"/>
            <a:chOff x="3750067" y="4683795"/>
            <a:chExt cx="76863" cy="292489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err="1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계약번호</a:t>
              </a: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 선택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1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336" name="모서리가 둥근 직사각형 335"/>
          <p:cNvSpPr/>
          <p:nvPr/>
        </p:nvSpPr>
        <p:spPr>
          <a:xfrm rot="5400000">
            <a:off x="2662242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056407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00905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3" name="그룹 112"/>
          <p:cNvGrpSpPr/>
          <p:nvPr/>
        </p:nvGrpSpPr>
        <p:grpSpPr>
          <a:xfrm rot="5400000">
            <a:off x="3875348" y="1640499"/>
            <a:ext cx="94010" cy="47005"/>
            <a:chOff x="6812560" y="3297172"/>
            <a:chExt cx="94010" cy="47005"/>
          </a:xfrm>
        </p:grpSpPr>
        <p:cxnSp>
          <p:nvCxnSpPr>
            <p:cNvPr id="114" name="직선 연결선 1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6" name="타원 115"/>
          <p:cNvSpPr/>
          <p:nvPr/>
        </p:nvSpPr>
        <p:spPr>
          <a:xfrm>
            <a:off x="6164872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140149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8" name="타원 117"/>
          <p:cNvSpPr/>
          <p:nvPr/>
        </p:nvSpPr>
        <p:spPr>
          <a:xfrm>
            <a:off x="3904021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0" name="그룹 119"/>
          <p:cNvGrpSpPr/>
          <p:nvPr/>
        </p:nvGrpSpPr>
        <p:grpSpPr>
          <a:xfrm>
            <a:off x="6263883" y="2016004"/>
            <a:ext cx="94010" cy="47005"/>
            <a:chOff x="6812560" y="3297172"/>
            <a:chExt cx="94010" cy="47005"/>
          </a:xfrm>
        </p:grpSpPr>
        <p:cxnSp>
          <p:nvCxnSpPr>
            <p:cNvPr id="121" name="직선 연결선 12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직선 연결선 13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7" name="그룹 136"/>
          <p:cNvGrpSpPr/>
          <p:nvPr/>
        </p:nvGrpSpPr>
        <p:grpSpPr>
          <a:xfrm>
            <a:off x="3888037" y="2274581"/>
            <a:ext cx="2527420" cy="473693"/>
            <a:chOff x="786326" y="2274581"/>
            <a:chExt cx="2527420" cy="473693"/>
          </a:xfrm>
        </p:grpSpPr>
        <p:sp>
          <p:nvSpPr>
            <p:cNvPr id="138" name="모서리가 둥근 직사각형 137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타원 138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KD000000001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4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/>
                <a:t>계약번호</a:t>
              </a:r>
              <a:endParaRPr kumimoji="1" lang="ko-KR" altLang="en-US" sz="800" kern="0" dirty="0"/>
            </a:p>
          </p:txBody>
        </p:sp>
        <p:sp>
          <p:nvSpPr>
            <p:cNvPr id="143" name="타원 142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</a:rPr>
                <a:t>V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44" name="타원 143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5" name="그룹 144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6" name="직선 연결선 145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46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8" name="TextBox 147"/>
          <p:cNvSpPr txBox="1"/>
          <p:nvPr/>
        </p:nvSpPr>
        <p:spPr>
          <a:xfrm flipH="1">
            <a:off x="6120673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14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4648280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chemeClr val="accent1"/>
                </a:solidFill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solidFill>
                  <a:schemeClr val="accent1"/>
                </a:solidFill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solidFill>
                  <a:schemeClr val="accent1"/>
                </a:solidFill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맑은 고딕"/>
            </a:endParaRPr>
          </a:p>
        </p:txBody>
      </p:sp>
      <p:cxnSp>
        <p:nvCxnSpPr>
          <p:cNvPr id="5" name="꺾인 연결선 4"/>
          <p:cNvCxnSpPr>
            <a:endCxn id="138" idx="2"/>
          </p:cNvCxnSpPr>
          <p:nvPr/>
        </p:nvCxnSpPr>
        <p:spPr>
          <a:xfrm flipV="1">
            <a:off x="3318301" y="2748274"/>
            <a:ext cx="1833446" cy="9159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7098115" y="5890166"/>
            <a:ext cx="2280575" cy="342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dirty="0"/>
              <a:t>검색 </a:t>
            </a:r>
            <a:r>
              <a:rPr lang="ko-KR" altLang="en-US" sz="500" dirty="0" err="1"/>
              <a:t>기준값이</a:t>
            </a:r>
            <a:r>
              <a:rPr lang="ko-KR" altLang="en-US" sz="500" dirty="0"/>
              <a:t> 계약번호인데</a:t>
            </a:r>
            <a:r>
              <a:rPr lang="en-US" altLang="ko-KR" sz="500" dirty="0"/>
              <a:t>,</a:t>
            </a:r>
            <a:br>
              <a:rPr lang="en-US" altLang="ko-KR" sz="500" dirty="0"/>
            </a:br>
            <a:r>
              <a:rPr lang="ko-KR" altLang="en-US" sz="500" dirty="0"/>
              <a:t>결과값에는 </a:t>
            </a:r>
            <a:r>
              <a:rPr lang="ko-KR" altLang="en-US" sz="500" dirty="0" err="1"/>
              <a:t>계약번호가</a:t>
            </a:r>
            <a:r>
              <a:rPr lang="ko-KR" altLang="en-US" sz="500" dirty="0"/>
              <a:t> </a:t>
            </a:r>
            <a:r>
              <a:rPr lang="ko-KR" altLang="en-US" sz="500" dirty="0" err="1"/>
              <a:t>노출되지않음</a:t>
            </a:r>
            <a:r>
              <a:rPr lang="en-US" altLang="ko-KR" sz="500" dirty="0"/>
              <a:t>. </a:t>
            </a:r>
            <a:br>
              <a:rPr lang="en-US" altLang="ko-KR" sz="500" dirty="0"/>
            </a:br>
            <a:r>
              <a:rPr lang="ko-KR" altLang="en-US" sz="500" dirty="0"/>
              <a:t>해당 화면 </a:t>
            </a:r>
            <a:r>
              <a:rPr lang="ko-KR" altLang="en-US" sz="500" dirty="0" err="1"/>
              <a:t>검토필요</a:t>
            </a:r>
            <a:r>
              <a:rPr lang="en-US" altLang="ko-KR" sz="500" dirty="0"/>
              <a:t>(PC</a:t>
            </a:r>
            <a:r>
              <a:rPr lang="ko-KR" altLang="en-US" sz="500" dirty="0"/>
              <a:t>도 같은 상황</a:t>
            </a:r>
            <a:r>
              <a:rPr lang="en-US" altLang="ko-KR" sz="500" dirty="0"/>
              <a:t>)</a:t>
            </a: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5917" y="355896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95917" y="58350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65955371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85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07058"/>
            <a:ext cx="219507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8261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87110649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ctrtYr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계약년도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ctrtNo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399060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/>
        </p:nvGraphicFramePr>
        <p:xfrm>
          <a:off x="452291" y="4218888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2760269521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계약년도를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현재연도로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확인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scwin.btn_confirm_onclick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그리드에 선택한 정보를 전달한다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64835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1923465"/>
            <a:ext cx="243392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dl_resultList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2134668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09871187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ctrtNo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crncCd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화폐구분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ctrtBzentyCd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prcmPicNm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C81FA0-031D-901B-C2AD-4D01B4EC8917}"/>
              </a:ext>
            </a:extLst>
          </p:cNvPr>
          <p:cNvSpPr txBox="1"/>
          <p:nvPr/>
        </p:nvSpPr>
        <p:spPr>
          <a:xfrm>
            <a:off x="458117" y="576901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A8636BB8-3BC7-B066-A8CD-59D14853E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7006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15477</TotalTime>
  <Words>10294</Words>
  <Application>Microsoft Office PowerPoint</Application>
  <PresentationFormat>A4 용지(210x297mm)</PresentationFormat>
  <Paragraphs>5575</Paragraphs>
  <Slides>86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86</vt:i4>
      </vt:variant>
    </vt:vector>
  </HeadingPairs>
  <TitlesOfParts>
    <vt:vector size="94" baseType="lpstr">
      <vt:lpstr>Pretendard Medium</vt:lpstr>
      <vt:lpstr>맑은 고딕</vt:lpstr>
      <vt:lpstr>맑은 고딕 (본문)</vt:lpstr>
      <vt:lpstr>Arial</vt:lpstr>
      <vt:lpstr>Segoe UI</vt:lpstr>
      <vt:lpstr>Times New Roman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883</cp:revision>
  <cp:lastPrinted>2016-10-27T08:57:39Z</cp:lastPrinted>
  <dcterms:created xsi:type="dcterms:W3CDTF">2016-10-27T07:41:55Z</dcterms:created>
  <dcterms:modified xsi:type="dcterms:W3CDTF">2026-07-21T08:59:44Z</dcterms:modified>
  <cp:category>서브시스템/업무명</cp:category>
  <cp:contentStatus>0.1</cp:contentStatus>
</cp:coreProperties>
</file>