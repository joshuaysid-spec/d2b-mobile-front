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70"/>
  </p:notesMasterIdLst>
  <p:handoutMasterIdLst>
    <p:handoutMasterId r:id="rId71"/>
  </p:handoutMasterIdLst>
  <p:sldIdLst>
    <p:sldId id="256" r:id="rId2"/>
    <p:sldId id="764" r:id="rId3"/>
    <p:sldId id="356" r:id="rId4"/>
    <p:sldId id="260" r:id="rId5"/>
    <p:sldId id="264" r:id="rId6"/>
    <p:sldId id="624" r:id="rId7"/>
    <p:sldId id="358" r:id="rId8"/>
    <p:sldId id="670" r:id="rId9"/>
    <p:sldId id="292" r:id="rId10"/>
    <p:sldId id="802" r:id="rId11"/>
    <p:sldId id="630" r:id="rId12"/>
    <p:sldId id="633" r:id="rId13"/>
    <p:sldId id="805" r:id="rId14"/>
    <p:sldId id="744" r:id="rId15"/>
    <p:sldId id="745" r:id="rId16"/>
    <p:sldId id="806" r:id="rId17"/>
    <p:sldId id="807" r:id="rId18"/>
    <p:sldId id="808" r:id="rId19"/>
    <p:sldId id="749" r:id="rId20"/>
    <p:sldId id="809" r:id="rId21"/>
    <p:sldId id="810" r:id="rId22"/>
    <p:sldId id="753" r:id="rId23"/>
    <p:sldId id="754" r:id="rId24"/>
    <p:sldId id="811" r:id="rId25"/>
    <p:sldId id="756" r:id="rId26"/>
    <p:sldId id="814" r:id="rId27"/>
    <p:sldId id="758" r:id="rId28"/>
    <p:sldId id="759" r:id="rId29"/>
    <p:sldId id="763" r:id="rId30"/>
    <p:sldId id="815" r:id="rId31"/>
    <p:sldId id="816" r:id="rId32"/>
    <p:sldId id="817" r:id="rId33"/>
    <p:sldId id="765" r:id="rId34"/>
    <p:sldId id="766" r:id="rId35"/>
    <p:sldId id="767" r:id="rId36"/>
    <p:sldId id="768" r:id="rId37"/>
    <p:sldId id="776" r:id="rId38"/>
    <p:sldId id="818" r:id="rId39"/>
    <p:sldId id="769" r:id="rId40"/>
    <p:sldId id="770" r:id="rId41"/>
    <p:sldId id="820" r:id="rId42"/>
    <p:sldId id="821" r:id="rId43"/>
    <p:sldId id="777" r:id="rId44"/>
    <p:sldId id="822" r:id="rId45"/>
    <p:sldId id="823" r:id="rId46"/>
    <p:sldId id="779" r:id="rId47"/>
    <p:sldId id="780" r:id="rId48"/>
    <p:sldId id="824" r:id="rId49"/>
    <p:sldId id="825" r:id="rId50"/>
    <p:sldId id="826" r:id="rId51"/>
    <p:sldId id="786" r:id="rId52"/>
    <p:sldId id="787" r:id="rId53"/>
    <p:sldId id="827" r:id="rId54"/>
    <p:sldId id="788" r:id="rId55"/>
    <p:sldId id="789" r:id="rId56"/>
    <p:sldId id="828" r:id="rId57"/>
    <p:sldId id="829" r:id="rId58"/>
    <p:sldId id="830" r:id="rId59"/>
    <p:sldId id="794" r:id="rId60"/>
    <p:sldId id="831" r:id="rId61"/>
    <p:sldId id="832" r:id="rId62"/>
    <p:sldId id="795" r:id="rId63"/>
    <p:sldId id="796" r:id="rId64"/>
    <p:sldId id="833" r:id="rId65"/>
    <p:sldId id="834" r:id="rId66"/>
    <p:sldId id="835" r:id="rId67"/>
    <p:sldId id="771" r:id="rId68"/>
    <p:sldId id="819" r:id="rId69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764"/>
            <p14:sldId id="356"/>
            <p14:sldId id="260"/>
          </p14:sldIdLst>
        </p14:section>
        <p14:section name="목록" id="{A88D8C4A-42D5-488C-851B-9A15CEB54A60}">
          <p14:sldIdLst>
            <p14:sldId id="264"/>
            <p14:sldId id="624"/>
          </p14:sldIdLst>
        </p14:section>
        <p14:section name="1.이행" id="{BB5718C8-07C1-4018-9189-79486BE9C0C5}">
          <p14:sldIdLst>
            <p14:sldId id="358"/>
            <p14:sldId id="670"/>
            <p14:sldId id="292"/>
            <p14:sldId id="802"/>
            <p14:sldId id="630"/>
            <p14:sldId id="633"/>
            <p14:sldId id="805"/>
            <p14:sldId id="744"/>
            <p14:sldId id="745"/>
            <p14:sldId id="806"/>
            <p14:sldId id="807"/>
            <p14:sldId id="808"/>
            <p14:sldId id="749"/>
            <p14:sldId id="809"/>
            <p14:sldId id="810"/>
            <p14:sldId id="753"/>
            <p14:sldId id="754"/>
            <p14:sldId id="811"/>
            <p14:sldId id="756"/>
            <p14:sldId id="814"/>
            <p14:sldId id="758"/>
            <p14:sldId id="759"/>
            <p14:sldId id="763"/>
            <p14:sldId id="815"/>
            <p14:sldId id="816"/>
            <p14:sldId id="817"/>
          </p14:sldIdLst>
        </p14:section>
        <p14:section name="[국외] 한도액계약 &amp; 선적내역" id="{435CC6E4-0D47-4966-8A17-65080AAA2FB5}">
          <p14:sldIdLst>
            <p14:sldId id="765"/>
            <p14:sldId id="766"/>
            <p14:sldId id="767"/>
            <p14:sldId id="768"/>
            <p14:sldId id="776"/>
            <p14:sldId id="818"/>
            <p14:sldId id="769"/>
            <p14:sldId id="770"/>
            <p14:sldId id="820"/>
            <p14:sldId id="821"/>
            <p14:sldId id="777"/>
            <p14:sldId id="822"/>
            <p14:sldId id="823"/>
            <p14:sldId id="779"/>
            <p14:sldId id="780"/>
            <p14:sldId id="824"/>
            <p14:sldId id="825"/>
            <p14:sldId id="826"/>
            <p14:sldId id="786"/>
            <p14:sldId id="787"/>
            <p14:sldId id="827"/>
            <p14:sldId id="788"/>
            <p14:sldId id="789"/>
            <p14:sldId id="828"/>
            <p14:sldId id="829"/>
            <p14:sldId id="830"/>
            <p14:sldId id="794"/>
            <p14:sldId id="831"/>
            <p14:sldId id="832"/>
            <p14:sldId id="795"/>
            <p14:sldId id="796"/>
            <p14:sldId id="833"/>
            <p14:sldId id="834"/>
            <p14:sldId id="835"/>
            <p14:sldId id="771"/>
            <p14:sldId id="8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45" autoAdjust="0"/>
    <p:restoredTop sz="94660"/>
  </p:normalViewPr>
  <p:slideViewPr>
    <p:cSldViewPr snapToGrid="0">
      <p:cViewPr varScale="1">
        <p:scale>
          <a:sx n="177" d="100"/>
          <a:sy n="177" d="100"/>
        </p:scale>
        <p:origin x="776" y="104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032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922239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제개정이력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dirty="0" err="1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사용자인터페이스정의서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</a:t>
            </a:r>
            <a:r>
              <a:rPr lang="en-US" altLang="ko-KR" sz="1000" b="1" kern="100" dirty="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04.</a:t>
            </a:r>
            <a:r>
              <a:rPr lang="ko-KR" altLang="en-US" sz="1000" b="1" kern="100" dirty="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이행</a:t>
            </a:r>
            <a:r>
              <a:rPr lang="en-US" altLang="ko-KR" sz="1000" b="1" kern="100" dirty="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</a:t>
            </a:r>
            <a:r>
              <a:rPr lang="ko-KR" altLang="en-US" dirty="0" smtClean="0"/>
              <a:t>설계서 </a:t>
            </a:r>
            <a:r>
              <a:rPr lang="en-US" altLang="ko-KR" dirty="0" smtClean="0"/>
              <a:t>- </a:t>
            </a:r>
            <a:r>
              <a:rPr lang="ko-KR" altLang="en-US" dirty="0" smtClean="0"/>
              <a:t>모바일</a:t>
            </a:r>
            <a:endParaRPr lang="ko-KR" altLang="en-US" dirty="0"/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04.</a:t>
            </a:r>
            <a:r>
              <a:rPr lang="ko-KR" altLang="en-US" dirty="0" smtClean="0"/>
              <a:t>이행</a:t>
            </a:r>
            <a:endParaRPr lang="ko-KR" altLang="en-US" dirty="0"/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D2BA-AP-3CD-0601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52374" y="1286787"/>
          <a:ext cx="8782571" cy="2188764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 smtClean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82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 smtClean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262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8" name="Group 759">
            <a:extLst>
              <a:ext uri="{FF2B5EF4-FFF2-40B4-BE49-F238E27FC236}">
                <a16:creationId xmlns:a16="http://schemas.microsoft.com/office/drawing/2014/main" id="{319C15BD-6050-0EF7-51D6-033B7027434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52374" y="1416776"/>
          <a:ext cx="8782571" cy="964656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8391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584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43055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이행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앱 구성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 err="1" smtClean="0">
                          <a:latin typeface="+mn-ea"/>
                        </a:rPr>
                        <a:t>한도액계약</a:t>
                      </a:r>
                      <a:r>
                        <a:rPr lang="ko-KR" altLang="en-US" sz="1200" dirty="0" smtClean="0">
                          <a:latin typeface="+mn-ea"/>
                        </a:rPr>
                        <a:t> </a:t>
                      </a:r>
                      <a:r>
                        <a:rPr lang="ko-KR" altLang="en-US" sz="1200" dirty="0" smtClean="0"/>
                        <a:t>목록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2.1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2.2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2.3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2.4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Layout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4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5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6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7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32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32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33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34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35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 smtClean="0">
                <a:latin typeface="+mn-ea"/>
              </a:rPr>
              <a:t>이행 </a:t>
            </a:r>
            <a:r>
              <a:rPr lang="ko-KR" altLang="en-US" dirty="0" smtClean="0"/>
              <a:t>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61483"/>
              </p:ext>
            </p:extLst>
          </p:nvPr>
        </p:nvGraphicFramePr>
        <p:xfrm>
          <a:off x="635474" y="1413419"/>
          <a:ext cx="8701200" cy="36479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smtClean="0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mtClean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 smtClean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 smtClean="0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 smtClean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 smtClean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MUI-EX-01-M01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검사통합목록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InspIntgListInqPage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 및 준공검사 대상 목록을 조회하는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inspIntgListInq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InspIntgListInqPage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UC-EX-01-02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MUI-EX-01-M01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nspIntgListInq_SrchFilter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inspIntgListInq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InspIntgListInq_SrchFilter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MUI-EX-01-M02</a:t>
                      </a:r>
                      <a:endParaRPr lang="en-US" altLang="ko-KR" sz="75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InspDlvdocDtlPage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작성된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조회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080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MUI-EX-01-M03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InspDlvdocDtlSbsdPrcmPage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작성된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조회 화면</a:t>
                      </a:r>
                      <a:endParaRPr lang="ko-KR" altLang="en-US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inspDlvdocDtlSbsdPrcm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InspDlvdocDtlSbsdPrcmPage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9499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MUI-EX-01-M04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기성및준공검사상세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PxcndCmcnInspDtlPage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작성된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조회 화면</a:t>
                      </a:r>
                      <a:endParaRPr lang="ko-KR" altLang="en-US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pxcndCmcnInspDtlPage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PxcndCmcnInspDtl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9784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검사및납품조서현황</a:t>
                      </a:r>
                      <a:r>
                        <a:rPr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목록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InspDlvdocPrstPage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현황 목록을 조회하는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14797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MUI-EX-01-M05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nspDlvdocPrst_SrchFilter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InspDlvdocPrst_SrchFilter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562872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MUI-EX-01-P06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조서발행번호정보조회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RecrdPblcnNoInfoInqPage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조서발행번호 조회 팝업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recrdPblcnNoInfoInq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RecrdPblcnNoInfoInqPage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00548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MUI-EX-01-M07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납품조서결과상세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DlvdocRsltDtlpage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납품조서결과를 확인하는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dlvdocRsltDtlpage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783404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3968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1.2</a:t>
            </a:r>
            <a:r>
              <a:rPr lang="en-US" altLang="ko-KR" dirty="0"/>
              <a:t>. </a:t>
            </a:r>
            <a:r>
              <a:rPr lang="ko-KR" altLang="en-US" dirty="0"/>
              <a:t>화면 </a:t>
            </a:r>
            <a:r>
              <a:rPr lang="ko-KR" altLang="en-US" dirty="0" smtClean="0"/>
              <a:t>흐름도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검사통합목록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검색 필터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5790882" y="316638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5819879" y="2993939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검사및납품조서</a:t>
            </a:r>
            <a:r>
              <a:rPr lang="ko-KR" altLang="en-US" sz="800" dirty="0">
                <a:solidFill>
                  <a:schemeClr val="tx1"/>
                </a:solidFill>
              </a:rPr>
              <a:t> 상세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 err="1">
                <a:solidFill>
                  <a:schemeClr val="tx1"/>
                </a:solidFill>
              </a:rPr>
              <a:t>중앙조달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162" idx="1"/>
          </p:cNvCxnSpPr>
          <p:nvPr/>
        </p:nvCxnSpPr>
        <p:spPr>
          <a:xfrm>
            <a:off x="3266608" y="1772964"/>
            <a:ext cx="931134" cy="6815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732175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6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 smtClean="0">
                <a:solidFill>
                  <a:schemeClr val="tx1"/>
                </a:solidFill>
              </a:rPr>
              <a:t>사용자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9399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검사및납품조서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 smtClean="0">
                <a:solidFill>
                  <a:schemeClr val="tx1"/>
                </a:solidFill>
              </a:rPr>
              <a:t>상세 </a:t>
            </a:r>
            <a:r>
              <a:rPr lang="en-US" altLang="ko-KR" sz="800" dirty="0" smtClean="0">
                <a:solidFill>
                  <a:schemeClr val="tx1"/>
                </a:solidFill>
              </a:rPr>
              <a:t>(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부대조달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356149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기성및준공검사상세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34" idx="1"/>
          </p:cNvCxnSpPr>
          <p:nvPr/>
        </p:nvCxnSpPr>
        <p:spPr>
          <a:xfrm>
            <a:off x="3266608" y="1772964"/>
            <a:ext cx="931134" cy="193253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158" idx="2"/>
          </p:cNvCxnSpPr>
          <p:nvPr/>
        </p:nvCxnSpPr>
        <p:spPr>
          <a:xfrm flipV="1">
            <a:off x="5097742" y="3083939"/>
            <a:ext cx="722137" cy="6215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201602" y="2189132"/>
            <a:ext cx="95378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물품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용역 계약 선택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201602" y="3441630"/>
            <a:ext cx="68929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공사 계약 선택</a:t>
            </a:r>
          </a:p>
        </p:txBody>
      </p: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158" idx="2"/>
          </p:cNvCxnSpPr>
          <p:nvPr/>
        </p:nvCxnSpPr>
        <p:spPr>
          <a:xfrm>
            <a:off x="5097742" y="2454537"/>
            <a:ext cx="722137" cy="6294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423884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검사및납품조서현황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 smtClean="0">
                <a:solidFill>
                  <a:schemeClr val="tx1"/>
                </a:solidFill>
              </a:rPr>
              <a:t>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491238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조서발행번호정보조회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62" idx="1"/>
          </p:cNvCxnSpPr>
          <p:nvPr/>
        </p:nvCxnSpPr>
        <p:spPr>
          <a:xfrm>
            <a:off x="1435474" y="1772964"/>
            <a:ext cx="931134" cy="26098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558778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검사 및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납품조서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결과상세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423698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검색 필터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2" idx="3"/>
            <a:endCxn id="76" idx="1"/>
          </p:cNvCxnSpPr>
          <p:nvPr/>
        </p:nvCxnSpPr>
        <p:spPr>
          <a:xfrm flipV="1">
            <a:off x="3266608" y="4380989"/>
            <a:ext cx="931134" cy="185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2" idx="3"/>
            <a:endCxn id="74" idx="1"/>
          </p:cNvCxnSpPr>
          <p:nvPr/>
        </p:nvCxnSpPr>
        <p:spPr>
          <a:xfrm>
            <a:off x="3266608" y="4382848"/>
            <a:ext cx="931134" cy="134893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6" idx="0"/>
            <a:endCxn id="62" idx="0"/>
          </p:cNvCxnSpPr>
          <p:nvPr/>
        </p:nvCxnSpPr>
        <p:spPr>
          <a:xfrm rot="16200000" flipH="1" flipV="1">
            <a:off x="3731245" y="3322351"/>
            <a:ext cx="1859" cy="1831134"/>
          </a:xfrm>
          <a:prstGeom prst="bentConnector3">
            <a:avLst>
              <a:gd name="adj1" fmla="val -1229693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4" idx="3"/>
            <a:endCxn id="158" idx="2"/>
          </p:cNvCxnSpPr>
          <p:nvPr/>
        </p:nvCxnSpPr>
        <p:spPr>
          <a:xfrm flipV="1">
            <a:off x="5097742" y="3083939"/>
            <a:ext cx="722137" cy="264784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23" idx="1"/>
          </p:cNvCxnSpPr>
          <p:nvPr/>
        </p:nvCxnSpPr>
        <p:spPr>
          <a:xfrm>
            <a:off x="3266608" y="1772964"/>
            <a:ext cx="931134" cy="13109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23" idx="3"/>
            <a:endCxn id="158" idx="2"/>
          </p:cNvCxnSpPr>
          <p:nvPr/>
        </p:nvCxnSpPr>
        <p:spPr>
          <a:xfrm>
            <a:off x="5097742" y="3083939"/>
            <a:ext cx="72213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201602" y="2824542"/>
            <a:ext cx="95378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물품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용역 계약 선택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6" idx="2"/>
            <a:endCxn id="71" idx="0"/>
          </p:cNvCxnSpPr>
          <p:nvPr/>
        </p:nvCxnSpPr>
        <p:spPr>
          <a:xfrm>
            <a:off x="4647742" y="4524989"/>
            <a:ext cx="0" cy="3873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609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&lt;&lt;App Page&gt;&gt;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검사통합목록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InspIntgListInqPage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&lt;&lt;App Page&gt;&gt;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검색필터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InspIntgListInq_SrchFilter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&lt;&lt;App Page&gt;&gt;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중앙조달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InspDlvdocDtlPage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&lt;&lt;React Object&gt;&gt;</a:t>
            </a:r>
            <a:endParaRPr lang="en-US" altLang="ko-KR" sz="1100" dirty="0"/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&lt;&lt;Controller&gt;&gt;</a:t>
            </a:r>
          </a:p>
          <a:p>
            <a:pPr algn="ctr"/>
            <a:r>
              <a:rPr lang="ko-KR" altLang="en-US" sz="1100" dirty="0" smtClean="0"/>
              <a:t>이행 </a:t>
            </a:r>
            <a:r>
              <a:rPr lang="en-US" altLang="ko-KR" sz="1100" dirty="0"/>
              <a:t>Controller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65266"/>
            <a:ext cx="967509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465584"/>
            <a:ext cx="967509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&lt;&lt;App Page&gt;&gt;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lvl="0"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부대조달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InspDlvdocDtlSbsdPrcmPage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&lt;&lt;App Page&gt;&gt;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기성및준공검사상세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PxcndCmcnInspDtlPage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&lt;&lt;App Page&gt;&gt;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검사및납품조서현황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목록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InspDlvdocPrstPage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246050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&lt;&lt;App Page&gt;&gt;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조서발행번호정보조회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RecrdPblcnNoInfoInqPage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3455423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&lt;&lt;Controller&gt;&gt;</a:t>
            </a:r>
          </a:p>
          <a:p>
            <a:pPr algn="ctr"/>
            <a:r>
              <a:rPr lang="ko-KR" altLang="en-US" sz="1100" dirty="0" err="1" smtClean="0"/>
              <a:t>검색필터</a:t>
            </a:r>
            <a:r>
              <a:rPr lang="ko-KR" altLang="en-US" sz="1100" dirty="0" smtClean="0"/>
              <a:t> </a:t>
            </a:r>
            <a:r>
              <a:rPr lang="en-US" altLang="ko-KR" sz="1100" dirty="0"/>
              <a:t>Controller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28" idx="1"/>
          </p:cNvCxnSpPr>
          <p:nvPr/>
        </p:nvCxnSpPr>
        <p:spPr>
          <a:xfrm>
            <a:off x="5687291" y="2990174"/>
            <a:ext cx="1226127" cy="7082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2477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84637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&lt;&lt;App Page&gt;&gt;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물품단가계약서상세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DlvdocRsltDtlpage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992582" y="2990174"/>
            <a:ext cx="967509" cy="3077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817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공지사항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>)</a:t>
            </a:r>
            <a:r>
              <a:rPr lang="ko-KR" altLang="en-US" dirty="0" smtClean="0"/>
              <a:t>은 기본 값으로 접힘 상태로 정보 제공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사용자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건수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개수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목록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상단 레이블을 통한 정보 제공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표시 이후 </a:t>
            </a:r>
            <a:r>
              <a:rPr lang="ko-KR" altLang="en-US" dirty="0" err="1" smtClean="0"/>
              <a:t>말줄임표</a:t>
            </a:r>
            <a:r>
              <a:rPr lang="en-US" altLang="ko-KR" dirty="0" smtClean="0"/>
              <a:t>(…)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카드 클릭으로 상세 이동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 smtClean="0"/>
              <a:t>10</a:t>
            </a:r>
            <a:r>
              <a:rPr lang="ko-KR" altLang="en-US" dirty="0" smtClean="0"/>
              <a:t>개 노출 이후 </a:t>
            </a:r>
            <a:r>
              <a:rPr lang="ko-KR" altLang="en-US" dirty="0" err="1" smtClean="0"/>
              <a:t>더보기</a:t>
            </a:r>
            <a:r>
              <a:rPr lang="ko-KR" altLang="en-US" dirty="0" smtClean="0"/>
              <a:t> 버튼 클릭으로 </a:t>
            </a:r>
            <a:r>
              <a:rPr lang="en-US" altLang="ko-KR" dirty="0" smtClean="0"/>
              <a:t>10</a:t>
            </a:r>
            <a:r>
              <a:rPr lang="ko-KR" altLang="en-US" dirty="0" smtClean="0"/>
              <a:t>개씩 추가 로드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카드 상단 표시 레이블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/>
              <a:t>검사 </a:t>
            </a:r>
            <a:r>
              <a:rPr lang="ko-KR" altLang="en-US" dirty="0" err="1" smtClean="0"/>
              <a:t>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검사 및 </a:t>
            </a:r>
            <a:r>
              <a:rPr lang="ko-KR" altLang="en-US" dirty="0" err="1">
                <a:latin typeface="+mn-ea"/>
              </a:rPr>
              <a:t>납품조서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기성 및 준공검사 대상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홈 </a:t>
            </a:r>
            <a:r>
              <a:rPr lang="en-US" altLang="ko-KR" dirty="0" smtClean="0"/>
              <a:t>&gt; </a:t>
            </a:r>
            <a:r>
              <a:rPr lang="ko-KR" altLang="en-US" dirty="0" smtClean="0">
                <a:latin typeface="+mn-ea"/>
              </a:rPr>
              <a:t>이행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검사통합목록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검사통합목록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3383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51354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73775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계약일자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계약금액</a:t>
            </a:r>
            <a:endParaRPr lang="en-US" altLang="ko-KR" sz="600" dirty="0" smtClean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0775" y="3858386"/>
            <a:ext cx="47448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11,616,000 </a:t>
            </a:r>
            <a:r>
              <a:rPr lang="ko-KR" altLang="en-US" sz="600" dirty="0" smtClean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32921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3329212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전년국채</a:t>
            </a:r>
            <a:endParaRPr lang="ko-KR" altLang="en-US" sz="600" dirty="0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04202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064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950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3024315" y="3090999"/>
            <a:ext cx="776938" cy="1131139"/>
            <a:chOff x="3004764" y="2490533"/>
            <a:chExt cx="776938" cy="1131139"/>
          </a:xfrm>
        </p:grpSpPr>
        <p:sp>
          <p:nvSpPr>
            <p:cNvPr id="59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sp>
          <p:nvSpPr>
            <p:cNvPr id="6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 smtClean="0">
                  <a:solidFill>
                    <a:prstClr val="black"/>
                  </a:solidFill>
                </a:rPr>
                <a:t>개</a:t>
              </a:r>
              <a:endParaRPr lang="en-US" altLang="ko-KR" sz="700" kern="0" dirty="0" smtClean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 smtClean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 smtClean="0">
                  <a:solidFill>
                    <a:prstClr val="black"/>
                  </a:solidFill>
                </a:rPr>
                <a:t>개</a:t>
              </a:r>
              <a:endParaRPr lang="en-US" altLang="ko-KR" sz="700" kern="0" dirty="0" smtClean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 smtClean="0">
                  <a:solidFill>
                    <a:prstClr val="black"/>
                  </a:solidFill>
                </a:rPr>
                <a:t>50 </a:t>
              </a:r>
              <a:r>
                <a:rPr lang="ko-KR" altLang="en-US" sz="700" kern="0" dirty="0" smtClean="0">
                  <a:solidFill>
                    <a:prstClr val="black"/>
                  </a:solidFill>
                </a:rPr>
                <a:t>개</a:t>
              </a:r>
              <a:endParaRPr lang="ko-KR" altLang="en-US" sz="700" kern="0" dirty="0">
                <a:solidFill>
                  <a:prstClr val="black"/>
                </a:solidFill>
              </a:endParaRPr>
            </a:p>
          </p:txBody>
        </p:sp>
        <p:grpSp>
          <p:nvGrpSpPr>
            <p:cNvPr id="64" name="그룹 63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모서리가 둥근 직사각형 79"/>
          <p:cNvSpPr/>
          <p:nvPr/>
        </p:nvSpPr>
        <p:spPr>
          <a:xfrm>
            <a:off x="4320532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621458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용역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49224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공사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22551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국외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4" y="287715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전년국채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예산구분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318634" y="3553817"/>
            <a:ext cx="558256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검사의뢰완료</a:t>
            </a:r>
            <a:endParaRPr lang="ko-KR" altLang="en-US" sz="600" dirty="0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939870" y="3556484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검사반려</a:t>
            </a:r>
            <a:endParaRPr lang="ko-KR" altLang="en-US" sz="6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559656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5399093" y="3556484"/>
            <a:ext cx="247535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저장</a:t>
            </a:r>
            <a:endParaRPr lang="ko-KR" altLang="en-US" sz="600" dirty="0"/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5711660" y="3556484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대금청구</a:t>
            </a:r>
            <a:endParaRPr lang="ko-KR" altLang="en-US" sz="600" dirty="0"/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525063" y="3324073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smtClean="0">
                <a:latin typeface="+mn-ea"/>
              </a:rPr>
              <a:t>표시 개수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10 </a:t>
            </a:r>
            <a:r>
              <a:rPr lang="ko-KR" altLang="en-US" sz="700" dirty="0" smtClean="0">
                <a:latin typeface="+mn-ea"/>
              </a:rPr>
              <a:t>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5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 smtClean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5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 smtClean="0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 smtClean="0"/>
                <a:t>V</a:t>
              </a:r>
              <a:endParaRPr lang="ko-KR" altLang="en-US" sz="600" dirty="0"/>
            </a:p>
          </p:txBody>
        </p:sp>
        <p:sp>
          <p:nvSpPr>
            <p:cNvPr id="17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 smtClean="0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379425"/>
            <a:ext cx="2473257" cy="821562"/>
            <a:chOff x="781461" y="3087955"/>
            <a:chExt cx="2473257" cy="821562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/>
                <a:t>계약 명칭 </a:t>
              </a:r>
              <a:r>
                <a:rPr lang="ko-KR" altLang="en-US" sz="900" b="1" dirty="0" err="1"/>
                <a:t>표시영역</a:t>
              </a:r>
              <a:endParaRPr lang="ko-KR" altLang="en-US" sz="900" b="1" dirty="0"/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계약일자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계약금액</a:t>
              </a:r>
              <a:endParaRPr lang="en-US" altLang="ko-KR" sz="600" dirty="0" smtClean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762378" y="3617129"/>
              <a:ext cx="472886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11,616,000 </a:t>
              </a:r>
              <a:r>
                <a:rPr lang="ko-KR" altLang="en-US" sz="600" dirty="0" smtClean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>
                  <a:solidFill>
                    <a:schemeClr val="dk1"/>
                  </a:solidFill>
                </a:rPr>
                <a:t>용역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162" name="모서리가 둥근 직사각형 161"/>
            <p:cNvSpPr/>
            <p:nvPr/>
          </p:nvSpPr>
          <p:spPr>
            <a:xfrm>
              <a:off x="1075655" y="3087955"/>
              <a:ext cx="25198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 smtClean="0"/>
                <a:t>본조</a:t>
              </a:r>
              <a:endParaRPr lang="ko-KR" altLang="en-US" sz="600" dirty="0"/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8808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6" name="모서리가 둥근 직사각형 165"/>
          <p:cNvSpPr/>
          <p:nvPr/>
        </p:nvSpPr>
        <p:spPr>
          <a:xfrm>
            <a:off x="1372190" y="437428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검사완료</a:t>
            </a:r>
            <a:endParaRPr lang="ko-KR" altLang="en-US" sz="600" dirty="0"/>
          </a:p>
        </p:txBody>
      </p: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 smtClean="0"/>
              <a:t>🔎</a:t>
            </a:r>
            <a:endParaRPr lang="ko-KR" altLang="en-US" sz="7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4318634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검사저장</a:t>
            </a:r>
            <a:endParaRPr lang="ko-KR" altLang="en-US" sz="600" dirty="0"/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782098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검사완료</a:t>
            </a:r>
            <a:endParaRPr lang="ko-KR" altLang="en-US" sz="600" dirty="0"/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5245543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출납완료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711660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조달접수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6176377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조달반려</a:t>
            </a:r>
            <a:endParaRPr lang="ko-KR" altLang="en-US" sz="600" dirty="0"/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4322406" y="3891192"/>
            <a:ext cx="554484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/>
              <a:t>납품조서반려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4920116" y="3893838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청구저장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4320532" y="321227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dk1"/>
                </a:solidFill>
              </a:rPr>
              <a:t>납지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810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납지구분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5090510" y="287715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당년국채</a:t>
            </a:r>
            <a:endParaRPr lang="ko-KR" altLang="en-US" sz="600" dirty="0"/>
          </a:p>
        </p:txBody>
      </p:sp>
      <p:sp>
        <p:nvSpPr>
          <p:cNvPr id="185" name="모서리가 둥근 직사각형 184"/>
          <p:cNvSpPr/>
          <p:nvPr/>
        </p:nvSpPr>
        <p:spPr>
          <a:xfrm>
            <a:off x="4783876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dk1"/>
                </a:solidFill>
              </a:rPr>
              <a:t>본조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434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검색필터</a:t>
            </a:r>
            <a:r>
              <a:rPr lang="ko-KR" altLang="en-US" dirty="0" smtClean="0"/>
              <a:t> 페이지 타이틀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검색유형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업무 구분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설정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>
                <a:sym typeface="Wingdings" panose="05000000000000000000" pitchFamily="2" charset="2"/>
              </a:rPr>
              <a:t>검색어</a:t>
            </a:r>
            <a:r>
              <a:rPr lang="ko-KR" altLang="en-US" dirty="0" smtClean="0">
                <a:sym typeface="Wingdings" panose="05000000000000000000" pitchFamily="2" charset="2"/>
              </a:rPr>
              <a:t> 영역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sym typeface="Wingdings" panose="05000000000000000000" pitchFamily="2" charset="2"/>
              </a:rPr>
              <a:t>구분 설정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 smtClean="0">
                <a:sym typeface="Wingdings" panose="05000000000000000000" pitchFamily="2" charset="2"/>
              </a:rPr>
              <a:t>플로팅</a:t>
            </a:r>
            <a:r>
              <a:rPr lang="ko-KR" altLang="en-US" dirty="0" smtClean="0">
                <a:sym typeface="Wingdings" panose="05000000000000000000" pitchFamily="2" charset="2"/>
              </a:rPr>
              <a:t> 처리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검색 필터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/>
              <a:t>상세 검색을 위한 검색 필터 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홈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이행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검사통합목록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검색 필터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MUI-EX-01-M01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 smtClean="0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초기화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6719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 smtClean="0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초기화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00691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 smtClean="0">
                <a:latin typeface="+mn-ea"/>
              </a:rPr>
              <a:t>업무구분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41620" y="2237072"/>
            <a:ext cx="230514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전체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물품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용역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공사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국외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772169" y="2303384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/>
          <p:cNvSpPr/>
          <p:nvPr/>
        </p:nvSpPr>
        <p:spPr>
          <a:xfrm>
            <a:off x="772169" y="2520610"/>
            <a:ext cx="107950" cy="107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4" name="그룹 133"/>
          <p:cNvGrpSpPr/>
          <p:nvPr/>
        </p:nvGrpSpPr>
        <p:grpSpPr>
          <a:xfrm flipV="1">
            <a:off x="3140949" y="2104604"/>
            <a:ext cx="91438" cy="45719"/>
            <a:chOff x="6812560" y="3297172"/>
            <a:chExt cx="94010" cy="47005"/>
          </a:xfrm>
        </p:grpSpPr>
        <p:cxnSp>
          <p:nvCxnSpPr>
            <p:cNvPr id="135" name="직선 연결선 1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7" name="직사각형 136"/>
          <p:cNvSpPr/>
          <p:nvPr/>
        </p:nvSpPr>
        <p:spPr>
          <a:xfrm>
            <a:off x="772169" y="2717700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772169" y="2932361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/>
          <p:cNvSpPr/>
          <p:nvPr/>
        </p:nvSpPr>
        <p:spPr>
          <a:xfrm>
            <a:off x="772169" y="3144327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712771" y="2482252"/>
            <a:ext cx="2215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 smtClean="0">
                <a:solidFill>
                  <a:schemeClr val="bg1"/>
                </a:solidFill>
              </a:rPr>
              <a:t>v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1004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7060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우측에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736534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smtClean="0">
                <a:latin typeface="+mn-ea"/>
              </a:rPr>
              <a:t>검색 설정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959072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계약일자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4834224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4986703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 smtClean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5006650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5217372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 smtClean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 smtClean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 smtClean="0">
                  <a:latin typeface="+mn-ea"/>
                </a:rPr>
                <a:t>3</a:t>
              </a:r>
              <a:r>
                <a:rPr kumimoji="1" lang="ko-KR" altLang="en-US" sz="700" kern="0" dirty="0" smtClean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 smtClean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 smtClean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4986703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 smtClean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61471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smtClean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smtClean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619253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smtClean="0">
                <a:latin typeface="+mn-ea"/>
              </a:rPr>
              <a:t>구분 설정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226" name="그룹 225"/>
          <p:cNvGrpSpPr/>
          <p:nvPr/>
        </p:nvGrpSpPr>
        <p:grpSpPr>
          <a:xfrm flipV="1">
            <a:off x="6261284" y="3716943"/>
            <a:ext cx="91438" cy="45719"/>
            <a:chOff x="6812560" y="3297172"/>
            <a:chExt cx="94010" cy="47005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모서리가 둥근 직사각형 228"/>
          <p:cNvSpPr/>
          <p:nvPr/>
        </p:nvSpPr>
        <p:spPr>
          <a:xfrm>
            <a:off x="4569619" y="3899744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847618"/>
            <a:ext cx="670770" cy="4524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 smtClean="0">
                <a:latin typeface="+mn-ea"/>
              </a:rPr>
              <a:t>진행상태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 smtClean="0">
                <a:latin typeface="+mn-ea"/>
              </a:rPr>
              <a:t>공사검사구분</a:t>
            </a:r>
            <a:endParaRPr lang="en-US" altLang="ko-KR" sz="700" dirty="0" smtClean="0">
              <a:latin typeface="+mn-ea"/>
            </a:endParaRPr>
          </a:p>
        </p:txBody>
      </p:sp>
      <p:grpSp>
        <p:nvGrpSpPr>
          <p:cNvPr id="247" name="그룹 246"/>
          <p:cNvGrpSpPr/>
          <p:nvPr/>
        </p:nvGrpSpPr>
        <p:grpSpPr>
          <a:xfrm>
            <a:off x="6261284" y="3970484"/>
            <a:ext cx="91438" cy="45719"/>
            <a:chOff x="6812560" y="3297172"/>
            <a:chExt cx="94010" cy="47005"/>
          </a:xfrm>
        </p:grpSpPr>
        <p:cxnSp>
          <p:nvCxnSpPr>
            <p:cNvPr id="248" name="직선 연결선 24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직선 연결선 24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58185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61451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3903622" y="1956581"/>
            <a:ext cx="2519558" cy="1590537"/>
            <a:chOff x="778515" y="4388257"/>
            <a:chExt cx="2519558" cy="1590537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 smtClean="0">
                  <a:latin typeface="+mn-ea"/>
                </a:rPr>
                <a:t>검색어</a:t>
              </a:r>
              <a:r>
                <a:rPr lang="ko-KR" altLang="en-US" sz="700" b="1" dirty="0" smtClean="0">
                  <a:latin typeface="+mn-ea"/>
                </a:rPr>
                <a:t> </a:t>
              </a:r>
              <a:r>
                <a:rPr lang="en-US" altLang="ko-KR" sz="700" b="1" dirty="0" smtClean="0">
                  <a:latin typeface="+mn-ea"/>
                </a:rPr>
                <a:t>(</a:t>
              </a:r>
              <a:r>
                <a:rPr lang="ko-KR" altLang="en-US" sz="700" b="1" dirty="0" smtClean="0">
                  <a:latin typeface="+mn-ea"/>
                </a:rPr>
                <a:t>일부 입력 가능</a:t>
              </a:r>
              <a:r>
                <a:rPr lang="en-US" altLang="ko-KR" sz="700" b="1" dirty="0" smtClean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 smtClean="0">
                  <a:solidFill>
                    <a:schemeClr val="bg1">
                      <a:lumMod val="65000"/>
                    </a:schemeClr>
                  </a:solidFill>
                </a:rPr>
                <a:t>계약건명을</a:t>
              </a:r>
              <a:r>
                <a:rPr lang="ko-KR" altLang="en-US" sz="700" dirty="0" smtClean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 smtClean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계약명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조서발행번호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통지번호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납지</a:t>
              </a:r>
              <a:endParaRPr lang="en-US" altLang="ko-KR" sz="700" dirty="0" smtClean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smtClean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 smtClean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2" name="모서리가 둥근 직사각형 211"/>
            <p:cNvSpPr/>
            <p:nvPr/>
          </p:nvSpPr>
          <p:spPr>
            <a:xfrm>
              <a:off x="1452235" y="5571893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조서발행번호를 선택하세요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9" name="모서리가 둥근 직사각형 98"/>
            <p:cNvSpPr/>
            <p:nvPr/>
          </p:nvSpPr>
          <p:spPr>
            <a:xfrm>
              <a:off x="1449284" y="579159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 smtClean="0">
                  <a:solidFill>
                    <a:schemeClr val="bg1">
                      <a:lumMod val="65000"/>
                    </a:schemeClr>
                  </a:solidFill>
                </a:rPr>
                <a:t>납지를</a:t>
              </a:r>
              <a:r>
                <a:rPr lang="ko-KR" altLang="en-US" sz="700" dirty="0" smtClean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 smtClean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7</a:t>
            </a:r>
            <a:endParaRPr lang="ko-KR" altLang="en-US" sz="900" b="1" dirty="0"/>
          </a:p>
        </p:txBody>
      </p:sp>
      <p:grpSp>
        <p:nvGrpSpPr>
          <p:cNvPr id="5" name="그룹 4"/>
          <p:cNvGrpSpPr/>
          <p:nvPr/>
        </p:nvGrpSpPr>
        <p:grpSpPr>
          <a:xfrm>
            <a:off x="675399" y="3511086"/>
            <a:ext cx="2712027" cy="1190034"/>
            <a:chOff x="675399" y="1977748"/>
            <a:chExt cx="2712027" cy="1190034"/>
          </a:xfrm>
        </p:grpSpPr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16778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0461" y="1977748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 smtClean="0">
                  <a:latin typeface="+mn-ea"/>
                </a:rPr>
                <a:t>예산구분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83" name="그룹 282"/>
            <p:cNvGrpSpPr/>
            <p:nvPr/>
          </p:nvGrpSpPr>
          <p:grpSpPr>
            <a:xfrm flipV="1">
              <a:off x="3162895" y="2075438"/>
              <a:ext cx="91438" cy="45719"/>
              <a:chOff x="6812560" y="3297172"/>
              <a:chExt cx="94010" cy="47005"/>
            </a:xfrm>
          </p:grpSpPr>
          <p:cxnSp>
            <p:nvCxnSpPr>
              <p:cNvPr id="284" name="직선 연결선 28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5" name="직선 연결선 28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63566" y="2221573"/>
              <a:ext cx="2305144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전체 예산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전년국채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본조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당년국채</a:t>
              </a:r>
              <a:endParaRPr lang="en-US" altLang="ko-KR" sz="700" dirty="0" smtClean="0">
                <a:latin typeface="+mn-ea"/>
              </a:endParaRPr>
            </a:p>
          </p:txBody>
        </p:sp>
        <p:grpSp>
          <p:nvGrpSpPr>
            <p:cNvPr id="169" name="그룹 168"/>
            <p:cNvGrpSpPr/>
            <p:nvPr/>
          </p:nvGrpSpPr>
          <p:grpSpPr>
            <a:xfrm>
              <a:off x="772169" y="2297325"/>
              <a:ext cx="107950" cy="736927"/>
              <a:chOff x="772169" y="2297325"/>
              <a:chExt cx="107950" cy="736927"/>
            </a:xfrm>
          </p:grpSpPr>
          <p:sp>
            <p:nvSpPr>
              <p:cNvPr id="170" name="직사각형 169"/>
              <p:cNvSpPr/>
              <p:nvPr/>
            </p:nvSpPr>
            <p:spPr>
              <a:xfrm>
                <a:off x="772169" y="2297325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" name="직사각형 172"/>
              <p:cNvSpPr/>
              <p:nvPr/>
            </p:nvSpPr>
            <p:spPr>
              <a:xfrm>
                <a:off x="772169" y="2514551"/>
                <a:ext cx="107950" cy="10795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" name="직사각형 173"/>
              <p:cNvSpPr/>
              <p:nvPr/>
            </p:nvSpPr>
            <p:spPr>
              <a:xfrm>
                <a:off x="772169" y="2711641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" name="직사각형 174"/>
              <p:cNvSpPr/>
              <p:nvPr/>
            </p:nvSpPr>
            <p:spPr>
              <a:xfrm>
                <a:off x="772169" y="2926302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77" name="TextBox 176"/>
            <p:cNvSpPr txBox="1"/>
            <p:nvPr/>
          </p:nvSpPr>
          <p:spPr>
            <a:xfrm>
              <a:off x="712771" y="2469709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 smtClean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" name="모서리가 둥근 직사각형 99"/>
          <p:cNvSpPr/>
          <p:nvPr/>
        </p:nvSpPr>
        <p:spPr>
          <a:xfrm>
            <a:off x="4569619" y="4133550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6261284" y="4204290"/>
            <a:ext cx="91438" cy="45719"/>
            <a:chOff x="6812560" y="3297172"/>
            <a:chExt cx="94010" cy="47005"/>
          </a:xfrm>
        </p:grpSpPr>
        <p:cxnSp>
          <p:nvCxnSpPr>
            <p:cNvPr id="102" name="직선 연결선 1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직선 연결선 10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5" name="그룹 104"/>
          <p:cNvGrpSpPr/>
          <p:nvPr/>
        </p:nvGrpSpPr>
        <p:grpSpPr>
          <a:xfrm rot="16200000">
            <a:off x="6261284" y="2754410"/>
            <a:ext cx="91438" cy="45719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98215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검사통합목록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dml_InspIntgListSrchCnd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545FD0-B8C5-4B98-203E-A36908FB8DD4}"/>
              </a:ext>
            </a:extLst>
          </p:cNvPr>
          <p:cNvSpPr txBox="1"/>
          <p:nvPr/>
        </p:nvSpPr>
        <p:spPr>
          <a:xfrm>
            <a:off x="458117" y="488205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449404"/>
            <a:ext cx="262308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검사통합목록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dlt_InspIntgList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계약시작일자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ctrtBgngYmd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계약시작일자 입력</a:t>
                      </a:r>
                      <a:r>
                        <a:rPr lang="en-US" altLang="ko-KR" sz="800" dirty="0">
                          <a:latin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계약종료일자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ctrtEndYmd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계약종료일자 입력</a:t>
                      </a:r>
                      <a:r>
                        <a:rPr lang="en-US" altLang="ko-KR" sz="800" dirty="0">
                          <a:latin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383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taskSecd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전체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34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기성준공구분코드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pxcndCmcnSecd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:UB64(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408593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31F6A43-1297-CF99-ABFA-B1F80565E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587020"/>
              </p:ext>
            </p:extLst>
          </p:nvPr>
        </p:nvGraphicFramePr>
        <p:xfrm>
          <a:off x="453000" y="5160184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17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282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6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계약일자를 현재일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– M,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현재일로 기본 값 설정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업무구분은 전체로 설정한다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카드 </a:t>
                      </a:r>
                      <a:r>
                        <a:rPr lang="ko-KR" altLang="en-US" sz="800" dirty="0"/>
                        <a:t>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Scwin.grd_srchRsltList_onclick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계약번호에 해당하는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 및 준공검사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(UI-EX-01-M02)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(UI-EX-01-M05)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기성및준공검사상세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검색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Scwin.btn_srch_onclick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검사통합목록을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091840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688333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lt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ctrtNo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pxcndCycl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기성차수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464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기성준공구분코드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pxcndCmcnSecd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공사업무의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:UB64(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690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ctrtBzentyNm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계약업체명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916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납품기성금액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dlvgdsPxcndAmt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검수기성금액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 조회결과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inspYmd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검사일자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530522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75457464-9D76-7948-2B1A-9B65EC2CD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5980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상세 화면 상단에 계약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 – </a:t>
            </a:r>
            <a:r>
              <a:rPr lang="ko-KR" altLang="en-US" dirty="0" smtClean="0"/>
              <a:t>최초 확장하여 목록과 동일한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2-2 – </a:t>
            </a:r>
            <a:r>
              <a:rPr lang="ko-KR" altLang="en-US" dirty="0" smtClean="0"/>
              <a:t>스크롤이 발생하는 경우 최소화하여 품목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제목 정보만 상단 상시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공고의 공지사항이 있는 경우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공지사항은 기본으로 닫힘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클릭으로 열리고 닫힘 처리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메뉴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좌우 </a:t>
            </a:r>
            <a:r>
              <a:rPr lang="ko-KR" altLang="en-US" dirty="0" err="1" smtClean="0"/>
              <a:t>스와이프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좌우 이동 버튼 </a:t>
            </a:r>
            <a:r>
              <a:rPr lang="en-US" altLang="ko-KR" dirty="0" smtClean="0"/>
              <a:t>(</a:t>
            </a:r>
            <a:r>
              <a:rPr lang="ko-KR" altLang="en-US" dirty="0" smtClean="0"/>
              <a:t>좌우 스크롤</a:t>
            </a:r>
            <a:r>
              <a:rPr lang="en-US" altLang="ko-KR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공고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스크롤 발생 시 변화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상단 타이틀 영역 최소화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공지사항 단계 표시기는 스크롤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스크롤 시 탭 메뉴 타이틀 </a:t>
            </a:r>
            <a:r>
              <a:rPr lang="ko-KR" altLang="en-US" dirty="0" err="1" smtClean="0"/>
              <a:t>하단고정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/>
              <a:t>현재 탭 선택 시 </a:t>
            </a:r>
            <a:r>
              <a:rPr lang="ko-KR" altLang="en-US" dirty="0" err="1" smtClean="0"/>
              <a:t>최상단</a:t>
            </a:r>
            <a:r>
              <a:rPr lang="ko-KR" altLang="en-US" dirty="0" smtClean="0"/>
              <a:t> 이동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메뉴 하단은 전부 스크롤 이동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플로팅</a:t>
            </a:r>
            <a:r>
              <a:rPr lang="ko-KR" altLang="en-US" dirty="0" smtClean="0"/>
              <a:t> 버튼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상단 아이콘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최상단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전체 화면 공통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더하기 아이콘 </a:t>
            </a:r>
            <a:r>
              <a:rPr lang="en-US" altLang="ko-KR" dirty="0" smtClean="0"/>
              <a:t>- </a:t>
            </a:r>
            <a:r>
              <a:rPr lang="ko-KR" altLang="en-US" dirty="0" smtClean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홈 </a:t>
            </a:r>
            <a:r>
              <a:rPr lang="en-US" altLang="ko-KR" dirty="0" smtClean="0"/>
              <a:t>&gt; </a:t>
            </a:r>
            <a:r>
              <a:rPr lang="ko-KR" altLang="en-US" dirty="0" smtClean="0">
                <a:latin typeface="+mn-ea"/>
              </a:rPr>
              <a:t>이행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상세 조회 </a:t>
            </a: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 smtClean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검사 및 </a:t>
            </a:r>
            <a:r>
              <a:rPr lang="ko-KR" altLang="en-US" sz="800" dirty="0" err="1" smtClean="0">
                <a:latin typeface="+mn-ea"/>
              </a:rPr>
              <a:t>납품조서</a:t>
            </a:r>
            <a:r>
              <a:rPr lang="ko-KR" altLang="en-US" sz="800" dirty="0" smtClean="0">
                <a:latin typeface="+mn-ea"/>
              </a:rPr>
              <a:t> </a:t>
            </a:r>
            <a:r>
              <a:rPr lang="en-US" altLang="ko-KR" sz="800" dirty="0" smtClean="0">
                <a:latin typeface="+mn-ea"/>
              </a:rPr>
              <a:t>(</a:t>
            </a:r>
            <a:r>
              <a:rPr lang="ko-KR" altLang="en-US" sz="800" dirty="0" err="1" smtClean="0">
                <a:latin typeface="+mn-ea"/>
              </a:rPr>
              <a:t>중앙조달</a:t>
            </a:r>
            <a:r>
              <a:rPr lang="en-US" altLang="ko-KR" sz="800" dirty="0" smtClean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 smtClean="0"/>
              <a:t>계약 명칭 </a:t>
            </a:r>
            <a:r>
              <a:rPr lang="ko-KR" altLang="en-US" sz="900" b="1" dirty="0" err="1" smtClean="0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11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123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0485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공지사항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6361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7181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2926040" y="2261650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3070040" y="2278058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출력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0501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smtClean="0">
                <a:latin typeface="+mn-ea"/>
              </a:rPr>
              <a:t>상세정보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050144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0120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73082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계약 상세정보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864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80568"/>
            <a:ext cx="792000" cy="1299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805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80567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통지번호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예산구분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납기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납지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납품요구일시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80567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전년국채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 smtClean="0">
                <a:latin typeface="+mn-ea"/>
              </a:rPr>
              <a:t>부대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116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53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90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527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65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802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1" name="타원 200"/>
          <p:cNvSpPr/>
          <p:nvPr/>
        </p:nvSpPr>
        <p:spPr>
          <a:xfrm>
            <a:off x="6029572" y="158593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6173572" y="1602341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출력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361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0139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037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1342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366245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335885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입찰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9" name="타원 188"/>
          <p:cNvSpPr/>
          <p:nvPr/>
        </p:nvSpPr>
        <p:spPr>
          <a:xfrm>
            <a:off x="140403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366245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366245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335885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조달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4" name="타원 243"/>
          <p:cNvSpPr/>
          <p:nvPr/>
        </p:nvSpPr>
        <p:spPr>
          <a:xfrm>
            <a:off x="2058749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계약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9" name="타원 248"/>
          <p:cNvSpPr/>
          <p:nvPr/>
        </p:nvSpPr>
        <p:spPr>
          <a:xfrm>
            <a:off x="2714860" y="3295766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이행</a:t>
            </a:r>
            <a:endParaRPr lang="ko-KR" altLang="en-US" sz="700" dirty="0">
              <a:latin typeface="+mn-ea"/>
            </a:endParaRP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smtClean="0">
                <a:solidFill>
                  <a:prstClr val="black"/>
                </a:solidFill>
              </a:rPr>
              <a:t>이행</a:t>
            </a:r>
            <a:r>
              <a:rPr lang="en-US" altLang="ko-KR" sz="700" dirty="0" smtClean="0">
                <a:solidFill>
                  <a:prstClr val="black"/>
                </a:solidFill>
              </a:rPr>
              <a:t> </a:t>
            </a:r>
            <a:r>
              <a:rPr lang="ko-KR" altLang="en-US" sz="700" dirty="0" smtClean="0">
                <a:solidFill>
                  <a:prstClr val="black"/>
                </a:solidFill>
              </a:rPr>
              <a:t>정보 신청</a:t>
            </a:r>
            <a:r>
              <a:rPr lang="en-US" altLang="ko-KR" sz="700" dirty="0" smtClean="0">
                <a:solidFill>
                  <a:prstClr val="black"/>
                </a:solidFill>
              </a:rPr>
              <a:t>,</a:t>
            </a:r>
            <a:r>
              <a:rPr lang="ko-KR" altLang="en-US" sz="700" dirty="0" smtClean="0">
                <a:solidFill>
                  <a:prstClr val="black"/>
                </a:solidFill>
              </a:rPr>
              <a:t> 수정은 </a:t>
            </a:r>
            <a:r>
              <a:rPr lang="en-US" altLang="ko-KR" sz="700" dirty="0" smtClean="0">
                <a:solidFill>
                  <a:prstClr val="black"/>
                </a:solidFill>
              </a:rPr>
              <a:t>PC </a:t>
            </a:r>
            <a:r>
              <a:rPr lang="ko-KR" altLang="en-US" sz="700" dirty="0" smtClean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 smtClean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smtClean="0">
                <a:latin typeface="+mn-ea"/>
              </a:rPr>
              <a:t>상세정보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295766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1" name="그룹 180"/>
          <p:cNvGrpSpPr/>
          <p:nvPr/>
        </p:nvGrpSpPr>
        <p:grpSpPr>
          <a:xfrm>
            <a:off x="3792723" y="2501699"/>
            <a:ext cx="2712026" cy="2185367"/>
            <a:chOff x="696358" y="1533275"/>
            <a:chExt cx="2712026" cy="2185367"/>
          </a:xfrm>
        </p:grpSpPr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703" y="1533275"/>
              <a:ext cx="728875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비고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87" name="그룹 186"/>
            <p:cNvGrpSpPr/>
            <p:nvPr/>
          </p:nvGrpSpPr>
          <p:grpSpPr>
            <a:xfrm flipV="1">
              <a:off x="3140790" y="1646606"/>
              <a:ext cx="94010" cy="47005"/>
              <a:chOff x="6812560" y="3297172"/>
              <a:chExt cx="94010" cy="47005"/>
            </a:xfrm>
          </p:grpSpPr>
          <p:cxnSp>
            <p:nvCxnSpPr>
              <p:cNvPr id="219" name="직선 연결선 21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06" name="직선 연결선 20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96358" y="3718642"/>
              <a:ext cx="2712026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19291" y="1847909"/>
              <a:ext cx="25326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비고 내용 표시 영역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</p:txBody>
        </p: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49450" y="182741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312680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다음에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우측에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82464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물품 목록 </a:t>
              </a:r>
              <a:r>
                <a:rPr lang="en-US" altLang="ko-KR" sz="700" dirty="0" smtClean="0">
                  <a:latin typeface="+mn-ea"/>
                </a:rPr>
                <a:t>- </a:t>
              </a:r>
              <a:r>
                <a:rPr lang="ko-KR" altLang="en-US" sz="700" dirty="0" smtClean="0">
                  <a:latin typeface="+mn-ea"/>
                </a:rPr>
                <a:t>총 </a:t>
              </a: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ko-KR" altLang="en-US" sz="700" dirty="0" smtClean="0">
                  <a:latin typeface="+mn-ea"/>
                </a:rPr>
                <a:t>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1512818"/>
            <a:chOff x="3865118" y="2946203"/>
            <a:chExt cx="2630093" cy="15128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조달요구번호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재고번호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품명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단위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계약수량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기 </a:t>
              </a:r>
              <a:r>
                <a:rPr lang="ko-KR" altLang="en-US" sz="700" dirty="0" err="1" smtClean="0">
                  <a:latin typeface="+mn-ea"/>
                </a:rPr>
                <a:t>작성수량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금번 </a:t>
              </a:r>
              <a:r>
                <a:rPr lang="ko-KR" altLang="en-US" sz="700" dirty="0" err="1" smtClean="0">
                  <a:latin typeface="+mn-ea"/>
                </a:rPr>
                <a:t>납품수량</a:t>
              </a:r>
              <a:endParaRPr lang="en-US" altLang="ko-KR" sz="700" dirty="0" smtClean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27478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906949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2" name="그룹 51"/>
          <p:cNvGrpSpPr/>
          <p:nvPr/>
        </p:nvGrpSpPr>
        <p:grpSpPr>
          <a:xfrm>
            <a:off x="716366" y="3397789"/>
            <a:ext cx="2630093" cy="1512818"/>
            <a:chOff x="3865118" y="2946203"/>
            <a:chExt cx="2630093" cy="1512818"/>
          </a:xfrm>
        </p:grpSpPr>
        <p:sp>
          <p:nvSpPr>
            <p:cNvPr id="53" name="직사각형 52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조달요구번호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재고번호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품명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단위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계약수량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기 </a:t>
              </a:r>
              <a:r>
                <a:rPr lang="ko-KR" altLang="en-US" sz="700" dirty="0" err="1" smtClean="0">
                  <a:latin typeface="+mn-ea"/>
                </a:rPr>
                <a:t>작성수량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금번 </a:t>
              </a:r>
              <a:r>
                <a:rPr lang="ko-KR" altLang="en-US" sz="700" dirty="0" err="1" smtClean="0">
                  <a:latin typeface="+mn-ea"/>
                </a:rPr>
                <a:t>납품수량</a:t>
              </a:r>
              <a:endParaRPr lang="en-US" altLang="ko-KR" sz="700" dirty="0" smtClean="0"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963525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287906"/>
            <a:ext cx="22976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물품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dlt_CmdtyList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예산구분코드명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bgtSecdNm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dudtYmd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571660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acmlWrtQty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누적 작성수량 조회결과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tstmDlvgdsQty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D996EE-2D40-91AC-7780-FEBC0CF4B2E0}"/>
              </a:ext>
            </a:extLst>
          </p:cNvPr>
          <p:cNvSpPr txBox="1"/>
          <p:nvPr/>
        </p:nvSpPr>
        <p:spPr>
          <a:xfrm>
            <a:off x="458117" y="4227813"/>
            <a:ext cx="184241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비고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dmt_Rmrk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52333D1-7A13-5322-9835-A414405A42F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511567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84101F97-8F9F-076F-8AE7-28B5FE069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F28EA37-76BE-6350-49C9-C7023D579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69258"/>
              </p:ext>
            </p:extLst>
          </p:nvPr>
        </p:nvGraphicFramePr>
        <p:xfrm>
          <a:off x="453000" y="5221270"/>
          <a:ext cx="8995591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39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490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594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8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물품 목록을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2D3E0ED-2BEB-8A79-9CF2-85650746C923}"/>
              </a:ext>
            </a:extLst>
          </p:cNvPr>
          <p:cNvSpPr txBox="1"/>
          <p:nvPr/>
        </p:nvSpPr>
        <p:spPr>
          <a:xfrm>
            <a:off x="458117" y="498821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</p:spTree>
    <p:extLst>
      <p:ext uri="{BB962C8B-B14F-4D97-AF65-F5344CB8AC3E}">
        <p14:creationId xmlns:p14="http://schemas.microsoft.com/office/powerpoint/2010/main" val="2048331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상세 화면 상단에 계약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 – </a:t>
            </a:r>
            <a:r>
              <a:rPr lang="ko-KR" altLang="en-US" dirty="0" smtClean="0"/>
              <a:t>최초 확장하여 목록과 동일한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2-2 – </a:t>
            </a:r>
            <a:r>
              <a:rPr lang="ko-KR" altLang="en-US" dirty="0" smtClean="0"/>
              <a:t>스크롤이 발생하는 경우 최소화하여 품목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제목 정보만 상단 상시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공고의 공지사항이 있는 경우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공지사항은 기본으로 닫힘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클릭으로 열리고 닫힘 처리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메뉴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좌우 </a:t>
            </a:r>
            <a:r>
              <a:rPr lang="ko-KR" altLang="en-US" dirty="0" err="1" smtClean="0"/>
              <a:t>스와이프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좌우 이동 버튼 </a:t>
            </a:r>
            <a:r>
              <a:rPr lang="en-US" altLang="ko-KR" dirty="0" smtClean="0"/>
              <a:t>(</a:t>
            </a:r>
            <a:r>
              <a:rPr lang="ko-KR" altLang="en-US" dirty="0" smtClean="0"/>
              <a:t>좌우 스크롤</a:t>
            </a:r>
            <a:r>
              <a:rPr lang="en-US" altLang="ko-KR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공고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스크롤 발생 시 변화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상단 타이틀 영역 최소화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공지사항 단계 표시기는 스크롤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스크롤 시 탭 메뉴 타이틀 </a:t>
            </a:r>
            <a:r>
              <a:rPr lang="ko-KR" altLang="en-US" dirty="0" err="1" smtClean="0"/>
              <a:t>하단고정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/>
              <a:t>현재 탭 선택 시 </a:t>
            </a:r>
            <a:r>
              <a:rPr lang="ko-KR" altLang="en-US" dirty="0" err="1" smtClean="0"/>
              <a:t>최상단</a:t>
            </a:r>
            <a:r>
              <a:rPr lang="ko-KR" altLang="en-US" dirty="0" smtClean="0"/>
              <a:t> 이동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메뉴 하단은 전부 스크롤 이동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플로팅</a:t>
            </a:r>
            <a:r>
              <a:rPr lang="ko-KR" altLang="en-US" dirty="0" smtClean="0"/>
              <a:t> 버튼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상단 아이콘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최상단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전체 화면 공통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더하기 아이콘 </a:t>
            </a:r>
            <a:r>
              <a:rPr lang="en-US" altLang="ko-KR" dirty="0" smtClean="0"/>
              <a:t>- </a:t>
            </a:r>
            <a:r>
              <a:rPr lang="ko-KR" altLang="en-US" dirty="0" smtClean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 smtClean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 smtClean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홈 </a:t>
            </a:r>
            <a:r>
              <a:rPr lang="en-US" altLang="ko-KR" dirty="0" smtClean="0"/>
              <a:t>&gt; </a:t>
            </a:r>
            <a:r>
              <a:rPr lang="ko-KR" altLang="en-US" dirty="0" smtClean="0">
                <a:latin typeface="+mn-ea"/>
              </a:rPr>
              <a:t>이행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상세 조회 </a:t>
            </a: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 smtClean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 smtClean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검사 및 </a:t>
            </a:r>
            <a:r>
              <a:rPr lang="ko-KR" altLang="en-US" sz="800" dirty="0" err="1" smtClean="0">
                <a:latin typeface="+mn-ea"/>
              </a:rPr>
              <a:t>납품조서</a:t>
            </a:r>
            <a:r>
              <a:rPr lang="ko-KR" altLang="en-US" sz="800" dirty="0" smtClean="0">
                <a:latin typeface="+mn-ea"/>
              </a:rPr>
              <a:t> </a:t>
            </a:r>
            <a:r>
              <a:rPr lang="en-US" altLang="ko-KR" sz="800" dirty="0" smtClean="0">
                <a:latin typeface="+mn-ea"/>
              </a:rPr>
              <a:t>(</a:t>
            </a:r>
            <a:r>
              <a:rPr lang="ko-KR" altLang="en-US" sz="800" dirty="0" err="1">
                <a:latin typeface="+mn-ea"/>
              </a:rPr>
              <a:t>부대조달</a:t>
            </a:r>
            <a:r>
              <a:rPr lang="en-US" altLang="ko-KR" sz="800" dirty="0" smtClean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 smtClean="0"/>
              <a:t>계약 명칭 </a:t>
            </a:r>
            <a:r>
              <a:rPr lang="ko-KR" altLang="en-US" sz="900" b="1" dirty="0" err="1" smtClean="0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11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123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0485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공지사항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6361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7181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2926040" y="2261650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3070040" y="2278058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출력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0501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smtClean="0">
                <a:latin typeface="+mn-ea"/>
              </a:rPr>
              <a:t>상세정보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050144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0120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73082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계약 상세정보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864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80567"/>
            <a:ext cx="792000" cy="1506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805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80567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통지번호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예산구분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납기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납지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검사희망일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비고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80567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전년국채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 smtClean="0">
                <a:latin typeface="+mn-ea"/>
              </a:rPr>
              <a:t>부대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116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53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90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527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65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802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1" name="타원 200"/>
          <p:cNvSpPr/>
          <p:nvPr/>
        </p:nvSpPr>
        <p:spPr>
          <a:xfrm>
            <a:off x="6029572" y="158593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6173572" y="1602341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출력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361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0139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037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1342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366245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335885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입찰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9" name="타원 188"/>
          <p:cNvSpPr/>
          <p:nvPr/>
        </p:nvSpPr>
        <p:spPr>
          <a:xfrm>
            <a:off x="140403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366245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366245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335885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조달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4" name="타원 243"/>
          <p:cNvSpPr/>
          <p:nvPr/>
        </p:nvSpPr>
        <p:spPr>
          <a:xfrm>
            <a:off x="2058749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계약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9" name="타원 248"/>
          <p:cNvSpPr/>
          <p:nvPr/>
        </p:nvSpPr>
        <p:spPr>
          <a:xfrm>
            <a:off x="2714860" y="3295766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이행</a:t>
            </a:r>
            <a:endParaRPr lang="ko-KR" altLang="en-US" sz="700" dirty="0">
              <a:latin typeface="+mn-ea"/>
            </a:endParaRP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smtClean="0">
                <a:solidFill>
                  <a:prstClr val="black"/>
                </a:solidFill>
              </a:rPr>
              <a:t>이행</a:t>
            </a:r>
            <a:r>
              <a:rPr lang="en-US" altLang="ko-KR" sz="700" dirty="0" smtClean="0">
                <a:solidFill>
                  <a:prstClr val="black"/>
                </a:solidFill>
              </a:rPr>
              <a:t> </a:t>
            </a:r>
            <a:r>
              <a:rPr lang="ko-KR" altLang="en-US" sz="700" dirty="0" smtClean="0">
                <a:solidFill>
                  <a:prstClr val="black"/>
                </a:solidFill>
              </a:rPr>
              <a:t>정보 신청</a:t>
            </a:r>
            <a:r>
              <a:rPr lang="en-US" altLang="ko-KR" sz="700" dirty="0" smtClean="0">
                <a:solidFill>
                  <a:prstClr val="black"/>
                </a:solidFill>
              </a:rPr>
              <a:t>,</a:t>
            </a:r>
            <a:r>
              <a:rPr lang="ko-KR" altLang="en-US" sz="700" dirty="0" smtClean="0">
                <a:solidFill>
                  <a:prstClr val="black"/>
                </a:solidFill>
              </a:rPr>
              <a:t> 수정은 </a:t>
            </a:r>
            <a:r>
              <a:rPr lang="en-US" altLang="ko-KR" sz="700" dirty="0" smtClean="0">
                <a:solidFill>
                  <a:prstClr val="black"/>
                </a:solidFill>
              </a:rPr>
              <a:t>PC </a:t>
            </a:r>
            <a:r>
              <a:rPr lang="ko-KR" altLang="en-US" sz="700" dirty="0" smtClean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 smtClean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smtClean="0">
                <a:latin typeface="+mn-ea"/>
              </a:rPr>
              <a:t>상세정보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295766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다음에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877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836701" y="2497642"/>
            <a:ext cx="2630093" cy="1186690"/>
            <a:chOff x="3801854" y="3355661"/>
            <a:chExt cx="2630093" cy="1186690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 업체 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40" name="그룹 139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3" name="직사각형 142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주소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대표자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배송업체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A </a:t>
              </a:r>
              <a:r>
                <a:rPr lang="ko-KR" altLang="en-US" sz="700" dirty="0" smtClean="0">
                  <a:latin typeface="+mn-ea"/>
                </a:rPr>
                <a:t>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서울특별시 종로구</a:t>
              </a:r>
              <a:r>
                <a:rPr lang="en-US" altLang="ko-KR" sz="700" dirty="0" smtClean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CJ</a:t>
              </a:r>
              <a:r>
                <a:rPr lang="ko-KR" altLang="en-US" sz="700" dirty="0" smtClean="0">
                  <a:latin typeface="+mn-ea"/>
                </a:rPr>
                <a:t>대한통운</a:t>
              </a:r>
              <a:endParaRPr lang="en-US" altLang="ko-KR" sz="700" dirty="0" smtClean="0">
                <a:latin typeface="+mn-ea"/>
              </a:endParaRPr>
            </a:p>
          </p:txBody>
        </p: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312680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4" name="그룹 153"/>
          <p:cNvGrpSpPr/>
          <p:nvPr/>
        </p:nvGrpSpPr>
        <p:grpSpPr>
          <a:xfrm>
            <a:off x="3836701" y="3734347"/>
            <a:ext cx="2630093" cy="2892808"/>
            <a:chOff x="3801854" y="3355661"/>
            <a:chExt cx="2630093" cy="2892808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이행 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73" name="직선 연결선 17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8" name="직사각형 157"/>
            <p:cNvSpPr/>
            <p:nvPr/>
          </p:nvSpPr>
          <p:spPr>
            <a:xfrm>
              <a:off x="3803947" y="3663145"/>
              <a:ext cx="792000" cy="25853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개시일자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검수일자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납품일자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출납번호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합격일자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기술검사기관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기술검사관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소속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물량검사관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소속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출납관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전화번호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1234 5678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000 00 </a:t>
              </a:r>
              <a:r>
                <a:rPr lang="ko-KR" altLang="en-US" sz="700" dirty="0" smtClean="0">
                  <a:latin typeface="+mn-ea"/>
                </a:rPr>
                <a:t>기관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0000000 </a:t>
              </a:r>
              <a:r>
                <a:rPr lang="ko-KR" altLang="en-US" sz="700" dirty="0" smtClean="0">
                  <a:latin typeface="+mn-ea"/>
                </a:rPr>
                <a:t>부대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김길동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0000000 </a:t>
              </a:r>
              <a:r>
                <a:rPr lang="ko-KR" altLang="en-US" sz="700" dirty="0" smtClean="0">
                  <a:latin typeface="+mn-ea"/>
                </a:rPr>
                <a:t>부대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박길동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000-0000-0000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3883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59329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8035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0347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2484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723" y="3726178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우측에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1691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 smtClean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 smtClean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 smtClean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 smtClean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물품 목록 </a:t>
              </a:r>
              <a:r>
                <a:rPr lang="en-US" altLang="ko-KR" sz="700" dirty="0" smtClean="0">
                  <a:latin typeface="+mn-ea"/>
                </a:rPr>
                <a:t>- </a:t>
              </a:r>
              <a:r>
                <a:rPr lang="ko-KR" altLang="en-US" sz="700" dirty="0" smtClean="0">
                  <a:latin typeface="+mn-ea"/>
                </a:rPr>
                <a:t>총 </a:t>
              </a: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ko-KR" altLang="en-US" sz="700" dirty="0" smtClean="0">
                  <a:latin typeface="+mn-ea"/>
                </a:rPr>
                <a:t>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1512818"/>
            <a:chOff x="3865118" y="2946203"/>
            <a:chExt cx="2630093" cy="15128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조달요구번호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재고번호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품명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단위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계약수량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기 </a:t>
              </a:r>
              <a:r>
                <a:rPr lang="ko-KR" altLang="en-US" sz="700" dirty="0" err="1" smtClean="0">
                  <a:latin typeface="+mn-ea"/>
                </a:rPr>
                <a:t>작성수량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금번 </a:t>
              </a:r>
              <a:r>
                <a:rPr lang="ko-KR" altLang="en-US" sz="700" dirty="0" err="1" smtClean="0">
                  <a:latin typeface="+mn-ea"/>
                </a:rPr>
                <a:t>납품수량</a:t>
              </a:r>
              <a:endParaRPr lang="en-US" altLang="ko-KR" sz="700" dirty="0" smtClean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7763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716366" y="3397789"/>
            <a:ext cx="2630093" cy="1512818"/>
            <a:chOff x="3865118" y="2946203"/>
            <a:chExt cx="2630093" cy="1512818"/>
          </a:xfrm>
        </p:grpSpPr>
        <p:sp>
          <p:nvSpPr>
            <p:cNvPr id="53" name="직사각형 52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조달요구번호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재고번호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품명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단위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계약수량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기 </a:t>
              </a:r>
              <a:r>
                <a:rPr lang="ko-KR" altLang="en-US" sz="700" dirty="0" err="1" smtClean="0">
                  <a:latin typeface="+mn-ea"/>
                </a:rPr>
                <a:t>작성수량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금번 </a:t>
              </a:r>
              <a:r>
                <a:rPr lang="ko-KR" altLang="en-US" sz="700" dirty="0" err="1" smtClean="0">
                  <a:latin typeface="+mn-ea"/>
                </a:rPr>
                <a:t>납품수량</a:t>
              </a:r>
              <a:endParaRPr lang="en-US" altLang="ko-KR" sz="700" dirty="0" smtClean="0"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930409" y="5562569"/>
            <a:ext cx="220200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품목의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검사합격을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7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증명함</a:t>
            </a:r>
            <a:endParaRPr lang="en-US" altLang="ko-KR" sz="700" b="1" dirty="0" smtClean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7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품목이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남품되었음을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증명함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8621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47909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078453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644960"/>
            <a:ext cx="24130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계약자 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bgtSecdNm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납품조서번호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dlvdocNo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납품조서번호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dudtYmd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 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928714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ctrtBzentyAddr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rprsvNm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배송업체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배송업체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C7231-6C17-87A2-BE5A-9F9C226BFDD6}"/>
              </a:ext>
            </a:extLst>
          </p:cNvPr>
          <p:cNvSpPr txBox="1"/>
          <p:nvPr/>
        </p:nvSpPr>
        <p:spPr>
          <a:xfrm>
            <a:off x="458117" y="4028133"/>
            <a:ext cx="22976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물품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dlt_CmdtyList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C41BEF0-2F1E-675B-DE42-9DB82DD4D7F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311887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총계약수량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tctrtQty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acmlWrtQty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tstmDlvgdsQty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246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2520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igiYmd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rcpmNo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기술검사기관명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techInspInstNm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기술검사기관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기술검사관명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techInsptrNm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기술검사관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물량검사관소속명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amtmtrInsptrOgdpNm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물량검사관소속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4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출납관소속명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acofOgdpNm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출납관소속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118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물량검사관명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amtmtrInsptrNm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물량검사관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64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46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출납관전화번호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출납관전화번호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00008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3615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35FD6C4-6456-DFB7-0DAC-148C0990C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332451"/>
              </p:ext>
            </p:extLst>
          </p:nvPr>
        </p:nvGraphicFramePr>
        <p:xfrm>
          <a:off x="453000" y="1058554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60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062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373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4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물품 목록을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검사의뢰서를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(UI-EX-01-R13)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517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3059791-0E8E-B3FC-9AB7-2DE7C96BC523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13" name="Text Box 73">
            <a:extLst>
              <a:ext uri="{FF2B5EF4-FFF2-40B4-BE49-F238E27FC236}">
                <a16:creationId xmlns:a16="http://schemas.microsoft.com/office/drawing/2014/main" id="{DB5438FA-D58B-C3B2-6714-6B2906A33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6932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4" name="그룹 153"/>
          <p:cNvGrpSpPr/>
          <p:nvPr/>
        </p:nvGrpSpPr>
        <p:grpSpPr>
          <a:xfrm>
            <a:off x="3836701" y="2466081"/>
            <a:ext cx="2630093" cy="1514947"/>
            <a:chOff x="3801854" y="3663145"/>
            <a:chExt cx="2630093" cy="1514947"/>
          </a:xfrm>
        </p:grpSpPr>
        <p:sp>
          <p:nvSpPr>
            <p:cNvPr id="158" name="직사각형 157"/>
            <p:cNvSpPr/>
            <p:nvPr/>
          </p:nvSpPr>
          <p:spPr>
            <a:xfrm>
              <a:off x="3803947" y="3663145"/>
              <a:ext cx="792000" cy="15149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기성금액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en-US" altLang="ko-KR" sz="700" dirty="0" smtClean="0">
                  <a:latin typeface="+mn-ea"/>
                </a:rPr>
                <a:t>(</a:t>
              </a:r>
              <a:r>
                <a:rPr lang="ko-KR" altLang="en-US" sz="700" dirty="0" smtClean="0">
                  <a:latin typeface="+mn-ea"/>
                </a:rPr>
                <a:t>원</a:t>
              </a:r>
              <a:r>
                <a:rPr lang="en-US" altLang="ko-KR" sz="700" dirty="0" smtClean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기성율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착공일자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실 </a:t>
              </a:r>
              <a:r>
                <a:rPr lang="ko-KR" altLang="en-US" sz="700" dirty="0" err="1" smtClean="0">
                  <a:latin typeface="+mn-ea"/>
                </a:rPr>
                <a:t>준공일자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준공기한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준공계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 err="1" smtClean="0">
                  <a:latin typeface="+mn-ea"/>
                </a:rPr>
                <a:t>제출일자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준공내용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00 %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2025-02-15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2025-03-15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2025-10-15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2025-11-01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000 000000000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상세 화면 상단에 계약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 – </a:t>
            </a:r>
            <a:r>
              <a:rPr lang="ko-KR" altLang="en-US" dirty="0" smtClean="0"/>
              <a:t>최초 확장하여 목록과 동일한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2-2 – </a:t>
            </a:r>
            <a:r>
              <a:rPr lang="ko-KR" altLang="en-US" dirty="0" smtClean="0"/>
              <a:t>스크롤이 발생하는 경우 최소화하여 품목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제목 정보만 상단 상시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공고의 공지사항이 있는 경우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공지사항은 기본으로 닫힘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클릭으로 열리고 닫힘 처리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메뉴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좌우 </a:t>
            </a:r>
            <a:r>
              <a:rPr lang="ko-KR" altLang="en-US" dirty="0" err="1" smtClean="0"/>
              <a:t>스와이프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좌우 이동 버튼 </a:t>
            </a:r>
            <a:r>
              <a:rPr lang="en-US" altLang="ko-KR" dirty="0" smtClean="0"/>
              <a:t>(</a:t>
            </a:r>
            <a:r>
              <a:rPr lang="ko-KR" altLang="en-US" dirty="0" smtClean="0"/>
              <a:t>좌우 스크롤</a:t>
            </a:r>
            <a:r>
              <a:rPr lang="en-US" altLang="ko-KR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공고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스크롤 발생 시 변화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상단 타이틀 영역 최소화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공지사항 단계 표시기는 스크롤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스크롤 시 탭 메뉴 타이틀 </a:t>
            </a:r>
            <a:r>
              <a:rPr lang="ko-KR" altLang="en-US" dirty="0" err="1" smtClean="0"/>
              <a:t>하단고정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/>
              <a:t>현재 탭 선택 시 </a:t>
            </a:r>
            <a:r>
              <a:rPr lang="ko-KR" altLang="en-US" dirty="0" err="1" smtClean="0"/>
              <a:t>최상단</a:t>
            </a:r>
            <a:r>
              <a:rPr lang="ko-KR" altLang="en-US" dirty="0" smtClean="0"/>
              <a:t> 이동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메뉴 하단은 전부 스크롤 이동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플로팅</a:t>
            </a:r>
            <a:r>
              <a:rPr lang="ko-KR" altLang="en-US" dirty="0" smtClean="0"/>
              <a:t> 버튼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상단 아이콘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최상단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전체 화면 공통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더하기 아이콘 </a:t>
            </a:r>
            <a:r>
              <a:rPr lang="en-US" altLang="ko-KR" dirty="0" smtClean="0"/>
              <a:t>- </a:t>
            </a:r>
            <a:r>
              <a:rPr lang="ko-KR" altLang="en-US" dirty="0" smtClean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기성및준공검사상세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홈 </a:t>
            </a:r>
            <a:r>
              <a:rPr lang="en-US" altLang="ko-KR" dirty="0" smtClean="0"/>
              <a:t>&gt; </a:t>
            </a:r>
            <a:r>
              <a:rPr lang="ko-KR" altLang="en-US" dirty="0" smtClean="0">
                <a:latin typeface="+mn-ea"/>
              </a:rPr>
              <a:t>이행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상세 조회 </a:t>
            </a: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기성및준공검사상세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MUI-EX-01-M04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기성 및 준공검사 상세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 smtClean="0"/>
              <a:t>계약 명칭 </a:t>
            </a:r>
            <a:r>
              <a:rPr lang="ko-KR" altLang="en-US" sz="900" b="1" dirty="0" err="1" smtClean="0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11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123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0485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공지사항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6361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7181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2926040" y="2261650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3070040" y="2278058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출력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0501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smtClean="0">
                <a:latin typeface="+mn-ea"/>
              </a:rPr>
              <a:t>상세정보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0120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73082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계약 상세정보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864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80567"/>
            <a:ext cx="792000" cy="1506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805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80567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계약일자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계약금액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계약명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기성차수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검사구분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검사일자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80567"/>
            <a:ext cx="1784088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2025-01-01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명칭 </a:t>
            </a:r>
            <a:r>
              <a:rPr lang="ko-KR" altLang="en-US" sz="700" dirty="0" err="1" smtClean="0">
                <a:latin typeface="+mn-ea"/>
              </a:rPr>
              <a:t>표시영역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002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00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2025-01-01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116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53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90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527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65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802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공사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1" name="타원 200"/>
          <p:cNvSpPr/>
          <p:nvPr/>
        </p:nvSpPr>
        <p:spPr>
          <a:xfrm>
            <a:off x="6029572" y="158593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6173572" y="1602341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출력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361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0139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037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1342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366245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335885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입찰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9" name="타원 188"/>
          <p:cNvSpPr/>
          <p:nvPr/>
        </p:nvSpPr>
        <p:spPr>
          <a:xfrm>
            <a:off x="140403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366245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366245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335885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조달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4" name="타원 243"/>
          <p:cNvSpPr/>
          <p:nvPr/>
        </p:nvSpPr>
        <p:spPr>
          <a:xfrm>
            <a:off x="2058749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계약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9" name="타원 248"/>
          <p:cNvSpPr/>
          <p:nvPr/>
        </p:nvSpPr>
        <p:spPr>
          <a:xfrm>
            <a:off x="2714860" y="3295766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이행</a:t>
            </a:r>
            <a:endParaRPr lang="ko-KR" altLang="en-US" sz="700" dirty="0">
              <a:latin typeface="+mn-ea"/>
            </a:endParaRP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smtClean="0">
                <a:solidFill>
                  <a:prstClr val="black"/>
                </a:solidFill>
              </a:rPr>
              <a:t>이행</a:t>
            </a:r>
            <a:r>
              <a:rPr lang="en-US" altLang="ko-KR" sz="700" dirty="0" smtClean="0">
                <a:solidFill>
                  <a:prstClr val="black"/>
                </a:solidFill>
              </a:rPr>
              <a:t> </a:t>
            </a:r>
            <a:r>
              <a:rPr lang="ko-KR" altLang="en-US" sz="700" dirty="0" smtClean="0">
                <a:solidFill>
                  <a:prstClr val="black"/>
                </a:solidFill>
              </a:rPr>
              <a:t>정보 신청</a:t>
            </a:r>
            <a:r>
              <a:rPr lang="en-US" altLang="ko-KR" sz="700" dirty="0" smtClean="0">
                <a:solidFill>
                  <a:prstClr val="black"/>
                </a:solidFill>
              </a:rPr>
              <a:t>,</a:t>
            </a:r>
            <a:r>
              <a:rPr lang="ko-KR" altLang="en-US" sz="700" dirty="0" smtClean="0">
                <a:solidFill>
                  <a:prstClr val="black"/>
                </a:solidFill>
              </a:rPr>
              <a:t> 수정은 </a:t>
            </a:r>
            <a:r>
              <a:rPr lang="en-US" altLang="ko-KR" sz="700" dirty="0" smtClean="0">
                <a:solidFill>
                  <a:prstClr val="black"/>
                </a:solidFill>
              </a:rPr>
              <a:t>PC </a:t>
            </a:r>
            <a:r>
              <a:rPr lang="ko-KR" altLang="en-US" sz="700" dirty="0" smtClean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 smtClean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공사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smtClean="0">
                <a:latin typeface="+mn-ea"/>
              </a:rPr>
              <a:t>상세정보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295766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877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5" name="모서리가 둥근 직사각형 234"/>
          <p:cNvSpPr/>
          <p:nvPr/>
        </p:nvSpPr>
        <p:spPr>
          <a:xfrm rot="5400000">
            <a:off x="6098765" y="3703040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우측에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796091" y="4045927"/>
            <a:ext cx="2712027" cy="830059"/>
            <a:chOff x="3796091" y="4337014"/>
            <a:chExt cx="2712027" cy="830059"/>
          </a:xfrm>
        </p:grpSpPr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33701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368544"/>
              <a:ext cx="128540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검사관 </a:t>
              </a:r>
              <a:r>
                <a:rPr lang="en-US" altLang="ko-KR" sz="700" dirty="0" smtClean="0">
                  <a:latin typeface="+mn-ea"/>
                </a:rPr>
                <a:t>- </a:t>
              </a:r>
              <a:r>
                <a:rPr lang="ko-KR" altLang="en-US" sz="700" dirty="0" smtClean="0">
                  <a:latin typeface="+mn-ea"/>
                </a:rPr>
                <a:t>총 </a:t>
              </a: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ko-KR" altLang="en-US" sz="700" dirty="0" smtClean="0">
                  <a:latin typeface="+mn-ea"/>
                </a:rPr>
                <a:t>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87" name="그룹 186"/>
            <p:cNvGrpSpPr/>
            <p:nvPr/>
          </p:nvGrpSpPr>
          <p:grpSpPr>
            <a:xfrm flipV="1">
              <a:off x="6264240" y="4481875"/>
              <a:ext cx="94010" cy="47005"/>
              <a:chOff x="6812560" y="3297172"/>
              <a:chExt cx="94010" cy="47005"/>
            </a:xfrm>
          </p:grpSpPr>
          <p:cxnSp>
            <p:nvCxnSpPr>
              <p:cNvPr id="200" name="직선 연결선 19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소속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성명</a:t>
              </a:r>
              <a:r>
                <a:rPr lang="en-US" altLang="ko-KR" sz="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계급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9" name="모서리가 둥근 직사각형 218"/>
            <p:cNvSpPr/>
            <p:nvPr/>
          </p:nvSpPr>
          <p:spPr>
            <a:xfrm>
              <a:off x="3831550" y="4822263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940807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계약담당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940807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주무관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229" name="그룹 228"/>
          <p:cNvGrpSpPr/>
          <p:nvPr/>
        </p:nvGrpSpPr>
        <p:grpSpPr>
          <a:xfrm>
            <a:off x="3796091" y="4975619"/>
            <a:ext cx="2712027" cy="921016"/>
            <a:chOff x="3796091" y="4337014"/>
            <a:chExt cx="2712027" cy="921016"/>
          </a:xfrm>
        </p:grpSpPr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33701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368544"/>
              <a:ext cx="128540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감독관 </a:t>
              </a:r>
              <a:r>
                <a:rPr lang="en-US" altLang="ko-KR" sz="700" dirty="0" smtClean="0">
                  <a:latin typeface="+mn-ea"/>
                </a:rPr>
                <a:t>- </a:t>
              </a:r>
              <a:r>
                <a:rPr lang="ko-KR" altLang="en-US" sz="700" dirty="0" smtClean="0">
                  <a:latin typeface="+mn-ea"/>
                </a:rPr>
                <a:t>총 </a:t>
              </a: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ko-KR" altLang="en-US" sz="700" dirty="0" smtClean="0">
                  <a:latin typeface="+mn-ea"/>
                </a:rPr>
                <a:t>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232" name="그룹 231"/>
            <p:cNvGrpSpPr/>
            <p:nvPr/>
          </p:nvGrpSpPr>
          <p:grpSpPr>
            <a:xfrm flipV="1">
              <a:off x="6264240" y="4481875"/>
              <a:ext cx="94010" cy="47005"/>
              <a:chOff x="6812560" y="3297172"/>
              <a:chExt cx="94010" cy="47005"/>
            </a:xfrm>
          </p:grpSpPr>
          <p:cxnSp>
            <p:nvCxnSpPr>
              <p:cNvPr id="242" name="직선 연결선 24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6" name="직선 연결선 24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소속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성명</a:t>
              </a:r>
              <a:r>
                <a:rPr lang="en-US" altLang="ko-KR" sz="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계급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8" name="모서리가 둥근 직사각형 237"/>
            <p:cNvSpPr/>
            <p:nvPr/>
          </p:nvSpPr>
          <p:spPr>
            <a:xfrm>
              <a:off x="3831550" y="4822263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940807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계약담당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940807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주무관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247" name="직선 연결선 2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525803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104248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3811914"/>
            <a:ext cx="198829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검사관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dmt_Insptr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3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110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1441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213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기성차수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pxcndCycl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기성차수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7802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803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517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pxcndRt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기성비율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9,4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착공일자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bgncstYmd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착공일자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실준공일자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rlccYmd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실준공일자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준공기한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cmcnTermYmd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준공기한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준공계제출일자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cmdocSbmsnYmd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준공계제출일자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준공내용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cmcnCn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준공내용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095668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검사관소속명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insptrOgdpNm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 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검사관계급명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insptrEchlnNm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 계급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insptrNm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05C0EB-275D-E506-3616-3581C05850A1}"/>
              </a:ext>
            </a:extLst>
          </p:cNvPr>
          <p:cNvSpPr txBox="1"/>
          <p:nvPr/>
        </p:nvSpPr>
        <p:spPr>
          <a:xfrm>
            <a:off x="458117" y="4954066"/>
            <a:ext cx="191295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감독관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dmt_Sprv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B6A7BFD-8C3C-42C1-9F9A-3ACB3788261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5237820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감독관소속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sprvOgdpNm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 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감독관계급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sprvEchlnNm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 계급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F09CEF94-E7CA-DC88-306B-AB018690C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3633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31F6A43-1297-CF99-ABFA-B1F80565E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80928"/>
              </p:ext>
            </p:extLst>
          </p:nvPr>
        </p:nvGraphicFramePr>
        <p:xfrm>
          <a:off x="453000" y="1058554"/>
          <a:ext cx="8995591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33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0634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888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검사관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 정보를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766CFCB-C363-5412-5544-0340E25C273A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5DBF2411-506C-6DFD-5BA7-B35E2C37F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5890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공지사항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>)</a:t>
            </a:r>
            <a:r>
              <a:rPr lang="ko-KR" altLang="en-US" dirty="0" smtClean="0"/>
              <a:t>은 기본 값으로 접힘 상태로 정보 제공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사용자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건수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개수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목록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상단 레이블을 통한 정보 제공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표시 이후 </a:t>
            </a:r>
            <a:r>
              <a:rPr lang="ko-KR" altLang="en-US" dirty="0" err="1" smtClean="0"/>
              <a:t>말줄임표</a:t>
            </a:r>
            <a:r>
              <a:rPr lang="en-US" altLang="ko-KR" dirty="0" smtClean="0"/>
              <a:t>(…)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카드 클릭으로 상세 이동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 smtClean="0"/>
              <a:t>10</a:t>
            </a:r>
            <a:r>
              <a:rPr lang="ko-KR" altLang="en-US" dirty="0" smtClean="0"/>
              <a:t>개 노출 이후 </a:t>
            </a:r>
            <a:r>
              <a:rPr lang="ko-KR" altLang="en-US" dirty="0" err="1" smtClean="0"/>
              <a:t>더보기</a:t>
            </a:r>
            <a:r>
              <a:rPr lang="ko-KR" altLang="en-US" dirty="0" smtClean="0"/>
              <a:t> 버튼 클릭으로 </a:t>
            </a:r>
            <a:r>
              <a:rPr lang="en-US" altLang="ko-KR" dirty="0" smtClean="0"/>
              <a:t>10</a:t>
            </a:r>
            <a:r>
              <a:rPr lang="ko-KR" altLang="en-US" dirty="0" smtClean="0"/>
              <a:t>개씩 추가 로드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카드 상단 표시 레이블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검사및납품조서현황</a:t>
            </a:r>
            <a:r>
              <a:rPr lang="ko-KR" altLang="en-US" dirty="0">
                <a:latin typeface="+mn-ea"/>
              </a:rPr>
              <a:t> 목록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검사 및 </a:t>
            </a:r>
            <a:r>
              <a:rPr lang="ko-KR" altLang="en-US" dirty="0" err="1">
                <a:latin typeface="+mn-ea"/>
              </a:rPr>
              <a:t>납품조서</a:t>
            </a:r>
            <a:r>
              <a:rPr lang="ko-KR" altLang="en-US" dirty="0">
                <a:latin typeface="+mn-ea"/>
              </a:rPr>
              <a:t> 현황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홈 </a:t>
            </a:r>
            <a:r>
              <a:rPr lang="en-US" altLang="ko-KR" dirty="0" smtClean="0"/>
              <a:t>&gt; </a:t>
            </a:r>
            <a:r>
              <a:rPr lang="ko-KR" altLang="en-US" dirty="0" smtClean="0">
                <a:latin typeface="+mn-ea"/>
              </a:rPr>
              <a:t>이행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err="1" smtClean="0">
                <a:latin typeface="+mn-ea"/>
              </a:rPr>
              <a:t>검사및납품조서현황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검사 및 </a:t>
            </a:r>
            <a:r>
              <a:rPr lang="ko-KR" altLang="en-US" sz="800" dirty="0" err="1" smtClean="0">
                <a:latin typeface="+mn-ea"/>
              </a:rPr>
              <a:t>납품조서</a:t>
            </a:r>
            <a:r>
              <a:rPr lang="ko-KR" altLang="en-US" sz="800" dirty="0" smtClean="0">
                <a:latin typeface="+mn-ea"/>
              </a:rPr>
              <a:t> 현황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3383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51354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73775"/>
            <a:ext cx="30777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계약일자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계약금액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합격일자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납품일자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2378" y="3858386"/>
            <a:ext cx="472886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11,616,000 </a:t>
            </a:r>
            <a:r>
              <a:rPr lang="ko-KR" altLang="en-US" sz="600" dirty="0" smtClean="0">
                <a:latin typeface="+mn-ea"/>
              </a:rPr>
              <a:t>원</a:t>
            </a:r>
            <a:endParaRPr lang="en-US" altLang="ko-KR" sz="600" dirty="0" smtClean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2026-06-10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-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32921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3329212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전년국채</a:t>
            </a:r>
            <a:endParaRPr lang="ko-KR" altLang="en-US" sz="600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8027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950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3024315" y="3090999"/>
            <a:ext cx="776938" cy="1131139"/>
            <a:chOff x="3004764" y="2490533"/>
            <a:chExt cx="776938" cy="1131139"/>
          </a:xfrm>
        </p:grpSpPr>
        <p:sp>
          <p:nvSpPr>
            <p:cNvPr id="59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sp>
          <p:nvSpPr>
            <p:cNvPr id="6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 smtClean="0">
                  <a:solidFill>
                    <a:prstClr val="black"/>
                  </a:solidFill>
                </a:rPr>
                <a:t>개</a:t>
              </a:r>
              <a:endParaRPr lang="en-US" altLang="ko-KR" sz="700" kern="0" dirty="0" smtClean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 smtClean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 smtClean="0">
                  <a:solidFill>
                    <a:prstClr val="black"/>
                  </a:solidFill>
                </a:rPr>
                <a:t>개</a:t>
              </a:r>
              <a:endParaRPr lang="en-US" altLang="ko-KR" sz="700" kern="0" dirty="0" smtClean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 smtClean="0">
                  <a:solidFill>
                    <a:prstClr val="black"/>
                  </a:solidFill>
                </a:rPr>
                <a:t>50 </a:t>
              </a:r>
              <a:r>
                <a:rPr lang="ko-KR" altLang="en-US" sz="700" kern="0" dirty="0" smtClean="0">
                  <a:solidFill>
                    <a:prstClr val="black"/>
                  </a:solidFill>
                </a:rPr>
                <a:t>개</a:t>
              </a:r>
              <a:endParaRPr lang="ko-KR" altLang="en-US" sz="700" kern="0" dirty="0">
                <a:solidFill>
                  <a:prstClr val="black"/>
                </a:solidFill>
              </a:endParaRPr>
            </a:p>
          </p:txBody>
        </p:sp>
        <p:grpSp>
          <p:nvGrpSpPr>
            <p:cNvPr id="64" name="그룹 63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모서리가 둥근 직사각형 79"/>
          <p:cNvSpPr/>
          <p:nvPr/>
        </p:nvSpPr>
        <p:spPr>
          <a:xfrm>
            <a:off x="4320532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621458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용역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49224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공사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22551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국외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4" y="287715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전년국채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예산구분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318634" y="3553817"/>
            <a:ext cx="558256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 smtClean="0"/>
              <a:t>•</a:t>
            </a:r>
            <a:r>
              <a:rPr lang="en-US" altLang="ko-KR" sz="600" dirty="0"/>
              <a:t> </a:t>
            </a:r>
            <a:r>
              <a:rPr lang="en-US" altLang="ko-KR" sz="600" dirty="0" smtClean="0"/>
              <a:t>•</a:t>
            </a:r>
            <a:r>
              <a:rPr lang="en-US" altLang="ko-KR" sz="600" dirty="0"/>
              <a:t> •</a:t>
            </a:r>
            <a:endParaRPr lang="ko-KR" altLang="en-US" sz="600" dirty="0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939870" y="3556484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• • •</a:t>
            </a:r>
            <a:endParaRPr lang="ko-KR" altLang="en-US" sz="6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559656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smtClean="0">
                <a:latin typeface="+mn-ea"/>
              </a:rPr>
              <a:t>표시 개수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10 </a:t>
            </a:r>
            <a:r>
              <a:rPr lang="ko-KR" altLang="en-US" sz="700" dirty="0" smtClean="0">
                <a:latin typeface="+mn-ea"/>
              </a:rPr>
              <a:t>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5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 smtClean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5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 smtClean="0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 smtClean="0"/>
                <a:t>V</a:t>
              </a:r>
              <a:endParaRPr lang="ko-KR" altLang="en-US" sz="600" dirty="0"/>
            </a:p>
          </p:txBody>
        </p:sp>
        <p:sp>
          <p:nvSpPr>
            <p:cNvPr id="17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 smtClean="0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579049"/>
            <a:ext cx="2473257" cy="1083172"/>
            <a:chOff x="781461" y="3087955"/>
            <a:chExt cx="2473257" cy="1083172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/>
                <a:t>계약 명칭 </a:t>
              </a:r>
              <a:r>
                <a:rPr lang="ko-KR" altLang="en-US" sz="900" b="1" dirty="0" err="1"/>
                <a:t>표시영역</a:t>
              </a:r>
              <a:endParaRPr lang="ko-KR" altLang="en-US" sz="900" b="1" dirty="0"/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합격일자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납품일자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762378" y="3617129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2026-04-10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2026-08-15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물품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162" name="모서리가 둥근 직사각형 161"/>
            <p:cNvSpPr/>
            <p:nvPr/>
          </p:nvSpPr>
          <p:spPr>
            <a:xfrm>
              <a:off x="1075655" y="3087955"/>
              <a:ext cx="25198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 smtClean="0"/>
                <a:t>본조</a:t>
              </a:r>
              <a:endParaRPr lang="ko-KR" altLang="en-US" sz="600" dirty="0"/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71679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 smtClean="0"/>
              <a:t>🔎</a:t>
            </a:r>
            <a:endParaRPr lang="ko-KR" altLang="en-US" sz="7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4320532" y="321227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dk1"/>
                </a:solidFill>
              </a:rPr>
              <a:t>납지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810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납지구분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5090510" y="287715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당년국채</a:t>
            </a:r>
            <a:endParaRPr lang="ko-KR" altLang="en-US" sz="600" dirty="0"/>
          </a:p>
        </p:txBody>
      </p:sp>
      <p:sp>
        <p:nvSpPr>
          <p:cNvPr id="185" name="모서리가 둥근 직사각형 184"/>
          <p:cNvSpPr/>
          <p:nvPr/>
        </p:nvSpPr>
        <p:spPr>
          <a:xfrm>
            <a:off x="4783876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dk1"/>
                </a:solidFill>
              </a:rPr>
              <a:t>본조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64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검색필터</a:t>
            </a:r>
            <a:r>
              <a:rPr lang="ko-KR" altLang="en-US" dirty="0" smtClean="0"/>
              <a:t> 페이지 타이틀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검색유형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업무 구분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설정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>
                <a:sym typeface="Wingdings" panose="05000000000000000000" pitchFamily="2" charset="2"/>
              </a:rPr>
              <a:t>검색어</a:t>
            </a:r>
            <a:r>
              <a:rPr lang="ko-KR" altLang="en-US" dirty="0" smtClean="0">
                <a:sym typeface="Wingdings" panose="05000000000000000000" pitchFamily="2" charset="2"/>
              </a:rPr>
              <a:t> 영역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sym typeface="Wingdings" panose="05000000000000000000" pitchFamily="2" charset="2"/>
              </a:rPr>
              <a:t>구분 설정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 smtClean="0">
                <a:sym typeface="Wingdings" panose="05000000000000000000" pitchFamily="2" charset="2"/>
              </a:rPr>
              <a:t>플로팅</a:t>
            </a:r>
            <a:r>
              <a:rPr lang="ko-KR" altLang="en-US" dirty="0" smtClean="0">
                <a:sym typeface="Wingdings" panose="05000000000000000000" pitchFamily="2" charset="2"/>
              </a:rPr>
              <a:t> 처리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검색 필터 </a:t>
            </a: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smtClean="0">
                <a:latin typeface="+mn-ea"/>
              </a:rPr>
              <a:t>이행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/>
              <a:t>상세 검색을 위한 검색 필터 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홈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이행 </a:t>
            </a:r>
            <a:r>
              <a:rPr lang="en-US" altLang="ko-KR" dirty="0" smtClean="0"/>
              <a:t>&gt; </a:t>
            </a:r>
            <a:r>
              <a:rPr lang="ko-KR" altLang="en-US" dirty="0" err="1">
                <a:latin typeface="+mn-ea"/>
              </a:rPr>
              <a:t>검사및납품조서현황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검색 필터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MUI-EX-01-M05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 smtClean="0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초기화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 smtClean="0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초기화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00691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 smtClean="0">
                <a:latin typeface="+mn-ea"/>
              </a:rPr>
              <a:t>업무구분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41620" y="2237072"/>
            <a:ext cx="230514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전체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물품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용역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공사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국외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772169" y="2303384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/>
          <p:cNvSpPr/>
          <p:nvPr/>
        </p:nvSpPr>
        <p:spPr>
          <a:xfrm>
            <a:off x="772169" y="2520610"/>
            <a:ext cx="107950" cy="107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4" name="그룹 133"/>
          <p:cNvGrpSpPr/>
          <p:nvPr/>
        </p:nvGrpSpPr>
        <p:grpSpPr>
          <a:xfrm flipV="1">
            <a:off x="3140949" y="2104604"/>
            <a:ext cx="91438" cy="45719"/>
            <a:chOff x="6812560" y="3297172"/>
            <a:chExt cx="94010" cy="47005"/>
          </a:xfrm>
        </p:grpSpPr>
        <p:cxnSp>
          <p:nvCxnSpPr>
            <p:cNvPr id="135" name="직선 연결선 1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7" name="직사각형 136"/>
          <p:cNvSpPr/>
          <p:nvPr/>
        </p:nvSpPr>
        <p:spPr>
          <a:xfrm>
            <a:off x="772169" y="2717700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772169" y="2932361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/>
          <p:cNvSpPr/>
          <p:nvPr/>
        </p:nvSpPr>
        <p:spPr>
          <a:xfrm>
            <a:off x="772169" y="3144327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712771" y="2482252"/>
            <a:ext cx="2215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 smtClean="0">
                <a:solidFill>
                  <a:schemeClr val="bg1"/>
                </a:solidFill>
              </a:rPr>
              <a:t>v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1004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7060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우측에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736534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smtClean="0">
                <a:latin typeface="+mn-ea"/>
              </a:rPr>
              <a:t>검색 설정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959072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계약일자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4834224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4986703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 smtClean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5006650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5217372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 smtClean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 smtClean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 smtClean="0">
                  <a:latin typeface="+mn-ea"/>
                </a:rPr>
                <a:t>3</a:t>
              </a:r>
              <a:r>
                <a:rPr kumimoji="1" lang="ko-KR" altLang="en-US" sz="700" kern="0" dirty="0" smtClean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 smtClean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 smtClean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4986703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 smtClean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617838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smtClean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smtClean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3903622" y="1956581"/>
            <a:ext cx="2519558" cy="1495349"/>
            <a:chOff x="778515" y="4388257"/>
            <a:chExt cx="2519558" cy="1495349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 smtClean="0">
                  <a:latin typeface="+mn-ea"/>
                </a:rPr>
                <a:t>검색어</a:t>
              </a:r>
              <a:r>
                <a:rPr lang="ko-KR" altLang="en-US" sz="700" b="1" dirty="0" smtClean="0">
                  <a:latin typeface="+mn-ea"/>
                </a:rPr>
                <a:t> </a:t>
              </a:r>
              <a:r>
                <a:rPr lang="en-US" altLang="ko-KR" sz="700" b="1" dirty="0" smtClean="0">
                  <a:latin typeface="+mn-ea"/>
                </a:rPr>
                <a:t>(</a:t>
              </a:r>
              <a:r>
                <a:rPr lang="ko-KR" altLang="en-US" sz="700" b="1" dirty="0" smtClean="0">
                  <a:latin typeface="+mn-ea"/>
                </a:rPr>
                <a:t>일부 입력 가능</a:t>
              </a:r>
              <a:r>
                <a:rPr lang="en-US" altLang="ko-KR" sz="700" b="1" dirty="0" smtClean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 smtClean="0">
                  <a:solidFill>
                    <a:schemeClr val="bg1">
                      <a:lumMod val="65000"/>
                    </a:schemeClr>
                  </a:solidFill>
                </a:rPr>
                <a:t>계약건명을</a:t>
              </a:r>
              <a:r>
                <a:rPr lang="ko-KR" altLang="en-US" sz="700" dirty="0" smtClean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 smtClean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12583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smtClean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 smtClean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2" name="모서리가 둥근 직사각형 211"/>
            <p:cNvSpPr/>
            <p:nvPr/>
          </p:nvSpPr>
          <p:spPr>
            <a:xfrm>
              <a:off x="1452235" y="5571893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smtClean="0">
                  <a:solidFill>
                    <a:schemeClr val="bg1">
                      <a:lumMod val="65000"/>
                    </a:schemeClr>
                  </a:solidFill>
                </a:rPr>
                <a:t>조서발행번호를 선택하세요</a:t>
              </a:r>
              <a:r>
                <a:rPr lang="en-US" altLang="ko-KR" sz="700" dirty="0" smtClean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7</a:t>
            </a:r>
            <a:endParaRPr lang="ko-KR" altLang="en-US" sz="900" b="1" dirty="0"/>
          </a:p>
        </p:txBody>
      </p:sp>
      <p:grpSp>
        <p:nvGrpSpPr>
          <p:cNvPr id="5" name="그룹 4"/>
          <p:cNvGrpSpPr/>
          <p:nvPr/>
        </p:nvGrpSpPr>
        <p:grpSpPr>
          <a:xfrm>
            <a:off x="675399" y="3511086"/>
            <a:ext cx="2712027" cy="1190034"/>
            <a:chOff x="675399" y="1977748"/>
            <a:chExt cx="2712027" cy="1190034"/>
          </a:xfrm>
        </p:grpSpPr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16778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0461" y="1977748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 smtClean="0">
                  <a:latin typeface="+mn-ea"/>
                </a:rPr>
                <a:t>예산구분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83" name="그룹 282"/>
            <p:cNvGrpSpPr/>
            <p:nvPr/>
          </p:nvGrpSpPr>
          <p:grpSpPr>
            <a:xfrm flipV="1">
              <a:off x="3162895" y="2075438"/>
              <a:ext cx="91438" cy="45719"/>
              <a:chOff x="6812560" y="3297172"/>
              <a:chExt cx="94010" cy="47005"/>
            </a:xfrm>
          </p:grpSpPr>
          <p:cxnSp>
            <p:nvCxnSpPr>
              <p:cNvPr id="284" name="직선 연결선 28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5" name="직선 연결선 28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63566" y="2221573"/>
              <a:ext cx="2305144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전체 예산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전년국채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본조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당년국채</a:t>
              </a:r>
              <a:endParaRPr lang="en-US" altLang="ko-KR" sz="700" dirty="0" smtClean="0">
                <a:latin typeface="+mn-ea"/>
              </a:endParaRPr>
            </a:p>
          </p:txBody>
        </p:sp>
        <p:grpSp>
          <p:nvGrpSpPr>
            <p:cNvPr id="169" name="그룹 168"/>
            <p:cNvGrpSpPr/>
            <p:nvPr/>
          </p:nvGrpSpPr>
          <p:grpSpPr>
            <a:xfrm>
              <a:off x="772169" y="2297325"/>
              <a:ext cx="107950" cy="736927"/>
              <a:chOff x="772169" y="2297325"/>
              <a:chExt cx="107950" cy="736927"/>
            </a:xfrm>
          </p:grpSpPr>
          <p:sp>
            <p:nvSpPr>
              <p:cNvPr id="170" name="직사각형 169"/>
              <p:cNvSpPr/>
              <p:nvPr/>
            </p:nvSpPr>
            <p:spPr>
              <a:xfrm>
                <a:off x="772169" y="2297325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" name="직사각형 172"/>
              <p:cNvSpPr/>
              <p:nvPr/>
            </p:nvSpPr>
            <p:spPr>
              <a:xfrm>
                <a:off x="772169" y="2514551"/>
                <a:ext cx="107950" cy="10795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" name="직사각형 173"/>
              <p:cNvSpPr/>
              <p:nvPr/>
            </p:nvSpPr>
            <p:spPr>
              <a:xfrm>
                <a:off x="772169" y="2711641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" name="직사각형 174"/>
              <p:cNvSpPr/>
              <p:nvPr/>
            </p:nvSpPr>
            <p:spPr>
              <a:xfrm>
                <a:off x="772169" y="2926302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77" name="TextBox 176"/>
            <p:cNvSpPr txBox="1"/>
            <p:nvPr/>
          </p:nvSpPr>
          <p:spPr>
            <a:xfrm>
              <a:off x="712771" y="2469709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 smtClean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61451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5560953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합격일자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5588584"/>
            <a:ext cx="859319" cy="188244"/>
            <a:chOff x="5613534" y="2854836"/>
            <a:chExt cx="804671" cy="188244"/>
          </a:xfrm>
        </p:grpSpPr>
        <p:sp>
          <p:nvSpPr>
            <p:cNvPr id="102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 smtClean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05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5608531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106" name="그룹 105"/>
          <p:cNvGrpSpPr/>
          <p:nvPr/>
        </p:nvGrpSpPr>
        <p:grpSpPr>
          <a:xfrm>
            <a:off x="1464781" y="5819253"/>
            <a:ext cx="1845146" cy="188135"/>
            <a:chOff x="1430277" y="4057651"/>
            <a:chExt cx="1845146" cy="188135"/>
          </a:xfrm>
        </p:grpSpPr>
        <p:sp>
          <p:nvSpPr>
            <p:cNvPr id="107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 smtClean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 smtClean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08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 smtClean="0">
                  <a:latin typeface="+mn-ea"/>
                </a:rPr>
                <a:t>3</a:t>
              </a:r>
              <a:r>
                <a:rPr kumimoji="1" lang="ko-KR" altLang="en-US" sz="700" kern="0" dirty="0" smtClean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09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 smtClean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 smtClean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5588584"/>
            <a:ext cx="859319" cy="188244"/>
            <a:chOff x="5613534" y="2854836"/>
            <a:chExt cx="804671" cy="188244"/>
          </a:xfrm>
        </p:grpSpPr>
        <p:sp>
          <p:nvSpPr>
            <p:cNvPr id="11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 smtClean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12" name="그림 11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grpSp>
        <p:nvGrpSpPr>
          <p:cNvPr id="113" name="그룹 112"/>
          <p:cNvGrpSpPr/>
          <p:nvPr/>
        </p:nvGrpSpPr>
        <p:grpSpPr>
          <a:xfrm rot="16200000">
            <a:off x="6261284" y="2754410"/>
            <a:ext cx="91438" cy="45719"/>
            <a:chOff x="6812560" y="3297172"/>
            <a:chExt cx="94010" cy="47005"/>
          </a:xfrm>
        </p:grpSpPr>
        <p:cxnSp>
          <p:nvCxnSpPr>
            <p:cNvPr id="114" name="직선 연결선 1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직선 연결선 1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6719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619253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smtClean="0">
                <a:latin typeface="+mn-ea"/>
              </a:rPr>
              <a:t>구분 설정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124" name="그룹 123"/>
          <p:cNvGrpSpPr/>
          <p:nvPr/>
        </p:nvGrpSpPr>
        <p:grpSpPr>
          <a:xfrm flipV="1">
            <a:off x="6261284" y="3716943"/>
            <a:ext cx="91438" cy="45719"/>
            <a:chOff x="6812560" y="3297172"/>
            <a:chExt cx="94010" cy="47005"/>
          </a:xfrm>
        </p:grpSpPr>
        <p:cxnSp>
          <p:nvCxnSpPr>
            <p:cNvPr id="125" name="직선 연결선 12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직선 연결선 12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1" name="모서리가 둥근 직사각형 140"/>
          <p:cNvSpPr/>
          <p:nvPr/>
        </p:nvSpPr>
        <p:spPr>
          <a:xfrm>
            <a:off x="4569619" y="3899744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847618"/>
            <a:ext cx="670770" cy="4524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 smtClean="0">
                <a:latin typeface="+mn-ea"/>
              </a:rPr>
              <a:t>진행상태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 smtClean="0">
                <a:latin typeface="+mn-ea"/>
              </a:rPr>
              <a:t>공사검사구분</a:t>
            </a:r>
            <a:endParaRPr lang="en-US" altLang="ko-KR" sz="700" dirty="0" smtClean="0">
              <a:latin typeface="+mn-ea"/>
            </a:endParaRPr>
          </a:p>
        </p:txBody>
      </p:sp>
      <p:grpSp>
        <p:nvGrpSpPr>
          <p:cNvPr id="144" name="그룹 143"/>
          <p:cNvGrpSpPr/>
          <p:nvPr/>
        </p:nvGrpSpPr>
        <p:grpSpPr>
          <a:xfrm>
            <a:off x="6261284" y="3970484"/>
            <a:ext cx="91438" cy="45719"/>
            <a:chOff x="6812560" y="3297172"/>
            <a:chExt cx="94010" cy="47005"/>
          </a:xfrm>
        </p:grpSpPr>
        <p:cxnSp>
          <p:nvCxnSpPr>
            <p:cNvPr id="145" name="직선 연결선 14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직선 연결선 14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58185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8" name="모서리가 둥근 직사각형 147"/>
          <p:cNvSpPr/>
          <p:nvPr/>
        </p:nvSpPr>
        <p:spPr>
          <a:xfrm>
            <a:off x="4569619" y="4133550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grpSp>
        <p:nvGrpSpPr>
          <p:cNvPr id="149" name="그룹 148"/>
          <p:cNvGrpSpPr/>
          <p:nvPr/>
        </p:nvGrpSpPr>
        <p:grpSpPr>
          <a:xfrm>
            <a:off x="6261284" y="4204290"/>
            <a:ext cx="91438" cy="45719"/>
            <a:chOff x="6812560" y="3297172"/>
            <a:chExt cx="94010" cy="47005"/>
          </a:xfrm>
        </p:grpSpPr>
        <p:cxnSp>
          <p:nvCxnSpPr>
            <p:cNvPr id="150" name="직선 연결선 14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직선 연결선 15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2" name="모서리가 둥근 직사각형 151"/>
          <p:cNvSpPr/>
          <p:nvPr/>
        </p:nvSpPr>
        <p:spPr>
          <a:xfrm>
            <a:off x="4574391" y="3359918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 smtClean="0">
                <a:solidFill>
                  <a:schemeClr val="bg1">
                    <a:lumMod val="65000"/>
                  </a:schemeClr>
                </a:solidFill>
              </a:rPr>
              <a:t>납지를</a:t>
            </a:r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 smtClean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37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35111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검사및납품조서현황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dml_InspDlvdocPrstSrchCnd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329464"/>
            <a:ext cx="315207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검사및납품조서현황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dlt_InspDlvdocPrst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계약시작일자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계약시작일자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계약종료일자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계약종료일자 입력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244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전체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341857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552258"/>
          <a:ext cx="8994883" cy="2498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3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677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557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조서발행번호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742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납품조서진행상태코드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dlvdocPrgrsStcd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상태조회결과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'E':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검사의뢰완료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'IX':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'N':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저장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'EY':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'IN':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검사저장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'I':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검사완료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'A':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'R':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조달접수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'X':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조달반려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'EX':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납품조서반려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'EN':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청구저장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4F9ADD0A-13A1-5C33-A250-66B3A46D9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36E373-50AF-BDFB-07C6-76A91AE9B53A}"/>
              </a:ext>
            </a:extLst>
          </p:cNvPr>
          <p:cNvSpPr txBox="1"/>
          <p:nvPr/>
        </p:nvSpPr>
        <p:spPr>
          <a:xfrm>
            <a:off x="458117" y="5087905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348E565-F813-3E47-DD9B-2CC3378DF5E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3000" y="5349334"/>
          <a:ext cx="8995591" cy="947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검사기간을 현재일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– M,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현재일로 기본 값 설정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업무구분은 전체로 설정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계약번호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Scwin.grd_inspDlvdocList_onclick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계약번호에 해당하는 검사 및 납품조서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 및 준공검사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(UI-EX-01-M14)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납품조서결과상세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(UI-EX-01-M04)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(UI-EX-01-M05)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기성및준공검사상세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284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조서발행번호 검색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영역 하단 검색 정보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 smtClean="0">
                <a:latin typeface="+mn-ea"/>
              </a:rPr>
              <a:t>조서발행번호정보조회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>
                <a:latin typeface="+mn-ea"/>
              </a:rPr>
              <a:t>부대조달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조서발행번호 조회 팝업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 smtClean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상세조회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조서발행번호정보조회</a:t>
            </a:r>
            <a:r>
              <a:rPr lang="ko-KR" altLang="en-US" dirty="0" smtClean="0">
                <a:latin typeface="+mn-ea"/>
              </a:rPr>
              <a:t> 팝업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MUI-EX-01-P06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조서발행번호정보조회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6" name="모서리가 둥근 직사각형 335"/>
          <p:cNvSpPr/>
          <p:nvPr/>
        </p:nvSpPr>
        <p:spPr>
          <a:xfrm rot="5400000">
            <a:off x="5782577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14655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0141" y="20010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3836701" y="2528179"/>
            <a:ext cx="2630093" cy="1976511"/>
            <a:chOff x="3836701" y="3418175"/>
            <a:chExt cx="2630093" cy="1976511"/>
          </a:xfrm>
        </p:grpSpPr>
        <p:sp>
          <p:nvSpPr>
            <p:cNvPr id="166" name="직사각형 165"/>
            <p:cNvSpPr/>
            <p:nvPr/>
          </p:nvSpPr>
          <p:spPr>
            <a:xfrm>
              <a:off x="3838794" y="3671136"/>
              <a:ext cx="792000" cy="17155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367113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3671137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순번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조달요구번호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품명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계약수량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계약단가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계약금액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납품완료수량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3671137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0000 00000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품명 정보 표시</a:t>
              </a: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00,000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022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159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296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433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7570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8" name="직선 연결선 1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9690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9" name="직선 연결선 1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3866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1778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0977" y="3418175"/>
              <a:ext cx="1250843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검색결과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69283" y="3418175"/>
              <a:ext cx="1250843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총 </a:t>
              </a:r>
              <a:r>
                <a:rPr lang="en-US" altLang="ko-KR" sz="700" dirty="0" smtClean="0">
                  <a:solidFill>
                    <a:srgbClr val="0070C0"/>
                  </a:solidFill>
                  <a:latin typeface="+mn-ea"/>
                </a:rPr>
                <a:t>000</a:t>
              </a:r>
              <a:r>
                <a:rPr lang="en-US" altLang="ko-KR" sz="700" dirty="0" smtClean="0">
                  <a:latin typeface="+mn-ea"/>
                </a:rPr>
                <a:t> </a:t>
              </a:r>
              <a:r>
                <a:rPr lang="ko-KR" altLang="en-US" sz="700" dirty="0" smtClean="0">
                  <a:latin typeface="+mn-ea"/>
                </a:rPr>
                <a:t>건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202" name="그룹 201"/>
          <p:cNvGrpSpPr/>
          <p:nvPr/>
        </p:nvGrpSpPr>
        <p:grpSpPr>
          <a:xfrm>
            <a:off x="3836701" y="4559523"/>
            <a:ext cx="2630093" cy="1723550"/>
            <a:chOff x="3836701" y="3671136"/>
            <a:chExt cx="2630093" cy="1723550"/>
          </a:xfrm>
        </p:grpSpPr>
        <p:sp>
          <p:nvSpPr>
            <p:cNvPr id="203" name="직사각형 202"/>
            <p:cNvSpPr/>
            <p:nvPr/>
          </p:nvSpPr>
          <p:spPr>
            <a:xfrm>
              <a:off x="3838794" y="3671136"/>
              <a:ext cx="792000" cy="17155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367113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3671137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납품완료수량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3671137"/>
              <a:ext cx="1775839" cy="16892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99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 정보 표시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00,000</a:t>
              </a:r>
            </a:p>
          </p:txBody>
        </p:sp>
        <p:cxnSp>
          <p:nvCxnSpPr>
            <p:cNvPr id="207" name="직선 연결선 20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022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8" name="직선 연결선 20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159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9" name="직선 연결선 20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296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433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7570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2" name="직선 연결선 21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9690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3" name="직선 연결선 21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3866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1778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17" name="TextBox 21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다음에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118" name="그룹 117"/>
          <p:cNvGrpSpPr/>
          <p:nvPr/>
        </p:nvGrpSpPr>
        <p:grpSpPr>
          <a:xfrm>
            <a:off x="675399" y="3011653"/>
            <a:ext cx="2712027" cy="3215510"/>
            <a:chOff x="675399" y="3435608"/>
            <a:chExt cx="2712027" cy="3215510"/>
          </a:xfrm>
        </p:grpSpPr>
        <p:sp>
          <p:nvSpPr>
            <p:cNvPr id="119" name="양쪽 모서리가 둥근 사각형 118"/>
            <p:cNvSpPr/>
            <p:nvPr/>
          </p:nvSpPr>
          <p:spPr>
            <a:xfrm>
              <a:off x="675399" y="3435608"/>
              <a:ext cx="2712027" cy="3215510"/>
            </a:xfrm>
            <a:prstGeom prst="round2SameRect">
              <a:avLst>
                <a:gd name="adj1" fmla="val 4887"/>
                <a:gd name="adj2" fmla="val 0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122" name="모서리가 둥근 직사각형 121"/>
            <p:cNvSpPr/>
            <p:nvPr/>
          </p:nvSpPr>
          <p:spPr>
            <a:xfrm>
              <a:off x="1761412" y="3472235"/>
              <a:ext cx="540000" cy="4571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grpSp>
          <p:nvGrpSpPr>
            <p:cNvPr id="123" name="그룹 122"/>
            <p:cNvGrpSpPr/>
            <p:nvPr/>
          </p:nvGrpSpPr>
          <p:grpSpPr>
            <a:xfrm>
              <a:off x="3164338" y="3606651"/>
              <a:ext cx="94010" cy="94010"/>
              <a:chOff x="6812560" y="3297172"/>
              <a:chExt cx="94010" cy="94010"/>
            </a:xfrm>
          </p:grpSpPr>
          <p:cxnSp>
            <p:nvCxnSpPr>
              <p:cNvPr id="133" name="직선 연결선 132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4476" y="3587330"/>
              <a:ext cx="179875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900" dirty="0" err="1">
                  <a:latin typeface="+mn-ea"/>
                </a:rPr>
                <a:t>조서발행번호정보조회</a:t>
              </a:r>
              <a:endParaRPr lang="ko-KR" altLang="en-US" sz="900" dirty="0">
                <a:latin typeface="+mn-ea"/>
              </a:endParaRPr>
            </a:p>
          </p:txBody>
        </p: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84873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6" name="모서리가 둥근 직사각형 125"/>
            <p:cNvSpPr/>
            <p:nvPr/>
          </p:nvSpPr>
          <p:spPr>
            <a:xfrm>
              <a:off x="1443878" y="3987279"/>
              <a:ext cx="1845838" cy="244348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smtClean="0">
                  <a:solidFill>
                    <a:schemeClr val="bg1">
                      <a:lumMod val="65000"/>
                    </a:schemeClr>
                  </a:solidFill>
                </a:rPr>
                <a:t>번호를</a:t>
              </a:r>
              <a:r>
                <a:rPr lang="ko-KR" altLang="en-US" sz="700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입력해주세요</a:t>
              </a:r>
              <a:r>
                <a:rPr lang="en-US" altLang="ko-KR" sz="700" dirty="0">
                  <a:solidFill>
                    <a:schemeClr val="tx1"/>
                  </a:solidFill>
                </a:rPr>
                <a:t>.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4476" y="4055592"/>
              <a:ext cx="67077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smtClean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2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4320994"/>
              <a:ext cx="2522014" cy="244350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29" name="타원 128"/>
            <p:cNvSpPr/>
            <p:nvPr/>
          </p:nvSpPr>
          <p:spPr>
            <a:xfrm>
              <a:off x="3112794" y="4025565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0" name="그룹 129"/>
            <p:cNvGrpSpPr/>
            <p:nvPr/>
          </p:nvGrpSpPr>
          <p:grpSpPr>
            <a:xfrm>
              <a:off x="3156699" y="4069469"/>
              <a:ext cx="58075" cy="58074"/>
              <a:chOff x="6812560" y="3297172"/>
              <a:chExt cx="94010" cy="94010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</p:spTree>
    <p:extLst>
      <p:ext uri="{BB962C8B-B14F-4D97-AF65-F5344CB8AC3E}">
        <p14:creationId xmlns:p14="http://schemas.microsoft.com/office/powerpoint/2010/main" val="3493471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79139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조서발행번호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dmt_RecrdPblcnNo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1550946"/>
            <a:ext cx="369068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조서발행번호품목 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dlt_RecrdPblcnNoItemInfo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조서발행번호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796600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3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677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557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742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납품완료수량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dlvgdsCmptnQty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납품완료수량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dlvgdsQty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06C419-581B-B071-DD01-2B3425C31AA5}"/>
              </a:ext>
            </a:extLst>
          </p:cNvPr>
          <p:cNvSpPr txBox="1"/>
          <p:nvPr/>
        </p:nvSpPr>
        <p:spPr>
          <a:xfrm>
            <a:off x="458117" y="3699342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sp>
        <p:nvSpPr>
          <p:cNvPr id="7" name="Text Box 73">
            <a:extLst>
              <a:ext uri="{FF2B5EF4-FFF2-40B4-BE49-F238E27FC236}">
                <a16:creationId xmlns:a16="http://schemas.microsoft.com/office/drawing/2014/main" id="{71646BA9-ABFF-1794-8AE4-F502103D4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59D83A4-5828-98C4-8ECD-BF7B6AF8ED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3000" y="4013019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 정보를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8157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상세 화면 상단에 계약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 – </a:t>
            </a:r>
            <a:r>
              <a:rPr lang="ko-KR" altLang="en-US" dirty="0" smtClean="0"/>
              <a:t>최초 확장하여 목록과 동일한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2-2 – </a:t>
            </a:r>
            <a:r>
              <a:rPr lang="ko-KR" altLang="en-US" dirty="0" smtClean="0"/>
              <a:t>스크롤이 발생하는 경우 최소화하여 품목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제목 정보만 상단 상시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공고의 공지사항이 있는 경우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공지사항은 기본으로 닫힘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클릭으로 열리고 닫힘 처리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메뉴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좌우 </a:t>
            </a:r>
            <a:r>
              <a:rPr lang="ko-KR" altLang="en-US" dirty="0" err="1" smtClean="0"/>
              <a:t>스와이프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좌우 이동 버튼 </a:t>
            </a:r>
            <a:r>
              <a:rPr lang="en-US" altLang="ko-KR" dirty="0" smtClean="0"/>
              <a:t>(</a:t>
            </a:r>
            <a:r>
              <a:rPr lang="ko-KR" altLang="en-US" dirty="0" smtClean="0"/>
              <a:t>좌우 스크롤</a:t>
            </a:r>
            <a:r>
              <a:rPr lang="en-US" altLang="ko-KR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공고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스크롤 발생 시 변화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상단 타이틀 영역 최소화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공지사항 단계 표시기는 스크롤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스크롤 시 탭 메뉴 타이틀 </a:t>
            </a:r>
            <a:r>
              <a:rPr lang="ko-KR" altLang="en-US" dirty="0" err="1" smtClean="0"/>
              <a:t>하단고정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/>
              <a:t>현재 탭 선택 시 </a:t>
            </a:r>
            <a:r>
              <a:rPr lang="ko-KR" altLang="en-US" dirty="0" err="1" smtClean="0"/>
              <a:t>최상단</a:t>
            </a:r>
            <a:r>
              <a:rPr lang="ko-KR" altLang="en-US" dirty="0" smtClean="0"/>
              <a:t> 이동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메뉴 하단은 전부 스크롤 이동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플로팅</a:t>
            </a:r>
            <a:r>
              <a:rPr lang="ko-KR" altLang="en-US" dirty="0" smtClean="0"/>
              <a:t> 버튼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상단 아이콘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최상단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전체 화면 공통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더하기 아이콘 </a:t>
            </a:r>
            <a:r>
              <a:rPr lang="en-US" altLang="ko-KR" dirty="0" smtClean="0"/>
              <a:t>- </a:t>
            </a:r>
            <a:r>
              <a:rPr lang="ko-KR" altLang="en-US" dirty="0" smtClean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납품조서결과를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홈 </a:t>
            </a:r>
            <a:r>
              <a:rPr lang="en-US" altLang="ko-KR" dirty="0" smtClean="0"/>
              <a:t>&gt; </a:t>
            </a:r>
            <a:r>
              <a:rPr lang="ko-KR" altLang="en-US" dirty="0" smtClean="0">
                <a:latin typeface="+mn-ea"/>
              </a:rPr>
              <a:t>이행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상세 조회 </a:t>
            </a: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검사 및 </a:t>
            </a:r>
            <a:r>
              <a:rPr lang="ko-KR" altLang="en-US" sz="800" dirty="0" err="1" smtClean="0">
                <a:latin typeface="+mn-ea"/>
              </a:rPr>
              <a:t>납품조서</a:t>
            </a:r>
            <a:r>
              <a:rPr lang="ko-KR" altLang="en-US" sz="800" dirty="0" smtClean="0">
                <a:latin typeface="+mn-ea"/>
              </a:rPr>
              <a:t> </a:t>
            </a:r>
            <a:r>
              <a:rPr lang="en-US" altLang="ko-KR" sz="800" dirty="0" smtClean="0">
                <a:latin typeface="+mn-ea"/>
              </a:rPr>
              <a:t>(</a:t>
            </a:r>
            <a:r>
              <a:rPr lang="ko-KR" altLang="en-US" sz="800" dirty="0" err="1">
                <a:latin typeface="+mn-ea"/>
              </a:rPr>
              <a:t>부대조달</a:t>
            </a:r>
            <a:r>
              <a:rPr lang="en-US" altLang="ko-KR" sz="800" dirty="0" smtClean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 smtClean="0"/>
              <a:t>계약 명칭 </a:t>
            </a:r>
            <a:r>
              <a:rPr lang="ko-KR" altLang="en-US" sz="900" b="1" dirty="0" err="1" smtClean="0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합격일자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납품일자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2026-06-10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-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801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2137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13892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공지사항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452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27223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2926040" y="2261650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3070040" y="2278058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출력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757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5918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smtClean="0">
                <a:latin typeface="+mn-ea"/>
              </a:rPr>
              <a:t>상세정보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59183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7579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21060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82121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계약 상세정보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695452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889606"/>
            <a:ext cx="792000" cy="1506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88960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889606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통지번호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예산구분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납품장소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납품기일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조서발행번호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비고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889606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전년국채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 smtClean="0">
                <a:latin typeface="+mn-ea"/>
              </a:rPr>
              <a:t>부대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071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441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4812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18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755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892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1" name="타원 200"/>
          <p:cNvSpPr/>
          <p:nvPr/>
        </p:nvSpPr>
        <p:spPr>
          <a:xfrm>
            <a:off x="6029572" y="158593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6173572" y="1602341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출력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84523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2229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61277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2246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75284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44924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입찰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9" name="타원 188"/>
          <p:cNvSpPr/>
          <p:nvPr/>
        </p:nvSpPr>
        <p:spPr>
          <a:xfrm>
            <a:off x="1404035" y="3504805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75284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75284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04805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44924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조달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4" name="타원 243"/>
          <p:cNvSpPr/>
          <p:nvPr/>
        </p:nvSpPr>
        <p:spPr>
          <a:xfrm>
            <a:off x="2058749" y="3504805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44924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계약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9" name="타원 248"/>
          <p:cNvSpPr/>
          <p:nvPr/>
        </p:nvSpPr>
        <p:spPr>
          <a:xfrm>
            <a:off x="2714860" y="3504805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44924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이행</a:t>
            </a:r>
            <a:endParaRPr lang="ko-KR" altLang="en-US" sz="700" dirty="0">
              <a:latin typeface="+mn-ea"/>
            </a:endParaRP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smtClean="0">
                <a:solidFill>
                  <a:prstClr val="black"/>
                </a:solidFill>
              </a:rPr>
              <a:t>이행</a:t>
            </a:r>
            <a:r>
              <a:rPr lang="en-US" altLang="ko-KR" sz="700" dirty="0" smtClean="0">
                <a:solidFill>
                  <a:prstClr val="black"/>
                </a:solidFill>
              </a:rPr>
              <a:t> </a:t>
            </a:r>
            <a:r>
              <a:rPr lang="ko-KR" altLang="en-US" sz="700" dirty="0" smtClean="0">
                <a:solidFill>
                  <a:prstClr val="black"/>
                </a:solidFill>
              </a:rPr>
              <a:t>정보 신청</a:t>
            </a:r>
            <a:r>
              <a:rPr lang="en-US" altLang="ko-KR" sz="700" dirty="0" smtClean="0">
                <a:solidFill>
                  <a:prstClr val="black"/>
                </a:solidFill>
              </a:rPr>
              <a:t>,</a:t>
            </a:r>
            <a:r>
              <a:rPr lang="ko-KR" altLang="en-US" sz="700" dirty="0" smtClean="0">
                <a:solidFill>
                  <a:prstClr val="black"/>
                </a:solidFill>
              </a:rPr>
              <a:t> 수정은 </a:t>
            </a:r>
            <a:r>
              <a:rPr lang="en-US" altLang="ko-KR" sz="700" dirty="0" smtClean="0">
                <a:solidFill>
                  <a:prstClr val="black"/>
                </a:solidFill>
              </a:rPr>
              <a:t>PC </a:t>
            </a:r>
            <a:r>
              <a:rPr lang="ko-KR" altLang="en-US" sz="700" dirty="0" smtClean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 smtClean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smtClean="0">
                <a:latin typeface="+mn-ea"/>
              </a:rPr>
              <a:t>상세정보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04805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다음에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39674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836701" y="2497642"/>
            <a:ext cx="2630093" cy="1186690"/>
            <a:chOff x="3801854" y="3355661"/>
            <a:chExt cx="2630093" cy="1186690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 업체 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40" name="그룹 139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3" name="직사각형 142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주소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대표자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배송업체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A </a:t>
              </a:r>
              <a:r>
                <a:rPr lang="ko-KR" altLang="en-US" sz="700" dirty="0" smtClean="0">
                  <a:latin typeface="+mn-ea"/>
                </a:rPr>
                <a:t>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서울특별시 종로구</a:t>
              </a:r>
              <a:r>
                <a:rPr lang="en-US" altLang="ko-KR" sz="700" dirty="0" smtClean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CJ</a:t>
              </a:r>
              <a:r>
                <a:rPr lang="ko-KR" altLang="en-US" sz="700" dirty="0" smtClean="0">
                  <a:latin typeface="+mn-ea"/>
                </a:rPr>
                <a:t>대한통운</a:t>
              </a:r>
              <a:endParaRPr lang="en-US" altLang="ko-KR" sz="700" dirty="0" smtClean="0">
                <a:latin typeface="+mn-ea"/>
              </a:endParaRPr>
            </a:p>
          </p:txBody>
        </p: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312680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4" name="그룹 153"/>
          <p:cNvGrpSpPr/>
          <p:nvPr/>
        </p:nvGrpSpPr>
        <p:grpSpPr>
          <a:xfrm>
            <a:off x="3836701" y="5103480"/>
            <a:ext cx="2630093" cy="2892808"/>
            <a:chOff x="3801854" y="3355661"/>
            <a:chExt cx="2630093" cy="2892808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이행 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73" name="직선 연결선 17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8" name="직사각형 157"/>
            <p:cNvSpPr/>
            <p:nvPr/>
          </p:nvSpPr>
          <p:spPr>
            <a:xfrm>
              <a:off x="3803947" y="3663145"/>
              <a:ext cx="792000" cy="25853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개시일자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검수일자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납품일자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출납번호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합격일자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기술검사기관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기술검사관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소속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물량검사관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소속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출납관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전화번호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1234 5678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000 00 </a:t>
              </a:r>
              <a:r>
                <a:rPr lang="ko-KR" altLang="en-US" sz="700" dirty="0" smtClean="0">
                  <a:latin typeface="+mn-ea"/>
                </a:rPr>
                <a:t>기관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0000000 </a:t>
              </a:r>
              <a:r>
                <a:rPr lang="ko-KR" altLang="en-US" sz="700" dirty="0" smtClean="0">
                  <a:latin typeface="+mn-ea"/>
                </a:rPr>
                <a:t>부대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김길동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0000000 </a:t>
              </a:r>
              <a:r>
                <a:rPr lang="ko-KR" altLang="en-US" sz="700" dirty="0" smtClean="0">
                  <a:latin typeface="+mn-ea"/>
                </a:rPr>
                <a:t>부대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박길동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000-0000-0000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3883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59329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8035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0347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2484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723" y="3726178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우측에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180" name="그룹 179"/>
          <p:cNvGrpSpPr/>
          <p:nvPr/>
        </p:nvGrpSpPr>
        <p:grpSpPr>
          <a:xfrm>
            <a:off x="3836701" y="3819909"/>
            <a:ext cx="2630093" cy="1186690"/>
            <a:chOff x="3801854" y="3355661"/>
            <a:chExt cx="2630093" cy="1186690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정비 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85" name="그룹 184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230" name="직선 연결선 22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1" name="직선 연결선 23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7" name="직사각형 186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0" name="직선 연결선 1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753836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계약정비일수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실정비일수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입고일</a:t>
              </a:r>
              <a:r>
                <a:rPr lang="en-US" altLang="ko-KR" sz="700" dirty="0" smtClean="0">
                  <a:latin typeface="+mn-ea"/>
                </a:rPr>
                <a:t>/</a:t>
              </a:r>
              <a:r>
                <a:rPr lang="ko-KR" altLang="en-US" sz="700" dirty="0" err="1" smtClean="0">
                  <a:latin typeface="+mn-ea"/>
                </a:rPr>
                <a:t>정비지시일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출고일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 </a:t>
              </a:r>
              <a:r>
                <a:rPr lang="ko-KR" altLang="en-US" sz="700" dirty="0" smtClean="0">
                  <a:latin typeface="+mn-ea"/>
                </a:rPr>
                <a:t>일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 </a:t>
              </a:r>
              <a:r>
                <a:rPr lang="ko-KR" altLang="en-US" sz="700" dirty="0" smtClean="0">
                  <a:latin typeface="+mn-ea"/>
                </a:rPr>
                <a:t>일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2025-01-30 / 2025-02-15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2025-03-10</a:t>
              </a:r>
            </a:p>
          </p:txBody>
        </p: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9" name="직선 연결선 2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0" name="직선 연결선 21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723" y="5048445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9625010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계약자 </a:t>
            </a:r>
            <a:r>
              <a:rPr lang="ko-KR" altLang="en-US" dirty="0"/>
              <a:t>정보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정비조회</a:t>
            </a:r>
            <a:r>
              <a:rPr lang="ko-KR" altLang="en-US" dirty="0" smtClean="0"/>
              <a:t> </a:t>
            </a:r>
            <a:r>
              <a:rPr lang="ko-KR" altLang="en-US" dirty="0"/>
              <a:t>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이행 정보 데이터 영역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납품조서결과를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smtClean="0">
                <a:latin typeface="+mn-ea"/>
              </a:rPr>
              <a:t>납품조서결과상세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8" name="그룹 77"/>
          <p:cNvGrpSpPr/>
          <p:nvPr/>
        </p:nvGrpSpPr>
        <p:grpSpPr>
          <a:xfrm>
            <a:off x="720490" y="1527996"/>
            <a:ext cx="2630093" cy="1815590"/>
            <a:chOff x="720490" y="4582121"/>
            <a:chExt cx="2630093" cy="1815590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582121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 상세정보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80" name="그룹 79"/>
            <p:cNvGrpSpPr/>
            <p:nvPr/>
          </p:nvGrpSpPr>
          <p:grpSpPr>
            <a:xfrm flipV="1">
              <a:off x="3143548" y="4695452"/>
              <a:ext cx="94010" cy="47005"/>
              <a:chOff x="6812560" y="3297172"/>
              <a:chExt cx="94010" cy="47005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1" name="직사각형 80"/>
            <p:cNvSpPr/>
            <p:nvPr/>
          </p:nvSpPr>
          <p:spPr>
            <a:xfrm>
              <a:off x="722583" y="4889606"/>
              <a:ext cx="792000" cy="1506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88960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889606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통지번호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예산구분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납품장소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납품기일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조서발행번호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889606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 0000 00 (01)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12345 6789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전년국채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2026-01-01 ~ 2025-12-30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8385</a:t>
              </a:r>
              <a:r>
                <a:rPr lang="ko-KR" altLang="en-US" sz="700" dirty="0" smtClean="0">
                  <a:latin typeface="+mn-ea"/>
                </a:rPr>
                <a:t>부대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2026-10-15 08:00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12071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33441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54812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76183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97553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18924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39674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4" name="그룹 93"/>
          <p:cNvGrpSpPr/>
          <p:nvPr/>
        </p:nvGrpSpPr>
        <p:grpSpPr>
          <a:xfrm>
            <a:off x="720490" y="3443397"/>
            <a:ext cx="2630093" cy="1186690"/>
            <a:chOff x="3801854" y="3355661"/>
            <a:chExt cx="2630093" cy="1186690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 업체 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96" name="그룹 95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05" name="직선 연결선 1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직사각형 96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주소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대표자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배송업체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A </a:t>
              </a:r>
              <a:r>
                <a:rPr lang="ko-KR" altLang="en-US" sz="700" dirty="0" smtClean="0">
                  <a:latin typeface="+mn-ea"/>
                </a:rPr>
                <a:t>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서울특별시 종로구</a:t>
              </a:r>
              <a:r>
                <a:rPr lang="en-US" altLang="ko-KR" sz="700" dirty="0" smtClean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CJ</a:t>
              </a:r>
              <a:r>
                <a:rPr lang="ko-KR" altLang="en-US" sz="700" dirty="0" smtClean="0">
                  <a:latin typeface="+mn-ea"/>
                </a:rPr>
                <a:t>대한통운</a:t>
              </a:r>
              <a:endParaRPr lang="en-US" altLang="ko-KR" sz="700" dirty="0" smtClean="0">
                <a:latin typeface="+mn-ea"/>
              </a:endParaRPr>
            </a:p>
          </p:txBody>
        </p: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6512" y="4684289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6512" y="3396876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우측에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110" name="그룹 109"/>
          <p:cNvGrpSpPr/>
          <p:nvPr/>
        </p:nvGrpSpPr>
        <p:grpSpPr>
          <a:xfrm>
            <a:off x="3836701" y="1527996"/>
            <a:ext cx="2630093" cy="1186690"/>
            <a:chOff x="3801854" y="3355661"/>
            <a:chExt cx="2630093" cy="1186690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정비 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12" name="그룹 111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4" name="직사각형 113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753836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계약정비일수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실정비일수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입고일</a:t>
              </a:r>
              <a:r>
                <a:rPr lang="en-US" altLang="ko-KR" sz="700" dirty="0" smtClean="0">
                  <a:latin typeface="+mn-ea"/>
                </a:rPr>
                <a:t>/</a:t>
              </a:r>
              <a:r>
                <a:rPr lang="ko-KR" altLang="en-US" sz="700" dirty="0" err="1" smtClean="0">
                  <a:latin typeface="+mn-ea"/>
                </a:rPr>
                <a:t>정비지시일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출고일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 </a:t>
              </a:r>
              <a:r>
                <a:rPr lang="ko-KR" altLang="en-US" sz="700" dirty="0" smtClean="0">
                  <a:latin typeface="+mn-ea"/>
                </a:rPr>
                <a:t>일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 </a:t>
              </a:r>
              <a:r>
                <a:rPr lang="ko-KR" altLang="en-US" sz="700" dirty="0" smtClean="0">
                  <a:latin typeface="+mn-ea"/>
                </a:rPr>
                <a:t>일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2025-01-30 / 2025-02-15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2025-03-10</a:t>
              </a: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4" name="그룹 123"/>
          <p:cNvGrpSpPr/>
          <p:nvPr/>
        </p:nvGrpSpPr>
        <p:grpSpPr>
          <a:xfrm>
            <a:off x="3836701" y="2806727"/>
            <a:ext cx="2630093" cy="2892808"/>
            <a:chOff x="3801854" y="3355661"/>
            <a:chExt cx="2630093" cy="2892808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이행 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6" name="그룹 125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48" name="직선 연결선 14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7" name="직사각형 126"/>
            <p:cNvSpPr/>
            <p:nvPr/>
          </p:nvSpPr>
          <p:spPr>
            <a:xfrm>
              <a:off x="3803947" y="3663145"/>
              <a:ext cx="792000" cy="25853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개시일자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검수일자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납품일자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출납번호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합격일자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기술검사기관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기술검사관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소속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물량검사관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소속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출납관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전화번호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1234 5678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000 00 </a:t>
              </a:r>
              <a:r>
                <a:rPr lang="ko-KR" altLang="en-US" sz="700" dirty="0" smtClean="0">
                  <a:latin typeface="+mn-ea"/>
                </a:rPr>
                <a:t>기관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0000000 </a:t>
              </a:r>
              <a:r>
                <a:rPr lang="ko-KR" altLang="en-US" sz="700" dirty="0" smtClean="0">
                  <a:latin typeface="+mn-ea"/>
                </a:rPr>
                <a:t>부대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김길동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0000000 </a:t>
              </a:r>
              <a:r>
                <a:rPr lang="ko-KR" altLang="en-US" sz="700" dirty="0" smtClean="0">
                  <a:latin typeface="+mn-ea"/>
                </a:rPr>
                <a:t>부대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박길동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000-0000-0000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9" name="직선 연결선 1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3883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59329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8035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0347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2484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1610" y="2762813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1610" y="5746970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2" name="타원 1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5748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519" y="157371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519" y="2841031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630476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납품조서결과를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smtClean="0">
                <a:latin typeface="+mn-ea"/>
              </a:rPr>
              <a:t>납품조서결과상세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물품 목록 </a:t>
              </a:r>
              <a:r>
                <a:rPr lang="en-US" altLang="ko-KR" sz="700" dirty="0" smtClean="0">
                  <a:latin typeface="+mn-ea"/>
                </a:rPr>
                <a:t>- </a:t>
              </a:r>
              <a:r>
                <a:rPr lang="ko-KR" altLang="en-US" sz="700" dirty="0" smtClean="0">
                  <a:latin typeface="+mn-ea"/>
                </a:rPr>
                <a:t>총 </a:t>
              </a: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ko-KR" altLang="en-US" sz="700" dirty="0" smtClean="0">
                  <a:latin typeface="+mn-ea"/>
                </a:rPr>
                <a:t>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1512818"/>
            <a:chOff x="3865118" y="2946203"/>
            <a:chExt cx="2630093" cy="15128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조달요구번호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재고번호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품명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단위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계약수량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기 </a:t>
              </a:r>
              <a:r>
                <a:rPr lang="ko-KR" altLang="en-US" sz="700" dirty="0" err="1" smtClean="0">
                  <a:latin typeface="+mn-ea"/>
                </a:rPr>
                <a:t>작성수량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금번 </a:t>
              </a:r>
              <a:r>
                <a:rPr lang="ko-KR" altLang="en-US" sz="700" dirty="0" err="1" smtClean="0">
                  <a:latin typeface="+mn-ea"/>
                </a:rPr>
                <a:t>납품수량</a:t>
              </a:r>
              <a:endParaRPr lang="en-US" altLang="ko-KR" sz="700" dirty="0" smtClean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7763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716366" y="3397789"/>
            <a:ext cx="2630093" cy="1512818"/>
            <a:chOff x="3865118" y="2946203"/>
            <a:chExt cx="2630093" cy="1512818"/>
          </a:xfrm>
        </p:grpSpPr>
        <p:sp>
          <p:nvSpPr>
            <p:cNvPr id="53" name="직사각형 52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조달요구번호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재고번호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품명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단위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계약수량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기 </a:t>
              </a:r>
              <a:r>
                <a:rPr lang="ko-KR" altLang="en-US" sz="700" dirty="0" err="1" smtClean="0">
                  <a:latin typeface="+mn-ea"/>
                </a:rPr>
                <a:t>작성수량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금번 </a:t>
              </a:r>
              <a:r>
                <a:rPr lang="ko-KR" altLang="en-US" sz="700" dirty="0" err="1" smtClean="0">
                  <a:latin typeface="+mn-ea"/>
                </a:rPr>
                <a:t>납품수량</a:t>
              </a:r>
              <a:endParaRPr lang="en-US" altLang="ko-KR" sz="700" dirty="0" smtClean="0"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930409" y="5562569"/>
            <a:ext cx="220200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품목의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검사합격을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7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증명함</a:t>
            </a:r>
            <a:endParaRPr lang="en-US" altLang="ko-KR" sz="700" b="1" dirty="0" smtClean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7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품목이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남품되었음을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증명함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8621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47909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3493528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383700"/>
            <a:ext cx="24130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계약자 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전년국채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당년국채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납품장소명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dlvgdsPlcNm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납품장소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납품기한일자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dlvtrmYmd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납품기한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606491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ctrtBzentyAddr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계약업체주소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rprsvNm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배송업체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배송업체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C7231-6C17-87A2-BE5A-9F9C226BFDD6}"/>
              </a:ext>
            </a:extLst>
          </p:cNvPr>
          <p:cNvSpPr txBox="1"/>
          <p:nvPr/>
        </p:nvSpPr>
        <p:spPr>
          <a:xfrm>
            <a:off x="458117" y="4768369"/>
            <a:ext cx="22976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물품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dlt_CmdtyList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C41BEF0-2F1E-675B-DE42-9DB82DD4D7F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982451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invtNo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unitCd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총계약수량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tctrtQty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acmlWrtQty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tstmDlvgdsQty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9C3E33B-D53C-1740-F6B2-DB73DC3B41C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3783839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0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20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계약정비일수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ctrtMtncDayCnt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계약정비일수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실정비일수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rlmtDayCnt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실정비일수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입고일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정비지시일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wrhsYmd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mtncDrctnYmd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입고일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정비지시일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출고일자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spmtYmd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출고일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A72445F-640E-7784-6FB3-49FCBBD8F128}"/>
              </a:ext>
            </a:extLst>
          </p:cNvPr>
          <p:cNvSpPr txBox="1"/>
          <p:nvPr/>
        </p:nvSpPr>
        <p:spPr>
          <a:xfrm>
            <a:off x="458117" y="3587173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정비조회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dmt_MtncInq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459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184241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비고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dmt_Rmrk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03DB9D-A2D3-D9FE-1EFB-369BD6199734}"/>
              </a:ext>
            </a:extLst>
          </p:cNvPr>
          <p:cNvSpPr txBox="1"/>
          <p:nvPr/>
        </p:nvSpPr>
        <p:spPr>
          <a:xfrm>
            <a:off x="458117" y="1465604"/>
            <a:ext cx="260063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 </a:t>
            </a:r>
            <a:r>
              <a:rPr lang="ko-KR" altLang="en-US" sz="900" b="1" dirty="0">
                <a:solidFill>
                  <a:prstClr val="black"/>
                </a:solidFill>
              </a:rPr>
              <a:t>납품조서결과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dmt_DlvdocRslt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E480574-8FDA-09E2-1AEF-7B0B06DAC0D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676807"/>
          <a:ext cx="8994883" cy="2327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igiYmd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rcpmNo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passYmd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검수관소속명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vfofcr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Ogdp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출납관소속명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확인자명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IdfrNm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확인자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4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검수관명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vfofcrNm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118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46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출납관전화번호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출납관 전화번호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000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09063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35FD6C4-6456-DFB7-0DAC-148C0990C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632193"/>
              </p:ext>
            </p:extLst>
          </p:nvPr>
        </p:nvGraphicFramePr>
        <p:xfrm>
          <a:off x="453000" y="1058554"/>
          <a:ext cx="8995591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779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524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물품 목록을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검사및납품조서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(UI-EX-01-R09)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바코드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(UI-EX-01-R10)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93288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3059791-0E8E-B3FC-9AB7-2DE7C96BC523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13" name="Text Box 73">
            <a:extLst>
              <a:ext uri="{FF2B5EF4-FFF2-40B4-BE49-F238E27FC236}">
                <a16:creationId xmlns:a16="http://schemas.microsoft.com/office/drawing/2014/main" id="{DB5438FA-D58B-C3B2-6714-6B2906A33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28580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 smtClean="0"/>
              <a:t>2. </a:t>
            </a:r>
            <a:r>
              <a:rPr lang="ko-KR" altLang="en-US" dirty="0" err="1" smtClean="0">
                <a:latin typeface="+mn-ea"/>
              </a:rPr>
              <a:t>한도액계약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 smtClean="0"/>
              <a:t>목록</a:t>
            </a:r>
            <a:endParaRPr lang="en-US" altLang="ko-KR" dirty="0"/>
          </a:p>
          <a:p>
            <a:r>
              <a:rPr lang="en-US" altLang="ko-KR" dirty="0" smtClean="0"/>
              <a:t>2.1 </a:t>
            </a:r>
            <a:r>
              <a:rPr lang="ko-KR" altLang="en-US" dirty="0"/>
              <a:t>화면 </a:t>
            </a:r>
            <a:r>
              <a:rPr lang="ko-KR" altLang="en-US" dirty="0" smtClean="0"/>
              <a:t>목록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714993"/>
              </p:ext>
            </p:extLst>
          </p:nvPr>
        </p:nvGraphicFramePr>
        <p:xfrm>
          <a:off x="635474" y="1413419"/>
          <a:ext cx="8701200" cy="42575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smtClean="0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mtClean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 smtClean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 smtClean="0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 smtClean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 smtClean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MUI-EX-02-M71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</a:rPr>
                        <a:t>한도액계약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</a:rPr>
                        <a:t>견적의뢰서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 목록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OvsEstmtRqdcListPage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목록을 조회하고 통보서 진행상태를 확인하는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ovsEstmtRqdcListPage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OvsEstmtRqdcListPage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UC-EX-03-01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MUI-EX-02-M72</a:t>
                      </a:r>
                      <a:endParaRPr lang="en-US" altLang="ko-KR" sz="75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OvsEstmtRqdcDtlPage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상세내용을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ovsEstmtRqdcDtlPage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OvsEstmtRqdcDtlPage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UC-EX-03-01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88514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MUI-EX-02-M73</a:t>
                      </a:r>
                      <a:endParaRPr lang="en-US" altLang="ko-KR" sz="75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한도액계약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견적통보서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목록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vsEstmtNtdcListPage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견적통보서목록을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ovsEstmtNtdcList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OvsEstmtNtdcListPage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UC-EX-03-02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8745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MUI-EX-02-M74</a:t>
                      </a:r>
                      <a:endParaRPr lang="en-US" altLang="ko-KR" sz="75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vsEstmtNtdcDtl</a:t>
                      </a:r>
                      <a:r>
                        <a:rPr lang="en-US" altLang="ko-KR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견적통보서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상세내용을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ovsEstmtNtdcDtl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OvsEstmtNtdcDtlPage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UC-EX-03-02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24284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MUI-EX-02-M75</a:t>
                      </a:r>
                      <a:endParaRPr lang="en-US" altLang="ko-KR" sz="75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한도액계약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목록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vsOrderRqdcList</a:t>
                      </a:r>
                      <a:r>
                        <a:rPr lang="en-US" altLang="ko-KR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목록을 조회하고 통보서 진행상태를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ovsOrderRqdcLis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OvsOrderRqdcListPage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UC-EX-04-01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5730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MUI-EX-02-M76</a:t>
                      </a:r>
                      <a:endParaRPr lang="en-US" altLang="ko-KR" sz="75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vsOrderRqdcDtl</a:t>
                      </a:r>
                      <a:r>
                        <a:rPr lang="en-US" altLang="ko-KR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상세내용을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UC-EX-04-01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70027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MUI-EX-02-M77</a:t>
                      </a:r>
                      <a:endParaRPr lang="en-US" altLang="ko-KR" sz="75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한도액계약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발주통보서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목록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vsOrderNtdcList</a:t>
                      </a:r>
                      <a:r>
                        <a:rPr lang="en-US" altLang="ko-KR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발주통보서목록을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ovsOrderNtdcList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OvsOrderNtdcListPage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UC-EX-04-02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4763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MUI-EX-02-M78</a:t>
                      </a:r>
                      <a:endParaRPr lang="en-US" altLang="ko-KR" sz="75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발주통보서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vsOrderNtdcDtl</a:t>
                      </a:r>
                      <a:r>
                        <a:rPr lang="en-US" altLang="ko-KR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상세내용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ovsOrderNtdcDtl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OvsOrderNtdcDtlPage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UC-EX-04-02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51027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MUI-EX-02-P79</a:t>
                      </a:r>
                      <a:endParaRPr lang="en-US" altLang="ko-KR" sz="75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계약번호조회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vsCtrtNoInq</a:t>
                      </a:r>
                      <a:r>
                        <a:rPr lang="en-US" altLang="ko-KR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계약년도와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계약번호로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계약정보목록을 조회하는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ovsCtrtNoInqe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OvsCtrtNoInqPage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UC-EX-03-01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370402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636166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2.2</a:t>
            </a:r>
            <a:r>
              <a:rPr lang="en-US" altLang="ko-KR" dirty="0"/>
              <a:t>. </a:t>
            </a:r>
            <a:r>
              <a:rPr lang="ko-KR" altLang="en-US" dirty="0"/>
              <a:t>화면 </a:t>
            </a:r>
            <a:r>
              <a:rPr lang="ko-KR" altLang="en-US" dirty="0" smtClean="0"/>
              <a:t>흐름도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한도액계약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견적의뢰서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7619879" y="316638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7648876" y="2993939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9399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견적통보서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162" idx="1"/>
          </p:cNvCxnSpPr>
          <p:nvPr/>
        </p:nvCxnSpPr>
        <p:spPr>
          <a:xfrm>
            <a:off x="3266608" y="1772964"/>
            <a:ext cx="931134" cy="13109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6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 smtClean="0">
                <a:solidFill>
                  <a:schemeClr val="tx1"/>
                </a:solidFill>
              </a:rPr>
              <a:t>사용자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419089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발주의뢰서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sp>
        <p:nvSpPr>
          <p:cNvPr id="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544185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발주통보서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cxnSp>
        <p:nvCxnSpPr>
          <p:cNvPr id="3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34" idx="1"/>
          </p:cNvCxnSpPr>
          <p:nvPr/>
        </p:nvCxnSpPr>
        <p:spPr>
          <a:xfrm>
            <a:off x="3266608" y="1772964"/>
            <a:ext cx="931134" cy="381289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4" idx="3"/>
            <a:endCxn id="158" idx="2"/>
          </p:cNvCxnSpPr>
          <p:nvPr/>
        </p:nvCxnSpPr>
        <p:spPr>
          <a:xfrm flipV="1">
            <a:off x="6926739" y="3083939"/>
            <a:ext cx="722137" cy="312347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4" idx="3"/>
            <a:endCxn id="158" idx="2"/>
          </p:cNvCxnSpPr>
          <p:nvPr/>
        </p:nvCxnSpPr>
        <p:spPr>
          <a:xfrm flipV="1">
            <a:off x="6926739" y="3083939"/>
            <a:ext cx="722137" cy="6294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23" idx="1"/>
          </p:cNvCxnSpPr>
          <p:nvPr/>
        </p:nvCxnSpPr>
        <p:spPr>
          <a:xfrm>
            <a:off x="3266608" y="1772964"/>
            <a:ext cx="931134" cy="256193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25836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견적의뢰서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sp>
        <p:nvSpPr>
          <p:cNvPr id="4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29399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계약번호</a:t>
            </a:r>
            <a:r>
              <a:rPr lang="ko-KR" altLang="en-US" sz="800" dirty="0">
                <a:solidFill>
                  <a:schemeClr val="tx1"/>
                </a:solidFill>
              </a:rPr>
              <a:t> 조회</a:t>
            </a:r>
          </a:p>
        </p:txBody>
      </p:sp>
      <p:sp>
        <p:nvSpPr>
          <p:cNvPr id="4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356934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견적통보서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sp>
        <p:nvSpPr>
          <p:cNvPr id="4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419089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계약번호</a:t>
            </a:r>
            <a:r>
              <a:rPr lang="ko-KR" altLang="en-US" sz="800" dirty="0">
                <a:solidFill>
                  <a:schemeClr val="tx1"/>
                </a:solidFill>
              </a:rPr>
              <a:t> 조회</a:t>
            </a:r>
          </a:p>
        </p:txBody>
      </p:sp>
      <p:cxnSp>
        <p:nvCxnSpPr>
          <p:cNvPr id="5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0" idx="3"/>
            <a:endCxn id="158" idx="2"/>
          </p:cNvCxnSpPr>
          <p:nvPr/>
        </p:nvCxnSpPr>
        <p:spPr>
          <a:xfrm>
            <a:off x="6928876" y="2402366"/>
            <a:ext cx="720000" cy="6815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9" idx="3"/>
            <a:endCxn id="41" idx="1"/>
          </p:cNvCxnSpPr>
          <p:nvPr/>
        </p:nvCxnSpPr>
        <p:spPr>
          <a:xfrm>
            <a:off x="5097742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62" idx="3"/>
            <a:endCxn id="43" idx="1"/>
          </p:cNvCxnSpPr>
          <p:nvPr/>
        </p:nvCxnSpPr>
        <p:spPr>
          <a:xfrm>
            <a:off x="5097742" y="3083939"/>
            <a:ext cx="92899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23" idx="3"/>
            <a:endCxn id="45" idx="1"/>
          </p:cNvCxnSpPr>
          <p:nvPr/>
        </p:nvCxnSpPr>
        <p:spPr>
          <a:xfrm>
            <a:off x="5097742" y="4334897"/>
            <a:ext cx="92899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34" idx="3"/>
            <a:endCxn id="73" idx="1"/>
          </p:cNvCxnSpPr>
          <p:nvPr/>
        </p:nvCxnSpPr>
        <p:spPr>
          <a:xfrm>
            <a:off x="5097742" y="5585854"/>
            <a:ext cx="92899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계약번호</a:t>
            </a:r>
            <a:r>
              <a:rPr lang="ko-KR" altLang="en-US" sz="800" dirty="0">
                <a:solidFill>
                  <a:schemeClr val="tx1"/>
                </a:solidFill>
              </a:rPr>
              <a:t> 조회</a:t>
            </a:r>
          </a:p>
        </p:txBody>
      </p:sp>
      <p:cxnSp>
        <p:nvCxnSpPr>
          <p:cNvPr id="5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3"/>
            <a:endCxn id="40" idx="1"/>
          </p:cNvCxnSpPr>
          <p:nvPr/>
        </p:nvCxnSpPr>
        <p:spPr>
          <a:xfrm>
            <a:off x="5097742" y="1772964"/>
            <a:ext cx="931134" cy="6294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1" idx="0"/>
            <a:endCxn id="69" idx="0"/>
          </p:cNvCxnSpPr>
          <p:nvPr/>
        </p:nvCxnSpPr>
        <p:spPr>
          <a:xfrm rot="16200000" flipV="1">
            <a:off x="5563309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481245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발주의뢰서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sp>
        <p:nvSpPr>
          <p:cNvPr id="7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544185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계약번호</a:t>
            </a:r>
            <a:r>
              <a:rPr lang="ko-KR" altLang="en-US" sz="800" dirty="0">
                <a:solidFill>
                  <a:schemeClr val="tx1"/>
                </a:solidFill>
              </a:rPr>
              <a:t> 조회</a:t>
            </a:r>
          </a:p>
        </p:txBody>
      </p:sp>
      <p:sp>
        <p:nvSpPr>
          <p:cNvPr id="7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606341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발주통보서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7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44" idx="1"/>
          </p:cNvCxnSpPr>
          <p:nvPr/>
        </p:nvCxnSpPr>
        <p:spPr>
          <a:xfrm>
            <a:off x="5097742" y="3083939"/>
            <a:ext cx="928997" cy="6294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3" idx="3"/>
            <a:endCxn id="71" idx="1"/>
          </p:cNvCxnSpPr>
          <p:nvPr/>
        </p:nvCxnSpPr>
        <p:spPr>
          <a:xfrm>
            <a:off x="5097742" y="4334897"/>
            <a:ext cx="928997" cy="62155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74" idx="1"/>
          </p:cNvCxnSpPr>
          <p:nvPr/>
        </p:nvCxnSpPr>
        <p:spPr>
          <a:xfrm>
            <a:off x="5097742" y="5585854"/>
            <a:ext cx="928997" cy="6215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1" idx="3"/>
            <a:endCxn id="158" idx="2"/>
          </p:cNvCxnSpPr>
          <p:nvPr/>
        </p:nvCxnSpPr>
        <p:spPr>
          <a:xfrm flipV="1">
            <a:off x="6926739" y="3083939"/>
            <a:ext cx="722137" cy="187251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3" idx="0"/>
            <a:endCxn id="162" idx="0"/>
          </p:cNvCxnSpPr>
          <p:nvPr/>
        </p:nvCxnSpPr>
        <p:spPr>
          <a:xfrm rot="16200000" flipV="1">
            <a:off x="5562241" y="2025440"/>
            <a:ext cx="12700" cy="1828997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5" idx="0"/>
            <a:endCxn id="23" idx="0"/>
          </p:cNvCxnSpPr>
          <p:nvPr/>
        </p:nvCxnSpPr>
        <p:spPr>
          <a:xfrm rot="16200000" flipV="1">
            <a:off x="5562241" y="3276398"/>
            <a:ext cx="12700" cy="1828997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3" idx="0"/>
            <a:endCxn id="34" idx="0"/>
          </p:cNvCxnSpPr>
          <p:nvPr/>
        </p:nvCxnSpPr>
        <p:spPr>
          <a:xfrm rot="16200000" flipV="1">
            <a:off x="5562241" y="4527355"/>
            <a:ext cx="12700" cy="1828997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127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2.3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&lt;&lt;App Page&gt;&gt;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견적의뢰서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OvsEstmtRqdcListPage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&lt;&lt;App Page&gt;&gt;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견적의뢰서</a:t>
            </a:r>
            <a:r>
              <a:rPr lang="ko-KR" altLang="en-US" sz="1000" dirty="0">
                <a:solidFill>
                  <a:schemeClr val="tx1"/>
                </a:solidFill>
              </a:rPr>
              <a:t> 상세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OvsEstmtRqdcDtlPage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&lt;&lt;App Page&gt;&gt;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견적통보서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목록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OvsEstmtNtdcListPage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&lt;&lt;React Object&gt;&gt;</a:t>
            </a:r>
            <a:endParaRPr lang="en-US" altLang="ko-KR" sz="1100" dirty="0"/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&lt;&lt;Controller&gt;&gt;</a:t>
            </a:r>
          </a:p>
          <a:p>
            <a:pPr algn="ctr"/>
            <a:r>
              <a:rPr lang="ko-KR" altLang="en-US" sz="1100" dirty="0" err="1"/>
              <a:t>한도액계약</a:t>
            </a:r>
            <a:r>
              <a:rPr lang="ko-KR" altLang="en-US" sz="1100" dirty="0"/>
              <a:t> </a:t>
            </a:r>
            <a:r>
              <a:rPr lang="en-US" altLang="ko-KR" sz="1100" dirty="0"/>
              <a:t>Controller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65266"/>
            <a:ext cx="967509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465584"/>
            <a:ext cx="967509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&lt;&lt;App Page&gt;&gt;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lvl="0"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견적통보서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OvsEstmtNtdcDtlPage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&lt;&lt;App Page&gt;&gt;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발주의뢰서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목록</a:t>
            </a:r>
            <a:endParaRPr lang="en-US" altLang="ko-KR" sz="10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OvsOrderRqdcListPage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&lt;&lt;App Page&gt;&gt;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발주의뢰서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상세</a:t>
            </a:r>
            <a:endParaRPr lang="en-US" altLang="ko-KR" sz="10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OvsOrderRqdcDtlPage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246050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&lt;&lt;App Page&gt;&gt;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발주통보서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목록</a:t>
            </a:r>
            <a:endParaRPr lang="en-US" altLang="ko-KR" sz="10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OvsOrderNtdcListPage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2477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84637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&lt;&lt;App Page&gt;&gt;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발주통보서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</a:rPr>
              <a:t>상세</a:t>
            </a:r>
            <a:endParaRPr lang="en-US" altLang="ko-KR" sz="1000" dirty="0" smtClean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OvsOrderNtdcDtlPag</a:t>
            </a: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992582" y="2990174"/>
            <a:ext cx="967509" cy="3077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3229064" y="584637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&lt;&lt;App Page&gt;&gt;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맑은 고딕" panose="020B0503020000020004" pitchFamily="50" charset="-127"/>
              </a:rPr>
              <a:t>계약번호조회</a:t>
            </a:r>
            <a:endParaRPr lang="en-US" altLang="ko-KR" sz="1000" dirty="0" smtClean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OvsCtrtNoInqPage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1" idx="0"/>
            <a:endCxn id="9" idx="2"/>
          </p:cNvCxnSpPr>
          <p:nvPr/>
        </p:nvCxnSpPr>
        <p:spPr>
          <a:xfrm flipV="1">
            <a:off x="4092664" y="3810190"/>
            <a:ext cx="731027" cy="2036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9064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</a:t>
            </a:r>
            <a:r>
              <a:rPr lang="ko-KR" altLang="en-US" dirty="0" smtClean="0"/>
              <a:t>이벤트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견적의뢰서목록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검색이 없는 경우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최초 진입 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표시 내용이 없으며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아래 메시지 출력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/>
              <a:t>표시할 내용이 없습니다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 err="1"/>
              <a:t>계약번호를</a:t>
            </a:r>
            <a:r>
              <a:rPr lang="ko-KR" altLang="en-US" dirty="0"/>
              <a:t> </a:t>
            </a:r>
            <a:r>
              <a:rPr lang="ko-KR" altLang="en-US" dirty="0" smtClean="0"/>
              <a:t>직접 입력하거나</a:t>
            </a:r>
            <a:r>
              <a:rPr lang="en-US" altLang="ko-KR" dirty="0"/>
              <a:t>, </a:t>
            </a:r>
            <a:r>
              <a:rPr lang="ko-KR" altLang="en-US" dirty="0" err="1"/>
              <a:t>계약번호를</a:t>
            </a:r>
            <a:r>
              <a:rPr lang="ko-KR" altLang="en-US" dirty="0"/>
              <a:t> 검색하여 조회할 수 있습니다</a:t>
            </a:r>
            <a:r>
              <a:rPr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</a:t>
            </a:r>
            <a:r>
              <a:rPr lang="ko-KR" altLang="en-US" dirty="0"/>
              <a:t>이벤트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목록 </a:t>
            </a:r>
            <a:r>
              <a:rPr lang="ko-KR" altLang="en-US" dirty="0"/>
              <a:t>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카드 상단 표시 레이블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목록을 조회하고 통보서 진행상태를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홈 </a:t>
            </a:r>
            <a:r>
              <a:rPr lang="en-US" altLang="ko-KR" dirty="0" smtClean="0"/>
              <a:t>&gt; </a:t>
            </a:r>
            <a:r>
              <a:rPr lang="ko-KR" altLang="en-US" dirty="0" smtClean="0">
                <a:latin typeface="+mn-ea"/>
              </a:rPr>
              <a:t>이행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err="1" smtClean="0">
                <a:latin typeface="+mn-ea"/>
              </a:rPr>
              <a:t>한도액계약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견적의뢰서</a:t>
            </a:r>
            <a:r>
              <a:rPr lang="ko-KR" altLang="en-US" sz="800" dirty="0">
                <a:latin typeface="+mn-ea"/>
              </a:rPr>
              <a:t> 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51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691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468991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 smtClean="0"/>
              <a:t>견적번호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01</a:t>
            </a:r>
            <a:endParaRPr lang="en-US" altLang="ko-KR" sz="700" dirty="0"/>
          </a:p>
          <a:p>
            <a:r>
              <a:rPr lang="en-US" altLang="ko-KR" sz="900" b="1" dirty="0" smtClean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29223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항목 수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무역대리점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납기일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작성일</a:t>
            </a:r>
            <a:endParaRPr lang="en-US" altLang="ko-KR" sz="600" dirty="0" smtClean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37655" y="3813834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3 </a:t>
            </a:r>
            <a:r>
              <a:rPr lang="ko-KR" altLang="en-US" sz="600" dirty="0" smtClean="0">
                <a:latin typeface="+mn-ea"/>
              </a:rPr>
              <a:t>개</a:t>
            </a:r>
            <a:endParaRPr lang="en-US" altLang="ko-KR" sz="600" dirty="0" smtClean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A </a:t>
            </a:r>
            <a:r>
              <a:rPr lang="ko-KR" altLang="en-US" sz="600" dirty="0" smtClean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2026-02-10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2026-02-10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28466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38509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368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49183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792764" y="2544628"/>
            <a:ext cx="33295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dk1"/>
                </a:solidFill>
              </a:rPr>
              <a:t>미작성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187312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송신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통보서 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smtClean="0">
                <a:latin typeface="+mn-ea"/>
              </a:rPr>
              <a:t>표시 개수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10 </a:t>
            </a:r>
            <a:r>
              <a:rPr lang="ko-KR" altLang="en-US" sz="700" dirty="0" smtClean="0">
                <a:latin typeface="+mn-ea"/>
              </a:rPr>
              <a:t>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 smtClean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552466"/>
            <a:ext cx="2473257" cy="1080735"/>
            <a:chOff x="781461" y="3087955"/>
            <a:chExt cx="2473257" cy="1080735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 err="1">
                  <a:solidFill>
                    <a:prstClr val="black"/>
                  </a:solidFill>
                </a:rPr>
                <a:t>견적번호</a:t>
              </a:r>
              <a:r>
                <a:rPr lang="ko-KR" altLang="en-US" sz="700" dirty="0">
                  <a:solidFill>
                    <a:prstClr val="black"/>
                  </a:solidFill>
                </a:rPr>
                <a:t> </a:t>
              </a:r>
              <a:r>
                <a:rPr lang="en-US" altLang="ko-KR" sz="700" dirty="0" smtClean="0">
                  <a:solidFill>
                    <a:prstClr val="black"/>
                  </a:solidFill>
                </a:rPr>
                <a:t>02</a:t>
              </a:r>
              <a:endParaRPr lang="en-US" altLang="ko-KR" sz="700" dirty="0">
                <a:solidFill>
                  <a:prstClr val="black"/>
                </a:solidFill>
              </a:endParaRPr>
            </a:p>
            <a:p>
              <a:pPr lvl="0"/>
              <a:r>
                <a:rPr lang="en-US" altLang="ko-KR" sz="900" b="1" dirty="0">
                  <a:solidFill>
                    <a:prstClr val="black"/>
                  </a:solidFill>
                </a:rPr>
                <a:t>F-15 </a:t>
              </a:r>
              <a:r>
                <a:rPr lang="ko-KR" altLang="en-US" sz="900" b="1" dirty="0">
                  <a:solidFill>
                    <a:prstClr val="black"/>
                  </a:solidFill>
                </a:rPr>
                <a:t>부품구매</a:t>
              </a:r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항목 수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무역대리점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납기일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작성일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837719" y="3617129"/>
              <a:ext cx="397545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3 </a:t>
              </a:r>
              <a:r>
                <a:rPr lang="ko-KR" altLang="en-US" sz="600" dirty="0">
                  <a:latin typeface="+mn-ea"/>
                </a:rPr>
                <a:t>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 </a:t>
              </a:r>
              <a:r>
                <a:rPr lang="ko-KR" altLang="en-US" sz="600" dirty="0">
                  <a:latin typeface="+mn-ea"/>
                </a:rPr>
                <a:t>업체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332964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>
                  <a:solidFill>
                    <a:schemeClr val="dk1"/>
                  </a:solidFill>
                </a:rPr>
                <a:t>미작성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70391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 smtClean="0"/>
              <a:t>🔎</a:t>
            </a:r>
            <a:endParaRPr lang="ko-KR" altLang="en-US" sz="700" dirty="0"/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 smtClean="0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 smtClean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 smtClean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1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2707397" y="2270279"/>
            <a:ext cx="582849" cy="15479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 smtClean="0">
                <a:latin typeface="맑은 고딕"/>
                <a:ea typeface="맑은 고딕" panose="020B0503020000020004" pitchFamily="50" charset="-127"/>
              </a:rPr>
              <a:t>검색필터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619605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검색필터</a:t>
            </a:r>
            <a:r>
              <a:rPr lang="ko-KR" altLang="en-US" dirty="0" smtClean="0"/>
              <a:t> 페이지 타이틀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설정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 smtClean="0">
                <a:sym typeface="Wingdings" panose="05000000000000000000" pitchFamily="2" charset="2"/>
              </a:rPr>
              <a:t>플로팅</a:t>
            </a:r>
            <a:r>
              <a:rPr lang="ko-KR" altLang="en-US" dirty="0" smtClean="0">
                <a:sym typeface="Wingdings" panose="05000000000000000000" pitchFamily="2" charset="2"/>
              </a:rPr>
              <a:t> 처리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검색 필터 </a:t>
            </a: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한도액계약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/>
              <a:t>상세 검색을 위한 검색 필터 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 smtClean="0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초기화</a:t>
            </a:r>
            <a:endParaRPr lang="ko-KR" altLang="en-US" sz="700" dirty="0">
              <a:latin typeface="+mn-ea"/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7" name="그룹 6"/>
          <p:cNvGrpSpPr/>
          <p:nvPr/>
        </p:nvGrpSpPr>
        <p:grpSpPr>
          <a:xfrm>
            <a:off x="675399" y="2006807"/>
            <a:ext cx="2712027" cy="789619"/>
            <a:chOff x="675399" y="4736534"/>
            <a:chExt cx="2712027" cy="78961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736534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smtClean="0">
                  <a:latin typeface="+mn-ea"/>
                </a:rPr>
                <a:t>검색 설정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959072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4834224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4986703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 smtClean="0">
                    <a:latin typeface="맑은 고딕"/>
                  </a:rPr>
                  <a:t>2025-10-15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5006650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5217372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 smtClean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 smtClean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 smtClean="0">
                    <a:latin typeface="+mn-ea"/>
                  </a:rPr>
                  <a:t>3</a:t>
                </a:r>
                <a:r>
                  <a:rPr kumimoji="1" lang="ko-KR" altLang="en-US" sz="700" kern="0" dirty="0" smtClean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 smtClean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 smtClean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4986703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 smtClean="0">
                    <a:latin typeface="맑은 고딕"/>
                  </a:rPr>
                  <a:t>2026-01-16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52615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smtClean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smtClean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0564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284607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 smtClean="0">
                <a:latin typeface="+mn-ea"/>
              </a:rPr>
              <a:t>검색어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141" name="그룹 140"/>
          <p:cNvGrpSpPr/>
          <p:nvPr/>
        </p:nvGrpSpPr>
        <p:grpSpPr>
          <a:xfrm flipV="1">
            <a:off x="3145721" y="2943764"/>
            <a:ext cx="91438" cy="45719"/>
            <a:chOff x="6812560" y="3297172"/>
            <a:chExt cx="94010" cy="47005"/>
          </a:xfrm>
        </p:grpSpPr>
        <p:cxnSp>
          <p:nvCxnSpPr>
            <p:cNvPr id="149" name="직선 연결선 14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직선 연결선 14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3083065"/>
            <a:ext cx="67077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계약번호</a:t>
            </a:r>
            <a:endParaRPr lang="en-US" altLang="ko-KR" sz="700" dirty="0" smtClean="0">
              <a:latin typeface="+mn-ea"/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1457007" y="3128507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번호를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 rot="16200000">
            <a:off x="3140950" y="3197306"/>
            <a:ext cx="91438" cy="45719"/>
            <a:chOff x="6812560" y="3297172"/>
            <a:chExt cx="94010" cy="47005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702751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5C3181-74F9-5FAE-8260-B8C585F42331}"/>
              </a:ext>
            </a:extLst>
          </p:cNvPr>
          <p:cNvSpPr txBox="1"/>
          <p:nvPr/>
        </p:nvSpPr>
        <p:spPr>
          <a:xfrm>
            <a:off x="458117" y="582997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813154"/>
            <a:ext cx="277216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견적의뢰서목록조회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24357"/>
          <a:ext cx="8994883" cy="897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81841203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04067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3759215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907187"/>
              </p:ext>
            </p:extLst>
          </p:nvPr>
        </p:nvGraphicFramePr>
        <p:xfrm>
          <a:off x="452291" y="3987494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2277400484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수신일을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년전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부터 현재일로 입력한다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카드 </a:t>
                      </a:r>
                      <a:r>
                        <a:rPr lang="ko-KR" altLang="en-US" sz="800" dirty="0"/>
                        <a:t>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scwin.grd_EstmtRqdc_oncellclick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견적의뢰서상세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UI-EX-02-M73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26166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1928291"/>
            <a:ext cx="26839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견적의뢰서목록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dl_estmtRqdc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5558" y="2139494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94791476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견적번호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112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항목수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</a:t>
                      </a:r>
                      <a:r>
                        <a:rPr lang="ko-KR" altLang="en-US" sz="800" dirty="0" err="1">
                          <a:latin typeface="+mn-ea"/>
                        </a:rPr>
                        <a:t>항목수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무역대리점 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dudtYmd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납기일자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작성일자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통보서상태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ntdcStts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진행상태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3921AF14-0A7A-7CF4-2518-3705EA0CF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88605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상세 화면 상단에 계약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공고의 공지사항이 있는 경우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메뉴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내용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상세 </a:t>
            </a:r>
            <a:r>
              <a:rPr lang="en-US" altLang="ko-KR" dirty="0" smtClean="0">
                <a:latin typeface="+mn-ea"/>
              </a:rPr>
              <a:t>– </a:t>
            </a:r>
            <a:r>
              <a:rPr lang="ko-KR" altLang="en-US" dirty="0" err="1" smtClean="0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견적의뢰서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견적번호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공지사항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2926040" y="2261650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3070040" y="2278058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출력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smtClean="0">
                <a:latin typeface="+mn-ea"/>
              </a:rPr>
              <a:t>상세정보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계약 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견적번호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견적일자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유효일자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계약일자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사업명</a:t>
            </a:r>
            <a:endParaRPr lang="en-US" altLang="ko-KR" sz="700" dirty="0" smtClean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2025-03-01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2025-03-01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 smtClean="0">
                <a:latin typeface="+mn-ea"/>
              </a:rPr>
              <a:t>부품구매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23976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6295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입찰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조달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계약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이행</a:t>
            </a:r>
            <a:endParaRPr lang="ko-KR" altLang="en-US" sz="700" dirty="0">
              <a:latin typeface="+mn-ea"/>
            </a:endParaRP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smtClean="0">
                <a:solidFill>
                  <a:prstClr val="black"/>
                </a:solidFill>
              </a:rPr>
              <a:t>이행</a:t>
            </a:r>
            <a:r>
              <a:rPr lang="en-US" altLang="ko-KR" sz="700" dirty="0" smtClean="0">
                <a:solidFill>
                  <a:prstClr val="black"/>
                </a:solidFill>
              </a:rPr>
              <a:t> </a:t>
            </a:r>
            <a:r>
              <a:rPr lang="ko-KR" altLang="en-US" sz="700" dirty="0" smtClean="0">
                <a:solidFill>
                  <a:prstClr val="black"/>
                </a:solidFill>
              </a:rPr>
              <a:t>정보 신청</a:t>
            </a:r>
            <a:r>
              <a:rPr lang="en-US" altLang="ko-KR" sz="700" dirty="0" smtClean="0">
                <a:solidFill>
                  <a:prstClr val="black"/>
                </a:solidFill>
              </a:rPr>
              <a:t>,</a:t>
            </a:r>
            <a:r>
              <a:rPr lang="ko-KR" altLang="en-US" sz="700" dirty="0" smtClean="0">
                <a:solidFill>
                  <a:prstClr val="black"/>
                </a:solidFill>
              </a:rPr>
              <a:t> 수정은 </a:t>
            </a:r>
            <a:r>
              <a:rPr lang="en-US" altLang="ko-KR" sz="700" dirty="0" smtClean="0">
                <a:solidFill>
                  <a:prstClr val="black"/>
                </a:solidFill>
              </a:rPr>
              <a:t>PC </a:t>
            </a:r>
            <a:r>
              <a:rPr lang="ko-KR" altLang="en-US" sz="700" dirty="0" smtClean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 smtClean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다음에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우측에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75662"/>
            <a:ext cx="2630093" cy="1551341"/>
            <a:chOff x="3839894" y="2802481"/>
            <a:chExt cx="2630093" cy="1551341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2481"/>
              <a:ext cx="792000" cy="15513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군담당자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무역대리점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담당자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화폐단위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A </a:t>
              </a:r>
              <a:r>
                <a:rPr lang="ko-KR" altLang="en-US" sz="700" dirty="0" smtClean="0">
                  <a:latin typeface="+mn-ea"/>
                </a:rPr>
                <a:t>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공군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조달테스트업체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</a:t>
              </a:r>
              <a:r>
                <a:rPr lang="ko-KR" altLang="en-US" sz="700" dirty="0" smtClean="0">
                  <a:latin typeface="+mn-ea"/>
                </a:rPr>
                <a:t>달러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견적번호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1" name="타원 200"/>
          <p:cNvSpPr/>
          <p:nvPr/>
        </p:nvSpPr>
        <p:spPr>
          <a:xfrm>
            <a:off x="6029572" y="158593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6173572" y="1602341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출력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smtClean="0">
                <a:latin typeface="+mn-ea"/>
              </a:rPr>
              <a:t>상세정보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476451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상세 </a:t>
            </a:r>
            <a:r>
              <a:rPr lang="en-US" altLang="ko-KR" dirty="0" smtClean="0">
                <a:latin typeface="+mn-ea"/>
              </a:rPr>
              <a:t>– </a:t>
            </a:r>
            <a:r>
              <a:rPr lang="ko-KR" altLang="en-US" dirty="0" smtClean="0">
                <a:latin typeface="+mn-ea"/>
              </a:rPr>
              <a:t>물품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물품 목록 </a:t>
              </a:r>
              <a:r>
                <a:rPr lang="en-US" altLang="ko-KR" sz="700" dirty="0" smtClean="0">
                  <a:latin typeface="+mn-ea"/>
                </a:rPr>
                <a:t>- </a:t>
              </a:r>
              <a:r>
                <a:rPr lang="ko-KR" altLang="en-US" sz="700" dirty="0" smtClean="0">
                  <a:latin typeface="+mn-ea"/>
                </a:rPr>
                <a:t>총 </a:t>
              </a: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ko-KR" altLang="en-US" sz="700" dirty="0" smtClean="0">
                  <a:latin typeface="+mn-ea"/>
                </a:rPr>
                <a:t>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2369881"/>
            <a:chOff x="3865118" y="2946203"/>
            <a:chExt cx="2630093" cy="236988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369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부품번호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적용장비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운송구분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납품요구일자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품명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단위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수량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비고</a:t>
              </a:r>
              <a:endParaRPr lang="en-US" altLang="ko-KR" sz="700" dirty="0" smtClean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1111111111111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F-15K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항공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</a:t>
              </a:r>
              <a:r>
                <a:rPr lang="en-US" altLang="ko-KR" sz="700" dirty="0" smtClean="0">
                  <a:latin typeface="+mn-ea"/>
                </a:rPr>
                <a:t>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EA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AFLC IM : IG(6</a:t>
              </a:r>
              <a:r>
                <a:rPr lang="ko-KR" altLang="en-US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급 홍길동</a:t>
              </a: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)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938526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3578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799261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5558" y="1010464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14640541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clmSeq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견적번호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clmYmd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견적일자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</a:t>
                      </a:r>
                      <a:r>
                        <a:rPr lang="ko-KR" altLang="en-US" sz="800" dirty="0" err="1">
                          <a:latin typeface="+mn-ea"/>
                        </a:rPr>
                        <a:t>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3924675"/>
            <a:ext cx="293406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견적의뢰서품목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dl_estmtRqdcItem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5557" y="4141289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4316845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부품번호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적용장비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trnsMthdCd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운송구분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납품요구일자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dlvgdsRqtYmd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납품요구일자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rcptNo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</a:t>
                      </a:r>
                      <a:r>
                        <a:rPr lang="en-US" altLang="ko-KR" sz="800" dirty="0">
                          <a:latin typeface="+mn-ea"/>
                        </a:rPr>
                        <a:t>Serial 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수량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15,2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81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4805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16F95F2-604A-CD71-A157-16ADC3AFA5D2}"/>
              </a:ext>
            </a:extLst>
          </p:cNvPr>
          <p:cNvSpPr txBox="1"/>
          <p:nvPr/>
        </p:nvSpPr>
        <p:spPr>
          <a:xfrm>
            <a:off x="458117" y="582997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E2B1C658-9190-4D02-673B-5B3242230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47765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B9AF66-64E6-DF62-3BAF-E50637821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7857E-A467-2211-5885-613C98FA5232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1A43DC5-460A-FFCD-4D6F-A07499D3F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871437"/>
              </p:ext>
            </p:extLst>
          </p:nvPr>
        </p:nvGraphicFramePr>
        <p:xfrm>
          <a:off x="458117" y="799547"/>
          <a:ext cx="8995591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5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982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315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6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견적의뢰서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/>
                        <a:t>견적의뢰서출력물</a:t>
                      </a:r>
                      <a:r>
                        <a:rPr lang="ko-KR" altLang="en-US" sz="800" dirty="0"/>
                        <a:t> 화면을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UI-EX-02-R85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04730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2819AA99-5229-6305-7DF5-CFF892B97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647345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</a:t>
            </a:r>
            <a:r>
              <a:rPr lang="ko-KR" altLang="en-US" dirty="0" smtClean="0"/>
              <a:t>이벤트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검색에 따른 계약 정보 상단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목록 </a:t>
            </a:r>
            <a:r>
              <a:rPr lang="ko-KR" altLang="en-US" dirty="0"/>
              <a:t>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검색이 없는 경우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최초 진입 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표시 내용이 없으며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아래 메시지 출력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표시할 내용이 없습니다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err="1"/>
              <a:t>계약번호를</a:t>
            </a:r>
            <a:r>
              <a:rPr lang="ko-KR" altLang="en-US" dirty="0"/>
              <a:t> 직접 입력하거나</a:t>
            </a:r>
            <a:r>
              <a:rPr lang="en-US" altLang="ko-KR" dirty="0"/>
              <a:t>, </a:t>
            </a:r>
            <a:r>
              <a:rPr lang="ko-KR" altLang="en-US" dirty="0" err="1"/>
              <a:t>계약번호를</a:t>
            </a:r>
            <a:r>
              <a:rPr lang="ko-KR" altLang="en-US" dirty="0"/>
              <a:t> 검색하여 조회할 수 있습니다</a:t>
            </a:r>
            <a:r>
              <a:rPr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더보기</a:t>
            </a:r>
            <a:r>
              <a:rPr lang="ko-KR" altLang="en-US" dirty="0" smtClean="0"/>
              <a:t> </a:t>
            </a:r>
            <a:r>
              <a:rPr lang="ko-KR" altLang="en-US" dirty="0"/>
              <a:t>이벤트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목록 </a:t>
            </a:r>
            <a:r>
              <a:rPr lang="ko-KR" altLang="en-US" dirty="0"/>
              <a:t>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카드 상단 표시 레이블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>
                <a:latin typeface="+mn-ea"/>
              </a:rPr>
              <a:t>견적통보서목록을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홈 </a:t>
            </a:r>
            <a:r>
              <a:rPr lang="en-US" altLang="ko-KR" dirty="0" smtClean="0"/>
              <a:t>&gt; </a:t>
            </a:r>
            <a:r>
              <a:rPr lang="ko-KR" altLang="en-US" dirty="0" smtClean="0">
                <a:latin typeface="+mn-ea"/>
              </a:rPr>
              <a:t>이행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err="1" smtClean="0">
                <a:latin typeface="+mn-ea"/>
              </a:rPr>
              <a:t>한도액계약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</a:rPr>
              <a:t>MUI-EX-02-M73</a:t>
            </a:r>
            <a:endParaRPr lang="ko-KR" altLang="en-US" sz="10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견적통보서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51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7880874" y="611873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07670" y="559954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8207094" y="611873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송신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29482" y="612457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통보서 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693070" y="5333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 smtClean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 smtClean="0"/>
              <a:t>🔎</a:t>
            </a:r>
            <a:endParaRPr lang="ko-KR" altLang="en-US" sz="700" dirty="0"/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 smtClean="0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 smtClean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 smtClean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720490" y="3147273"/>
            <a:ext cx="2630093" cy="1299640"/>
            <a:chOff x="720490" y="4906390"/>
            <a:chExt cx="2630093" cy="1299640"/>
          </a:xfrm>
        </p:grpSpPr>
        <p:sp>
          <p:nvSpPr>
            <p:cNvPr id="74" name="직사각형 73"/>
            <p:cNvSpPr/>
            <p:nvPr/>
          </p:nvSpPr>
          <p:spPr>
            <a:xfrm>
              <a:off x="722583" y="4906391"/>
              <a:ext cx="792000" cy="12996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906390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906390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화폐단위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계약금액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청구금액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미청구금액</a:t>
              </a:r>
              <a:endParaRPr lang="en-US" altLang="ko-KR" sz="700" dirty="0" smtClean="0"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906390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TESLA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2025-03-01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미 달러</a:t>
              </a: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5,000,000.00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2,000.00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13749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35120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5649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7786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9923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20603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9" name="모서리가 둥근 직사각형 88"/>
          <p:cNvSpPr/>
          <p:nvPr/>
        </p:nvSpPr>
        <p:spPr>
          <a:xfrm>
            <a:off x="8533314" y="611873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반려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686" y="2866981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143548" y="2980312"/>
            <a:ext cx="94010" cy="47005"/>
            <a:chOff x="6812560" y="3297172"/>
            <a:chExt cx="94010" cy="47005"/>
          </a:xfrm>
        </p:grpSpPr>
        <p:cxnSp>
          <p:nvCxnSpPr>
            <p:cNvPr id="102" name="직선 연결선 1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52320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우측에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462" y="28639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307054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462" y="58951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243077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2721616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1</a:t>
            </a:r>
            <a:endParaRPr lang="en-US" altLang="ko-KR" sz="700" dirty="0"/>
          </a:p>
          <a:p>
            <a:r>
              <a:rPr lang="en-US" altLang="ko-KR" sz="900" b="1" dirty="0" smtClean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3081848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항목 수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무역대리점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수신자</a:t>
            </a:r>
            <a:endParaRPr lang="en-US" altLang="ko-KR" sz="600" dirty="0" smtClean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3066459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3 </a:t>
            </a:r>
            <a:r>
              <a:rPr lang="ko-KR" altLang="en-US" sz="600" dirty="0" smtClean="0">
                <a:latin typeface="+mn-ea"/>
              </a:rPr>
              <a:t>개</a:t>
            </a:r>
            <a:endParaRPr lang="en-US" altLang="ko-KR" sz="600" dirty="0" smtClean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A </a:t>
            </a:r>
            <a:r>
              <a:rPr lang="ko-KR" altLang="en-US" sz="600" dirty="0" smtClean="0">
                <a:latin typeface="+mn-ea"/>
              </a:rPr>
              <a:t>업체</a:t>
            </a:r>
            <a:endParaRPr lang="en-US" altLang="ko-KR" sz="600" dirty="0" smtClean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3901796" y="253728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370631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0583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2127347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98541" y="2123293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smtClean="0">
                <a:latin typeface="+mn-ea"/>
              </a:rPr>
              <a:t>표시 개수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848325" y="2123293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10 </a:t>
            </a:r>
            <a:r>
              <a:rPr lang="ko-KR" altLang="en-US" sz="700" dirty="0" smtClean="0">
                <a:latin typeface="+mn-ea"/>
              </a:rPr>
              <a:t>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6263883" y="2225116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그룹 13"/>
          <p:cNvGrpSpPr/>
          <p:nvPr/>
        </p:nvGrpSpPr>
        <p:grpSpPr>
          <a:xfrm>
            <a:off x="3795734" y="1580377"/>
            <a:ext cx="2712027" cy="266560"/>
            <a:chOff x="3732083" y="1580377"/>
            <a:chExt cx="2712027" cy="26656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87585" y="1608356"/>
              <a:ext cx="230514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dirty="0" err="1"/>
                <a:t>견적통보서</a:t>
              </a:r>
              <a:r>
                <a:rPr lang="ko-KR" altLang="en-US" sz="800" dirty="0"/>
                <a:t> 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32083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3" name="그룹 92"/>
            <p:cNvGrpSpPr/>
            <p:nvPr/>
          </p:nvGrpSpPr>
          <p:grpSpPr>
            <a:xfrm rot="5400000">
              <a:off x="3806526" y="1640499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6" name="타원 95"/>
            <p:cNvSpPr/>
            <p:nvPr/>
          </p:nvSpPr>
          <p:spPr>
            <a:xfrm>
              <a:off x="6096050" y="1580377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6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399472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2</a:t>
            </a:r>
            <a:endParaRPr lang="en-US" altLang="ko-KR" sz="700" dirty="0"/>
          </a:p>
          <a:p>
            <a:r>
              <a:rPr lang="en-US" altLang="ko-KR" sz="900" b="1" dirty="0" smtClean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108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4354955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항목 수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무역대리점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수신자</a:t>
            </a:r>
            <a:endParaRPr lang="en-US" altLang="ko-KR" sz="600" dirty="0" smtClean="0">
              <a:latin typeface="+mn-ea"/>
            </a:endParaRPr>
          </a:p>
        </p:txBody>
      </p:sp>
      <p:sp>
        <p:nvSpPr>
          <p:cNvPr id="109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4339566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3 </a:t>
            </a:r>
            <a:r>
              <a:rPr lang="ko-KR" altLang="en-US" sz="600" dirty="0" smtClean="0">
                <a:latin typeface="+mn-ea"/>
              </a:rPr>
              <a:t>개</a:t>
            </a:r>
            <a:endParaRPr lang="en-US" altLang="ko-KR" sz="600" dirty="0" smtClean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A </a:t>
            </a:r>
            <a:r>
              <a:rPr lang="ko-KR" altLang="en-US" sz="600" dirty="0" smtClean="0">
                <a:latin typeface="+mn-ea"/>
              </a:rPr>
              <a:t>업체</a:t>
            </a:r>
            <a:endParaRPr lang="en-US" altLang="ko-KR" sz="600" dirty="0" smtClean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3901796" y="381039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송신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497942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타원 11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639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749873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813154"/>
            <a:ext cx="23104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견적통보서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24357"/>
          <a:ext cx="8994883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04732633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3350691"/>
            <a:ext cx="26278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견적통보서목록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dl_estmtNtdc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5558" y="3561894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94875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RQ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clmSeq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itemSeq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품목건수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tradeSbtBzentyNm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docSttsCd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7542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rcvrNm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70398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FE9E77-2FE3-C19F-069E-B1A968551E18}"/>
              </a:ext>
            </a:extLst>
          </p:cNvPr>
          <p:cNvSpPr txBox="1"/>
          <p:nvPr/>
        </p:nvSpPr>
        <p:spPr>
          <a:xfrm>
            <a:off x="458117" y="1667203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3384321-1FDA-D7DB-A01D-492525E74D2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878406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71085391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355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107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ctrtAmt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93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견적통보 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766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미청구금액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uclmAmt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견적통보 미청구금액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4122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D0A187A-601E-C504-77A1-6408CAB89188}"/>
              </a:ext>
            </a:extLst>
          </p:cNvPr>
          <p:cNvSpPr txBox="1"/>
          <p:nvPr/>
        </p:nvSpPr>
        <p:spPr>
          <a:xfrm>
            <a:off x="458117" y="582997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247E2B1C-DD05-DA89-5308-75E3059E3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291281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586755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048822"/>
              </p:ext>
            </p:extLst>
          </p:nvPr>
        </p:nvGraphicFramePr>
        <p:xfrm>
          <a:off x="452291" y="815034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731515477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계약번호 검색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scwin.btn_ctrtNoSrch_onclick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계약번호조회 팝업창을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카드 </a:t>
                      </a:r>
                      <a:r>
                        <a:rPr lang="ko-KR" altLang="en-US" sz="800" dirty="0"/>
                        <a:t>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scwin.grd_EstmtNtdc_oncellclick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견적통보서상세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UI-EX-02-M77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505276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6791A0A1-FC99-8362-722B-7163A15A8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85341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상세 화면 상단에 계약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공고의 공지사항이 있는 경우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메뉴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내용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상세 </a:t>
            </a:r>
            <a:r>
              <a:rPr lang="en-US" altLang="ko-KR" dirty="0" smtClean="0">
                <a:latin typeface="+mn-ea"/>
              </a:rPr>
              <a:t>– </a:t>
            </a:r>
            <a:r>
              <a:rPr lang="ko-KR" altLang="en-US" dirty="0" err="1" smtClean="0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</a:t>
            </a:r>
            <a:r>
              <a:rPr lang="ko-KR" altLang="en-US" dirty="0" smtClean="0"/>
              <a:t>목록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견적통보서</a:t>
            </a:r>
            <a:r>
              <a:rPr lang="ko-KR" altLang="en-US" sz="800" dirty="0" smtClean="0">
                <a:latin typeface="+mn-ea"/>
              </a:rPr>
              <a:t> </a:t>
            </a:r>
            <a:r>
              <a:rPr lang="ko-KR" altLang="en-US" sz="800" dirty="0">
                <a:latin typeface="+mn-ea"/>
              </a:rPr>
              <a:t>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공지사항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2926040" y="2261650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3070040" y="2278058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출력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smtClean="0">
                <a:latin typeface="+mn-ea"/>
              </a:rPr>
              <a:t>상세정보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계약 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견적번호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견적일자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유효일자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계약일자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사업명</a:t>
            </a:r>
            <a:endParaRPr lang="en-US" altLang="ko-KR" sz="700" dirty="0" smtClean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2025-03-01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2025-03-01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 smtClean="0">
                <a:latin typeface="+mn-ea"/>
              </a:rPr>
              <a:t>부품구매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23976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6295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입찰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조달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계약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이행</a:t>
            </a:r>
            <a:endParaRPr lang="ko-KR" altLang="en-US" sz="700" dirty="0">
              <a:latin typeface="+mn-ea"/>
            </a:endParaRP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smtClean="0">
                <a:solidFill>
                  <a:prstClr val="black"/>
                </a:solidFill>
              </a:rPr>
              <a:t>이행</a:t>
            </a:r>
            <a:r>
              <a:rPr lang="en-US" altLang="ko-KR" sz="700" dirty="0" smtClean="0">
                <a:solidFill>
                  <a:prstClr val="black"/>
                </a:solidFill>
              </a:rPr>
              <a:t> </a:t>
            </a:r>
            <a:r>
              <a:rPr lang="ko-KR" altLang="en-US" sz="700" dirty="0" smtClean="0">
                <a:solidFill>
                  <a:prstClr val="black"/>
                </a:solidFill>
              </a:rPr>
              <a:t>정보 신청</a:t>
            </a:r>
            <a:r>
              <a:rPr lang="en-US" altLang="ko-KR" sz="700" dirty="0" smtClean="0">
                <a:solidFill>
                  <a:prstClr val="black"/>
                </a:solidFill>
              </a:rPr>
              <a:t>,</a:t>
            </a:r>
            <a:r>
              <a:rPr lang="ko-KR" altLang="en-US" sz="700" dirty="0" smtClean="0">
                <a:solidFill>
                  <a:prstClr val="black"/>
                </a:solidFill>
              </a:rPr>
              <a:t> 수정은 </a:t>
            </a:r>
            <a:r>
              <a:rPr lang="en-US" altLang="ko-KR" sz="700" dirty="0" smtClean="0">
                <a:solidFill>
                  <a:prstClr val="black"/>
                </a:solidFill>
              </a:rPr>
              <a:t>PC </a:t>
            </a:r>
            <a:r>
              <a:rPr lang="ko-KR" altLang="en-US" sz="700" dirty="0" smtClean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 smtClean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다음에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우측에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73613"/>
            <a:ext cx="2630093" cy="1553390"/>
            <a:chOff x="3839894" y="2800432"/>
            <a:chExt cx="2630093" cy="1553390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0432"/>
              <a:ext cx="792000" cy="15533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군담당자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무역대리점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담당자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화폐단위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A </a:t>
              </a:r>
              <a:r>
                <a:rPr lang="ko-KR" altLang="en-US" sz="700" dirty="0" smtClean="0">
                  <a:latin typeface="+mn-ea"/>
                </a:rPr>
                <a:t>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공군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조달테스트업체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</a:t>
              </a:r>
              <a:r>
                <a:rPr lang="ko-KR" altLang="en-US" sz="700" dirty="0" smtClean="0">
                  <a:latin typeface="+mn-ea"/>
                </a:rPr>
                <a:t>달러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1" name="타원 200"/>
          <p:cNvSpPr/>
          <p:nvPr/>
        </p:nvSpPr>
        <p:spPr>
          <a:xfrm>
            <a:off x="6029572" y="158593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6173572" y="1602341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출력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smtClean="0">
                <a:latin typeface="+mn-ea"/>
              </a:rPr>
              <a:t>상세정보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399805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 smtClean="0">
                <a:latin typeface="+mn-ea"/>
              </a:rPr>
              <a:t> 상세 </a:t>
            </a:r>
            <a:r>
              <a:rPr lang="en-US" altLang="ko-KR" dirty="0" smtClean="0">
                <a:latin typeface="+mn-ea"/>
              </a:rPr>
              <a:t>– </a:t>
            </a:r>
            <a:r>
              <a:rPr lang="ko-KR" altLang="en-US" dirty="0" smtClean="0">
                <a:latin typeface="+mn-ea"/>
              </a:rPr>
              <a:t>물품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MUI-EX-02-M74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181140"/>
            <a:chOff x="763156" y="1527996"/>
            <a:chExt cx="2456098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요약 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666849"/>
            <a:chOff x="3865118" y="2946203"/>
            <a:chExt cx="2630093" cy="666849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6668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품목수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변경 </a:t>
              </a:r>
              <a:r>
                <a:rPr lang="ko-KR" altLang="en-US" sz="700" dirty="0" err="1" smtClean="0">
                  <a:latin typeface="+mn-ea"/>
                </a:rPr>
                <a:t>품목수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총 금액</a:t>
              </a:r>
              <a:endParaRPr lang="en-US" altLang="ko-KR" sz="700" dirty="0" smtClean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1,000.00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989771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16366" y="2555724"/>
            <a:ext cx="2630093" cy="3283189"/>
            <a:chOff x="3608521" y="2295944"/>
            <a:chExt cx="2630093" cy="3283189"/>
          </a:xfrm>
        </p:grpSpPr>
        <p:grpSp>
          <p:nvGrpSpPr>
            <p:cNvPr id="36" name="그룹 35"/>
            <p:cNvGrpSpPr/>
            <p:nvPr/>
          </p:nvGrpSpPr>
          <p:grpSpPr>
            <a:xfrm>
              <a:off x="3695518" y="2295944"/>
              <a:ext cx="2456098" cy="215444"/>
              <a:chOff x="763156" y="1527996"/>
              <a:chExt cx="2456098" cy="215444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3156" y="1527996"/>
                <a:ext cx="118961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물품 목록 </a:t>
                </a:r>
                <a:r>
                  <a:rPr lang="en-US" altLang="ko-KR" sz="700" dirty="0" smtClean="0">
                    <a:latin typeface="+mn-ea"/>
                  </a:rPr>
                  <a:t>- </a:t>
                </a:r>
                <a:r>
                  <a:rPr lang="ko-KR" altLang="en-US" sz="700" dirty="0" smtClean="0">
                    <a:latin typeface="+mn-ea"/>
                  </a:rPr>
                  <a:t>총 </a:t>
                </a:r>
                <a:r>
                  <a:rPr lang="en-US" altLang="ko-KR" sz="700" dirty="0" smtClean="0">
                    <a:latin typeface="+mn-ea"/>
                  </a:rPr>
                  <a:t>00 </a:t>
                </a:r>
                <a:r>
                  <a:rPr lang="ko-KR" altLang="en-US" sz="700" dirty="0" smtClean="0">
                    <a:latin typeface="+mn-ea"/>
                  </a:rPr>
                  <a:t>건</a:t>
                </a:r>
                <a:endParaRPr lang="ko-KR" altLang="en-US" sz="700" dirty="0">
                  <a:latin typeface="+mn-ea"/>
                </a:endParaRPr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 flipV="1">
                <a:off x="3125244" y="1641327"/>
                <a:ext cx="94010" cy="47005"/>
                <a:chOff x="6812560" y="3297172"/>
                <a:chExt cx="94010" cy="47005"/>
              </a:xfrm>
            </p:grpSpPr>
            <p:cxnSp>
              <p:nvCxnSpPr>
                <p:cNvPr id="39" name="직선 연결선 3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1" name="그룹 40"/>
            <p:cNvGrpSpPr/>
            <p:nvPr/>
          </p:nvGrpSpPr>
          <p:grpSpPr>
            <a:xfrm>
              <a:off x="3608521" y="2562922"/>
              <a:ext cx="2630093" cy="3016211"/>
              <a:chOff x="3865118" y="2946203"/>
              <a:chExt cx="2630093" cy="3016211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3867211" y="2946203"/>
                <a:ext cx="792000" cy="299948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번호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재고번호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부품번호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적용장비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단가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운송구분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납품가능일자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Serial No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품명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단위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금액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수량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MISSING </a:t>
                </a:r>
                <a:r>
                  <a:rPr lang="ko-KR" altLang="en-US" sz="700" dirty="0" smtClean="0">
                    <a:latin typeface="+mn-ea"/>
                  </a:rPr>
                  <a:t>구분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비고</a:t>
                </a:r>
                <a:endParaRPr lang="en-US" altLang="ko-KR" sz="700" dirty="0" smtClean="0"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1111111111111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00000-010000-123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F-15K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1,000.00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항공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2025-05-01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12345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IRST </a:t>
                </a:r>
                <a:r>
                  <a:rPr lang="en-US" altLang="ko-KR" sz="700" dirty="0" smtClean="0">
                    <a:latin typeface="+mn-ea"/>
                  </a:rPr>
                  <a:t>LRU-1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EA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1,000.00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endParaRPr lang="en-US" altLang="ko-KR" sz="700" dirty="0" smtClean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solidFill>
                      <a:prstClr val="black"/>
                    </a:solidFill>
                    <a:latin typeface="맑은 고딕" panose="020B0503020000020004" pitchFamily="50" charset="-127"/>
                    <a:cs typeface="Segoe UI" panose="020B0502040204020203" pitchFamily="34" charset="0"/>
                  </a:rPr>
                  <a:t>AFLC </a:t>
                </a:r>
                <a:r>
                  <a:rPr lang="en-US" altLang="ko-KR" sz="700" dirty="0">
                    <a:solidFill>
                      <a:prstClr val="black"/>
                    </a:solidFill>
                    <a:latin typeface="맑은 고딕" panose="020B0503020000020004" pitchFamily="50" charset="-127"/>
                    <a:cs typeface="Segoe UI" panose="020B0502040204020203" pitchFamily="34" charset="0"/>
                  </a:rPr>
                  <a:t>IM : IG(6</a:t>
                </a:r>
                <a:r>
                  <a:rPr lang="ko-KR" altLang="en-US" sz="700" dirty="0">
                    <a:solidFill>
                      <a:prstClr val="black"/>
                    </a:solidFill>
                    <a:latin typeface="맑은 고딕" panose="020B0503020000020004" pitchFamily="50" charset="-127"/>
                    <a:cs typeface="Segoe UI" panose="020B0502040204020203" pitchFamily="34" charset="0"/>
                  </a:rPr>
                  <a:t>급 홍길동</a:t>
                </a:r>
                <a:r>
                  <a:rPr lang="en-US" altLang="ko-KR" sz="700" dirty="0">
                    <a:solidFill>
                      <a:prstClr val="black"/>
                    </a:solidFill>
                    <a:latin typeface="맑은 고딕" panose="020B0503020000020004" pitchFamily="50" charset="-127"/>
                    <a:cs typeface="Segoe UI" panose="020B0502040204020203" pitchFamily="34" charset="0"/>
                  </a:rPr>
                  <a:t>)</a:t>
                </a:r>
                <a:endParaRPr lang="en-US" altLang="ko-KR" sz="700" dirty="0">
                  <a:latin typeface="+mn-ea"/>
                </a:endParaRPr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4590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66503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8787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09244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31587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52087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744297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94973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51601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0" name="그룹 69"/>
          <p:cNvGrpSpPr/>
          <p:nvPr/>
        </p:nvGrpSpPr>
        <p:grpSpPr>
          <a:xfrm>
            <a:off x="3836701" y="1548098"/>
            <a:ext cx="2630093" cy="3016211"/>
            <a:chOff x="3865118" y="2946203"/>
            <a:chExt cx="2630093" cy="3016211"/>
          </a:xfrm>
        </p:grpSpPr>
        <p:sp>
          <p:nvSpPr>
            <p:cNvPr id="71" name="직사각형 70"/>
            <p:cNvSpPr/>
            <p:nvPr/>
          </p:nvSpPr>
          <p:spPr>
            <a:xfrm>
              <a:off x="3867211" y="2946203"/>
              <a:ext cx="792000" cy="29994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부품번호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적용장비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단가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운송구분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납품가능일자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품명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단위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금액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수량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MISSING </a:t>
              </a:r>
              <a:r>
                <a:rPr lang="ko-KR" altLang="en-US" sz="700" dirty="0" smtClean="0">
                  <a:latin typeface="+mn-ea"/>
                </a:rPr>
                <a:t>구분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비고</a:t>
              </a:r>
              <a:endParaRPr lang="en-US" altLang="ko-KR" sz="700" dirty="0" smtClean="0">
                <a:latin typeface="+mn-ea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1111111111112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F-15K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항공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</a:t>
              </a:r>
              <a:r>
                <a:rPr lang="en-US" altLang="ko-KR" sz="700" dirty="0" smtClean="0">
                  <a:latin typeface="+mn-ea"/>
                </a:rPr>
                <a:t>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EA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AFLC </a:t>
              </a: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IM : IG(6</a:t>
              </a:r>
              <a:r>
                <a:rPr lang="ko-KR" altLang="en-US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급 홍길동</a:t>
              </a: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)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2087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42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973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0897330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831519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5558" y="1042722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77358683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clmSeq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견적번호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clmYmd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견적일자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</a:t>
                      </a:r>
                      <a:r>
                        <a:rPr lang="ko-KR" altLang="en-US" sz="800" dirty="0" err="1">
                          <a:latin typeface="+mn-ea"/>
                        </a:rPr>
                        <a:t>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3956933"/>
            <a:ext cx="287795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5557" y="4173547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39155174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invtNo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부품번호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aplcnEqpmntCd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적용장비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clmUntprc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단가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trnsMthdCd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운송구분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납품가능일자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dlvgdsRqtYmd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납품가능일자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</a:t>
                      </a:r>
                      <a:r>
                        <a:rPr lang="en-US" altLang="ko-KR" sz="800" dirty="0">
                          <a:latin typeface="+mn-ea"/>
                        </a:rPr>
                        <a:t>Serial 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A540FFE-2400-F72E-FEF3-C0213792E88D}"/>
              </a:ext>
            </a:extLst>
          </p:cNvPr>
          <p:cNvSpPr txBox="1"/>
          <p:nvPr/>
        </p:nvSpPr>
        <p:spPr>
          <a:xfrm>
            <a:off x="458117" y="570805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F88B6F33-3B59-4E72-BA0A-6E61393E8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85248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12D99-2654-048B-D790-2CCE7128AF11}"/>
              </a:ext>
            </a:extLst>
          </p:cNvPr>
          <p:cNvSpPr txBox="1"/>
          <p:nvPr/>
        </p:nvSpPr>
        <p:spPr>
          <a:xfrm>
            <a:off x="449462" y="830447"/>
            <a:ext cx="287795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278699-64F3-6025-9517-0398724AE4E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9461" y="1047061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44627006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964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수량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18,3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MISSING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estmtChgSeCd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MISSING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15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3567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B4853B-77A9-063D-FD79-4874F64197E8}"/>
              </a:ext>
            </a:extLst>
          </p:cNvPr>
          <p:cNvSpPr txBox="1"/>
          <p:nvPr/>
        </p:nvSpPr>
        <p:spPr>
          <a:xfrm>
            <a:off x="449462" y="2346846"/>
            <a:ext cx="23201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품목수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dm_itemCntInfo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4774463-17E5-59BA-C57D-82FEFFD58F5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9461" y="2563460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92632093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</a:t>
                      </a:r>
                      <a:r>
                        <a:rPr lang="ko-KR" altLang="en-US" sz="800" dirty="0" err="1">
                          <a:latin typeface="+mn-ea"/>
                        </a:rPr>
                        <a:t>작성품목수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변경품목수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chgItemCnt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</a:t>
                      </a:r>
                      <a:r>
                        <a:rPr lang="ko-KR" altLang="en-US" sz="800" dirty="0" err="1">
                          <a:latin typeface="+mn-ea"/>
                        </a:rPr>
                        <a:t>변경품목수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15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</a:t>
                      </a:r>
                      <a:r>
                        <a:rPr lang="ko-KR" altLang="en-US" sz="800" dirty="0" err="1">
                          <a:latin typeface="+mn-ea"/>
                        </a:rPr>
                        <a:t>총금액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35673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D5E5C85-FD4B-87B2-89FB-EFADA1BC3AFF}"/>
              </a:ext>
            </a:extLst>
          </p:cNvPr>
          <p:cNvSpPr txBox="1"/>
          <p:nvPr/>
        </p:nvSpPr>
        <p:spPr>
          <a:xfrm>
            <a:off x="458117" y="576901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7CFAF236-CC1E-CBBA-7EA4-443CFC13C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936985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A18B3F-D143-C88D-B9A9-71068F2A7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49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09EDC-0ED7-3553-9AB2-299F5F45A058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44E6FDD-3643-671D-43FC-9D1C9000A9A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8117" y="799547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견적통보서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견적통보서출력물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출력화면을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UI-EX-02-R86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419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목록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scwin.btn_moveList_onclick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한도액계약</a:t>
                      </a:r>
                      <a:r>
                        <a:rPr lang="en-US" altLang="ko-KR" sz="800" dirty="0"/>
                        <a:t>-</a:t>
                      </a: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견적통보서목록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UI-EX-02-M76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04730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394BB505-861D-7349-B600-49B8BD8C7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58657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</a:t>
            </a:r>
            <a:r>
              <a:rPr lang="ko-KR" altLang="en-US" dirty="0" smtClean="0"/>
              <a:t>이벤트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견적의뢰서목록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검색이 없는 경우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최초 진입 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표시 내용이 없으며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아래 메시지 출력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/>
              <a:t>표시할 내용이 없습니다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 err="1"/>
              <a:t>계약번호를</a:t>
            </a:r>
            <a:r>
              <a:rPr lang="ko-KR" altLang="en-US" dirty="0"/>
              <a:t> </a:t>
            </a:r>
            <a:r>
              <a:rPr lang="ko-KR" altLang="en-US" dirty="0" smtClean="0"/>
              <a:t>직접 입력하거나</a:t>
            </a:r>
            <a:r>
              <a:rPr lang="en-US" altLang="ko-KR" dirty="0"/>
              <a:t>, </a:t>
            </a:r>
            <a:r>
              <a:rPr lang="ko-KR" altLang="en-US" dirty="0" err="1"/>
              <a:t>계약번호를</a:t>
            </a:r>
            <a:r>
              <a:rPr lang="ko-KR" altLang="en-US" dirty="0"/>
              <a:t> 검색하여 조회할 수 있습니다</a:t>
            </a:r>
            <a:r>
              <a:rPr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</a:t>
            </a:r>
            <a:r>
              <a:rPr lang="ko-KR" altLang="en-US" dirty="0"/>
              <a:t>이벤트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목록 </a:t>
            </a:r>
            <a:r>
              <a:rPr lang="ko-KR" altLang="en-US" dirty="0"/>
              <a:t>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카드 상단 표시 레이블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발주의뢰서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/>
              <a:t>발주의뢰서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목록을 조회하고 통보서 진행상태를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홈 </a:t>
            </a:r>
            <a:r>
              <a:rPr lang="en-US" altLang="ko-KR" dirty="0" smtClean="0"/>
              <a:t>&gt; </a:t>
            </a:r>
            <a:r>
              <a:rPr lang="ko-KR" altLang="en-US" dirty="0" smtClean="0">
                <a:latin typeface="+mn-ea"/>
              </a:rPr>
              <a:t>이행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err="1" smtClean="0">
                <a:latin typeface="+mn-ea"/>
              </a:rPr>
              <a:t>한도액계약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발주의뢰서</a:t>
            </a:r>
            <a:r>
              <a:rPr lang="ko-KR" altLang="en-US" sz="800" dirty="0" smtClean="0">
                <a:latin typeface="+mn-ea"/>
              </a:rPr>
              <a:t> </a:t>
            </a:r>
            <a:r>
              <a:rPr lang="ko-KR" altLang="en-US" sz="800" dirty="0">
                <a:latin typeface="+mn-ea"/>
              </a:rPr>
              <a:t>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51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691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468991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 smtClean="0"/>
              <a:t>발주번호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01</a:t>
            </a:r>
            <a:endParaRPr lang="en-US" altLang="ko-KR" sz="700" dirty="0"/>
          </a:p>
          <a:p>
            <a:r>
              <a:rPr lang="en-US" altLang="ko-KR" sz="900" b="1" dirty="0" smtClean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29223"/>
            <a:ext cx="30777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항목 수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화폐단위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계약금액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납기일</a:t>
            </a:r>
            <a:endParaRPr lang="en-US" altLang="ko-KR" sz="600" dirty="0" smtClean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37655" y="3813834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3 </a:t>
            </a:r>
            <a:r>
              <a:rPr lang="ko-KR" altLang="en-US" sz="600" dirty="0" smtClean="0">
                <a:latin typeface="+mn-ea"/>
              </a:rPr>
              <a:t>개</a:t>
            </a:r>
            <a:endParaRPr lang="en-US" altLang="ko-KR" sz="600" dirty="0" smtClean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미 달러</a:t>
            </a:r>
            <a:endParaRPr lang="en-US" altLang="ko-KR" sz="600" dirty="0" smtClean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1,000.00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2026-02-10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28466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38509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368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49183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792764" y="2544628"/>
            <a:ext cx="33295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dk1"/>
                </a:solidFill>
              </a:rPr>
              <a:t>미작성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187312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송신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통보서 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smtClean="0">
                <a:latin typeface="+mn-ea"/>
              </a:rPr>
              <a:t>표시 개수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10 </a:t>
            </a:r>
            <a:r>
              <a:rPr lang="ko-KR" altLang="en-US" sz="700" dirty="0" smtClean="0">
                <a:latin typeface="+mn-ea"/>
              </a:rPr>
              <a:t>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 smtClean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552466"/>
            <a:ext cx="2473257" cy="1080735"/>
            <a:chOff x="781461" y="3087955"/>
            <a:chExt cx="2473257" cy="1080735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 err="1">
                  <a:solidFill>
                    <a:prstClr val="black"/>
                  </a:solidFill>
                </a:rPr>
                <a:t>견적번호</a:t>
              </a:r>
              <a:r>
                <a:rPr lang="ko-KR" altLang="en-US" sz="700" dirty="0">
                  <a:solidFill>
                    <a:prstClr val="black"/>
                  </a:solidFill>
                </a:rPr>
                <a:t> </a:t>
              </a:r>
              <a:r>
                <a:rPr lang="en-US" altLang="ko-KR" sz="700" dirty="0" smtClean="0">
                  <a:solidFill>
                    <a:prstClr val="black"/>
                  </a:solidFill>
                </a:rPr>
                <a:t>02</a:t>
              </a:r>
              <a:endParaRPr lang="en-US" altLang="ko-KR" sz="700" dirty="0">
                <a:solidFill>
                  <a:prstClr val="black"/>
                </a:solidFill>
              </a:endParaRPr>
            </a:p>
            <a:p>
              <a:pPr lvl="0"/>
              <a:r>
                <a:rPr lang="en-US" altLang="ko-KR" sz="900" b="1" dirty="0">
                  <a:solidFill>
                    <a:prstClr val="black"/>
                  </a:solidFill>
                </a:rPr>
                <a:t>F-15 </a:t>
              </a:r>
              <a:r>
                <a:rPr lang="ko-KR" altLang="en-US" sz="900" b="1" dirty="0">
                  <a:solidFill>
                    <a:prstClr val="black"/>
                  </a:solidFill>
                </a:rPr>
                <a:t>부품구매</a:t>
              </a:r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항목 수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화폐단위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납기일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837719" y="3617129"/>
              <a:ext cx="397545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3 </a:t>
              </a:r>
              <a:r>
                <a:rPr lang="ko-KR" altLang="en-US" sz="600" dirty="0">
                  <a:latin typeface="+mn-ea"/>
                </a:rPr>
                <a:t>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미 달러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1,000.00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332964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>
                  <a:solidFill>
                    <a:schemeClr val="dk1"/>
                  </a:solidFill>
                </a:rPr>
                <a:t>미작성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70391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 smtClean="0"/>
              <a:t>🔎</a:t>
            </a:r>
            <a:endParaRPr lang="ko-KR" altLang="en-US" sz="700" dirty="0"/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 smtClean="0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 smtClean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 smtClean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1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2707397" y="2270279"/>
            <a:ext cx="582849" cy="15479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 smtClean="0">
                <a:latin typeface="맑은 고딕"/>
                <a:ea typeface="맑은 고딕" panose="020B0503020000020004" pitchFamily="50" charset="-127"/>
              </a:rPr>
              <a:t>검색필터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993993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검색필터</a:t>
            </a:r>
            <a:r>
              <a:rPr lang="ko-KR" altLang="en-US" dirty="0" smtClean="0"/>
              <a:t> 페이지 타이틀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설정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 smtClean="0">
                <a:sym typeface="Wingdings" panose="05000000000000000000" pitchFamily="2" charset="2"/>
              </a:rPr>
              <a:t>플로팅</a:t>
            </a:r>
            <a:r>
              <a:rPr lang="ko-KR" altLang="en-US" dirty="0" smtClean="0">
                <a:sym typeface="Wingdings" panose="05000000000000000000" pitchFamily="2" charset="2"/>
              </a:rPr>
              <a:t> 처리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검색 필터 </a:t>
            </a: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한도액계약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/>
              <a:t>상세 검색을 위한 검색 필터 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 smtClean="0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초기화</a:t>
            </a:r>
            <a:endParaRPr lang="ko-KR" altLang="en-US" sz="700" dirty="0">
              <a:latin typeface="+mn-ea"/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7" name="그룹 6"/>
          <p:cNvGrpSpPr/>
          <p:nvPr/>
        </p:nvGrpSpPr>
        <p:grpSpPr>
          <a:xfrm>
            <a:off x="675399" y="2006807"/>
            <a:ext cx="2712027" cy="789619"/>
            <a:chOff x="675399" y="4736534"/>
            <a:chExt cx="2712027" cy="78961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736534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smtClean="0">
                  <a:latin typeface="+mn-ea"/>
                </a:rPr>
                <a:t>검색 설정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959072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4834224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4986703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 smtClean="0">
                    <a:latin typeface="맑은 고딕"/>
                  </a:rPr>
                  <a:t>2025-10-15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5006650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5217372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 smtClean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 smtClean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 smtClean="0">
                    <a:latin typeface="+mn-ea"/>
                  </a:rPr>
                  <a:t>3</a:t>
                </a:r>
                <a:r>
                  <a:rPr kumimoji="1" lang="ko-KR" altLang="en-US" sz="700" kern="0" dirty="0" smtClean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 smtClean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 smtClean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4986703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 smtClean="0">
                    <a:latin typeface="맑은 고딕"/>
                  </a:rPr>
                  <a:t>2026-01-16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52615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smtClean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smtClean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0564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284607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 smtClean="0">
                <a:latin typeface="+mn-ea"/>
              </a:rPr>
              <a:t>검색어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141" name="그룹 140"/>
          <p:cNvGrpSpPr/>
          <p:nvPr/>
        </p:nvGrpSpPr>
        <p:grpSpPr>
          <a:xfrm flipV="1">
            <a:off x="3145721" y="2943764"/>
            <a:ext cx="91438" cy="45719"/>
            <a:chOff x="6812560" y="3297172"/>
            <a:chExt cx="94010" cy="47005"/>
          </a:xfrm>
        </p:grpSpPr>
        <p:cxnSp>
          <p:nvCxnSpPr>
            <p:cNvPr id="149" name="직선 연결선 14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직선 연결선 14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3083065"/>
            <a:ext cx="67077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계약번호</a:t>
            </a:r>
            <a:endParaRPr lang="en-US" altLang="ko-KR" sz="700" dirty="0" smtClean="0">
              <a:latin typeface="+mn-ea"/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1457007" y="3128507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번호를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 rot="16200000">
            <a:off x="3140950" y="3197306"/>
            <a:ext cx="91438" cy="45719"/>
            <a:chOff x="6812560" y="3297172"/>
            <a:chExt cx="94010" cy="47005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80601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910690"/>
            <a:ext cx="23104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발주의뢰서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121893"/>
          <a:ext cx="8994883" cy="897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81687254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3148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4133147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796007"/>
              </p:ext>
            </p:extLst>
          </p:nvPr>
        </p:nvGraphicFramePr>
        <p:xfrm>
          <a:off x="452291" y="4361426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1023524960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수신일을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년전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부터 현재일로 입력한다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카드 </a:t>
                      </a:r>
                      <a:r>
                        <a:rPr lang="ko-KR" altLang="en-US" sz="800" dirty="0"/>
                        <a:t>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scwin.grd_orderRqdc_oncellclick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발주의뢰서상세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UI-EX-02-M80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27619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2081243"/>
            <a:ext cx="262468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발주의뢰서목록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dl_orderRqdc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5558" y="2292446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53836786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orderSeq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발주번호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항목수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itemSeq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항목수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22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dudtYmd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통보서상태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ntdcStts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진행상태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83216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8224788-20B5-1038-4512-AA9F9D45169D}"/>
              </a:ext>
            </a:extLst>
          </p:cNvPr>
          <p:cNvSpPr txBox="1"/>
          <p:nvPr/>
        </p:nvSpPr>
        <p:spPr>
          <a:xfrm>
            <a:off x="458117" y="680533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66BE2E44-CE92-75DD-1730-97CE577E8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718180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상세 화면 상단에 계약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공고의 공지사항이 있는 경우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메뉴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내용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/>
              <a:t>발주의뢰서</a:t>
            </a:r>
            <a:r>
              <a:rPr lang="ko-KR" altLang="en-US" dirty="0" smtClean="0">
                <a:latin typeface="+mn-ea"/>
              </a:rPr>
              <a:t> 상세 </a:t>
            </a:r>
            <a:r>
              <a:rPr lang="en-US" altLang="ko-KR" dirty="0" smtClean="0">
                <a:latin typeface="+mn-ea"/>
              </a:rPr>
              <a:t>– </a:t>
            </a:r>
            <a:r>
              <a:rPr lang="ko-KR" altLang="en-US" dirty="0" err="1" smtClean="0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발주의뢰서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 smtClean="0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발주의뢰서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발주번호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화폐단위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미 달러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1,000.00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공지사항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2926040" y="2261650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3070040" y="2278058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출력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smtClean="0">
                <a:latin typeface="+mn-ea"/>
              </a:rPr>
              <a:t>상세정보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계약 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견적번호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견적일자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유효일자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계약일자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사업명</a:t>
            </a:r>
            <a:endParaRPr lang="en-US" altLang="ko-KR" sz="700" dirty="0" smtClean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2025-03-01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2025-03-01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 smtClean="0">
                <a:latin typeface="+mn-ea"/>
              </a:rPr>
              <a:t>부품구매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23976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6295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입찰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조달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계약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이행</a:t>
            </a:r>
            <a:endParaRPr lang="ko-KR" altLang="en-US" sz="700" dirty="0">
              <a:latin typeface="+mn-ea"/>
            </a:endParaRP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smtClean="0">
                <a:solidFill>
                  <a:prstClr val="black"/>
                </a:solidFill>
              </a:rPr>
              <a:t>이행</a:t>
            </a:r>
            <a:r>
              <a:rPr lang="en-US" altLang="ko-KR" sz="700" dirty="0" smtClean="0">
                <a:solidFill>
                  <a:prstClr val="black"/>
                </a:solidFill>
              </a:rPr>
              <a:t> </a:t>
            </a:r>
            <a:r>
              <a:rPr lang="ko-KR" altLang="en-US" sz="700" dirty="0" smtClean="0">
                <a:solidFill>
                  <a:prstClr val="black"/>
                </a:solidFill>
              </a:rPr>
              <a:t>정보 신청</a:t>
            </a:r>
            <a:r>
              <a:rPr lang="en-US" altLang="ko-KR" sz="700" dirty="0" smtClean="0">
                <a:solidFill>
                  <a:prstClr val="black"/>
                </a:solidFill>
              </a:rPr>
              <a:t>,</a:t>
            </a:r>
            <a:r>
              <a:rPr lang="ko-KR" altLang="en-US" sz="700" dirty="0" smtClean="0">
                <a:solidFill>
                  <a:prstClr val="black"/>
                </a:solidFill>
              </a:rPr>
              <a:t> 수정은 </a:t>
            </a:r>
            <a:r>
              <a:rPr lang="en-US" altLang="ko-KR" sz="700" dirty="0" smtClean="0">
                <a:solidFill>
                  <a:prstClr val="black"/>
                </a:solidFill>
              </a:rPr>
              <a:t>PC </a:t>
            </a:r>
            <a:r>
              <a:rPr lang="ko-KR" altLang="en-US" sz="700" dirty="0" smtClean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 smtClean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다음에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우측에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62389"/>
            <a:ext cx="2630093" cy="1773664"/>
            <a:chOff x="3839894" y="2789208"/>
            <a:chExt cx="2630093" cy="1773664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789208"/>
              <a:ext cx="792000" cy="17707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군담당자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무역대리점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담당자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신용장정보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화폐단위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A </a:t>
              </a:r>
              <a:r>
                <a:rPr lang="ko-KR" altLang="en-US" sz="700" dirty="0" smtClean="0">
                  <a:latin typeface="+mn-ea"/>
                </a:rPr>
                <a:t>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공군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조달테스트업체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MD1111111111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미 달러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56139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발주번호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1" name="타원 200"/>
          <p:cNvSpPr/>
          <p:nvPr/>
        </p:nvSpPr>
        <p:spPr>
          <a:xfrm>
            <a:off x="6029572" y="158593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6173572" y="1602341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출력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smtClean="0">
                <a:latin typeface="+mn-ea"/>
              </a:rPr>
              <a:t>상세정보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663725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/>
              <a:t>발주의뢰서</a:t>
            </a:r>
            <a:r>
              <a:rPr lang="ko-KR" altLang="en-US" dirty="0" smtClean="0">
                <a:latin typeface="+mn-ea"/>
              </a:rPr>
              <a:t> 상세 </a:t>
            </a:r>
            <a:r>
              <a:rPr lang="en-US" altLang="ko-KR" dirty="0" smtClean="0">
                <a:latin typeface="+mn-ea"/>
              </a:rPr>
              <a:t>– </a:t>
            </a:r>
            <a:r>
              <a:rPr lang="ko-KR" altLang="en-US" dirty="0" smtClean="0">
                <a:latin typeface="+mn-ea"/>
              </a:rPr>
              <a:t>물품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발주의뢰서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MUI-EX-02-M76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물품 목록 </a:t>
              </a:r>
              <a:r>
                <a:rPr lang="en-US" altLang="ko-KR" sz="700" dirty="0" smtClean="0">
                  <a:latin typeface="+mn-ea"/>
                </a:rPr>
                <a:t>- </a:t>
              </a:r>
              <a:r>
                <a:rPr lang="ko-KR" altLang="en-US" sz="700" dirty="0" smtClean="0">
                  <a:latin typeface="+mn-ea"/>
                </a:rPr>
                <a:t>총 </a:t>
              </a: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ko-KR" altLang="en-US" sz="700" dirty="0" smtClean="0">
                  <a:latin typeface="+mn-ea"/>
                </a:rPr>
                <a:t>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3"/>
            <a:ext cx="2630093" cy="3662543"/>
            <a:chOff x="3865118" y="2946202"/>
            <a:chExt cx="2630093" cy="366254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2"/>
              <a:ext cx="792000" cy="36601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청구번호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재고번호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Serial </a:t>
              </a:r>
              <a:r>
                <a:rPr lang="en-US" altLang="ko-KR" sz="700" dirty="0" smtClean="0">
                  <a:latin typeface="+mn-ea"/>
                </a:rPr>
                <a:t>No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부품번호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적용장비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수량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단위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단가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금액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운송구분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우선순위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하자보증</a:t>
              </a:r>
              <a:r>
                <a:rPr lang="ko-KR" altLang="en-US" sz="700" dirty="0" smtClean="0">
                  <a:latin typeface="+mn-ea"/>
                </a:rPr>
                <a:t> 유무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err="1" smtClean="0">
                  <a:latin typeface="+mn-ea"/>
                </a:rPr>
                <a:t>PriceList</a:t>
              </a:r>
              <a:r>
                <a:rPr lang="en-US" altLang="ko-KR" sz="700" dirty="0" smtClean="0">
                  <a:latin typeface="+mn-ea"/>
                </a:rPr>
                <a:t> </a:t>
              </a:r>
              <a:r>
                <a:rPr lang="ko-KR" altLang="en-US" sz="700" dirty="0" err="1" smtClean="0">
                  <a:latin typeface="+mn-ea"/>
                </a:rPr>
                <a:t>적용년도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납품요구일자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비고</a:t>
              </a:r>
              <a:endParaRPr lang="en-US" altLang="ko-KR" sz="700" dirty="0" smtClean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KD111000001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1111111111111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</a:t>
              </a:r>
              <a:r>
                <a:rPr lang="en-US" altLang="ko-KR" sz="700" dirty="0" smtClean="0">
                  <a:latin typeface="+mn-ea"/>
                </a:rPr>
                <a:t>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F-15K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EA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1,000.00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항공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ROU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W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 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272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506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567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7041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8411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6075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91915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12978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896797"/>
            <a:ext cx="21501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5558" y="1108000"/>
          <a:ext cx="8994883" cy="290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49510346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orderSeq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발주번호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발주일자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계약일자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계약업체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신용장번호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lcNo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신용장번호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493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4205091"/>
            <a:ext cx="287475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발주의뢰서품목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dl_orderRqdcItem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5557" y="4421705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2403028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orderClmNo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품목 청구번호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품목 재고번호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rcptNo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en-US" altLang="ko-KR" sz="800" dirty="0">
                          <a:latin typeface="+mn-ea"/>
                        </a:rPr>
                        <a:t>Serial 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aplcnEqpmntCd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0CA2773-291A-19B7-A65A-DF8C1BC71574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0570B5D5-1017-6AB3-E03A-8DC4E32B7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83334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12D99-2654-048B-D790-2CCE7128AF11}"/>
              </a:ext>
            </a:extLst>
          </p:cNvPr>
          <p:cNvSpPr txBox="1"/>
          <p:nvPr/>
        </p:nvSpPr>
        <p:spPr>
          <a:xfrm>
            <a:off x="449462" y="941699"/>
            <a:ext cx="287475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발주의뢰서품목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dl_orderRqdcItem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278699-64F3-6025-9517-0398724AE4E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9461" y="1158313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82848911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1)</a:t>
                      </a:r>
                      <a:endParaRPr lang="en-US" altLang="ko-KR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필수여부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운송구분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trnsMthdCd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운송구분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040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우선순위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우선순위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17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하자보증유무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flwGrnteEn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하자보증유무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55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prcAplcnYr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481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납품요구일자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dlvgdsRqtYmd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납품요구일자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76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5064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D19E31C-2FDE-08F4-520A-F1BA3FF8AC3E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BF2EC95A-5A84-AF72-3864-F745DCE21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282447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1176E2-B3F1-8A10-4975-9EAFB535D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34B1C8-80A0-2A21-E2D6-F082A20592E4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57236D2-C531-C445-3790-00FDF6F2D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613164"/>
              </p:ext>
            </p:extLst>
          </p:nvPr>
        </p:nvGraphicFramePr>
        <p:xfrm>
          <a:off x="458117" y="799547"/>
          <a:ext cx="8995591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13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297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1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발주통보서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발주의뢰서출력물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UI-EX-02-R87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04730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2228E10E-5D1D-7B44-A1BC-AD5D10541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13492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</a:t>
            </a:r>
            <a:r>
              <a:rPr lang="ko-KR" altLang="en-US" dirty="0" smtClean="0"/>
              <a:t>이벤트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검색에 따른 계약 정보 상단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목록 </a:t>
            </a:r>
            <a:r>
              <a:rPr lang="ko-KR" altLang="en-US" dirty="0"/>
              <a:t>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검색이 없는 경우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최초 진입 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표시 내용이 없으며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아래 메시지 출력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표시할 내용이 없습니다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err="1"/>
              <a:t>계약번호를</a:t>
            </a:r>
            <a:r>
              <a:rPr lang="ko-KR" altLang="en-US" dirty="0"/>
              <a:t> 직접 입력하거나</a:t>
            </a:r>
            <a:r>
              <a:rPr lang="en-US" altLang="ko-KR" dirty="0"/>
              <a:t>, </a:t>
            </a:r>
            <a:r>
              <a:rPr lang="ko-KR" altLang="en-US" dirty="0" err="1"/>
              <a:t>계약번호를</a:t>
            </a:r>
            <a:r>
              <a:rPr lang="ko-KR" altLang="en-US" dirty="0"/>
              <a:t> 검색하여 조회할 수 있습니다</a:t>
            </a:r>
            <a:r>
              <a:rPr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</a:t>
            </a:r>
            <a:r>
              <a:rPr lang="ko-KR" altLang="en-US" dirty="0"/>
              <a:t>이벤트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목록 </a:t>
            </a:r>
            <a:r>
              <a:rPr lang="ko-KR" altLang="en-US" dirty="0"/>
              <a:t>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카드 상단 표시 레이블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발주통보서</a:t>
            </a:r>
            <a:r>
              <a:rPr lang="ko-KR" altLang="en-US" dirty="0" smtClean="0"/>
              <a:t> </a:t>
            </a:r>
            <a:r>
              <a:rPr lang="ko-KR" altLang="en-US" dirty="0"/>
              <a:t>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 smtClean="0">
                <a:latin typeface="+mn-ea"/>
              </a:rPr>
              <a:t> 목록을 </a:t>
            </a:r>
            <a:r>
              <a:rPr lang="ko-KR" altLang="en-US" dirty="0">
                <a:latin typeface="+mn-ea"/>
              </a:rPr>
              <a:t>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홈 </a:t>
            </a:r>
            <a:r>
              <a:rPr lang="en-US" altLang="ko-KR" dirty="0" smtClean="0"/>
              <a:t>&gt; </a:t>
            </a:r>
            <a:r>
              <a:rPr lang="ko-KR" altLang="en-US" dirty="0" smtClean="0">
                <a:latin typeface="+mn-ea"/>
              </a:rPr>
              <a:t>이행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err="1" smtClean="0">
                <a:latin typeface="+mn-ea"/>
              </a:rPr>
              <a:t>한도액계약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 smtClean="0"/>
              <a:t> </a:t>
            </a:r>
            <a:r>
              <a:rPr lang="ko-KR" altLang="en-US" dirty="0"/>
              <a:t>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MUI-EX-02-M77</a:t>
            </a:r>
            <a:endParaRPr lang="ko-KR" altLang="en-US" dirty="0"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발주통보서</a:t>
            </a:r>
            <a:r>
              <a:rPr lang="ko-KR" altLang="en-US" sz="800" dirty="0" smtClean="0"/>
              <a:t> </a:t>
            </a:r>
            <a:r>
              <a:rPr lang="ko-KR" altLang="en-US" sz="800" dirty="0"/>
              <a:t>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51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7880874" y="611873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07670" y="559954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8207094" y="611873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송신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29482" y="612457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통보서 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693070" y="5333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 smtClean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 smtClean="0"/>
              <a:t>🔎</a:t>
            </a:r>
            <a:endParaRPr lang="ko-KR" altLang="en-US" sz="700" dirty="0"/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 smtClean="0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 smtClean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 smtClean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720490" y="3147273"/>
            <a:ext cx="2630093" cy="1299640"/>
            <a:chOff x="720490" y="4906390"/>
            <a:chExt cx="2630093" cy="1299640"/>
          </a:xfrm>
        </p:grpSpPr>
        <p:sp>
          <p:nvSpPr>
            <p:cNvPr id="74" name="직사각형 73"/>
            <p:cNvSpPr/>
            <p:nvPr/>
          </p:nvSpPr>
          <p:spPr>
            <a:xfrm>
              <a:off x="722583" y="4906391"/>
              <a:ext cx="792000" cy="12996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906390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906390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화폐단위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계약금액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청구금액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미청구금액</a:t>
              </a:r>
              <a:endParaRPr lang="en-US" altLang="ko-KR" sz="700" dirty="0" smtClean="0"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906390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TESLA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2025-03-01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미 달러</a:t>
              </a: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5,000,000.00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2,000.00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13749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35120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5649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7786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9923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20603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9" name="모서리가 둥근 직사각형 88"/>
          <p:cNvSpPr/>
          <p:nvPr/>
        </p:nvSpPr>
        <p:spPr>
          <a:xfrm>
            <a:off x="8533314" y="611873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반려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686" y="2866981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143548" y="2980312"/>
            <a:ext cx="94010" cy="47005"/>
            <a:chOff x="6812560" y="3297172"/>
            <a:chExt cx="94010" cy="47005"/>
          </a:xfrm>
        </p:grpSpPr>
        <p:cxnSp>
          <p:nvCxnSpPr>
            <p:cNvPr id="102" name="직선 연결선 1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52320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우측에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462" y="28639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307054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462" y="58951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243077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2721616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1</a:t>
            </a:r>
            <a:endParaRPr lang="en-US" altLang="ko-KR" sz="700" dirty="0"/>
          </a:p>
          <a:p>
            <a:r>
              <a:rPr lang="en-US" altLang="ko-KR" sz="900" b="1" dirty="0" smtClean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3081848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항목 수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무역대리점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수신자</a:t>
            </a:r>
            <a:endParaRPr lang="en-US" altLang="ko-KR" sz="600" dirty="0" smtClean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3066459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3 </a:t>
            </a:r>
            <a:r>
              <a:rPr lang="ko-KR" altLang="en-US" sz="600" dirty="0" smtClean="0">
                <a:latin typeface="+mn-ea"/>
              </a:rPr>
              <a:t>개</a:t>
            </a:r>
            <a:endParaRPr lang="en-US" altLang="ko-KR" sz="600" dirty="0" smtClean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A </a:t>
            </a:r>
            <a:r>
              <a:rPr lang="ko-KR" altLang="en-US" sz="600" dirty="0" smtClean="0">
                <a:latin typeface="+mn-ea"/>
              </a:rPr>
              <a:t>업체</a:t>
            </a:r>
            <a:endParaRPr lang="en-US" altLang="ko-KR" sz="600" dirty="0" smtClean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3901796" y="253728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370631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0583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2127347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98541" y="2123293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smtClean="0">
                <a:latin typeface="+mn-ea"/>
              </a:rPr>
              <a:t>표시 개수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848325" y="2123293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10 </a:t>
            </a:r>
            <a:r>
              <a:rPr lang="ko-KR" altLang="en-US" sz="700" dirty="0" smtClean="0">
                <a:latin typeface="+mn-ea"/>
              </a:rPr>
              <a:t>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6263883" y="2225116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그룹 13"/>
          <p:cNvGrpSpPr/>
          <p:nvPr/>
        </p:nvGrpSpPr>
        <p:grpSpPr>
          <a:xfrm>
            <a:off x="3795734" y="1580377"/>
            <a:ext cx="2712027" cy="266560"/>
            <a:chOff x="3732083" y="1580377"/>
            <a:chExt cx="2712027" cy="26656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87585" y="1608356"/>
              <a:ext cx="230514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dirty="0" err="1"/>
                <a:t>발주통보서</a:t>
              </a:r>
              <a:r>
                <a:rPr lang="ko-KR" altLang="en-US" sz="800" dirty="0" smtClean="0"/>
                <a:t> </a:t>
              </a:r>
              <a:r>
                <a:rPr lang="ko-KR" altLang="en-US" sz="800" dirty="0"/>
                <a:t>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32083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3" name="그룹 92"/>
            <p:cNvGrpSpPr/>
            <p:nvPr/>
          </p:nvGrpSpPr>
          <p:grpSpPr>
            <a:xfrm rot="5400000">
              <a:off x="3806526" y="1640499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6" name="타원 95"/>
            <p:cNvSpPr/>
            <p:nvPr/>
          </p:nvSpPr>
          <p:spPr>
            <a:xfrm>
              <a:off x="6096050" y="1580377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6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399472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2</a:t>
            </a:r>
            <a:endParaRPr lang="en-US" altLang="ko-KR" sz="700" dirty="0"/>
          </a:p>
          <a:p>
            <a:r>
              <a:rPr lang="en-US" altLang="ko-KR" sz="900" b="1" dirty="0" smtClean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108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4354955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항목 수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무역대리점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수신자</a:t>
            </a:r>
            <a:endParaRPr lang="en-US" altLang="ko-KR" sz="600" dirty="0" smtClean="0">
              <a:latin typeface="+mn-ea"/>
            </a:endParaRPr>
          </a:p>
        </p:txBody>
      </p:sp>
      <p:sp>
        <p:nvSpPr>
          <p:cNvPr id="109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4339566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3 </a:t>
            </a:r>
            <a:r>
              <a:rPr lang="ko-KR" altLang="en-US" sz="600" dirty="0" smtClean="0">
                <a:latin typeface="+mn-ea"/>
              </a:rPr>
              <a:t>개</a:t>
            </a:r>
            <a:endParaRPr lang="en-US" altLang="ko-KR" sz="600" dirty="0" smtClean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A </a:t>
            </a:r>
            <a:r>
              <a:rPr lang="ko-KR" altLang="en-US" sz="600" dirty="0" smtClean="0">
                <a:latin typeface="+mn-ea"/>
              </a:rPr>
              <a:t>업체</a:t>
            </a:r>
            <a:endParaRPr lang="en-US" altLang="ko-KR" sz="600" dirty="0" smtClean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3901796" y="381039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송신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497942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타원 11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639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9885029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910690"/>
            <a:ext cx="185684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발주통보서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121893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3198629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3448227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발주통보서목록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5558" y="3659430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840203791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RQ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orderSeq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itemSeq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품목건수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vldYmd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bzentyCd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docSttsCd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7542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rcvrNm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70398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FE9E77-2FE3-C19F-069E-B1A968551E18}"/>
              </a:ext>
            </a:extLst>
          </p:cNvPr>
          <p:cNvSpPr txBox="1"/>
          <p:nvPr/>
        </p:nvSpPr>
        <p:spPr>
          <a:xfrm>
            <a:off x="458117" y="1661107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3384321-1FDA-D7DB-A01D-492525E74D2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872310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27763422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355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107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ctrtAmt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93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발주통보 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766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미청구금액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uclmAmt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발주통보 미청구금액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4122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CAD3C8-5A1E-77CB-E6FB-DBE0E1FEA2E4}"/>
              </a:ext>
            </a:extLst>
          </p:cNvPr>
          <p:cNvSpPr txBox="1"/>
          <p:nvPr/>
        </p:nvSpPr>
        <p:spPr>
          <a:xfrm>
            <a:off x="458117" y="680533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1D17EA86-8CD2-2112-B4CD-897EC68D4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58153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60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68429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382291"/>
              </p:ext>
            </p:extLst>
          </p:nvPr>
        </p:nvGraphicFramePr>
        <p:xfrm>
          <a:off x="452291" y="912570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792744967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발주통보서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목록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042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카드 </a:t>
                      </a:r>
                      <a:r>
                        <a:rPr lang="ko-KR" altLang="en-US" sz="800" dirty="0"/>
                        <a:t>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scwin.grd_orderNtdc_oncellclick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발주통보서상세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UI-EX-02-M83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02036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5921939B-CCFC-7195-120A-D0BB70A01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20583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상세 화면 상단에 계약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공고의 공지사항이 있는 경우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메뉴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내용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/>
              <a:t>발주통보서</a:t>
            </a:r>
            <a:r>
              <a:rPr lang="ko-KR" altLang="en-US" dirty="0" smtClean="0">
                <a:latin typeface="+mn-ea"/>
              </a:rPr>
              <a:t> 상세 </a:t>
            </a:r>
            <a:r>
              <a:rPr lang="en-US" altLang="ko-KR" dirty="0" smtClean="0">
                <a:latin typeface="+mn-ea"/>
              </a:rPr>
              <a:t>– </a:t>
            </a:r>
            <a:r>
              <a:rPr lang="ko-KR" altLang="en-US" dirty="0" err="1" smtClean="0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</a:t>
            </a:r>
            <a:r>
              <a:rPr lang="ko-KR" altLang="en-US" dirty="0" smtClean="0"/>
              <a:t>목록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MUI-EX-02-M78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 smtClean="0">
                <a:latin typeface="+mn-ea"/>
              </a:rPr>
              <a:t>발주통보서</a:t>
            </a:r>
            <a:r>
              <a:rPr lang="ko-KR" altLang="en-US" sz="800" dirty="0" smtClean="0">
                <a:latin typeface="+mn-ea"/>
              </a:rPr>
              <a:t> </a:t>
            </a:r>
            <a:r>
              <a:rPr lang="ko-KR" altLang="en-US" sz="800" dirty="0">
                <a:latin typeface="+mn-ea"/>
              </a:rPr>
              <a:t>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공지사항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2926040" y="2261650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3070040" y="2278058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출력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smtClean="0">
                <a:latin typeface="+mn-ea"/>
              </a:rPr>
              <a:t>상세정보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계약 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견적번호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견적일자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유효일자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계약일자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사업명</a:t>
            </a:r>
            <a:endParaRPr lang="en-US" altLang="ko-KR" sz="700" dirty="0" smtClean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2025-03-01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2025-03-01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 smtClean="0">
                <a:latin typeface="+mn-ea"/>
              </a:rPr>
              <a:t>부품구매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23976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6295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입찰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조달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계약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이행</a:t>
            </a:r>
            <a:endParaRPr lang="ko-KR" altLang="en-US" sz="700" dirty="0">
              <a:latin typeface="+mn-ea"/>
            </a:endParaRP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smtClean="0">
                <a:solidFill>
                  <a:prstClr val="black"/>
                </a:solidFill>
              </a:rPr>
              <a:t>이행</a:t>
            </a:r>
            <a:r>
              <a:rPr lang="en-US" altLang="ko-KR" sz="700" dirty="0" smtClean="0">
                <a:solidFill>
                  <a:prstClr val="black"/>
                </a:solidFill>
              </a:rPr>
              <a:t> </a:t>
            </a:r>
            <a:r>
              <a:rPr lang="ko-KR" altLang="en-US" sz="700" dirty="0" smtClean="0">
                <a:solidFill>
                  <a:prstClr val="black"/>
                </a:solidFill>
              </a:rPr>
              <a:t>정보 신청</a:t>
            </a:r>
            <a:r>
              <a:rPr lang="en-US" altLang="ko-KR" sz="700" dirty="0" smtClean="0">
                <a:solidFill>
                  <a:prstClr val="black"/>
                </a:solidFill>
              </a:rPr>
              <a:t>,</a:t>
            </a:r>
            <a:r>
              <a:rPr lang="ko-KR" altLang="en-US" sz="700" dirty="0" smtClean="0">
                <a:solidFill>
                  <a:prstClr val="black"/>
                </a:solidFill>
              </a:rPr>
              <a:t> 수정은 </a:t>
            </a:r>
            <a:r>
              <a:rPr lang="en-US" altLang="ko-KR" sz="700" dirty="0" smtClean="0">
                <a:solidFill>
                  <a:prstClr val="black"/>
                </a:solidFill>
              </a:rPr>
              <a:t>PC </a:t>
            </a:r>
            <a:r>
              <a:rPr lang="ko-KR" altLang="en-US" sz="700" dirty="0" smtClean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 smtClean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다음에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 smtClean="0">
                <a:solidFill>
                  <a:srgbClr val="0070C0"/>
                </a:solidFill>
                <a:latin typeface="+mn-ea"/>
              </a:rPr>
              <a:t>우측에 계속</a:t>
            </a:r>
            <a:endParaRPr lang="ko-KR" altLang="en-US" sz="900" b="1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73613"/>
            <a:ext cx="2630093" cy="1553390"/>
            <a:chOff x="3839894" y="2800432"/>
            <a:chExt cx="2630093" cy="1553390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0432"/>
              <a:ext cx="792000" cy="15533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군담당자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무역대리점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담당자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화폐단위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A </a:t>
              </a:r>
              <a:r>
                <a:rPr lang="ko-KR" altLang="en-US" sz="700" dirty="0" smtClean="0">
                  <a:latin typeface="+mn-ea"/>
                </a:rPr>
                <a:t>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공군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조달테스트업체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</a:t>
              </a:r>
              <a:r>
                <a:rPr lang="ko-KR" altLang="en-US" sz="700" dirty="0" smtClean="0">
                  <a:latin typeface="+mn-ea"/>
                </a:rPr>
                <a:t>달러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1" name="타원 200"/>
          <p:cNvSpPr/>
          <p:nvPr/>
        </p:nvSpPr>
        <p:spPr>
          <a:xfrm>
            <a:off x="6029572" y="158593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6173572" y="1602341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출력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smtClean="0">
                <a:latin typeface="+mn-ea"/>
              </a:rPr>
              <a:t>상세정보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631410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 smtClean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/>
              <a:t>발주통보서</a:t>
            </a:r>
            <a:r>
              <a:rPr lang="ko-KR" altLang="en-US" dirty="0" smtClean="0">
                <a:latin typeface="+mn-ea"/>
              </a:rPr>
              <a:t> 상세 </a:t>
            </a:r>
            <a:r>
              <a:rPr lang="en-US" altLang="ko-KR" dirty="0" smtClean="0">
                <a:latin typeface="+mn-ea"/>
              </a:rPr>
              <a:t>– </a:t>
            </a:r>
            <a:r>
              <a:rPr lang="ko-KR" altLang="en-US" dirty="0" smtClean="0">
                <a:latin typeface="+mn-ea"/>
              </a:rPr>
              <a:t>물품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181140"/>
            <a:chOff x="763156" y="1527996"/>
            <a:chExt cx="2456098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요약 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1087280"/>
            <a:chOff x="3865118" y="2946203"/>
            <a:chExt cx="2630093" cy="1087280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0868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발주품목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수력품목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거부품목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발주 금액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수락 금액</a:t>
              </a:r>
              <a:endParaRPr lang="en-US" altLang="ko-KR" sz="700" dirty="0" smtClean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4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4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</a:t>
              </a: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4,000.00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4,000.00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1977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334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55743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16366" y="2961298"/>
            <a:ext cx="2630093" cy="3283189"/>
            <a:chOff x="3608521" y="2295944"/>
            <a:chExt cx="2630093" cy="3283189"/>
          </a:xfrm>
        </p:grpSpPr>
        <p:grpSp>
          <p:nvGrpSpPr>
            <p:cNvPr id="36" name="그룹 35"/>
            <p:cNvGrpSpPr/>
            <p:nvPr/>
          </p:nvGrpSpPr>
          <p:grpSpPr>
            <a:xfrm>
              <a:off x="3695518" y="2295944"/>
              <a:ext cx="2456098" cy="215444"/>
              <a:chOff x="763156" y="1527996"/>
              <a:chExt cx="2456098" cy="215444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3156" y="1527996"/>
                <a:ext cx="118961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물품 목록 </a:t>
                </a:r>
                <a:r>
                  <a:rPr lang="en-US" altLang="ko-KR" sz="700" dirty="0" smtClean="0">
                    <a:latin typeface="+mn-ea"/>
                  </a:rPr>
                  <a:t>- </a:t>
                </a:r>
                <a:r>
                  <a:rPr lang="ko-KR" altLang="en-US" sz="700" dirty="0" smtClean="0">
                    <a:latin typeface="+mn-ea"/>
                  </a:rPr>
                  <a:t>총 </a:t>
                </a:r>
                <a:r>
                  <a:rPr lang="en-US" altLang="ko-KR" sz="700" dirty="0" smtClean="0">
                    <a:latin typeface="+mn-ea"/>
                  </a:rPr>
                  <a:t>00 </a:t>
                </a:r>
                <a:r>
                  <a:rPr lang="ko-KR" altLang="en-US" sz="700" dirty="0" smtClean="0">
                    <a:latin typeface="+mn-ea"/>
                  </a:rPr>
                  <a:t>건</a:t>
                </a:r>
                <a:endParaRPr lang="ko-KR" altLang="en-US" sz="700" dirty="0">
                  <a:latin typeface="+mn-ea"/>
                </a:endParaRPr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 flipV="1">
                <a:off x="3125244" y="1641327"/>
                <a:ext cx="94010" cy="47005"/>
                <a:chOff x="6812560" y="3297172"/>
                <a:chExt cx="94010" cy="47005"/>
              </a:xfrm>
            </p:grpSpPr>
            <p:cxnSp>
              <p:nvCxnSpPr>
                <p:cNvPr id="39" name="직선 연결선 3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1" name="그룹 40"/>
            <p:cNvGrpSpPr/>
            <p:nvPr/>
          </p:nvGrpSpPr>
          <p:grpSpPr>
            <a:xfrm>
              <a:off x="3608521" y="2562922"/>
              <a:ext cx="2630093" cy="3016211"/>
              <a:chOff x="3865118" y="2946203"/>
              <a:chExt cx="2630093" cy="3016211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3867211" y="2946203"/>
                <a:ext cx="792000" cy="299948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4" y="2946204"/>
                <a:ext cx="715881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청구번호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재고번호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Serial No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부품번호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품명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적용장비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수량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단위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단가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운송구분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우선순위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err="1" smtClean="0">
                    <a:latin typeface="+mn-ea"/>
                  </a:rPr>
                  <a:t>PriceList</a:t>
                </a:r>
                <a:r>
                  <a:rPr lang="en-US" altLang="ko-KR" sz="700" dirty="0" smtClean="0">
                    <a:latin typeface="+mn-ea"/>
                  </a:rPr>
                  <a:t> </a:t>
                </a:r>
                <a:r>
                  <a:rPr lang="ko-KR" altLang="en-US" sz="700" dirty="0" err="1" smtClean="0">
                    <a:latin typeface="+mn-ea"/>
                  </a:rPr>
                  <a:t>적용년도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KD111000001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1111111111111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12345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00000-010000-123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IRST LRU-1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F-15K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EA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1,000.00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1,000.00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항공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ROU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2025</a:t>
                </a:r>
                <a:endParaRPr lang="en-US" altLang="ko-KR" sz="700" dirty="0">
                  <a:latin typeface="+mn-ea"/>
                </a:endParaRPr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4590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66503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8787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09244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31587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52087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744297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94973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2158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0" name="그룹 69"/>
          <p:cNvGrpSpPr/>
          <p:nvPr/>
        </p:nvGrpSpPr>
        <p:grpSpPr>
          <a:xfrm>
            <a:off x="3836701" y="1548097"/>
            <a:ext cx="2630093" cy="3447100"/>
            <a:chOff x="3865118" y="2946202"/>
            <a:chExt cx="2630093" cy="3447100"/>
          </a:xfrm>
        </p:grpSpPr>
        <p:sp>
          <p:nvSpPr>
            <p:cNvPr id="71" name="직사각형 70"/>
            <p:cNvSpPr/>
            <p:nvPr/>
          </p:nvSpPr>
          <p:spPr>
            <a:xfrm>
              <a:off x="3867211" y="2946202"/>
              <a:ext cx="792000" cy="3417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729934" cy="34470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부품번호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운송구분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우선순위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err="1">
                  <a:latin typeface="+mn-ea"/>
                </a:rPr>
                <a:t>PriceList</a:t>
              </a:r>
              <a:r>
                <a:rPr lang="en-US" altLang="ko-KR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적용년도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납품가능일자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수락여부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4470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KD111000001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1111111111111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F-15K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항공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ROU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수락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2087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42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973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83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38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4094224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896797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5558" y="1108000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54945169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계약번호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orderSeq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발주번호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발주일자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유효일자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계약일자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사업명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계약업체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군담당자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무역대리점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4205091"/>
            <a:ext cx="286353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5557" y="4421705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2578951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품목 재고번호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rcptNo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aplcnEqpmntCd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CFD3310-381B-C4C2-9BA0-63548DC395DF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910AE220-4A38-A146-1540-B5150A285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295969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12D99-2654-048B-D790-2CCE7128AF11}"/>
              </a:ext>
            </a:extLst>
          </p:cNvPr>
          <p:cNvSpPr txBox="1"/>
          <p:nvPr/>
        </p:nvSpPr>
        <p:spPr>
          <a:xfrm>
            <a:off x="449462" y="918839"/>
            <a:ext cx="286353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278699-64F3-6025-9517-0398724AE4E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9461" y="1135453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537182689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trnsMthdCd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040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우선순위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우선순위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17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하자보증유무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flwGrnteEn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하자보증유무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55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prcAplcnYr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481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납품가능일자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dlvgdsRqtYmd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납품가능일자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76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acptYn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5064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ED4DD6-163E-4927-19F6-7FD68A853F05}"/>
              </a:ext>
            </a:extLst>
          </p:cNvPr>
          <p:cNvSpPr txBox="1"/>
          <p:nvPr/>
        </p:nvSpPr>
        <p:spPr>
          <a:xfrm>
            <a:off x="449462" y="3040247"/>
            <a:ext cx="23201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품목수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dm_itemCntInfo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934117D-FD60-A747-5571-D9B5B3D877F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9461" y="3256861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36870763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7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</a:t>
                      </a:r>
                      <a:r>
                        <a:rPr lang="ko-KR" altLang="en-US" sz="800" dirty="0" err="1">
                          <a:latin typeface="+mn-ea"/>
                        </a:rPr>
                        <a:t>발주품목수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acptItemCnt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</a:t>
                      </a:r>
                      <a:r>
                        <a:rPr lang="ko-KR" altLang="en-US" sz="800" dirty="0" err="1">
                          <a:latin typeface="+mn-ea"/>
                        </a:rPr>
                        <a:t>수락품목수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거부품목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rjtItemCnt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거부품목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040063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발주금액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17990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acptAmt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수락금액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5573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D93E30-7A8D-CBC4-E413-05F3E468868F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B85DE731-3AC1-F719-6910-09E0E135D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58729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428E51B-26C0-C10E-47E7-1C935F6C8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65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08A2ED-2D93-8941-BBD8-93B38E7B3455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EBB6FA0-53AC-6096-D82C-DD9F4C7EC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219264"/>
              </p:ext>
            </p:extLst>
          </p:nvPr>
        </p:nvGraphicFramePr>
        <p:xfrm>
          <a:off x="458117" y="79954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발주통보서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출력화면을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UI-EX-02-R88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708022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67FF8F2-87CF-A6B6-1C9B-8B9543742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351910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검색조건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클릭 이벤트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계약정보목록 </a:t>
            </a:r>
            <a:r>
              <a:rPr lang="ko-KR" altLang="en-US" dirty="0"/>
              <a:t>데이터 </a:t>
            </a:r>
            <a:r>
              <a:rPr lang="ko-KR" altLang="en-US" dirty="0" smtClean="0"/>
              <a:t>영역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계약번호조회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>
                <a:latin typeface="+mn-ea"/>
              </a:rPr>
              <a:t>계약년도와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계약번호로</a:t>
            </a:r>
            <a:r>
              <a:rPr lang="ko-KR" altLang="en-US" dirty="0">
                <a:latin typeface="+mn-ea"/>
              </a:rPr>
              <a:t> 계약정보목록을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 smtClean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상세조회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조서발행번호정보조회</a:t>
            </a:r>
            <a:r>
              <a:rPr lang="ko-KR" altLang="en-US" dirty="0" smtClean="0">
                <a:latin typeface="+mn-ea"/>
              </a:rPr>
              <a:t> 팝업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MUI-EX-02-P79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계약번호조회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0141" y="257053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6701" y="278114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0977" y="2528179"/>
            <a:ext cx="1250843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검색결과</a:t>
            </a:r>
            <a:endParaRPr lang="ko-KR" altLang="en-US" sz="700" dirty="0">
              <a:latin typeface="+mn-ea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69283" y="2528179"/>
            <a:ext cx="1250843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총 </a:t>
            </a:r>
            <a:r>
              <a:rPr lang="en-US" altLang="ko-KR" sz="700" dirty="0" smtClean="0">
                <a:solidFill>
                  <a:srgbClr val="0070C0"/>
                </a:solidFill>
                <a:latin typeface="+mn-ea"/>
              </a:rPr>
              <a:t>000</a:t>
            </a:r>
            <a:r>
              <a:rPr lang="en-US" altLang="ko-KR" sz="700" dirty="0" smtClean="0">
                <a:latin typeface="+mn-ea"/>
              </a:rPr>
              <a:t> 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9" name="양쪽 모서리가 둥근 사각형 118"/>
          <p:cNvSpPr/>
          <p:nvPr/>
        </p:nvSpPr>
        <p:spPr>
          <a:xfrm>
            <a:off x="675399" y="3011653"/>
            <a:ext cx="2712027" cy="3215510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1761412" y="3048280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23" name="그룹 122"/>
          <p:cNvGrpSpPr/>
          <p:nvPr/>
        </p:nvGrpSpPr>
        <p:grpSpPr>
          <a:xfrm>
            <a:off x="3164338" y="3182696"/>
            <a:ext cx="94010" cy="94010"/>
            <a:chOff x="6812560" y="3297172"/>
            <a:chExt cx="94010" cy="94010"/>
          </a:xfrm>
        </p:grpSpPr>
        <p:cxnSp>
          <p:nvCxnSpPr>
            <p:cNvPr id="133" name="직선 연결선 132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직선 연결선 133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163375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계약번호조회</a:t>
            </a:r>
          </a:p>
        </p:txBody>
      </p: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247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6" name="모서리가 둥근 직사각형 125"/>
          <p:cNvSpPr/>
          <p:nvPr/>
        </p:nvSpPr>
        <p:spPr>
          <a:xfrm>
            <a:off x="1443878" y="3849748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</a:rPr>
              <a:t>번호를</a:t>
            </a:r>
            <a:r>
              <a:rPr lang="ko-KR" altLang="en-US" sz="700" dirty="0" smtClean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tx1"/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918061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28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83463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3112794" y="3888034"/>
            <a:ext cx="145884" cy="1458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56699" y="3931938"/>
            <a:ext cx="58075" cy="58074"/>
            <a:chOff x="6812560" y="3297172"/>
            <a:chExt cx="94010" cy="94010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5951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7" name="모서리가 둥근 직사각형 66"/>
          <p:cNvSpPr/>
          <p:nvPr/>
        </p:nvSpPr>
        <p:spPr>
          <a:xfrm>
            <a:off x="1443878" y="3563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 smtClean="0">
                <a:solidFill>
                  <a:schemeClr val="tx1"/>
                </a:solidFill>
              </a:rPr>
              <a:t>2026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631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 smtClean="0">
                <a:latin typeface="+mn-ea"/>
              </a:rPr>
              <a:t>계약연도</a:t>
            </a:r>
            <a:r>
              <a:rPr lang="ko-KR" altLang="en-US" sz="700" dirty="0" smtClean="0">
                <a:latin typeface="+mn-ea"/>
              </a:rPr>
              <a:t> </a:t>
            </a:r>
            <a:r>
              <a:rPr lang="en-US" altLang="ko-KR" sz="700" dirty="0" smtClean="0">
                <a:solidFill>
                  <a:srgbClr val="FF0000"/>
                </a:solidFill>
                <a:latin typeface="+mn-ea"/>
              </a:rPr>
              <a:t>*</a:t>
            </a:r>
            <a:endParaRPr lang="en-US" altLang="ko-KR" sz="700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76" name="그룹 75"/>
          <p:cNvGrpSpPr/>
          <p:nvPr/>
        </p:nvGrpSpPr>
        <p:grpSpPr>
          <a:xfrm>
            <a:off x="3091726" y="3661996"/>
            <a:ext cx="94010" cy="47005"/>
            <a:chOff x="6812560" y="3297172"/>
            <a:chExt cx="94010" cy="47005"/>
          </a:xfrm>
        </p:grpSpPr>
        <p:cxnSp>
          <p:nvCxnSpPr>
            <p:cNvPr id="82" name="직선 연결선 8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직선 연결선 8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2858556"/>
            <a:ext cx="19842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2858556"/>
            <a:ext cx="49390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계약번호</a:t>
            </a:r>
            <a:r>
              <a:rPr lang="en-US" altLang="ko-KR" sz="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업체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3831550" y="2981558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3134786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100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3021971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KD000000000</a:t>
            </a:r>
          </a:p>
          <a:p>
            <a:r>
              <a:rPr lang="ko-KR" altLang="en-US" sz="700" b="1" dirty="0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 smtClean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16080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829300" y="2858556"/>
            <a:ext cx="59082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60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화폐구분</a:t>
            </a:r>
            <a:r>
              <a:rPr lang="en-US" altLang="ko-KR" sz="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계약일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3080925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 smtClean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3831550" y="3441902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3595130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99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3482315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KD000000001</a:t>
            </a:r>
          </a:p>
          <a:p>
            <a:r>
              <a:rPr lang="ko-KR" altLang="en-US" sz="700" b="1" dirty="0" smtClean="0">
                <a:solidFill>
                  <a:srgbClr val="0070C0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 smtClean="0">
              <a:solidFill>
                <a:srgbClr val="0070C0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3541269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 smtClean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6" name="모서리가 둥근 직사각형 95"/>
          <p:cNvSpPr/>
          <p:nvPr/>
        </p:nvSpPr>
        <p:spPr>
          <a:xfrm>
            <a:off x="3831550" y="3896493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4049721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98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3936906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KD000000002</a:t>
            </a:r>
          </a:p>
          <a:p>
            <a:r>
              <a:rPr lang="ko-KR" altLang="en-US" sz="700" b="1" dirty="0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 smtClean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3995860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 smtClean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0" name="모서리가 둥근 직사각형 99"/>
          <p:cNvSpPr/>
          <p:nvPr/>
        </p:nvSpPr>
        <p:spPr>
          <a:xfrm>
            <a:off x="3831550" y="4357859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4511087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97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4398272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KD000000003</a:t>
            </a:r>
          </a:p>
          <a:p>
            <a:r>
              <a:rPr lang="ko-KR" altLang="en-US" sz="700" b="1" dirty="0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 smtClean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 smtClean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4457226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 smtClean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346276"/>
            <a:ext cx="2446613" cy="213131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8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8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904993"/>
            <a:ext cx="76863" cy="292489"/>
            <a:chOff x="3750067" y="4683795"/>
            <a:chExt cx="76863" cy="292489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err="1" smtClean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계약번호</a:t>
              </a:r>
              <a:r>
                <a:rPr kumimoji="1" lang="ko-KR" altLang="en-US" sz="1000" kern="0" dirty="0" smtClean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 선택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1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smtClean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336" name="모서리가 둥근 직사각형 335"/>
          <p:cNvSpPr/>
          <p:nvPr/>
        </p:nvSpPr>
        <p:spPr>
          <a:xfrm rot="5400000">
            <a:off x="5782577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25873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67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807058"/>
            <a:ext cx="219507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8261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87110649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ctrtYr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계약년도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ctrtNo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3990609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291" y="4218888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2760269521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계약년도를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현재연도로 입력한다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확인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scwin.btn_confirm_onclick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그리드에 선택한 정보를 전달한다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64835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1923465"/>
            <a:ext cx="243392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dl_resultList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5558" y="2134668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09871187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ctrtNo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crncCd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화폐구분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ctrtBzentyCd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prcmPicNm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C81FA0-031D-901B-C2AD-4D01B4EC8917}"/>
              </a:ext>
            </a:extLst>
          </p:cNvPr>
          <p:cNvSpPr txBox="1"/>
          <p:nvPr/>
        </p:nvSpPr>
        <p:spPr>
          <a:xfrm>
            <a:off x="458117" y="576901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A8636BB8-3BC7-B066-A8CD-59D14853E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7006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13506</TotalTime>
  <Words>8672</Words>
  <Application>Microsoft Office PowerPoint</Application>
  <PresentationFormat>A4 용지(210x297mm)</PresentationFormat>
  <Paragraphs>4617</Paragraphs>
  <Slides>68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68</vt:i4>
      </vt:variant>
    </vt:vector>
  </HeadingPairs>
  <TitlesOfParts>
    <vt:vector size="76" baseType="lpstr">
      <vt:lpstr>Pretendard Medium</vt:lpstr>
      <vt:lpstr>맑은 고딕</vt:lpstr>
      <vt:lpstr>맑은 고딕 (본문)</vt:lpstr>
      <vt:lpstr>Arial</vt:lpstr>
      <vt:lpstr>Segoe UI</vt:lpstr>
      <vt:lpstr>Times New Roman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INSoft</cp:lastModifiedBy>
  <cp:revision>801</cp:revision>
  <cp:lastPrinted>2016-10-27T08:57:39Z</cp:lastPrinted>
  <dcterms:created xsi:type="dcterms:W3CDTF">2016-10-27T07:41:55Z</dcterms:created>
  <dcterms:modified xsi:type="dcterms:W3CDTF">2026-06-12T06:27:30Z</dcterms:modified>
  <cp:category>서브시스템/업무명</cp:category>
  <cp:contentStatus>0.1</cp:contentStatus>
</cp:coreProperties>
</file>