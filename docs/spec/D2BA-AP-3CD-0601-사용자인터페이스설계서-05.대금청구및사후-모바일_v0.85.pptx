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790" r:id="rId3"/>
    <p:sldId id="759" r:id="rId4"/>
    <p:sldId id="356" r:id="rId5"/>
    <p:sldId id="260" r:id="rId6"/>
    <p:sldId id="791" r:id="rId7"/>
    <p:sldId id="792" r:id="rId8"/>
    <p:sldId id="793" r:id="rId9"/>
    <p:sldId id="809" r:id="rId10"/>
    <p:sldId id="794" r:id="rId11"/>
    <p:sldId id="798" r:id="rId12"/>
    <p:sldId id="795" r:id="rId13"/>
    <p:sldId id="796" r:id="rId14"/>
    <p:sldId id="797" r:id="rId15"/>
    <p:sldId id="813" r:id="rId16"/>
    <p:sldId id="758" r:id="rId17"/>
    <p:sldId id="785" r:id="rId18"/>
    <p:sldId id="292" r:id="rId19"/>
    <p:sldId id="782" r:id="rId20"/>
    <p:sldId id="814" r:id="rId21"/>
    <p:sldId id="761" r:id="rId22"/>
    <p:sldId id="630" r:id="rId23"/>
    <p:sldId id="631" r:id="rId24"/>
    <p:sldId id="633" r:id="rId25"/>
    <p:sldId id="709" r:id="rId26"/>
    <p:sldId id="762" r:id="rId27"/>
    <p:sldId id="763" r:id="rId28"/>
    <p:sldId id="764" r:id="rId29"/>
    <p:sldId id="713" r:id="rId30"/>
    <p:sldId id="714" r:id="rId31"/>
    <p:sldId id="715" r:id="rId32"/>
    <p:sldId id="716" r:id="rId33"/>
    <p:sldId id="765" r:id="rId34"/>
    <p:sldId id="766" r:id="rId35"/>
    <p:sldId id="767" r:id="rId36"/>
    <p:sldId id="784" r:id="rId37"/>
    <p:sldId id="768" r:id="rId38"/>
    <p:sldId id="722" r:id="rId39"/>
    <p:sldId id="723" r:id="rId40"/>
    <p:sldId id="724" r:id="rId41"/>
    <p:sldId id="725" r:id="rId42"/>
    <p:sldId id="786" r:id="rId43"/>
    <p:sldId id="769" r:id="rId44"/>
    <p:sldId id="770" r:id="rId45"/>
    <p:sldId id="771" r:id="rId46"/>
    <p:sldId id="730" r:id="rId47"/>
    <p:sldId id="731" r:id="rId48"/>
    <p:sldId id="732" r:id="rId49"/>
    <p:sldId id="787" r:id="rId50"/>
    <p:sldId id="733" r:id="rId51"/>
    <p:sldId id="734" r:id="rId52"/>
    <p:sldId id="772" r:id="rId53"/>
    <p:sldId id="773" r:id="rId54"/>
    <p:sldId id="774" r:id="rId55"/>
    <p:sldId id="738" r:id="rId56"/>
    <p:sldId id="739" r:id="rId57"/>
    <p:sldId id="740" r:id="rId58"/>
    <p:sldId id="742" r:id="rId59"/>
    <p:sldId id="775" r:id="rId60"/>
    <p:sldId id="776" r:id="rId61"/>
    <p:sldId id="745" r:id="rId62"/>
    <p:sldId id="746" r:id="rId63"/>
    <p:sldId id="748" r:id="rId64"/>
    <p:sldId id="788" r:id="rId65"/>
    <p:sldId id="749" r:id="rId66"/>
    <p:sldId id="750" r:id="rId67"/>
    <p:sldId id="777" r:id="rId68"/>
    <p:sldId id="778" r:id="rId69"/>
    <p:sldId id="779" r:id="rId70"/>
    <p:sldId id="720" r:id="rId71"/>
    <p:sldId id="704" r:id="rId72"/>
    <p:sldId id="799" r:id="rId73"/>
    <p:sldId id="800" r:id="rId74"/>
    <p:sldId id="804" r:id="rId75"/>
    <p:sldId id="805" r:id="rId76"/>
    <p:sldId id="803" r:id="rId77"/>
    <p:sldId id="810" r:id="rId78"/>
    <p:sldId id="811" r:id="rId79"/>
    <p:sldId id="812" r:id="rId80"/>
    <p:sldId id="815" r:id="rId81"/>
    <p:sldId id="816" r:id="rId82"/>
    <p:sldId id="756" r:id="rId83"/>
    <p:sldId id="781" r:id="rId84"/>
    <p:sldId id="789" r:id="rId85"/>
    <p:sldId id="780" r:id="rId86"/>
    <p:sldId id="817" r:id="rId87"/>
    <p:sldId id="818" r:id="rId88"/>
    <p:sldId id="819" r:id="rId89"/>
    <p:sldId id="820" r:id="rId90"/>
    <p:sldId id="823" r:id="rId91"/>
    <p:sldId id="824" r:id="rId92"/>
    <p:sldId id="821" r:id="rId93"/>
    <p:sldId id="822" r:id="rId94"/>
    <p:sldId id="825" r:id="rId95"/>
    <p:sldId id="828" r:id="rId96"/>
    <p:sldId id="826" r:id="rId97"/>
    <p:sldId id="827" r:id="rId98"/>
    <p:sldId id="829" r:id="rId99"/>
    <p:sldId id="830" r:id="rId100"/>
    <p:sldId id="831" r:id="rId101"/>
    <p:sldId id="832" r:id="rId102"/>
    <p:sldId id="834" r:id="rId103"/>
    <p:sldId id="836" r:id="rId104"/>
    <p:sldId id="837" r:id="rId105"/>
    <p:sldId id="833" r:id="rId106"/>
    <p:sldId id="835" r:id="rId10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90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791"/>
            <p14:sldId id="792"/>
            <p14:sldId id="793"/>
            <p14:sldId id="809"/>
          </p14:sldIdLst>
        </p14:section>
        <p14:section name="1.계약통합목록" id="{BB5718C8-07C1-4018-9189-79486BE9C0C5}">
          <p14:sldIdLst>
            <p14:sldId id="794"/>
            <p14:sldId id="798"/>
            <p14:sldId id="795"/>
            <p14:sldId id="796"/>
            <p14:sldId id="797"/>
            <p14:sldId id="813"/>
            <p14:sldId id="758"/>
            <p14:sldId id="785"/>
            <p14:sldId id="292"/>
            <p14:sldId id="782"/>
            <p14:sldId id="814"/>
            <p14:sldId id="761"/>
            <p14:sldId id="630"/>
            <p14:sldId id="631"/>
            <p14:sldId id="633"/>
            <p14:sldId id="709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84"/>
            <p14:sldId id="768"/>
            <p14:sldId id="722"/>
            <p14:sldId id="723"/>
            <p14:sldId id="724"/>
            <p14:sldId id="725"/>
            <p14:sldId id="786"/>
            <p14:sldId id="769"/>
            <p14:sldId id="770"/>
            <p14:sldId id="771"/>
            <p14:sldId id="730"/>
            <p14:sldId id="731"/>
            <p14:sldId id="732"/>
            <p14:sldId id="787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88"/>
            <p14:sldId id="749"/>
            <p14:sldId id="750"/>
            <p14:sldId id="777"/>
            <p14:sldId id="778"/>
            <p14:sldId id="779"/>
            <p14:sldId id="720"/>
            <p14:sldId id="704"/>
            <p14:sldId id="799"/>
            <p14:sldId id="800"/>
            <p14:sldId id="804"/>
            <p14:sldId id="805"/>
            <p14:sldId id="803"/>
            <p14:sldId id="810"/>
            <p14:sldId id="811"/>
            <p14:sldId id="812"/>
            <p14:sldId id="815"/>
            <p14:sldId id="816"/>
          </p14:sldIdLst>
        </p14:section>
        <p14:section name="2. 대금청구진행현황" id="{818F5B40-D4DD-4315-9209-98F8CD025444}">
          <p14:sldIdLst>
            <p14:sldId id="756"/>
            <p14:sldId id="781"/>
          </p14:sldIdLst>
        </p14:section>
        <p14:section name="3.대금지불정보(반납)" id="{ADA4911A-617C-45D8-B34E-F8DEC2891795}">
          <p14:sldIdLst>
            <p14:sldId id="789"/>
            <p14:sldId id="780"/>
          </p14:sldIdLst>
        </p14:section>
        <p14:section name="[국외] 물품수령확인서" id="{DDA5FE55-FA97-44E9-9592-FDB55150D968}">
          <p14:sldIdLst>
            <p14:sldId id="817"/>
            <p14:sldId id="818"/>
            <p14:sldId id="819"/>
            <p14:sldId id="820"/>
            <p14:sldId id="823"/>
            <p14:sldId id="824"/>
            <p14:sldId id="821"/>
            <p14:sldId id="822"/>
            <p14:sldId id="825"/>
            <p14:sldId id="828"/>
            <p14:sldId id="826"/>
            <p14:sldId id="827"/>
            <p14:sldId id="829"/>
            <p14:sldId id="830"/>
            <p14:sldId id="831"/>
            <p14:sldId id="832"/>
            <p14:sldId id="834"/>
            <p14:sldId id="836"/>
            <p14:sldId id="837"/>
            <p14:sldId id="833"/>
            <p14:sldId id="8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6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30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2026-08-13 (Thursday)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2026-08-13 (Thursday)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494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49858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3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9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F55A7F85-0CCB-E3F1-ADC8-44D278CE1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037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881388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물품수령확인서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43680"/>
              </p:ext>
            </p:extLst>
          </p:nvPr>
        </p:nvGraphicFramePr>
        <p:xfrm>
          <a:off x="635474" y="1365204"/>
          <a:ext cx="8701200" cy="5083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대금청구통합목록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MUI-WM-01-P13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대금청구신청목록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PymtClmIntgAplyList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계약에 따른 선금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신청한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PymtClmIntgAplyList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5637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선금신청을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진행한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411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PrpayApfrDtl_AplyDtsm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757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DpsmnItrpyApfrDtl.tsx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957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세부신청내역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DpsmnItrpyApfrDtl_AplyDtsm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DpsmnItrpyApfrDtl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AplyDtsm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5622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MUI-WM-01-T23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PrpayDpsmnItrpyGiveSttsPage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174161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15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65191"/>
              </p:ext>
            </p:extLst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공급자정보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CenterPrcmPymtClmDtl_Splr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CenterPrcmPymtClmDtl_Splr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191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대금신청금액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CenterPrcmPymtClmDtl_Pymt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368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세금계산서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CenterPrcmPymtClmDtl_Txiv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CenterPrcmPymtClmDtl_Txiv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0304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0672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대금신청업체정보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6787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대금신청금액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SbsdPrcmPymtClmDtl_PymtAply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SbsdPrcmPymtClmDtl_PymtAply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2733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sbsdPrcmPymtClmDtl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SbsdPrcmPymtClmDtl_Atch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457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CstrnPymtClmDtl_Ctrt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2182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대가지급업체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CstrnPymtClmDtl_GiveBzenty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CstrnPymtClmDtl_GiveBzenty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67708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44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888283"/>
              </p:ext>
            </p:extLst>
          </p:nvPr>
        </p:nvGraphicFramePr>
        <p:xfrm>
          <a:off x="635474" y="1365204"/>
          <a:ext cx="8701200" cy="50111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MUI-WM-01-T15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CstrnPymtClmDtl_Atch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206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PxcndCstPymtClmDtl_Ctrt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en-US" altLang="ko-KR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PxcndCstPymtClmDtl_Ctrt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96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기성대가신청금액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PxcndCstPymtClmDtl_PxcndPymt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PxcndCstPymtClmDtl_PxcndPymt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300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MUI-WM-01-T18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세금계산서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PxcndCstPymtClmDtl_Txiv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PxcndCstPymtClmDtl_Txiv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0276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MUI-WM-01-T19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PxcndCstPymtClmDtl_Atch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pxcndCstPymtClmDtl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PxcndCstPymtClmDtl_Atch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5317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EpfcClclnClmDtlPage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사후정산청구신청서 상세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EpfcClclnClmDtlPage.tsx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719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EpfcClclnClmDtl_CN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계약정보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EpfcClclnClmDtl_CN.tsx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0996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신청금액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EpfcClclnClmDtl_AplyAmt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신청금액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EpfcClclnClmDtl_AplyAmt.tsx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5192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세금계산서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EpfcClclnClmDtl_Txiv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사후정산청구신청서 상세 조회 세금계산서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EpfcClclnClmDtl_Txiv.tsx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UC-WM-01-04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7928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MUI-WM-01-T24</a:t>
                      </a:r>
                      <a:endParaRPr 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진행상태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PrcmPymtClmSttsPage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대금청구상세에서 진행상태 탭 화면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PrcmPymtClmSttsPage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PrcmPymtClmSttsPage.tsx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2781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736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464154"/>
              </p:ext>
            </p:extLst>
          </p:nvPr>
        </p:nvGraphicFramePr>
        <p:xfrm>
          <a:off x="635474" y="1365204"/>
          <a:ext cx="8701200" cy="12652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MUI-WM-01-P09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대금청구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안내문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PymtClmGdntc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RtnPymtDfryInfoPage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PymtClmPrgrsPrstPage</a:t>
                      </a:r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554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16309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324838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353835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2167097" y="983793"/>
            <a:ext cx="2019" cy="1292362"/>
          </a:xfrm>
          <a:prstGeom prst="bentConnector3">
            <a:avLst>
              <a:gd name="adj1" fmla="val 11422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18018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739494" y="1699395"/>
            <a:ext cx="407224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3" idx="1"/>
          </p:cNvCxnSpPr>
          <p:nvPr/>
        </p:nvCxnSpPr>
        <p:spPr>
          <a:xfrm rot="16200000" flipH="1">
            <a:off x="924985" y="3478083"/>
            <a:ext cx="1924573" cy="7306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1971925" y="1772964"/>
            <a:ext cx="392362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00970" y="811681"/>
            <a:ext cx="3304672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선금신청서상세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24629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919226" y="107240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3"/>
            <a:endCxn id="140" idx="1"/>
          </p:cNvCxnSpPr>
          <p:nvPr/>
        </p:nvCxnSpPr>
        <p:spPr>
          <a:xfrm flipV="1">
            <a:off x="3264287" y="1166135"/>
            <a:ext cx="436683" cy="19682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299041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선금신청서상세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345865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착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중도금신청서상세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1347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549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49686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3869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252617" y="3871613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2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0925" y="1648885"/>
            <a:ext cx="3342187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착</a:t>
            </a:r>
            <a:r>
              <a:rPr lang="en-US" altLang="ko-KR" sz="800" b="1" dirty="0" smtClean="0">
                <a:solidFill>
                  <a:schemeClr val="tx1"/>
                </a:solidFill>
              </a:rPr>
              <a:t>.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중도금신청서상세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4585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신청정보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49182" y="190961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세부신청내역</a:t>
            </a:r>
          </a:p>
        </p:txBody>
      </p:sp>
      <p:cxnSp>
        <p:nvCxnSpPr>
          <p:cNvPr id="1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4" idx="3"/>
            <a:endCxn id="129" idx="1"/>
          </p:cNvCxnSpPr>
          <p:nvPr/>
        </p:nvCxnSpPr>
        <p:spPr>
          <a:xfrm flipV="1">
            <a:off x="3264287" y="2003339"/>
            <a:ext cx="566638" cy="15993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780" y="2486089"/>
            <a:ext cx="5330270" cy="710660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440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037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공급자정보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9" idx="3"/>
            <a:endCxn id="158" idx="0"/>
          </p:cNvCxnSpPr>
          <p:nvPr/>
        </p:nvCxnSpPr>
        <p:spPr>
          <a:xfrm>
            <a:off x="7173112" y="2003339"/>
            <a:ext cx="2270723" cy="6335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19339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4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7" idx="3"/>
            <a:endCxn id="139" idx="1"/>
          </p:cNvCxnSpPr>
          <p:nvPr/>
        </p:nvCxnSpPr>
        <p:spPr>
          <a:xfrm flipV="1">
            <a:off x="3264287" y="2841419"/>
            <a:ext cx="568493" cy="14372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8382" y="3328809"/>
            <a:ext cx="5366456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5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082042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76639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대금신청업체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44941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대금신청금액</a:t>
            </a:r>
          </a:p>
        </p:txBody>
      </p:sp>
      <p:sp>
        <p:nvSpPr>
          <p:cNvPr id="15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339538" y="358953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9" idx="3"/>
            <a:endCxn id="151" idx="1"/>
          </p:cNvCxnSpPr>
          <p:nvPr/>
        </p:nvCxnSpPr>
        <p:spPr>
          <a:xfrm flipV="1">
            <a:off x="3264287" y="3680375"/>
            <a:ext cx="694095" cy="10134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8" y="4161989"/>
            <a:ext cx="4359789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</a:rPr>
              <a:t>공사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대가지급업체</a:t>
            </a:r>
          </a:p>
        </p:txBody>
      </p:sp>
      <p:sp>
        <p:nvSpPr>
          <p:cNvPr id="1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44227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0" idx="3"/>
            <a:endCxn id="162" idx="1"/>
          </p:cNvCxnSpPr>
          <p:nvPr/>
        </p:nvCxnSpPr>
        <p:spPr>
          <a:xfrm flipV="1">
            <a:off x="3264287" y="4516443"/>
            <a:ext cx="568631" cy="5961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19084" y="5035548"/>
            <a:ext cx="5505754" cy="703132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대금청구상세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기성대가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7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42743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37340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기성대가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신청금액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05642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sp>
        <p:nvSpPr>
          <p:cNvPr id="18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00239" y="52962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첨부파일</a:t>
            </a:r>
          </a:p>
        </p:txBody>
      </p:sp>
      <p:cxnSp>
        <p:nvCxnSpPr>
          <p:cNvPr id="1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77" idx="1"/>
          </p:cNvCxnSpPr>
          <p:nvPr/>
        </p:nvCxnSpPr>
        <p:spPr>
          <a:xfrm flipV="1">
            <a:off x="3264287" y="5387114"/>
            <a:ext cx="554797" cy="1438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7" idx="3"/>
            <a:endCxn id="155" idx="2"/>
          </p:cNvCxnSpPr>
          <p:nvPr/>
        </p:nvCxnSpPr>
        <p:spPr>
          <a:xfrm flipV="1">
            <a:off x="9324838" y="2967524"/>
            <a:ext cx="118997" cy="24195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5" idx="2"/>
          </p:cNvCxnSpPr>
          <p:nvPr/>
        </p:nvCxnSpPr>
        <p:spPr>
          <a:xfrm flipV="1">
            <a:off x="8192707" y="2967524"/>
            <a:ext cx="1251128" cy="15489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3"/>
            <a:endCxn id="158" idx="0"/>
          </p:cNvCxnSpPr>
          <p:nvPr/>
        </p:nvCxnSpPr>
        <p:spPr>
          <a:xfrm>
            <a:off x="7005642" y="1166135"/>
            <a:ext cx="2438193" cy="147078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9" idx="3"/>
            <a:endCxn id="158" idx="2"/>
          </p:cNvCxnSpPr>
          <p:nvPr/>
        </p:nvCxnSpPr>
        <p:spPr>
          <a:xfrm flipV="1">
            <a:off x="9163050" y="2726921"/>
            <a:ext cx="190785" cy="1144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51" idx="3"/>
            <a:endCxn id="155" idx="2"/>
          </p:cNvCxnSpPr>
          <p:nvPr/>
        </p:nvCxnSpPr>
        <p:spPr>
          <a:xfrm flipV="1">
            <a:off x="9324838" y="2967524"/>
            <a:ext cx="118997" cy="7128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1" idx="1"/>
          </p:cNvCxnSpPr>
          <p:nvPr/>
        </p:nvCxnSpPr>
        <p:spPr>
          <a:xfrm rot="16200000" flipH="1">
            <a:off x="1816468" y="2586600"/>
            <a:ext cx="253276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04" idx="1"/>
          </p:cNvCxnSpPr>
          <p:nvPr/>
        </p:nvCxnSpPr>
        <p:spPr>
          <a:xfrm rot="16200000" flipH="1">
            <a:off x="1582349" y="2820719"/>
            <a:ext cx="721515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25931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대금청구신청목록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2"/>
            <a:endCxn id="82" idx="0"/>
          </p:cNvCxnSpPr>
          <p:nvPr/>
        </p:nvCxnSpPr>
        <p:spPr>
          <a:xfrm>
            <a:off x="1521925" y="1916964"/>
            <a:ext cx="0" cy="6761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4287" y="587040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사후정산청구상세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191025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13823" y="107240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14" idx="1"/>
          </p:cNvCxnSpPr>
          <p:nvPr/>
        </p:nvCxnSpPr>
        <p:spPr>
          <a:xfrm rot="16200000" flipH="1">
            <a:off x="376476" y="4026592"/>
            <a:ext cx="3133261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2700082" y="280063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2729079" y="2593143"/>
            <a:ext cx="180000" cy="180000"/>
            <a:chOff x="5058274" y="2498299"/>
            <a:chExt cx="180000" cy="180000"/>
          </a:xfrm>
        </p:grpSpPr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2"/>
            <a:endCxn id="146" idx="0"/>
          </p:cNvCxnSpPr>
          <p:nvPr/>
        </p:nvCxnSpPr>
        <p:spPr>
          <a:xfrm>
            <a:off x="2814287" y="2468188"/>
            <a:ext cx="4792" cy="1249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832918" y="5793955"/>
            <a:ext cx="4359927" cy="708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사후정산청구상세</a:t>
            </a:r>
            <a:r>
              <a:rPr lang="en-US" altLang="ko-KR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8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56579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51176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신청금액</a:t>
            </a:r>
          </a:p>
        </p:txBody>
      </p:sp>
      <p:sp>
        <p:nvSpPr>
          <p:cNvPr id="18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145773" y="605468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1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>
            <a:off x="3264287" y="6014404"/>
            <a:ext cx="568631" cy="1340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80" idx="3"/>
            <a:endCxn id="155" idx="2"/>
          </p:cNvCxnSpPr>
          <p:nvPr/>
        </p:nvCxnSpPr>
        <p:spPr>
          <a:xfrm flipV="1">
            <a:off x="8192845" y="2967524"/>
            <a:ext cx="1250990" cy="31808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6054681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지급상태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213936" y="442271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</a:p>
        </p:txBody>
      </p: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187836" y="274681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</a:p>
        </p:txBody>
      </p:sp>
      <p:sp>
        <p:nvSpPr>
          <p:cNvPr id="10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343944" y="358953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</a:p>
        </p:txBody>
      </p:sp>
      <p:sp>
        <p:nvSpPr>
          <p:cNvPr id="11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343944" y="529627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진행상태</a:t>
            </a:r>
          </a:p>
        </p:txBody>
      </p:sp>
    </p:spTree>
    <p:extLst>
      <p:ext uri="{BB962C8B-B14F-4D97-AF65-F5344CB8AC3E}">
        <p14:creationId xmlns:p14="http://schemas.microsoft.com/office/powerpoint/2010/main" val="401804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1.2.2 </a:t>
            </a:r>
            <a:r>
              <a:rPr lang="ko-KR" altLang="en-US" sz="1200" dirty="0" smtClean="0">
                <a:solidFill>
                  <a:schemeClr val="tx1"/>
                </a:solidFill>
              </a:rPr>
              <a:t>대금지불정보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2042420" y="2151836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20998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대금지불정보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반납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62615" y="29422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91612" y="27347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2005391" y="1983725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9" idx="1"/>
          </p:cNvCxnSpPr>
          <p:nvPr/>
        </p:nvCxnSpPr>
        <p:spPr>
          <a:xfrm>
            <a:off x="2249280" y="2241836"/>
            <a:ext cx="1664161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913441" y="314986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209985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5" idx="0"/>
            <a:endCxn id="69" idx="0"/>
          </p:cNvCxnSpPr>
          <p:nvPr/>
        </p:nvCxnSpPr>
        <p:spPr>
          <a:xfrm rot="16200000" flipV="1">
            <a:off x="5158590" y="1304706"/>
            <a:ext cx="12700" cy="159029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101" idx="1"/>
          </p:cNvCxnSpPr>
          <p:nvPr/>
        </p:nvCxnSpPr>
        <p:spPr>
          <a:xfrm>
            <a:off x="2249280" y="2241836"/>
            <a:ext cx="1664161" cy="10520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2"/>
            <a:endCxn id="158" idx="2"/>
          </p:cNvCxnSpPr>
          <p:nvPr/>
        </p:nvCxnSpPr>
        <p:spPr>
          <a:xfrm rot="16200000" flipH="1">
            <a:off x="5809097" y="942198"/>
            <a:ext cx="436858" cy="332817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35" idx="1"/>
          </p:cNvCxnSpPr>
          <p:nvPr/>
        </p:nvCxnSpPr>
        <p:spPr>
          <a:xfrm>
            <a:off x="4813441" y="2243855"/>
            <a:ext cx="69029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1" idx="2"/>
            <a:endCxn id="36" idx="1"/>
          </p:cNvCxnSpPr>
          <p:nvPr/>
        </p:nvCxnSpPr>
        <p:spPr>
          <a:xfrm rot="16200000" flipH="1">
            <a:off x="4296259" y="3505049"/>
            <a:ext cx="1168303" cy="103393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3935161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중앙조달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3502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부대조달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476909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9050" y="5187392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대금청구상세</a:t>
            </a:r>
            <a:endParaRPr lang="en-US" altLang="ko-KR" sz="8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8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기성대가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397380" y="3672068"/>
            <a:ext cx="1125417" cy="186820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계약에 따른 분기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6" idx="3"/>
            <a:endCxn id="158" idx="2"/>
          </p:cNvCxnSpPr>
          <p:nvPr/>
        </p:nvCxnSpPr>
        <p:spPr>
          <a:xfrm flipV="1">
            <a:off x="6522797" y="2824713"/>
            <a:ext cx="1168815" cy="178145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503739" y="3155545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7" idx="0"/>
            <a:endCxn id="101" idx="0"/>
          </p:cNvCxnSpPr>
          <p:nvPr/>
        </p:nvCxnSpPr>
        <p:spPr>
          <a:xfrm rot="16200000" flipV="1">
            <a:off x="5155752" y="2357558"/>
            <a:ext cx="5677" cy="1590298"/>
          </a:xfrm>
          <a:prstGeom prst="bentConnector3">
            <a:avLst>
              <a:gd name="adj1" fmla="val 41267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1" idx="3"/>
            <a:endCxn id="47" idx="1"/>
          </p:cNvCxnSpPr>
          <p:nvPr/>
        </p:nvCxnSpPr>
        <p:spPr>
          <a:xfrm>
            <a:off x="4813441" y="3293868"/>
            <a:ext cx="690298" cy="567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53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47958"/>
            <a:ext cx="967509" cy="11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292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75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06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65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1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(1/4)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대금청구통합목록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786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선금신청서상세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4143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9296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4449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중도금신청서상세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0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 smtClean="0">
                <a:solidFill>
                  <a:schemeClr val="tx1"/>
                </a:solidFill>
                <a:latin typeface="+mn-ea"/>
              </a:rPr>
              <a:t>신청정보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</a:t>
            </a:r>
            <a:r>
              <a:rPr lang="en-US" altLang="ko-KR" sz="7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545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/>
                </a:solidFill>
                <a:latin typeface="+mn-ea"/>
              </a:rPr>
              <a:t>세부신청내역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DpsmnItrpyApfrDtl_AplyDtsm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98459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>
                <a:solidFill>
                  <a:schemeClr val="tx1"/>
                </a:solidFill>
                <a:latin typeface="+mn-ea"/>
              </a:rPr>
              <a:t>지급상태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PrpayDpsmnItrpyGiveSttsPage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568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3012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대금청구신청목록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PymtClmIntgAplyList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5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(2/4)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3"/>
            <a:endCxn id="9" idx="1"/>
          </p:cNvCxnSpPr>
          <p:nvPr/>
        </p:nvCxnSpPr>
        <p:spPr>
          <a:xfrm flipV="1">
            <a:off x="2992582" y="2990174"/>
            <a:ext cx="967509" cy="299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265382" y="1644140"/>
            <a:ext cx="1727200" cy="4547654"/>
            <a:chOff x="1265382" y="1644140"/>
            <a:chExt cx="1727200" cy="416577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1644140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중앙조달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090735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77500" lnSpcReduction="20000"/>
            </a:bodyPr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CenterPrcmPymtClmDtl_Ctrt.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538442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chemeClr val="tx1"/>
                  </a:solidFill>
                  <a:latin typeface="+mn-ea"/>
                </a:rPr>
                <a:t>공급자정보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CenterPrcmPymtClmDtl_Splr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29623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CenterPrcmPymtClmDtl_Pymt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600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세금계산서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CenterPrcmPymtClmDtl_Txiv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78961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chemeClr val="tx1"/>
                  </a:solidFill>
                  <a:latin typeface="+mn-ea"/>
                </a:rPr>
                <a:t>대금청구상세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부대조달</a:t>
              </a:r>
              <a:r>
                <a:rPr lang="en-US" altLang="ko-KR" sz="1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SbsdPrcmPymtClmDtlPage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20323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계약정보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SbsdPrcmPymtClmDtl_Ctrt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462326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대금신청업체정보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SbsdPrcmPymtClmDtl_PymtBzenty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029886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대금신청금액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SbsdPrcmPymtClmDtl_PymtAply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5436511"/>
              <a:ext cx="1727200" cy="373406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62500" lnSpcReduction="2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첨부파일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10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SbsdPrcmPymtClmDtl_Atch</a:t>
              </a:r>
              <a:r>
                <a:rPr lang="en-US" altLang="ko-KR" sz="1000" dirty="0" err="1" smtClean="0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2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2110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(3/4)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553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CstrnPymtClmDtl_Ctrt.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대가지급업체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CstrnPymtClmDtl_GiveBzenty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대금청구상세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PxcndCstPymtClmDtl_Ctrt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기성대가신청금액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PxcndCstPymtClmDtl_PxcndPymt</a:t>
            </a: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357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340258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첨부파일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PxcndCstPymtClmDtl_Atch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784159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진행상태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PrcmPymtClmSttsPage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 flipV="1">
            <a:off x="2992582" y="2990174"/>
            <a:ext cx="967509" cy="2997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5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2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74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199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651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대금청구및사후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(4/4)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사후정산청구상세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계약정보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EpfcClclnClmDtl_CN.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신청금액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EpfcClclnClmDtl_AplyAmt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8323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EpfcClclnClmDtl_Txiv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3476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8629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378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RtnPymtDfryInfoPage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23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1098561"/>
            <a:chOff x="781461" y="3087955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104" name="모서리가 둥근 직사각형 103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948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14427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페이지 </a:t>
            </a:r>
            <a:r>
              <a:rPr lang="ko-KR" altLang="en-US" sz="650" dirty="0" err="1" smtClean="0"/>
              <a:t>호출시</a:t>
            </a:r>
            <a:r>
              <a:rPr lang="ko-KR" altLang="en-US" sz="650" dirty="0" smtClean="0"/>
              <a:t> </a:t>
            </a:r>
            <a:r>
              <a:rPr lang="en-US" altLang="ko-KR" sz="650" dirty="0" smtClean="0"/>
              <a:t>: </a:t>
            </a:r>
            <a:r>
              <a:rPr lang="ko-KR" altLang="en-US" sz="650" dirty="0" smtClean="0"/>
              <a:t>해당 업체에서 진행중인 모든 </a:t>
            </a:r>
            <a:r>
              <a:rPr lang="ko-KR" altLang="en-US" sz="650" dirty="0" err="1" smtClean="0"/>
              <a:t>계약건이</a:t>
            </a:r>
            <a:r>
              <a:rPr lang="ko-KR" altLang="en-US" sz="650" dirty="0" smtClean="0"/>
              <a:t> 노출됨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 smtClean="0"/>
              <a:t>계약일자기준 당일 포함 이전 </a:t>
            </a:r>
            <a:r>
              <a:rPr lang="en-US" altLang="ko-KR" sz="650" dirty="0" smtClean="0"/>
              <a:t>30</a:t>
            </a:r>
            <a:r>
              <a:rPr lang="ko-KR" altLang="en-US" sz="650" dirty="0" smtClean="0"/>
              <a:t>일 동안 신청된 계약 건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 smtClean="0"/>
              <a:t>.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표시 </a:t>
            </a:r>
            <a:r>
              <a:rPr lang="ko-KR" altLang="en-US" sz="650" dirty="0"/>
              <a:t>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 smtClean="0"/>
              <a:t>바텀시트</a:t>
            </a:r>
            <a:r>
              <a:rPr lang="ko-KR" altLang="en-US" sz="650" dirty="0" smtClean="0"/>
              <a:t> 호출</a:t>
            </a:r>
            <a:r>
              <a:rPr lang="en-US" altLang="ko-KR" sz="650" dirty="0" smtClean="0"/>
              <a:t>(</a:t>
            </a:r>
            <a:r>
              <a:rPr lang="en-US" altLang="ko-KR" sz="650" dirty="0" smtClean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</a:t>
            </a:r>
            <a:r>
              <a:rPr lang="ko-KR" altLang="en-US" sz="650" dirty="0" smtClean="0"/>
              <a:t>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smtClean="0"/>
              <a:t>표시 레이블</a:t>
            </a:r>
            <a:r>
              <a:rPr lang="en-US" altLang="ko-KR" sz="650" dirty="0" smtClean="0"/>
              <a:t>(</a:t>
            </a:r>
            <a:r>
              <a:rPr lang="ko-KR" altLang="en-US" sz="650" dirty="0" err="1" smtClean="0"/>
              <a:t>뱃지</a:t>
            </a:r>
            <a:r>
              <a:rPr lang="en-US" altLang="ko-KR" sz="650" dirty="0" smtClean="0"/>
              <a:t>)</a:t>
            </a:r>
            <a:r>
              <a:rPr lang="ko-KR" altLang="en-US" sz="650" dirty="0" smtClean="0"/>
              <a:t> 참조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r>
              <a:rPr lang="en-US" altLang="ko-KR" sz="650" dirty="0" smtClean="0"/>
              <a:t>  &gt; </a:t>
            </a:r>
            <a:r>
              <a:rPr lang="ko-KR" altLang="en-US" sz="650" dirty="0" smtClean="0"/>
              <a:t>계약방법</a:t>
            </a:r>
            <a:r>
              <a:rPr lang="en-US" altLang="ko-KR" sz="650" dirty="0" smtClean="0"/>
              <a:t>/</a:t>
            </a:r>
            <a:r>
              <a:rPr lang="ko-KR" altLang="en-US" sz="650" dirty="0" err="1" smtClean="0"/>
              <a:t>낙찰방법</a:t>
            </a:r>
            <a:r>
              <a:rPr lang="ko-KR" altLang="en-US" sz="650" dirty="0" smtClean="0"/>
              <a:t> </a:t>
            </a:r>
            <a:r>
              <a:rPr lang="en-US" altLang="ko-KR" sz="650" dirty="0" err="1" smtClean="0"/>
              <a:t>asis</a:t>
            </a:r>
            <a:r>
              <a:rPr lang="en-US" altLang="ko-KR" sz="650" dirty="0" smtClean="0"/>
              <a:t> </a:t>
            </a:r>
            <a:r>
              <a:rPr lang="ko-KR" altLang="en-US" sz="650" dirty="0" smtClean="0"/>
              <a:t>및 </a:t>
            </a:r>
            <a:r>
              <a:rPr lang="en-US" altLang="ko-KR" sz="650" dirty="0" err="1" smtClean="0"/>
              <a:t>tobe</a:t>
            </a:r>
            <a:r>
              <a:rPr lang="en-US" altLang="ko-KR" sz="650" dirty="0" smtClean="0"/>
              <a:t> </a:t>
            </a:r>
            <a:r>
              <a:rPr lang="ko-KR" altLang="en-US" sz="650" dirty="0" smtClean="0"/>
              <a:t>정보 참조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en-US" altLang="ko-KR" sz="650" dirty="0" smtClean="0"/>
              <a:t>+</a:t>
            </a:r>
            <a:r>
              <a:rPr lang="ko-KR" altLang="en-US" sz="650" dirty="0" err="1" smtClean="0"/>
              <a:t>회차노출</a:t>
            </a:r>
            <a:r>
              <a:rPr lang="ko-KR" altLang="en-US" sz="650" dirty="0" smtClean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 smtClean="0"/>
              <a:t>계약번호</a:t>
            </a:r>
            <a:r>
              <a:rPr lang="ko-KR" altLang="en-US" sz="650" dirty="0" smtClean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 smtClean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</a:t>
            </a:r>
            <a:r>
              <a:rPr lang="ko-KR" altLang="en-US" sz="650" dirty="0" smtClean="0"/>
              <a:t>로드</a:t>
            </a:r>
            <a:endParaRPr lang="en-US" altLang="ko-KR" sz="65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smtClean="0"/>
              <a:t>대금청구관련 안내문을 호출한다</a:t>
            </a:r>
            <a:r>
              <a:rPr lang="en-US" altLang="ko-KR" sz="650" dirty="0" smtClean="0"/>
              <a:t>.</a:t>
            </a:r>
            <a:r>
              <a:rPr lang="en-US" altLang="ko-KR" sz="650" dirty="0">
                <a:latin typeface="+mn-ea"/>
              </a:rPr>
              <a:t> </a:t>
            </a:r>
            <a:r>
              <a:rPr lang="en-US" altLang="ko-KR" sz="650" dirty="0" smtClean="0">
                <a:latin typeface="+mn-ea"/>
              </a:rPr>
              <a:t>(MUI-WM-01-P09)</a:t>
            </a:r>
            <a:r>
              <a:rPr lang="en-US" altLang="ko-KR" sz="650" dirty="0" smtClean="0"/>
              <a:t/>
            </a:r>
            <a:br>
              <a:rPr lang="en-US" altLang="ko-KR" sz="650" dirty="0" smtClean="0"/>
            </a:br>
            <a:endParaRPr lang="en-US" altLang="ko-KR" sz="65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" name="직사각형 7"/>
          <p:cNvSpPr/>
          <p:nvPr/>
        </p:nvSpPr>
        <p:spPr>
          <a:xfrm>
            <a:off x="7098114" y="6054072"/>
            <a:ext cx="2305455" cy="21487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err="1" smtClean="0">
                <a:solidFill>
                  <a:schemeClr val="bg1"/>
                </a:solidFill>
              </a:rPr>
              <a:t>업체명</a:t>
            </a:r>
            <a:r>
              <a:rPr lang="en-US" altLang="ko-KR" sz="500" dirty="0" smtClean="0">
                <a:solidFill>
                  <a:schemeClr val="bg1"/>
                </a:solidFill>
              </a:rPr>
              <a:t>, </a:t>
            </a:r>
            <a:r>
              <a:rPr lang="ko-KR" altLang="en-US" sz="500" dirty="0" smtClean="0">
                <a:solidFill>
                  <a:schemeClr val="bg1"/>
                </a:solidFill>
              </a:rPr>
              <a:t>입찰방법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계약종류</a:t>
            </a:r>
            <a:r>
              <a:rPr lang="en-US" altLang="ko-KR" sz="500" dirty="0" smtClean="0">
                <a:solidFill>
                  <a:schemeClr val="bg1"/>
                </a:solidFill>
              </a:rPr>
              <a:t>,</a:t>
            </a:r>
            <a:r>
              <a:rPr lang="ko-KR" altLang="en-US" sz="500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 smtClean="0">
                <a:solidFill>
                  <a:schemeClr val="bg1"/>
                </a:solidFill>
              </a:rPr>
              <a:t>누락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1529"/>
              </p:ext>
            </p:extLst>
          </p:nvPr>
        </p:nvGraphicFramePr>
        <p:xfrm>
          <a:off x="3801286" y="1616448"/>
          <a:ext cx="3069778" cy="2997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복수경쟁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98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681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적격심사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err="1" smtClean="0"/>
                        <a:t>종합심사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02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계약종류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jntCtrtCdNm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549419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B522DA37-28F9-9CCB-AF10-E2C7941DD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46545"/>
              </p:ext>
            </p:extLst>
          </p:nvPr>
        </p:nvGraphicFramePr>
        <p:xfrm>
          <a:off x="10179512" y="3920563"/>
          <a:ext cx="2995706" cy="2768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74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966358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014674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06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47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최저가격제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복수경쟁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39581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7248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7CCF8D95-8489-327A-F2B5-78561D8A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3594"/>
              </p:ext>
            </p:extLst>
          </p:nvPr>
        </p:nvGraphicFramePr>
        <p:xfrm>
          <a:off x="13190302" y="3920563"/>
          <a:ext cx="2995705" cy="2768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203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880203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235299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78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+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산출내역서적용여부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비공개수의협상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14058"/>
                  </a:ext>
                </a:extLst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11270650" y="360175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AS-IS</a:t>
            </a:r>
            <a:endParaRPr lang="ko-KR" alt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14182526" y="3601752"/>
            <a:ext cx="82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TO-BE</a:t>
            </a:r>
            <a:endParaRPr lang="ko-KR" altLang="en-US" dirty="0"/>
          </a:p>
        </p:txBody>
      </p:sp>
      <p:sp>
        <p:nvSpPr>
          <p:cNvPr id="109" name="직사각형 108"/>
          <p:cNvSpPr/>
          <p:nvPr/>
        </p:nvSpPr>
        <p:spPr>
          <a:xfrm>
            <a:off x="9999345" y="3148635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계약방법</a:t>
            </a:r>
            <a:r>
              <a:rPr lang="en-US" altLang="ko-KR" dirty="0"/>
              <a:t>/</a:t>
            </a:r>
            <a:r>
              <a:rPr lang="ko-KR" altLang="en-US" dirty="0" err="1"/>
              <a:t>낙찰방법</a:t>
            </a:r>
            <a:endParaRPr lang="ko-KR" altLang="en-US" dirty="0"/>
          </a:p>
        </p:txBody>
      </p:sp>
      <p:grpSp>
        <p:nvGrpSpPr>
          <p:cNvPr id="110" name="그룹 109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1" name="직사각형 11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업체명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0" name="그룹 89"/>
          <p:cNvGrpSpPr/>
          <p:nvPr/>
        </p:nvGrpSpPr>
        <p:grpSpPr>
          <a:xfrm>
            <a:off x="781461" y="3374704"/>
            <a:ext cx="2473257" cy="1098561"/>
            <a:chOff x="781461" y="3087955"/>
            <a:chExt cx="2473257" cy="1098561"/>
          </a:xfrm>
        </p:grpSpPr>
        <p:sp>
          <p:nvSpPr>
            <p:cNvPr id="9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9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모서리가 둥근 직사각형 93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97" name="모서리가 둥근 직사각형 96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948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55540" y="35890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/>
              <a:t>２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</a:t>
            </a:r>
            <a:r>
              <a:rPr lang="ko-KR" altLang="en-US" sz="800" dirty="0" err="1" smtClean="0"/>
              <a:t>없는경우</a:t>
            </a:r>
            <a:r>
              <a:rPr lang="ko-KR" altLang="en-US" sz="800" dirty="0" smtClean="0"/>
              <a:t> 토스트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“</a:t>
            </a:r>
            <a:r>
              <a:rPr lang="ko-KR" altLang="en-US" sz="800" dirty="0" smtClean="0"/>
              <a:t>진행중인 대금청구건이 없는 계약입니다</a:t>
            </a:r>
            <a:r>
              <a:rPr lang="en-US" altLang="ko-KR" sz="800" dirty="0" smtClean="0"/>
              <a:t>“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선택한 </a:t>
            </a:r>
            <a:r>
              <a:rPr lang="ko-KR" altLang="en-US" sz="800" dirty="0" err="1" smtClean="0"/>
              <a:t>계약건에</a:t>
            </a:r>
            <a:r>
              <a:rPr lang="ko-KR" altLang="en-US" sz="800" dirty="0" smtClean="0"/>
              <a:t> 진행중인 대금 청구가 있는 경우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바텀시트</a:t>
            </a:r>
            <a:r>
              <a:rPr lang="ko-KR" altLang="en-US" sz="800" dirty="0" smtClean="0"/>
              <a:t>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보유중인 신청 목록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4" name="직사각형 3"/>
          <p:cNvSpPr/>
          <p:nvPr/>
        </p:nvSpPr>
        <p:spPr>
          <a:xfrm>
            <a:off x="674315" y="3236053"/>
            <a:ext cx="2713111" cy="123463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8010" y="5196138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진행중인 </a:t>
            </a:r>
            <a:r>
              <a:rPr kumimoji="1" lang="ko-KR" altLang="en-US" sz="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대금청구가</a:t>
            </a:r>
            <a:r>
              <a:rPr kumimoji="1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 없는 계약 입니다</a:t>
            </a:r>
            <a:r>
              <a:rPr kumimoji="1" lang="en-US" altLang="ko-KR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68868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29541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7403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4" name="그룹 173"/>
          <p:cNvGrpSpPr/>
          <p:nvPr/>
        </p:nvGrpSpPr>
        <p:grpSpPr>
          <a:xfrm rot="5400000">
            <a:off x="3948482" y="1640499"/>
            <a:ext cx="94010" cy="47005"/>
            <a:chOff x="6812560" y="3297172"/>
            <a:chExt cx="94010" cy="47005"/>
          </a:xfrm>
        </p:grpSpPr>
        <p:cxnSp>
          <p:nvCxnSpPr>
            <p:cNvPr id="175" name="직선 연결선 17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타원 176"/>
          <p:cNvSpPr/>
          <p:nvPr/>
        </p:nvSpPr>
        <p:spPr>
          <a:xfrm>
            <a:off x="6238006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양쪽 모서리가 둥근 사각형 188"/>
          <p:cNvSpPr/>
          <p:nvPr/>
        </p:nvSpPr>
        <p:spPr>
          <a:xfrm>
            <a:off x="3868868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4954881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6357807" y="2085445"/>
            <a:ext cx="94010" cy="94010"/>
            <a:chOff x="6812560" y="3297172"/>
            <a:chExt cx="94010" cy="94010"/>
          </a:xfrm>
        </p:grpSpPr>
        <p:cxnSp>
          <p:nvCxnSpPr>
            <p:cNvPr id="192" name="직선 연결선 19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97945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001575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3974930" y="3383452"/>
            <a:ext cx="2473257" cy="987494"/>
            <a:chOff x="781461" y="2794394"/>
            <a:chExt cx="2473257" cy="987494"/>
          </a:xfrm>
        </p:grpSpPr>
        <p:sp>
          <p:nvSpPr>
            <p:cNvPr id="19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/>
                <a:t>청구번호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12315 - </a:t>
              </a:r>
              <a:r>
                <a:rPr lang="en-US" altLang="ko-KR" sz="800" dirty="0" smtClean="0"/>
                <a:t>42</a:t>
              </a:r>
            </a:p>
            <a:p>
              <a:r>
                <a:rPr lang="ko-KR" altLang="en-US" sz="900" b="1" dirty="0" err="1" smtClean="0"/>
                <a:t>대금청구서</a:t>
              </a:r>
              <a:endParaRPr lang="ko-KR" altLang="en-US" sz="1050" b="1" dirty="0"/>
            </a:p>
          </p:txBody>
        </p:sp>
        <p:sp>
          <p:nvSpPr>
            <p:cNvPr id="19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0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44389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74930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68868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55615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" name="직선 화살표 연결선 8"/>
          <p:cNvCxnSpPr>
            <a:endCxn id="99" idx="0"/>
          </p:cNvCxnSpPr>
          <p:nvPr/>
        </p:nvCxnSpPr>
        <p:spPr>
          <a:xfrm flipH="1">
            <a:off x="2063172" y="4562778"/>
            <a:ext cx="1" cy="63336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/>
          <p:cNvCxnSpPr/>
          <p:nvPr/>
        </p:nvCxnSpPr>
        <p:spPr>
          <a:xfrm>
            <a:off x="3411164" y="3851307"/>
            <a:ext cx="317308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타원 2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106076" y="47375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215" name="그룹 214"/>
          <p:cNvGrpSpPr/>
          <p:nvPr/>
        </p:nvGrpSpPr>
        <p:grpSpPr>
          <a:xfrm>
            <a:off x="3974930" y="4756982"/>
            <a:ext cx="2473257" cy="987494"/>
            <a:chOff x="781461" y="2794394"/>
            <a:chExt cx="2473257" cy="987494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616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800" dirty="0" err="1">
                  <a:solidFill>
                    <a:prstClr val="black"/>
                  </a:solidFill>
                </a:rPr>
                <a:t>청구번호</a:t>
              </a:r>
              <a:r>
                <a:rPr lang="ko-KR" altLang="en-US" sz="800" dirty="0">
                  <a:solidFill>
                    <a:prstClr val="black"/>
                  </a:solidFill>
                </a:rPr>
                <a:t> </a:t>
              </a:r>
              <a:r>
                <a:rPr lang="en-US" altLang="ko-KR" sz="800" dirty="0">
                  <a:solidFill>
                    <a:prstClr val="black"/>
                  </a:solidFill>
                </a:rPr>
                <a:t>12315 - 42</a:t>
              </a:r>
            </a:p>
            <a:p>
              <a:r>
                <a:rPr lang="ko-KR" altLang="en-US" sz="900" b="1" dirty="0" err="1" smtClean="0"/>
                <a:t>선금신청서</a:t>
              </a:r>
              <a:r>
                <a:rPr lang="ko-KR" altLang="en-US" sz="900" b="1" dirty="0" smtClean="0"/>
                <a:t> </a:t>
              </a:r>
              <a:endParaRPr lang="ko-KR" altLang="en-US" sz="1050" b="1" dirty="0"/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89391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확정구분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세액여부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작성일자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4574" y="3082030"/>
              <a:ext cx="65723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913959" y="58124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모서리가 둥근 직사각형 102"/>
          <p:cNvSpPr/>
          <p:nvPr/>
        </p:nvSpPr>
        <p:spPr>
          <a:xfrm>
            <a:off x="3969021" y="320969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4263216" y="3209691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4562253" y="3209691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세액있음</a:t>
            </a:r>
            <a:endParaRPr lang="ko-KR" altLang="en-US" sz="600" dirty="0"/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5022627" y="3209691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3969021" y="456815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4263216" y="4568157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4562253" y="4568157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세액없음</a:t>
            </a:r>
            <a:endParaRPr lang="ko-KR" altLang="en-US" sz="600" dirty="0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022627" y="4568157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3339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ko-KR" altLang="en-US" sz="800" dirty="0"/>
              <a:t> 페이지 타이틀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초기화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창 닫기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각 </a:t>
            </a:r>
            <a:r>
              <a:rPr lang="ko-KR" altLang="en-US" sz="800" dirty="0" err="1"/>
              <a:t>섹션명</a:t>
            </a:r>
            <a:r>
              <a:rPr lang="ko-KR" altLang="en-US" sz="800" dirty="0"/>
              <a:t> 클릭 시 아코디언 동작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업무 </a:t>
            </a:r>
            <a:r>
              <a:rPr lang="ko-KR" altLang="en-US" sz="800" dirty="0"/>
              <a:t>구분</a:t>
            </a:r>
            <a:r>
              <a:rPr lang="en-US" altLang="ko-KR" sz="800" dirty="0"/>
              <a:t>(</a:t>
            </a:r>
            <a:r>
              <a:rPr lang="ko-KR" altLang="en-US" sz="800" dirty="0" err="1"/>
              <a:t>필수값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항목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전체</a:t>
            </a:r>
            <a:r>
              <a:rPr lang="en-US" altLang="ko-KR" sz="800" dirty="0"/>
              <a:t>, </a:t>
            </a:r>
            <a:r>
              <a:rPr lang="ko-KR" altLang="en-US" sz="800" dirty="0"/>
              <a:t>물품</a:t>
            </a:r>
            <a:r>
              <a:rPr lang="en-US" altLang="ko-KR" sz="800" dirty="0"/>
              <a:t>,</a:t>
            </a:r>
            <a:r>
              <a:rPr lang="ko-KR" altLang="en-US" sz="800" dirty="0"/>
              <a:t>용역</a:t>
            </a:r>
            <a:r>
              <a:rPr lang="en-US" altLang="ko-KR" sz="800" dirty="0"/>
              <a:t>,</a:t>
            </a:r>
            <a:r>
              <a:rPr lang="ko-KR" altLang="en-US" sz="800" dirty="0"/>
              <a:t>공사</a:t>
            </a:r>
            <a:r>
              <a:rPr lang="en-US" altLang="ko-KR" sz="800" strike="sngStrike" dirty="0"/>
              <a:t>,</a:t>
            </a:r>
            <a:r>
              <a:rPr lang="ko-KR" altLang="en-US" sz="800" strike="sngStrike" dirty="0"/>
              <a:t>국외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전체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3-2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3-3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>
                <a:sym typeface="Wingdings" panose="05000000000000000000" pitchFamily="2" charset="2"/>
              </a:rPr>
              <a:t>검색어</a:t>
            </a:r>
            <a:r>
              <a:rPr lang="ko-KR" altLang="en-US" sz="800" dirty="0">
                <a:sym typeface="Wingdings" panose="05000000000000000000" pitchFamily="2" charset="2"/>
              </a:rPr>
              <a:t> 영역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계약건명</a:t>
            </a:r>
            <a:r>
              <a:rPr lang="en-US" altLang="ko-KR" sz="800" dirty="0" smtClean="0">
                <a:sym typeface="Wingdings" panose="05000000000000000000" pitchFamily="2" charset="2"/>
              </a:rPr>
              <a:t>, </a:t>
            </a:r>
            <a:r>
              <a:rPr lang="ko-KR" altLang="en-US" sz="800" dirty="0" err="1">
                <a:sym typeface="Wingdings" panose="05000000000000000000" pitchFamily="2" charset="2"/>
              </a:rPr>
              <a:t>계약번호</a:t>
            </a:r>
            <a:r>
              <a:rPr lang="en-US" altLang="ko-KR" sz="800" dirty="0">
                <a:sym typeface="Wingdings" panose="05000000000000000000" pitchFamily="2" charset="2"/>
              </a:rPr>
              <a:t>, </a:t>
            </a:r>
            <a:r>
              <a:rPr lang="en-US" altLang="ko-KR" sz="800" dirty="0" smtClean="0">
                <a:sym typeface="Wingdings" panose="05000000000000000000" pitchFamily="2" charset="2"/>
              </a:rPr>
              <a:t/>
            </a:r>
            <a:br>
              <a:rPr lang="en-US" altLang="ko-KR" sz="800" dirty="0" smtClean="0">
                <a:sym typeface="Wingdings" panose="05000000000000000000" pitchFamily="2" charset="2"/>
              </a:rPr>
            </a:br>
            <a:r>
              <a:rPr lang="en-US" altLang="ko-KR" sz="800" dirty="0" smtClean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글자검색</a:t>
            </a:r>
            <a:r>
              <a:rPr lang="en-US" altLang="ko-KR" sz="800" dirty="0">
                <a:sym typeface="Wingdings" panose="05000000000000000000" pitchFamily="2" charset="2"/>
              </a:rPr>
              <a:t>: </a:t>
            </a:r>
            <a:r>
              <a:rPr lang="ko-KR" altLang="en-US" sz="800" dirty="0" err="1" smtClean="0">
                <a:sym typeface="Wingdings" panose="05000000000000000000" pitchFamily="2" charset="2"/>
              </a:rPr>
              <a:t>계약건명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 err="1">
                <a:sym typeface="Wingdings" panose="05000000000000000000" pitchFamily="2" charset="2"/>
              </a:rPr>
              <a:t>숫자검색</a:t>
            </a:r>
            <a:r>
              <a:rPr lang="en-US" altLang="ko-KR" sz="800" dirty="0" smtClean="0">
                <a:sym typeface="Wingdings" panose="05000000000000000000" pitchFamily="2" charset="2"/>
              </a:rPr>
              <a:t>: </a:t>
            </a:r>
            <a:r>
              <a:rPr lang="ko-KR" altLang="en-US" sz="800" dirty="0">
                <a:sym typeface="Wingdings" panose="05000000000000000000" pitchFamily="2" charset="2"/>
              </a:rPr>
              <a:t>계약 번호 </a:t>
            </a:r>
            <a:r>
              <a:rPr lang="en-US" altLang="ko-KR" sz="800" dirty="0">
                <a:sym typeface="Wingdings" panose="05000000000000000000" pitchFamily="2" charset="2"/>
              </a:rPr>
              <a:t>(MUI-EX-02-P79)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>
                <a:sym typeface="Wingdings" panose="05000000000000000000" pitchFamily="2" charset="2"/>
              </a:rPr>
              <a:t>검색 </a:t>
            </a:r>
            <a:r>
              <a:rPr lang="ko-KR" altLang="en-US" sz="800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sz="800" dirty="0" err="1">
                <a:sym typeface="Wingdings" panose="05000000000000000000" pitchFamily="2" charset="2"/>
              </a:rPr>
              <a:t>플로팅</a:t>
            </a:r>
            <a:r>
              <a:rPr lang="ko-KR" altLang="en-US" sz="800" dirty="0">
                <a:sym typeface="Wingdings" panose="05000000000000000000" pitchFamily="2" charset="2"/>
              </a:rPr>
              <a:t> </a:t>
            </a:r>
            <a:r>
              <a:rPr lang="ko-KR" altLang="en-US" sz="800" dirty="0" smtClean="0">
                <a:sym typeface="Wingdings" panose="05000000000000000000" pitchFamily="2" charset="2"/>
              </a:rPr>
              <a:t>처리</a:t>
            </a:r>
            <a:endParaRPr lang="en-US" altLang="ko-KR" sz="8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strike="sngStrike" dirty="0" smtClean="0">
                <a:sym typeface="Wingdings" panose="05000000000000000000" pitchFamily="2" charset="2"/>
              </a:rPr>
              <a:t>대금청구구분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/>
            </a:r>
            <a:br>
              <a:rPr lang="en-US" altLang="ko-KR" sz="800" strike="sngStrike" dirty="0" smtClean="0">
                <a:sym typeface="Wingdings" panose="05000000000000000000" pitchFamily="2" charset="2"/>
              </a:rPr>
            </a:br>
            <a:r>
              <a:rPr lang="en-US" altLang="ko-KR" sz="800" strike="sngStrike" dirty="0" smtClean="0">
                <a:sym typeface="Wingdings" panose="05000000000000000000" pitchFamily="2" charset="2"/>
              </a:rPr>
              <a:t>- 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전체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 </a:t>
            </a:r>
            <a:r>
              <a:rPr lang="ko-KR" altLang="en-US" sz="800" strike="sngStrike" dirty="0" err="1" smtClean="0">
                <a:sym typeface="Wingdings" panose="05000000000000000000" pitchFamily="2" charset="2"/>
              </a:rPr>
              <a:t>선금신청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 </a:t>
            </a:r>
            <a:r>
              <a:rPr lang="ko-KR" altLang="en-US" sz="800" strike="sngStrike" dirty="0" err="1" smtClean="0">
                <a:sym typeface="Wingdings" panose="05000000000000000000" pitchFamily="2" charset="2"/>
              </a:rPr>
              <a:t>착중도금신청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대금청구신청</a:t>
            </a:r>
            <a:r>
              <a:rPr lang="en-US" altLang="ko-KR" sz="800" strike="sngStrike" dirty="0" smtClean="0">
                <a:sym typeface="Wingdings" panose="05000000000000000000" pitchFamily="2" charset="2"/>
              </a:rPr>
              <a:t>,</a:t>
            </a:r>
            <a:r>
              <a:rPr lang="ko-KR" altLang="en-US" sz="800" strike="sngStrike" dirty="0" smtClean="0">
                <a:sym typeface="Wingdings" panose="05000000000000000000" pitchFamily="2" charset="2"/>
              </a:rPr>
              <a:t>사후정산청구서 </a:t>
            </a:r>
            <a:r>
              <a:rPr lang="en-US" altLang="ko-KR" sz="800" dirty="0">
                <a:sym typeface="Wingdings" panose="05000000000000000000" pitchFamily="2" charset="2"/>
              </a:rPr>
              <a:t/>
            </a:r>
            <a:br>
              <a:rPr lang="en-US" altLang="ko-KR" sz="800" dirty="0">
                <a:sym typeface="Wingdings" panose="05000000000000000000" pitchFamily="2" charset="2"/>
              </a:rPr>
            </a:br>
            <a:endParaRPr lang="en-US" altLang="ko-KR" sz="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MUI-WM-01-P12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4320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4306300"/>
            <a:ext cx="2516607" cy="883322"/>
            <a:chOff x="778515" y="4388257"/>
            <a:chExt cx="2516607" cy="883322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4060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4218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국외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227053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2487756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/>
          <p:cNvSpPr/>
          <p:nvPr/>
        </p:nvSpPr>
        <p:spPr>
          <a:xfrm>
            <a:off x="772169" y="268484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289950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3111473"/>
            <a:ext cx="107950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2449398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34067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36989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39660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/>
              <a:t>3</a:t>
            </a:r>
            <a:r>
              <a:rPr lang="en-US" altLang="ko-KR" sz="500" b="1" dirty="0" smtClean="0"/>
              <a:t>-3</a:t>
            </a:r>
            <a:endParaRPr lang="ko-KR" altLang="en-US" sz="5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224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3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 rot="16200000">
            <a:off x="3178184" y="4869786"/>
            <a:ext cx="91438" cy="45719"/>
            <a:chOff x="6812560" y="3297172"/>
            <a:chExt cx="94010" cy="47005"/>
          </a:xfrm>
        </p:grpSpPr>
        <p:cxnSp>
          <p:nvCxnSpPr>
            <p:cNvPr id="67" name="직선 연결선 6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대금청구</a:t>
            </a:r>
            <a:r>
              <a:rPr lang="ko-KR" altLang="en-US" dirty="0" smtClean="0"/>
              <a:t> 목록의 </a:t>
            </a:r>
            <a:r>
              <a:rPr lang="ko-KR" altLang="en-US" dirty="0" err="1" smtClean="0"/>
              <a:t>계약번호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계약명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대금청구신청목록 </a:t>
            </a:r>
            <a:r>
              <a:rPr lang="ko-KR" altLang="en-US" dirty="0"/>
              <a:t>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</a:t>
            </a:r>
            <a:r>
              <a:rPr lang="ko-KR" altLang="en-US" dirty="0" smtClean="0"/>
              <a:t>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대금청구신청목록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대금청구신청목록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 smtClean="0">
                <a:latin typeface="+mn-ea"/>
              </a:rPr>
              <a:t>대금청구</a:t>
            </a:r>
            <a:r>
              <a:rPr lang="ko-KR" altLang="en-US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신청목록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9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383452"/>
            <a:ext cx="2473257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800" dirty="0" err="1">
                <a:solidFill>
                  <a:prstClr val="black"/>
                </a:solidFill>
              </a:rPr>
              <a:t>청구번호</a:t>
            </a:r>
            <a:r>
              <a:rPr lang="ko-KR" altLang="en-US" sz="800" dirty="0">
                <a:solidFill>
                  <a:prstClr val="black"/>
                </a:solidFill>
              </a:rPr>
              <a:t> </a:t>
            </a:r>
            <a:r>
              <a:rPr lang="en-US" altLang="ko-KR" sz="800" dirty="0">
                <a:solidFill>
                  <a:prstClr val="black"/>
                </a:solidFill>
              </a:rPr>
              <a:t>12315 - 42</a:t>
            </a:r>
          </a:p>
          <a:p>
            <a:pPr lvl="0"/>
            <a:r>
              <a:rPr lang="ko-KR" altLang="en-US" sz="900" b="1" dirty="0" err="1">
                <a:solidFill>
                  <a:prstClr val="black"/>
                </a:solidFill>
              </a:rPr>
              <a:t>대금청구서</a:t>
            </a:r>
            <a:endParaRPr lang="ko-KR" altLang="en-US" sz="1050" b="1" dirty="0">
              <a:solidFill>
                <a:prstClr val="black"/>
              </a:solidFill>
            </a:endParaRPr>
          </a:p>
        </p:txBody>
      </p:sp>
      <p:sp>
        <p:nvSpPr>
          <p:cNvPr id="193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774248"/>
            <a:ext cx="307777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청구금액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작성일자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청구일자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94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4574" y="3766887"/>
            <a:ext cx="657231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2025-10-15</a:t>
            </a:r>
          </a:p>
          <a:p>
            <a:pPr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2025-11-20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980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2025 000 000 - 01</a:t>
            </a:r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54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10328332" y="3719117"/>
            <a:ext cx="2695830" cy="1303657"/>
            <a:chOff x="3840447" y="4011305"/>
            <a:chExt cx="2695830" cy="1303657"/>
          </a:xfrm>
        </p:grpSpPr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536339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구분</a:t>
              </a:r>
            </a:p>
          </p:txBody>
        </p:sp>
        <p:sp>
          <p:nvSpPr>
            <p:cNvPr id="222" name="모서리가 둥근 직사각형 221"/>
            <p:cNvSpPr/>
            <p:nvPr/>
          </p:nvSpPr>
          <p:spPr>
            <a:xfrm>
              <a:off x="4608594" y="4530500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26" name="모서리가 둥근 직사각형 225"/>
            <p:cNvSpPr/>
            <p:nvPr/>
          </p:nvSpPr>
          <p:spPr>
            <a:xfrm>
              <a:off x="4313169" y="4530500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8635" y="4011305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228" name="모서리가 둥근 직사각형 227"/>
            <p:cNvSpPr/>
            <p:nvPr/>
          </p:nvSpPr>
          <p:spPr>
            <a:xfrm>
              <a:off x="4318634" y="4863031"/>
              <a:ext cx="47561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86887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진행상태</a:t>
              </a:r>
            </a:p>
          </p:txBody>
        </p:sp>
        <p:sp>
          <p:nvSpPr>
            <p:cNvPr id="230" name="모서리가 둥근 직사각형 229"/>
            <p:cNvSpPr/>
            <p:nvPr/>
          </p:nvSpPr>
          <p:spPr>
            <a:xfrm>
              <a:off x="4840814" y="486303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작성</a:t>
              </a:r>
              <a:endParaRPr lang="ko-KR" altLang="en-US" sz="600" dirty="0"/>
            </a:p>
          </p:txBody>
        </p:sp>
        <p:sp>
          <p:nvSpPr>
            <p:cNvPr id="231" name="모서리가 둥근 직사각형 230"/>
            <p:cNvSpPr/>
            <p:nvPr/>
          </p:nvSpPr>
          <p:spPr>
            <a:xfrm>
              <a:off x="5130857" y="486303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32" name="모서리가 둥근 직사각형 231"/>
            <p:cNvSpPr/>
            <p:nvPr/>
          </p:nvSpPr>
          <p:spPr>
            <a:xfrm>
              <a:off x="5099260" y="5195562"/>
              <a:ext cx="5728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공급가액 변동</a:t>
              </a:r>
            </a:p>
          </p:txBody>
        </p:sp>
        <p:sp>
          <p:nvSpPr>
            <p:cNvPr id="233" name="모서리가 둥근 직사각형 232"/>
            <p:cNvSpPr/>
            <p:nvPr/>
          </p:nvSpPr>
          <p:spPr>
            <a:xfrm>
              <a:off x="4318635" y="5195562"/>
              <a:ext cx="72644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기재사항 </a:t>
              </a:r>
              <a:r>
                <a:rPr lang="ko-KR" altLang="en-US" sz="600" dirty="0" err="1"/>
                <a:t>착오정정</a:t>
              </a:r>
              <a:endParaRPr lang="ko-KR" altLang="en-US" sz="600" dirty="0"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201401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수정사유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35" name="모서리가 둥근 직사각형 234"/>
            <p:cNvSpPr/>
            <p:nvPr/>
          </p:nvSpPr>
          <p:spPr>
            <a:xfrm>
              <a:off x="6023985" y="5195562"/>
              <a:ext cx="51229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계약의 해제</a:t>
              </a:r>
            </a:p>
          </p:txBody>
        </p:sp>
        <p:sp>
          <p:nvSpPr>
            <p:cNvPr id="236" name="모서리가 둥근 직사각형 235"/>
            <p:cNvSpPr/>
            <p:nvPr/>
          </p:nvSpPr>
          <p:spPr>
            <a:xfrm>
              <a:off x="5726322" y="5195562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환입</a:t>
              </a:r>
              <a:endParaRPr lang="ko-KR" altLang="en-US" sz="6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77727"/>
              </p:ext>
            </p:extLst>
          </p:nvPr>
        </p:nvGraphicFramePr>
        <p:xfrm>
          <a:off x="3801286" y="1616448"/>
          <a:ext cx="3069778" cy="2214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확정구분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cfmtnYn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345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세액여부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vatSecd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세액있음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세액없음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국세청승인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저장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60088"/>
                  </a:ext>
                </a:extLst>
              </a:tr>
            </a:tbl>
          </a:graphicData>
        </a:graphic>
      </p:graphicFrame>
      <p:sp>
        <p:nvSpPr>
          <p:cNvPr id="60" name="모서리가 둥근 직사각형 59"/>
          <p:cNvSpPr/>
          <p:nvPr/>
        </p:nvSpPr>
        <p:spPr>
          <a:xfrm>
            <a:off x="781461" y="320969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75656" y="3209691"/>
            <a:ext cx="24832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/>
              <a:t>확정</a:t>
            </a:r>
            <a:endParaRPr lang="ko-KR" altLang="en-US" sz="600" dirty="0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1374693" y="3209691"/>
            <a:ext cx="4096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세액있음</a:t>
            </a:r>
            <a:endParaRPr lang="ko-KR" altLang="en-US" sz="600" dirty="0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35067" y="3209691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28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5" name="그룹 6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6" name="직사각형 6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항목에 맞춰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54628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:GTSA0013(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대금청구계약종류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41300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" name="직사각형 1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신청 목록 최신화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0487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35762"/>
              </p:ext>
            </p:extLst>
          </p:nvPr>
        </p:nvGraphicFramePr>
        <p:xfrm>
          <a:off x="453000" y="1041145"/>
          <a:ext cx="8995591" cy="2626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(MUI-WM-01-P09)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대금청구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 err="1" smtClean="0"/>
                        <a:t>카드목록</a:t>
                      </a:r>
                      <a:r>
                        <a:rPr lang="ko-KR" altLang="en-US" sz="800" dirty="0" smtClean="0"/>
                        <a:t> 클릭 이벤트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onclick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대금청구신청목록을 호출한다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(MUI-WM-01-P13)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대금청구신청목록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92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대금청구신청목록 카드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scwin.btn_pymtClmMdfcnAplyDtl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(MUI-WM-01-M02)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착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중도금신청서상세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(MUI-WM-01-M05)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중앙조달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(MUI-WM-01-M06)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부대조달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(MUI-WM-01-M07)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(MUI-WM-01-M08)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대금청구상세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기성대가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(MUI-WM-01-M13) 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사후정산청구상세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</a:t>
            </a:r>
            <a:r>
              <a:rPr lang="ko-KR" altLang="en-US" sz="800" dirty="0"/>
              <a:t>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/>
              <a:t>이동 </a:t>
            </a:r>
            <a:r>
              <a:rPr lang="ko-KR" altLang="en-US" sz="800" dirty="0" smtClean="0"/>
              <a:t>버튼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선금신청서상세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698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110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0358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3493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1691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654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4887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248877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6548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1075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6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3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21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3551651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5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571815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508551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직사각형 181"/>
          <p:cNvSpPr/>
          <p:nvPr/>
        </p:nvSpPr>
        <p:spPr>
          <a:xfrm>
            <a:off x="7053988" y="5956663"/>
            <a:ext cx="2349581" cy="25912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>
                <a:solidFill>
                  <a:schemeClr val="bg1"/>
                </a:solidFill>
              </a:rPr>
              <a:t>0701]</a:t>
            </a:r>
          </a:p>
          <a:p>
            <a:r>
              <a:rPr lang="ko-KR" altLang="en-US" sz="500" dirty="0" smtClean="0">
                <a:solidFill>
                  <a:schemeClr val="bg1"/>
                </a:solidFill>
              </a:rPr>
              <a:t>일금 누락</a:t>
            </a:r>
            <a:endParaRPr lang="en-US" altLang="ko-KR" sz="500" dirty="0" smtClean="0">
              <a:solidFill>
                <a:schemeClr val="bg1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248877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8716" y="1639721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6" name="그룹 145"/>
          <p:cNvGrpSpPr/>
          <p:nvPr/>
        </p:nvGrpSpPr>
        <p:grpSpPr>
          <a:xfrm>
            <a:off x="781461" y="2278058"/>
            <a:ext cx="2473257" cy="1098561"/>
            <a:chOff x="781461" y="3087955"/>
            <a:chExt cx="2473257" cy="1098561"/>
          </a:xfrm>
        </p:grpSpPr>
        <p:sp>
          <p:nvSpPr>
            <p:cNvPr id="14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14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업체명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5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조달업체</a:t>
              </a:r>
              <a:r>
                <a:rPr lang="ko-KR" altLang="en-US" sz="600" dirty="0" smtClean="0">
                  <a:latin typeface="+mn-ea"/>
                </a:rPr>
                <a:t> </a:t>
              </a:r>
              <a:r>
                <a:rPr lang="en-US" altLang="ko-KR" sz="600" dirty="0" smtClean="0">
                  <a:latin typeface="+mn-ea"/>
                </a:rPr>
                <a:t>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186" name="모서리가 둥근 직사각형 185"/>
            <p:cNvSpPr/>
            <p:nvPr/>
          </p:nvSpPr>
          <p:spPr>
            <a:xfrm>
              <a:off x="1519793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총액제</a:t>
              </a:r>
              <a:endParaRPr lang="ko-KR" altLang="en-US" sz="600" dirty="0"/>
            </a:p>
          </p:txBody>
        </p:sp>
        <p:sp>
          <p:nvSpPr>
            <p:cNvPr id="188" name="모서리가 둥근 직사각형 187"/>
            <p:cNvSpPr/>
            <p:nvPr/>
          </p:nvSpPr>
          <p:spPr>
            <a:xfrm>
              <a:off x="1921830" y="3087955"/>
              <a:ext cx="356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주계약</a:t>
              </a:r>
              <a:endParaRPr lang="ko-KR" altLang="en-US" sz="600" dirty="0"/>
            </a:p>
          </p:txBody>
        </p:sp>
      </p:grp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349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126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024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신청서 </a:t>
            </a:r>
            <a:r>
              <a:rPr lang="ko-KR" altLang="en-US" dirty="0"/>
              <a:t>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일금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세부신청내역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세부신청내역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선금신청서상세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세부신청내역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11180"/>
              </p:ext>
            </p:extLst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070986"/>
              </p:ext>
            </p:extLst>
          </p:nvPr>
        </p:nvGraphicFramePr>
        <p:xfrm>
          <a:off x="453000" y="1049851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중도금신청서상세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4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1640408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0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602285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3551653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187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착수금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68023" y="1513670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신청정보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세부 </a:t>
            </a:r>
            <a:r>
              <a:rPr lang="ko-KR" altLang="en-US" sz="800" dirty="0" err="1" smtClean="0"/>
              <a:t>신청내역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지급상태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신청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이동 버튼</a:t>
            </a:r>
            <a:endParaRPr lang="en-US" altLang="ko-KR" sz="800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1660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67666" y="5831775"/>
            <a:ext cx="2323463" cy="1672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0703) </a:t>
            </a:r>
            <a:r>
              <a:rPr lang="ko-KR" altLang="en-US" sz="500" dirty="0" smtClean="0"/>
              <a:t>품명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일금 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구분</a:t>
            </a:r>
            <a:r>
              <a:rPr lang="en-US" altLang="ko-KR" sz="500" dirty="0" smtClean="0"/>
              <a:t>,</a:t>
            </a:r>
            <a:r>
              <a:rPr lang="ko-KR" altLang="en-US" sz="500" dirty="0">
                <a:latin typeface="+mn-ea"/>
              </a:rPr>
              <a:t> 승인된 전 차수 </a:t>
            </a:r>
            <a:r>
              <a:rPr lang="ko-KR" altLang="en-US" sz="500" dirty="0" err="1">
                <a:latin typeface="+mn-ea"/>
              </a:rPr>
              <a:t>수령금액의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합계</a:t>
            </a:r>
            <a:r>
              <a:rPr lang="en-US" altLang="ko-KR" sz="500" dirty="0" smtClean="0">
                <a:latin typeface="+mn-ea"/>
              </a:rPr>
              <a:t>,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err="1">
                <a:latin typeface="+mn-ea"/>
              </a:rPr>
              <a:t>신청금액의</a:t>
            </a:r>
            <a:r>
              <a:rPr lang="ko-KR" altLang="en-US" sz="500" dirty="0">
                <a:latin typeface="+mn-ea"/>
              </a:rPr>
              <a:t> </a:t>
            </a:r>
            <a:r>
              <a:rPr lang="ko-KR" altLang="en-US" sz="500" dirty="0" smtClean="0">
                <a:latin typeface="+mn-ea"/>
              </a:rPr>
              <a:t>비율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  <p:sp>
        <p:nvSpPr>
          <p:cNvPr id="154" name="직사각형 153"/>
          <p:cNvSpPr/>
          <p:nvPr/>
        </p:nvSpPr>
        <p:spPr>
          <a:xfrm>
            <a:off x="7067666" y="6021206"/>
            <a:ext cx="2300641" cy="1601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032491" y="1640408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지급상태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신청서 </a:t>
            </a:r>
            <a:r>
              <a:rPr lang="ko-KR" altLang="en-US" dirty="0"/>
              <a:t>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5300535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643629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929246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28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03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3666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80565" y="3361888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신청정보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세부 </a:t>
              </a: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2" name="그룹 61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63" name="타원 6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4" name="그룹 6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9" name="직선 연결선 6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직선 연결선 6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타원 6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6" name="그룹 6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7" name="직선 연결선 6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681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433482"/>
            <a:ext cx="2630093" cy="1077219"/>
            <a:chOff x="3865118" y="2946203"/>
            <a:chExt cx="2630093" cy="107721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132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2177409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807736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국내 재료비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1922681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간접 재료비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336307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노무비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– </a:t>
            </a:r>
            <a:r>
              <a:rPr lang="ko-KR" altLang="en-US" sz="700" dirty="0">
                <a:latin typeface="+mn-ea"/>
              </a:rPr>
              <a:t>직접 </a:t>
            </a:r>
            <a:r>
              <a:rPr lang="ko-KR" altLang="en-US" sz="700" dirty="0" err="1">
                <a:latin typeface="+mn-ea"/>
              </a:rPr>
              <a:t>노무비</a:t>
            </a:r>
            <a:endParaRPr lang="ko-KR" altLang="en-US" sz="700" dirty="0">
              <a:latin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4820381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노무비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– </a:t>
            </a:r>
            <a:r>
              <a:rPr lang="ko-KR" altLang="en-US" sz="700" dirty="0">
                <a:latin typeface="+mn-ea"/>
              </a:rPr>
              <a:t>간접 </a:t>
            </a:r>
            <a:r>
              <a:rPr lang="ko-KR" altLang="en-US" sz="700" dirty="0" err="1">
                <a:latin typeface="+mn-ea"/>
              </a:rPr>
              <a:t>노무비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5" name="그룹 104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1" name="그룹 110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14" name="타원 113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0" name="직선 연결선 11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타원 115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7" name="그룹 11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8" name="그룹 12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32" name="타원 13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3" name="그룹 13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40" name="직선 연결선 13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4" name="타원 13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36" name="직선 연결선 13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직선 연결선 13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716366" y="4050520"/>
            <a:ext cx="2630093" cy="1077219"/>
            <a:chOff x="3865118" y="2946203"/>
            <a:chExt cx="2630093" cy="1077219"/>
          </a:xfrm>
        </p:grpSpPr>
        <p:sp>
          <p:nvSpPr>
            <p:cNvPr id="147" name="직사각형 146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59" name="직사각형 15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  <p:grpSp>
        <p:nvGrpSpPr>
          <p:cNvPr id="169" name="그룹 168"/>
          <p:cNvGrpSpPr/>
          <p:nvPr/>
        </p:nvGrpSpPr>
        <p:grpSpPr>
          <a:xfrm>
            <a:off x="3836701" y="2154668"/>
            <a:ext cx="2630093" cy="1077219"/>
            <a:chOff x="3865118" y="2946203"/>
            <a:chExt cx="2630093" cy="1077219"/>
          </a:xfrm>
        </p:grpSpPr>
        <p:sp>
          <p:nvSpPr>
            <p:cNvPr id="170" name="직사각형 169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80" name="그룹 179"/>
          <p:cNvGrpSpPr/>
          <p:nvPr/>
        </p:nvGrpSpPr>
        <p:grpSpPr>
          <a:xfrm>
            <a:off x="3836701" y="3629732"/>
            <a:ext cx="2630093" cy="1077219"/>
            <a:chOff x="3865118" y="2946203"/>
            <a:chExt cx="2630093" cy="1077219"/>
          </a:xfrm>
        </p:grpSpPr>
        <p:sp>
          <p:nvSpPr>
            <p:cNvPr id="181" name="직사각형 180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3836701" y="5092939"/>
            <a:ext cx="2630093" cy="1077219"/>
            <a:chOff x="3865118" y="2946203"/>
            <a:chExt cx="2630093" cy="1077219"/>
          </a:xfrm>
        </p:grpSpPr>
        <p:sp>
          <p:nvSpPr>
            <p:cNvPr id="192" name="직사각형 191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세부신청내역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1850022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기타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3698" y="3350536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합계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850022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경비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직접 경비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326380"/>
            <a:ext cx="1308971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경비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간접 경비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4782364"/>
            <a:ext cx="1308971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일반 관리비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710858" y="1501035"/>
            <a:ext cx="2712027" cy="355980"/>
            <a:chOff x="3795734" y="1501035"/>
            <a:chExt cx="2712027" cy="35598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29" name="직선 연결선 12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3" name="그룹 10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4" name="직선 연결선 103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38" name="그룹 137"/>
          <p:cNvGrpSpPr/>
          <p:nvPr/>
        </p:nvGrpSpPr>
        <p:grpSpPr>
          <a:xfrm>
            <a:off x="3836701" y="1501035"/>
            <a:ext cx="2712027" cy="355980"/>
            <a:chOff x="3795734" y="1501035"/>
            <a:chExt cx="2712027" cy="355980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035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0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0408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22077" y="1640408"/>
              <a:ext cx="59046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세부 </a:t>
              </a:r>
              <a:r>
                <a:rPr lang="ko-KR" altLang="en-US" sz="700" b="1" dirty="0" err="1">
                  <a:latin typeface="+mn-ea"/>
                </a:rPr>
                <a:t>신청내역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322077" y="1857015"/>
              <a:ext cx="590461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4" name="그룹 153"/>
            <p:cNvGrpSpPr/>
            <p:nvPr/>
          </p:nvGrpSpPr>
          <p:grpSpPr>
            <a:xfrm>
              <a:off x="6027618" y="1602285"/>
              <a:ext cx="422853" cy="187961"/>
              <a:chOff x="3641308" y="2234886"/>
              <a:chExt cx="422853" cy="187961"/>
            </a:xfrm>
          </p:grpSpPr>
          <p:sp>
            <p:nvSpPr>
              <p:cNvPr id="156" name="타원 15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7" name="그룹 15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2" name="직선 연결선 16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직선 연결선 16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9" name="그룹 15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0" name="직선 연결선 15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032491" y="1640408"/>
              <a:ext cx="58899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164" name="그룹 163"/>
          <p:cNvGrpSpPr/>
          <p:nvPr/>
        </p:nvGrpSpPr>
        <p:grpSpPr>
          <a:xfrm>
            <a:off x="716366" y="2114185"/>
            <a:ext cx="2630093" cy="1077219"/>
            <a:chOff x="3865118" y="2946203"/>
            <a:chExt cx="2630093" cy="1077219"/>
          </a:xfrm>
        </p:grpSpPr>
        <p:sp>
          <p:nvSpPr>
            <p:cNvPr id="165" name="직사각형 164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716366" y="3607773"/>
            <a:ext cx="2630093" cy="1077219"/>
            <a:chOff x="3865118" y="2946203"/>
            <a:chExt cx="2630093" cy="1077219"/>
          </a:xfrm>
        </p:grpSpPr>
        <p:sp>
          <p:nvSpPr>
            <p:cNvPr id="176" name="직사각형 175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86" name="그룹 185"/>
          <p:cNvGrpSpPr/>
          <p:nvPr/>
        </p:nvGrpSpPr>
        <p:grpSpPr>
          <a:xfrm>
            <a:off x="716366" y="5039032"/>
            <a:ext cx="2630093" cy="1077219"/>
            <a:chOff x="3865118" y="2946203"/>
            <a:chExt cx="2630093" cy="1077219"/>
          </a:xfrm>
        </p:grpSpPr>
        <p:sp>
          <p:nvSpPr>
            <p:cNvPr id="187" name="직사각형 186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197" name="그룹 196"/>
          <p:cNvGrpSpPr/>
          <p:nvPr/>
        </p:nvGrpSpPr>
        <p:grpSpPr>
          <a:xfrm>
            <a:off x="3832537" y="2114185"/>
            <a:ext cx="2630093" cy="1077219"/>
            <a:chOff x="3865118" y="2946203"/>
            <a:chExt cx="2630093" cy="1077219"/>
          </a:xfrm>
        </p:grpSpPr>
        <p:sp>
          <p:nvSpPr>
            <p:cNvPr id="198" name="직사각형 197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3832537" y="3607773"/>
            <a:ext cx="2630093" cy="1077219"/>
            <a:chOff x="3865118" y="2946203"/>
            <a:chExt cx="2630093" cy="1077219"/>
          </a:xfrm>
        </p:grpSpPr>
        <p:sp>
          <p:nvSpPr>
            <p:cNvPr id="209" name="직사각형 208"/>
            <p:cNvSpPr/>
            <p:nvPr/>
          </p:nvSpPr>
          <p:spPr>
            <a:xfrm>
              <a:off x="3867211" y="2946203"/>
              <a:ext cx="792000" cy="10772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신청금액의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 </a:t>
              </a:r>
              <a:r>
                <a:rPr lang="en-US" altLang="ko-KR" sz="700" dirty="0">
                  <a:latin typeface="+mn-ea"/>
                </a:rPr>
                <a:t>%</a:t>
              </a:r>
            </a:p>
          </p:txBody>
        </p: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3429288"/>
              <a:ext cx="670770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승인된 </a:t>
              </a:r>
              <a:r>
                <a:rPr lang="ko-KR" altLang="en-US" sz="700" dirty="0" err="1">
                  <a:latin typeface="+mn-ea"/>
                </a:rPr>
                <a:t>전차수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수령금액의</a:t>
              </a:r>
              <a:endParaRPr lang="ko-KR" altLang="en-US" sz="700" dirty="0">
                <a:latin typeface="+mn-ea"/>
              </a:endParaRPr>
            </a:p>
            <a:p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3537009"/>
              <a:ext cx="177583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220" name="직사각형 2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221" name="직사각형 2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87162"/>
              </p:ext>
            </p:extLst>
          </p:nvPr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692718"/>
              </p:ext>
            </p:extLst>
          </p:nvPr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88985"/>
              </p:ext>
            </p:extLst>
          </p:nvPr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선금신청서상세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착</a:t>
            </a:r>
            <a:r>
              <a:rPr lang="en-US" altLang="ko-KR" dirty="0" smtClean="0"/>
              <a:t>,</a:t>
            </a:r>
            <a:r>
              <a:rPr lang="ko-KR" altLang="en-US" dirty="0" smtClean="0"/>
              <a:t>중도금신청서상세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사후정산청구상세 각 화면에서 보여지는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지급상태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선금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중도금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사후정산신청서 상세 중 </a:t>
            </a:r>
            <a:r>
              <a:rPr lang="ko-KR" altLang="en-US" dirty="0" err="1">
                <a:latin typeface="+mn-ea"/>
              </a:rPr>
              <a:t>지급상태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/>
              <a:t>탭 화면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MUI-WM-01-T23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342001"/>
            <a:chOff x="3795734" y="3441403"/>
            <a:chExt cx="2630093" cy="1342001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1085927"/>
              <a:chOff x="3865118" y="2946204"/>
              <a:chExt cx="2630093" cy="1085927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5"/>
                <a:ext cx="792000" cy="10859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신청년도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계약번호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신청차수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신청금액 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89335" y="2946204"/>
                <a:ext cx="1644143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20250000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01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10,000,000 </a:t>
                </a:r>
                <a:r>
                  <a:rPr lang="ko-KR" altLang="en-US" sz="700" dirty="0" smtClean="0">
                    <a:latin typeface="+mn-ea"/>
                  </a:rPr>
                  <a:t>원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진행중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3213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지급상태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832208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대금청구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168391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6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106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66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55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30839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30313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67029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294737" y="1648387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56659" y="164838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493375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838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/>
              <a:t>이동 </a:t>
            </a:r>
            <a:r>
              <a:rPr lang="ko-KR" altLang="en-US" sz="800" dirty="0" smtClean="0"/>
              <a:t>버튼</a:t>
            </a:r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77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29246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3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3217433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738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778029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675399" y="1501687"/>
            <a:ext cx="2712027" cy="355980"/>
            <a:chOff x="3795734" y="1501687"/>
            <a:chExt cx="2712027" cy="355980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5016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7701" y="1641060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1857667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294737" y="1648387"/>
              <a:ext cx="50057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56659" y="1648387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93375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009170" y="1648387"/>
              <a:ext cx="4544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smtClean="0">
                  <a:latin typeface="+mn-ea"/>
                </a:rPr>
                <a:t>진행상태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 smtClean="0"/>
              <a:t>PC</a:t>
            </a:r>
            <a:r>
              <a:rPr lang="ko-KR" altLang="en-US" dirty="0" smtClean="0"/>
              <a:t>에서</a:t>
            </a:r>
            <a:r>
              <a:rPr lang="en-US" altLang="ko-KR" dirty="0"/>
              <a:t> </a:t>
            </a:r>
            <a:r>
              <a:rPr lang="ko-KR" altLang="en-US" dirty="0" err="1" smtClean="0"/>
              <a:t>대금청구</a:t>
            </a:r>
            <a:r>
              <a:rPr lang="ko-KR" altLang="en-US" dirty="0" smtClean="0"/>
              <a:t> 신청서 작성시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합격을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합격일자</a:t>
            </a:r>
            <a:r>
              <a:rPr lang="ko-KR" altLang="en-US" dirty="0" smtClean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/>
              <a:t>, </a:t>
            </a:r>
            <a:r>
              <a:rPr lang="ko-KR" altLang="en-US" dirty="0" err="1" smtClean="0"/>
              <a:t>납품일자를</a:t>
            </a:r>
            <a:r>
              <a:rPr lang="ko-KR" altLang="en-US" dirty="0" smtClean="0"/>
              <a:t> 선택한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납품일자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PC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 err="1"/>
              <a:t>대금청구</a:t>
            </a:r>
            <a:r>
              <a:rPr lang="ko-KR" altLang="en-US" dirty="0"/>
              <a:t> 신청서 작성시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세액 여부 있음을 선택한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있음 노출 및 세액 항목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납품청구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신청서상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세액여부</a:t>
            </a:r>
            <a:r>
              <a:rPr lang="ko-KR" altLang="en-US" dirty="0" smtClean="0"/>
              <a:t> 없음 을 선택한 경우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-4-1] </a:t>
            </a:r>
            <a:r>
              <a:rPr lang="ko-KR" altLang="en-US" dirty="0" err="1" smtClean="0"/>
              <a:t>세액여부가</a:t>
            </a:r>
            <a:r>
              <a:rPr lang="ko-KR" altLang="en-US" dirty="0" smtClean="0"/>
              <a:t> 없음인 경우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세액항목</a:t>
            </a:r>
            <a:r>
              <a:rPr lang="ko-KR" altLang="en-US" dirty="0" smtClean="0"/>
              <a:t> </a:t>
            </a:r>
            <a:r>
              <a:rPr lang="en-US" altLang="ko-KR" dirty="0" smtClean="0"/>
              <a:t>“-”</a:t>
            </a:r>
            <a:r>
              <a:rPr lang="ko-KR" altLang="en-US" dirty="0" smtClean="0"/>
              <a:t>로 표기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있음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1808160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7757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2026-01-30</a:t>
            </a:r>
            <a:endParaRPr lang="ko-KR" altLang="en-US" sz="700" dirty="0">
              <a:latin typeface="+mn-ea"/>
            </a:endParaRPr>
          </a:p>
        </p:txBody>
      </p: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630801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/>
          <p:cNvGrpSpPr/>
          <p:nvPr/>
        </p:nvGrpSpPr>
        <p:grpSpPr>
          <a:xfrm>
            <a:off x="3758766" y="1527996"/>
            <a:ext cx="2456097" cy="181140"/>
            <a:chOff x="763157" y="1527996"/>
            <a:chExt cx="2456097" cy="1811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3" name="그룹 52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그룹 55"/>
          <p:cNvGrpSpPr/>
          <p:nvPr/>
        </p:nvGrpSpPr>
        <p:grpSpPr>
          <a:xfrm>
            <a:off x="3671768" y="1820148"/>
            <a:ext cx="2630093" cy="2804005"/>
            <a:chOff x="3865118" y="2946203"/>
            <a:chExt cx="2630093" cy="2804005"/>
          </a:xfrm>
        </p:grpSpPr>
        <p:sp>
          <p:nvSpPr>
            <p:cNvPr id="57" name="직사각형 56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없음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 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630801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33159" y="1878063"/>
            <a:ext cx="4712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 smtClean="0">
                <a:latin typeface="+mn-ea"/>
              </a:rPr>
              <a:t>2026-02-10</a:t>
            </a:r>
            <a:endParaRPr lang="ko-KR" altLang="en-US" sz="700" dirty="0">
              <a:latin typeface="+mn-ea"/>
            </a:endParaRPr>
          </a:p>
        </p:txBody>
      </p:sp>
      <p:sp>
        <p:nvSpPr>
          <p:cNvPr id="78" name="타원 77"/>
          <p:cNvSpPr/>
          <p:nvPr/>
        </p:nvSpPr>
        <p:spPr>
          <a:xfrm flipH="1">
            <a:off x="4304371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652932" y="2688661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3652932" y="3357843"/>
            <a:ext cx="2689896" cy="2051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183709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5235" y="206881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10637" y="207893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1708" y="261217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75" name="직사각형 74"/>
          <p:cNvSpPr/>
          <p:nvPr/>
        </p:nvSpPr>
        <p:spPr>
          <a:xfrm>
            <a:off x="7103286" y="6139543"/>
            <a:ext cx="2287843" cy="1219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72000" tIns="36000" rIns="72000" bIns="36000"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진행상태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7065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363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090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764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253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457489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61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210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5276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1636283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7374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7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대금신청업체정보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대금신청금액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첨부파일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세금계산서인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세금계산서번호 선택 을 체크한 경우 노출</a:t>
            </a:r>
            <a:r>
              <a:rPr lang="en-US" altLang="ko-KR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이동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 상세내용 탭에서는 </a:t>
            </a:r>
            <a:r>
              <a:rPr lang="en-US" altLang="ko-KR" dirty="0" smtClean="0"/>
              <a:t>(+)</a:t>
            </a:r>
            <a:r>
              <a:rPr lang="ko-KR" altLang="en-US" dirty="0" smtClean="0"/>
              <a:t>더하기 버튼 없음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5537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940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0959" y="347337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29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80415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3" name="그룹 52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5" name="타원 5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2" name="직선 연결선 81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타원 5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8" name="그룹 5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9" name="직선 연결선 5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err="1" smtClean="0">
                <a:latin typeface="+mn-ea"/>
              </a:rPr>
              <a:t>공급자정보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37299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29452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594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076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4297584" y="1852104"/>
              <a:ext cx="75635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1" name="그룹 3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33" name="타원 3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4" name="그룹 3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타원 3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7" name="직선 연결선 3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대금신청금액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655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8712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8023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01943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632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/>
          <p:cNvGrpSpPr/>
          <p:nvPr/>
        </p:nvGrpSpPr>
        <p:grpSpPr>
          <a:xfrm>
            <a:off x="3923699" y="1926559"/>
            <a:ext cx="2456097" cy="181140"/>
            <a:chOff x="763157" y="1527996"/>
            <a:chExt cx="2456097" cy="18114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58" name="그룹 57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59" name="직선 연결선 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그룹 60"/>
          <p:cNvGrpSpPr/>
          <p:nvPr/>
        </p:nvGrpSpPr>
        <p:grpSpPr>
          <a:xfrm>
            <a:off x="3836701" y="2218712"/>
            <a:ext cx="2630093" cy="2586565"/>
            <a:chOff x="3865118" y="2946204"/>
            <a:chExt cx="2630093" cy="2586565"/>
          </a:xfrm>
        </p:grpSpPr>
        <p:sp>
          <p:nvSpPr>
            <p:cNvPr id="62" name="직사각형 6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0676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7755" y="2501943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2706" y="4436791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3041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8802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716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sp>
        <p:nvSpPr>
          <p:cNvPr id="94" name="직사각형 93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3" name="그룹 2"/>
          <p:cNvGrpSpPr/>
          <p:nvPr/>
        </p:nvGrpSpPr>
        <p:grpSpPr>
          <a:xfrm>
            <a:off x="3820614" y="1496124"/>
            <a:ext cx="2712027" cy="355980"/>
            <a:chOff x="3820614" y="1496124"/>
            <a:chExt cx="2712027" cy="355980"/>
          </a:xfrm>
        </p:grpSpPr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7280" y="1852104"/>
              <a:ext cx="628068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6" name="그룹 85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92" name="그룹 9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95" name="타원 9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6" name="그룹 9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1" name="직선 연결선 10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타원 9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8" name="그룹 9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9" name="직선 연결선 9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4" name="그룹 103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9" name="그룹 108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110" name="그룹 109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111" name="타원 110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2" name="그룹 11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8" name="직선 연결선 11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직선 연결선 11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타원 11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5" name="그룹 11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16" name="직선 연결선 11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직선 연결선 11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586614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err="1"/>
              <a:t>세액여부별</a:t>
            </a:r>
            <a:r>
              <a:rPr lang="ko-KR" altLang="en-US" dirty="0"/>
              <a:t> 항목 확인 필요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세액 여부</a:t>
            </a:r>
            <a:r>
              <a:rPr lang="en-US" altLang="ko-KR" dirty="0"/>
              <a:t>)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면세</a:t>
            </a:r>
            <a:r>
              <a:rPr lang="en-US" altLang="ko-KR" dirty="0"/>
              <a:t>, </a:t>
            </a:r>
            <a:r>
              <a:rPr lang="ko-KR" altLang="en-US" dirty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smtClean="0"/>
              <a:t>1-2] </a:t>
            </a:r>
            <a:r>
              <a:rPr lang="ko-KR" altLang="en-US" dirty="0" err="1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/>
              <a:t>예정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대금신청금액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47607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39760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200128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887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62371" y="2522991"/>
            <a:ext cx="580039" cy="107722"/>
            <a:chOff x="1746956" y="5895087"/>
            <a:chExt cx="580039" cy="10772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smtClean="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0814" y="4457839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247072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79823" y="438236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40" name="직사각형 39"/>
          <p:cNvSpPr/>
          <p:nvPr/>
        </p:nvSpPr>
        <p:spPr>
          <a:xfrm>
            <a:off x="7103286" y="6036456"/>
            <a:ext cx="2275404" cy="145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41" name="그룹 40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059176" y="1852104"/>
              <a:ext cx="673499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8" name="그룹 47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대금신청</a:t>
                </a:r>
                <a:r>
                  <a:rPr lang="ko-KR" altLang="en-US" sz="700" b="1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50" name="타원 4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2" name="그룹 51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8" name="직선 연결선 5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타원 52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4" name="그룹 5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5" name="직선 연결선 5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계약에 등록된 </a:t>
            </a:r>
            <a:r>
              <a:rPr lang="ko-KR" altLang="en-US" sz="700" dirty="0" err="1"/>
              <a:t>계약관</a:t>
            </a:r>
            <a:r>
              <a:rPr lang="ko-KR" altLang="en-US" sz="700" dirty="0"/>
              <a:t> 첨부서류 </a:t>
            </a:r>
            <a:r>
              <a:rPr lang="ko-KR" altLang="en-US" sz="700" dirty="0" err="1"/>
              <a:t>목록조회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default) 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아코디언 전체 펼침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업로드 기능 </a:t>
            </a:r>
            <a:r>
              <a:rPr lang="ko-KR" altLang="en-US" sz="700" dirty="0" err="1"/>
              <a:t>미지원</a:t>
            </a:r>
            <a:r>
              <a:rPr lang="ko-KR" altLang="en-US" sz="700" dirty="0"/>
              <a:t>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 smtClean="0"/>
              <a:t>대금청구</a:t>
            </a:r>
            <a:r>
              <a:rPr lang="ko-KR" altLang="en-US" sz="700" dirty="0" smtClean="0"/>
              <a:t> </a:t>
            </a:r>
            <a:r>
              <a:rPr lang="ko-KR" altLang="en-US" sz="700" dirty="0"/>
              <a:t>첨부서류에 첨부된 파일이 있는 경우에만 목록 노출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파일 </a:t>
            </a:r>
            <a:r>
              <a:rPr lang="ko-KR" altLang="en-US" sz="700" dirty="0"/>
              <a:t>목록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정렬</a:t>
            </a:r>
            <a:r>
              <a:rPr lang="en-US" altLang="ko-KR" sz="700" dirty="0"/>
              <a:t> : </a:t>
            </a:r>
            <a:r>
              <a:rPr lang="ko-KR" altLang="en-US" sz="700" dirty="0"/>
              <a:t>파일 업로드 시점의 </a:t>
            </a:r>
            <a:r>
              <a:rPr lang="ko-KR" altLang="en-US" sz="700" dirty="0" err="1"/>
              <a:t>등록일시</a:t>
            </a:r>
            <a:r>
              <a:rPr lang="ko-KR" altLang="en-US" sz="700" dirty="0"/>
              <a:t> 내림차순 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 err="1"/>
              <a:t>계약서류명</a:t>
            </a:r>
            <a:r>
              <a:rPr lang="en-US" altLang="ko-KR" sz="700" dirty="0"/>
              <a:t>, </a:t>
            </a:r>
            <a:r>
              <a:rPr lang="ko-KR" altLang="en-US" sz="700" dirty="0" err="1"/>
              <a:t>첨부파일명</a:t>
            </a:r>
            <a:r>
              <a:rPr lang="en-US" altLang="ko-KR" sz="700" dirty="0"/>
              <a:t>, </a:t>
            </a:r>
            <a:r>
              <a:rPr lang="ko-KR" altLang="en-US" sz="700" dirty="0"/>
              <a:t>파일 크기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크기 정보가 없거나</a:t>
            </a:r>
            <a:r>
              <a:rPr lang="en-US" altLang="ko-KR" sz="700" dirty="0"/>
              <a:t>, </a:t>
            </a:r>
            <a:r>
              <a:rPr lang="ko-KR" altLang="en-US" sz="700" dirty="0"/>
              <a:t>첨부서류 파일명이 없는 경우 </a:t>
            </a:r>
            <a:r>
              <a:rPr lang="en-US" altLang="ko-KR" sz="700" dirty="0"/>
              <a:t>“-” </a:t>
            </a:r>
            <a:r>
              <a:rPr lang="ko-KR" altLang="en-US" sz="700" dirty="0"/>
              <a:t>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파일명이 긴 경우 </a:t>
            </a:r>
            <a:r>
              <a:rPr lang="ko-KR" altLang="en-US" sz="700" dirty="0" err="1"/>
              <a:t>말줄임</a:t>
            </a:r>
            <a:r>
              <a:rPr lang="ko-KR" altLang="en-US" sz="700" dirty="0"/>
              <a:t> 표시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다운로드 아이콘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클릭시</a:t>
            </a:r>
            <a:r>
              <a:rPr lang="en-US" altLang="ko-KR" sz="700" dirty="0"/>
              <a:t>, </a:t>
            </a:r>
            <a:r>
              <a:rPr lang="ko-KR" altLang="en-US" sz="700" dirty="0"/>
              <a:t>즉시 다운로드 실행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파일 다운로드 </a:t>
            </a:r>
            <a:r>
              <a:rPr lang="ko-KR" altLang="en-US" sz="700" dirty="0" err="1"/>
              <a:t>실패시</a:t>
            </a:r>
            <a:r>
              <a:rPr lang="ko-KR" altLang="en-US" sz="700" dirty="0"/>
              <a:t> </a:t>
            </a:r>
            <a:r>
              <a:rPr lang="en-US" altLang="ko-KR" sz="700" dirty="0"/>
              <a:t>, “</a:t>
            </a:r>
            <a:r>
              <a:rPr lang="ko-KR" altLang="en-US" sz="700" dirty="0"/>
              <a:t>다운로드에 실패했습니다</a:t>
            </a:r>
            <a:r>
              <a:rPr lang="en-US" altLang="ko-KR" sz="700" dirty="0"/>
              <a:t>”</a:t>
            </a:r>
            <a:r>
              <a:rPr lang="ko-KR" altLang="en-US" sz="700" dirty="0"/>
              <a:t> 토스트 노출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다운로드 </a:t>
            </a:r>
            <a:r>
              <a:rPr lang="ko-KR" altLang="en-US" sz="700" dirty="0" err="1"/>
              <a:t>성공시</a:t>
            </a:r>
            <a:r>
              <a:rPr lang="ko-KR" altLang="en-US" sz="700" dirty="0"/>
              <a:t> </a:t>
            </a:r>
            <a:r>
              <a:rPr lang="en-US" altLang="ko-KR" sz="700" dirty="0"/>
              <a:t>“</a:t>
            </a:r>
            <a:r>
              <a:rPr lang="ko-KR" altLang="en-US" sz="700" dirty="0"/>
              <a:t>다운로드에 성공했습니다</a:t>
            </a:r>
            <a:r>
              <a:rPr lang="en-US" altLang="ko-KR" sz="700" dirty="0"/>
              <a:t>“ </a:t>
            </a:r>
            <a:r>
              <a:rPr lang="ko-KR" altLang="en-US" sz="700" dirty="0"/>
              <a:t>노출</a:t>
            </a:r>
            <a:endParaRPr lang="en-US" altLang="ko-KR" sz="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2129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6580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400" y="2175397"/>
            <a:ext cx="2712026" cy="1339020"/>
            <a:chOff x="4063785" y="1972404"/>
            <a:chExt cx="2712026" cy="1339020"/>
          </a:xfrm>
        </p:grpSpPr>
        <p:grpSp>
          <p:nvGrpSpPr>
            <p:cNvPr id="50" name="그룹 49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54" name="모서리가 둥근 직사각형 53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351332"/>
                <a:ext cx="16827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물품제조구매계약서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7" name="타원 56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758018"/>
                <a:ext cx="141278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계약명세서</a:t>
                </a:r>
                <a:endParaRPr lang="en-US" altLang="ko-KR" sz="7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  <a:p>
                <a:r>
                  <a:rPr lang="ko-KR" altLang="en-US" sz="70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첨부파일명이너무길면어떻게</a:t>
                </a:r>
                <a:r>
                  <a:rPr lang="ko-KR" altLang="en-US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 노출</a:t>
                </a:r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... 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5" name="직사각형 74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853" y="231538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3895" y="29481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8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5536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08628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3116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678142" y="1496124"/>
            <a:ext cx="2712027" cy="355980"/>
            <a:chOff x="3820614" y="1496124"/>
            <a:chExt cx="2712027" cy="355980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0614" y="149612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8902" y="18521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5723121" y="185210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3894842" y="1636283"/>
              <a:ext cx="2210710" cy="107722"/>
              <a:chOff x="764169" y="4142235"/>
              <a:chExt cx="2210710" cy="1077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179988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대금신청업체 정보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979307" y="4142235"/>
                <a:ext cx="5753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대금신청</a:t>
                </a:r>
                <a:r>
                  <a:rPr lang="ko-KR" altLang="en-US" sz="700" dirty="0">
                    <a:latin typeface="+mn-ea"/>
                  </a:rPr>
                  <a:t> 금액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10711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6052498" y="1597374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56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54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1930720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1990073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 </a:t>
              </a: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64603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60281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1642048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193662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3" name="직사각형 2"/>
          <p:cNvSpPr/>
          <p:nvPr/>
        </p:nvSpPr>
        <p:spPr>
          <a:xfrm>
            <a:off x="7079729" y="5991496"/>
            <a:ext cx="2378480" cy="1989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ko-KR" sz="500" b="1" dirty="0" err="1" smtClean="0">
                <a:solidFill>
                  <a:schemeClr val="bg1"/>
                </a:solidFill>
              </a:rPr>
              <a:t>지급구분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ko-KR" sz="500" b="1" dirty="0" smtClean="0">
                <a:solidFill>
                  <a:schemeClr val="bg1"/>
                </a:solidFill>
              </a:rPr>
              <a:t>신청금액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98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, 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판단번호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전체노출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신청정보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대가지금업체</a:t>
            </a:r>
            <a:r>
              <a:rPr lang="en-US" altLang="ko-KR" dirty="0" smtClean="0"/>
              <a:t>,</a:t>
            </a:r>
            <a:r>
              <a:rPr lang="ko-KR" altLang="en-US" dirty="0" smtClean="0"/>
              <a:t>첨부파일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err="1" smtClean="0"/>
              <a:t>계약정보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이동 버튼</a:t>
            </a:r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133" name="그룹 13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테이블 </a:t>
              </a:r>
              <a:r>
                <a:rPr lang="ko-KR" altLang="en-US" sz="700" dirty="0" err="1" smtClean="0"/>
                <a:t>표시내역</a:t>
              </a:r>
              <a:r>
                <a:rPr lang="ko-KR" altLang="en-US" sz="700" dirty="0" smtClean="0"/>
                <a:t> 변경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err="1" smtClean="0">
                  <a:sym typeface="Wingdings" panose="05000000000000000000" pitchFamily="2" charset="2"/>
                </a:rPr>
                <a:t>계약명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9579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94780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58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4272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410545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416481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4368401"/>
            <a:ext cx="2712027" cy="1444013"/>
            <a:chOff x="3783912" y="2803333"/>
            <a:chExt cx="2712027" cy="144401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24734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4" name="그룹 43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5" name="타원 44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타원 5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0" name="그룹 5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대가지급업체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54718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46871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336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0728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238576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58688" y="4358842"/>
              <a:ext cx="599802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7" name="그룹 36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38" name="그룹 3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39" name="타원 3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타원 4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" name="그룹 4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3" name="직선 연결선 4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 smtClean="0">
                <a:latin typeface="+mn-ea"/>
              </a:rPr>
              <a:t>첨부파일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MUI-WM-01-T15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806578" y="1979819"/>
            <a:ext cx="2456097" cy="181140"/>
            <a:chOff x="763157" y="1527996"/>
            <a:chExt cx="2456097" cy="18114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34" name="그룹 3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35" name="직선 연결선 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2033499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678614" y="2243087"/>
            <a:ext cx="2712026" cy="1339020"/>
            <a:chOff x="4063785" y="1972404"/>
            <a:chExt cx="2712026" cy="1339020"/>
          </a:xfrm>
        </p:grpSpPr>
        <p:grpSp>
          <p:nvGrpSpPr>
            <p:cNvPr id="39" name="그룹 38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40" name="직사각형 39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8307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301585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5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대금청구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파일 </a:t>
            </a:r>
            <a:r>
              <a:rPr lang="ko-KR" altLang="en-US" sz="800" dirty="0"/>
              <a:t>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실패했습니다</a:t>
            </a:r>
            <a:r>
              <a:rPr lang="en-US" altLang="ko-KR" sz="800" dirty="0" smtClean="0"/>
              <a:t>”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토스트 </a:t>
            </a:r>
            <a:r>
              <a:rPr lang="ko-KR" altLang="en-US" sz="800" dirty="0" smtClean="0"/>
              <a:t>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다운로드 </a:t>
            </a:r>
            <a:r>
              <a:rPr lang="ko-KR" altLang="en-US" sz="800" dirty="0" err="1" smtClean="0"/>
              <a:t>성공시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다운로드에 성공했습니다</a:t>
            </a:r>
            <a:r>
              <a:rPr lang="en-US" altLang="ko-KR" sz="800" dirty="0" smtClean="0"/>
              <a:t>“ </a:t>
            </a:r>
            <a:r>
              <a:rPr lang="ko-KR" altLang="en-US" sz="800" dirty="0" smtClean="0"/>
              <a:t>노출</a:t>
            </a:r>
            <a:endParaRPr lang="en-US" altLang="ko-KR" sz="800" dirty="0"/>
          </a:p>
        </p:txBody>
      </p:sp>
      <p:grpSp>
        <p:nvGrpSpPr>
          <p:cNvPr id="51" name="그룹 50"/>
          <p:cNvGrpSpPr/>
          <p:nvPr/>
        </p:nvGrpSpPr>
        <p:grpSpPr>
          <a:xfrm>
            <a:off x="720490" y="1497658"/>
            <a:ext cx="2626449" cy="354413"/>
            <a:chOff x="720490" y="4004429"/>
            <a:chExt cx="2626449" cy="354413"/>
          </a:xfrm>
        </p:grpSpPr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983832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4" name="그룹 63"/>
            <p:cNvGrpSpPr/>
            <p:nvPr/>
          </p:nvGrpSpPr>
          <p:grpSpPr>
            <a:xfrm>
              <a:off x="764169" y="4142235"/>
              <a:ext cx="1636582" cy="107722"/>
              <a:chOff x="764169" y="4142235"/>
              <a:chExt cx="1636582" cy="107722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302043" y="4142235"/>
                <a:ext cx="5564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대가지급업체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36583" y="4142235"/>
                <a:ext cx="36416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7" name="타원 66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8" name="그룹 67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3" name="직선 연결선 7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타원 68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70" name="그룹 69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71" name="직선 연결선 7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77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375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926930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1638089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1599028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74" name="직사각형 173"/>
          <p:cNvSpPr/>
          <p:nvPr/>
        </p:nvSpPr>
        <p:spPr>
          <a:xfrm>
            <a:off x="7057780" y="6054387"/>
            <a:ext cx="2345790" cy="177911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납품금액</a:t>
            </a:r>
            <a:r>
              <a:rPr lang="en-US" altLang="ko-KR" sz="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500" b="1" dirty="0" smtClean="0">
                <a:solidFill>
                  <a:schemeClr val="bg1"/>
                </a:solidFill>
              </a:rPr>
              <a:t>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67770" y="51973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4618" y="2202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38843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2620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12057" y="46518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7073" y="2388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99111" y="25356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6599" y="27561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0" name="텍스트 개체 틀 2"/>
          <p:cNvSpPr txBox="1">
            <a:spLocks/>
          </p:cNvSpPr>
          <p:nvPr/>
        </p:nvSpPr>
        <p:spPr>
          <a:xfrm>
            <a:off x="7068896" y="1475995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, 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판단번호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전체노출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/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신청정보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기성대가신청금액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첨부파일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이동 버튼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현 상세내용 탭에서는 </a:t>
            </a:r>
            <a:r>
              <a:rPr lang="en-US" altLang="ko-KR" sz="800" dirty="0" smtClean="0"/>
              <a:t>(+)</a:t>
            </a:r>
            <a:r>
              <a:rPr lang="ko-KR" altLang="en-US" sz="800" dirty="0" smtClean="0"/>
              <a:t>더하기 버튼 없음</a:t>
            </a:r>
            <a:endParaRPr lang="en-US" altLang="ko-KR" sz="800" dirty="0" smtClean="0"/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424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89441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2039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79974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561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0" name="그룹 3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계약정보</a:t>
                </a:r>
                <a:endParaRPr lang="ko-KR" altLang="en-US" sz="700" b="1" dirty="0">
                  <a:latin typeface="+mn-ea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45" name="그룹 44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6" name="타원 45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7" name="그룹 46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3" name="직선 연결선 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타원 4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9" name="그룹 48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50" name="직선 연결선 49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469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684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666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935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과세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492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확정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2" name="그룹 61"/>
          <p:cNvGrpSpPr/>
          <p:nvPr/>
        </p:nvGrpSpPr>
        <p:grpSpPr>
          <a:xfrm>
            <a:off x="3923699" y="1915110"/>
            <a:ext cx="2456097" cy="181140"/>
            <a:chOff x="763157" y="1527996"/>
            <a:chExt cx="2456097" cy="18114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그룹 67"/>
          <p:cNvGrpSpPr/>
          <p:nvPr/>
        </p:nvGrpSpPr>
        <p:grpSpPr>
          <a:xfrm>
            <a:off x="3836701" y="2207263"/>
            <a:ext cx="2630093" cy="3662541"/>
            <a:chOff x="3865118" y="2946204"/>
            <a:chExt cx="2630093" cy="3662541"/>
          </a:xfrm>
        </p:grpSpPr>
        <p:sp>
          <p:nvSpPr>
            <p:cNvPr id="69" name="직사각형 68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92708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9918" y="2490494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면세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94576" y="4425342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예정</a:t>
            </a: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83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20117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693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530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00" name="타원 99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1" name="그룹 100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8" name="직선 연결선 107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타원 10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4" name="그룹 103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06" name="직선 연결선 1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3" name="그룹 142"/>
          <p:cNvGrpSpPr/>
          <p:nvPr/>
        </p:nvGrpSpPr>
        <p:grpSpPr>
          <a:xfrm>
            <a:off x="3840345" y="1493927"/>
            <a:ext cx="2626449" cy="354413"/>
            <a:chOff x="720490" y="4004429"/>
            <a:chExt cx="2626449" cy="354413"/>
          </a:xfrm>
        </p:grpSpPr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148" name="그룹 14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149" name="타원 14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6" name="직선 연결선 15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직선 연결선 15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1" name="타원 15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2" name="그룹 15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53" name="직선 연결선 15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기성대가신청금액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2296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5118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49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75093" y="2497625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영세</a:t>
            </a:r>
            <a:endParaRPr lang="ko-KR" altLang="en-US" sz="700" dirty="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2371" y="4433197"/>
            <a:ext cx="17953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예정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0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- 1-1] </a:t>
            </a:r>
            <a:r>
              <a:rPr lang="ko-KR" altLang="en-US" dirty="0" smtClean="0"/>
              <a:t>대금 </a:t>
            </a:r>
            <a:r>
              <a:rPr lang="ko-KR" altLang="en-US" dirty="0" err="1" smtClean="0"/>
              <a:t>신청시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지급구분별</a:t>
            </a:r>
            <a:r>
              <a:rPr lang="ko-KR" altLang="en-US" dirty="0" smtClean="0"/>
              <a:t> 항목 확인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- 1-2] </a:t>
            </a:r>
            <a:r>
              <a:rPr lang="ko-KR" altLang="en-US" dirty="0" err="1" smtClean="0"/>
              <a:t>세액여부별</a:t>
            </a:r>
            <a:r>
              <a:rPr lang="ko-KR" altLang="en-US" dirty="0" smtClean="0"/>
              <a:t> 항목 확인 필요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세액 여부</a:t>
            </a:r>
            <a:r>
              <a:rPr lang="en-US" altLang="ko-KR" dirty="0" smtClean="0"/>
              <a:t>)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- 1-3] </a:t>
            </a:r>
            <a:r>
              <a:rPr lang="ko-KR" altLang="en-US" dirty="0" err="1" smtClean="0"/>
              <a:t>신고구분</a:t>
            </a:r>
            <a:r>
              <a:rPr lang="en-US" altLang="ko-KR" dirty="0"/>
              <a:t>: </a:t>
            </a:r>
            <a:r>
              <a:rPr lang="ko-KR" altLang="en-US" dirty="0"/>
              <a:t>확정</a:t>
            </a:r>
            <a:r>
              <a:rPr lang="en-US" altLang="ko-KR" dirty="0"/>
              <a:t>,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664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2199447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6222" y="2475208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4262" y="441357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1203209" y="4358842"/>
              <a:ext cx="747365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50" name="그룹 49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 err="1">
                    <a:latin typeface="+mn-ea"/>
                  </a:rPr>
                  <a:t>기성대가</a:t>
                </a:r>
                <a:r>
                  <a:rPr lang="ko-KR" altLang="en-US" sz="700" b="1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51" name="그룹 50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52" name="타원 51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3" name="그룹 52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3" name="직선 연결선 6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4" name="타원 53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6" name="그룹 5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61" name="직선 연결선 6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직선 연결선 6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267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>
                <a:latin typeface="+mn-ea"/>
              </a:rPr>
              <a:t>PC</a:t>
            </a:r>
            <a:r>
              <a:rPr lang="ko-KR" altLang="en-US" dirty="0">
                <a:latin typeface="+mn-ea"/>
              </a:rPr>
              <a:t>에서 사후정산청구서 작성시</a:t>
            </a:r>
            <a:r>
              <a:rPr lang="en-US" altLang="ko-KR" dirty="0">
                <a:latin typeface="+mn-ea"/>
              </a:rPr>
              <a:t>(UI-WM-01-M47), </a:t>
            </a:r>
            <a:r>
              <a:rPr lang="ko-KR" altLang="en-US" dirty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“</a:t>
            </a:r>
            <a:r>
              <a:rPr lang="ko-KR" altLang="en-US" dirty="0">
                <a:latin typeface="+mn-ea"/>
              </a:rPr>
              <a:t>선택</a:t>
            </a:r>
            <a:r>
              <a:rPr lang="en-US" altLang="ko-KR" dirty="0">
                <a:latin typeface="+mn-ea"/>
              </a:rPr>
              <a:t>” </a:t>
            </a:r>
            <a:r>
              <a:rPr lang="ko-KR" altLang="en-US" dirty="0">
                <a:latin typeface="+mn-ea"/>
              </a:rPr>
              <a:t>을 선택한 경우 노출 되는 항목</a:t>
            </a:r>
            <a:endParaRPr lang="en-US" altLang="ko-KR" dirty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MUI-WM-01-T18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91937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11528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7305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82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81885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508538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82258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71901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03391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7" name="그룹 66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>
                    <a:latin typeface="+mn-ea"/>
                  </a:rPr>
                  <a:t>첨부파일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69" name="타원 68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6" name="그룹 85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91" name="직선 연결선 90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직선 연결선 91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타원 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8" name="그룹 8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89" name="직선 연결선 8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직선 연결선 8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계약에 등록된 </a:t>
            </a:r>
            <a:r>
              <a:rPr lang="ko-KR" altLang="en-US" sz="800" dirty="0" err="1"/>
              <a:t>계약관</a:t>
            </a:r>
            <a:r>
              <a:rPr lang="ko-KR" altLang="en-US" sz="800" dirty="0"/>
              <a:t> 첨부서류 </a:t>
            </a:r>
            <a:r>
              <a:rPr lang="ko-KR" altLang="en-US" sz="800" dirty="0" err="1"/>
              <a:t>목록조회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default) 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아코디언 전체 펼침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업로드 기능 </a:t>
            </a:r>
            <a:r>
              <a:rPr lang="ko-KR" altLang="en-US" sz="800" dirty="0" err="1"/>
              <a:t>미지원</a:t>
            </a:r>
            <a:r>
              <a:rPr lang="ko-KR" altLang="en-US" sz="800" dirty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대금청구</a:t>
            </a:r>
            <a:r>
              <a:rPr lang="ko-KR" altLang="en-US" sz="800" dirty="0"/>
              <a:t> 첨부서류에 첨부된 파일이 있는 경우에만 목록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파일 목록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정렬</a:t>
            </a:r>
            <a:r>
              <a:rPr lang="en-US" altLang="ko-KR" sz="800" dirty="0"/>
              <a:t> : </a:t>
            </a:r>
            <a:r>
              <a:rPr lang="ko-KR" altLang="en-US" sz="800" dirty="0"/>
              <a:t>파일 업로드 시점의 </a:t>
            </a:r>
            <a:r>
              <a:rPr lang="ko-KR" altLang="en-US" sz="800" dirty="0" err="1"/>
              <a:t>등록일시</a:t>
            </a:r>
            <a:r>
              <a:rPr lang="ko-KR" altLang="en-US" sz="800" dirty="0"/>
              <a:t> 내림차순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계약서류명</a:t>
            </a:r>
            <a:r>
              <a:rPr lang="en-US" altLang="ko-KR" sz="800" dirty="0"/>
              <a:t>, </a:t>
            </a:r>
            <a:r>
              <a:rPr lang="ko-KR" altLang="en-US" sz="800" dirty="0" err="1"/>
              <a:t>첨부파일명</a:t>
            </a:r>
            <a:r>
              <a:rPr lang="en-US" altLang="ko-KR" sz="800" dirty="0"/>
              <a:t>, </a:t>
            </a:r>
            <a:r>
              <a:rPr lang="ko-KR" altLang="en-US" sz="800" dirty="0"/>
              <a:t>파일 크기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크기 정보가 없거나</a:t>
            </a:r>
            <a:r>
              <a:rPr lang="en-US" altLang="ko-KR" sz="800" dirty="0"/>
              <a:t>, </a:t>
            </a:r>
            <a:r>
              <a:rPr lang="ko-KR" altLang="en-US" sz="800" dirty="0"/>
              <a:t>첨부서류 파일명이 없는 경우 </a:t>
            </a:r>
            <a:r>
              <a:rPr lang="en-US" altLang="ko-KR" sz="800" dirty="0"/>
              <a:t>“-” </a:t>
            </a:r>
            <a:r>
              <a:rPr lang="ko-KR" altLang="en-US" sz="800" dirty="0"/>
              <a:t>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파일명이 긴 경우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다운로드 아이콘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클릭시</a:t>
            </a:r>
            <a:r>
              <a:rPr lang="en-US" altLang="ko-KR" sz="800" dirty="0"/>
              <a:t>, </a:t>
            </a:r>
            <a:r>
              <a:rPr lang="ko-KR" altLang="en-US" sz="800" dirty="0"/>
              <a:t>즉시 다운로드 실행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파일 다운로드 </a:t>
            </a:r>
            <a:r>
              <a:rPr lang="ko-KR" altLang="en-US" sz="800" dirty="0" err="1"/>
              <a:t>실패시</a:t>
            </a:r>
            <a:r>
              <a:rPr lang="ko-KR" altLang="en-US" sz="800" dirty="0"/>
              <a:t> </a:t>
            </a:r>
            <a:r>
              <a:rPr lang="en-US" altLang="ko-KR" sz="800" dirty="0"/>
              <a:t>, “</a:t>
            </a:r>
            <a:r>
              <a:rPr lang="ko-KR" altLang="en-US" sz="800" dirty="0"/>
              <a:t>다운로드에 실패했습니다</a:t>
            </a:r>
            <a:r>
              <a:rPr lang="en-US" altLang="ko-KR" sz="800" dirty="0"/>
              <a:t>”</a:t>
            </a:r>
            <a:r>
              <a:rPr lang="ko-KR" altLang="en-US" sz="800" dirty="0"/>
              <a:t> 토스트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다운로드 </a:t>
            </a:r>
            <a:r>
              <a:rPr lang="ko-KR" altLang="en-US" sz="800" dirty="0" err="1"/>
              <a:t>성공시</a:t>
            </a:r>
            <a:r>
              <a:rPr lang="ko-KR" altLang="en-US" sz="800" dirty="0"/>
              <a:t> </a:t>
            </a:r>
            <a:r>
              <a:rPr lang="en-US" altLang="ko-KR" sz="800" dirty="0"/>
              <a:t>“</a:t>
            </a:r>
            <a:r>
              <a:rPr lang="ko-KR" altLang="en-US" sz="800" dirty="0"/>
              <a:t>다운로드에 성공했습니다</a:t>
            </a:r>
            <a:r>
              <a:rPr lang="en-US" altLang="ko-KR" sz="800" dirty="0"/>
              <a:t>“ </a:t>
            </a:r>
            <a:r>
              <a:rPr lang="ko-KR" altLang="en-US" sz="800" dirty="0"/>
              <a:t>노출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MUI-WM-01-T19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861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/>
          <p:cNvGrpSpPr/>
          <p:nvPr/>
        </p:nvGrpSpPr>
        <p:grpSpPr>
          <a:xfrm>
            <a:off x="806578" y="1931604"/>
            <a:ext cx="2456097" cy="181140"/>
            <a:chOff x="763157" y="1527996"/>
            <a:chExt cx="2456097" cy="18114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70" name="그룹 69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71" name="직선 연결선 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직선 연결선 7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74" y="1985284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74" name="그룹 73"/>
          <p:cNvGrpSpPr/>
          <p:nvPr/>
        </p:nvGrpSpPr>
        <p:grpSpPr>
          <a:xfrm>
            <a:off x="678614" y="2194872"/>
            <a:ext cx="2712026" cy="1339020"/>
            <a:chOff x="4063785" y="1972404"/>
            <a:chExt cx="2712026" cy="1339020"/>
          </a:xfrm>
        </p:grpSpPr>
        <p:grpSp>
          <p:nvGrpSpPr>
            <p:cNvPr id="75" name="그룹 74"/>
            <p:cNvGrpSpPr/>
            <p:nvPr/>
          </p:nvGrpSpPr>
          <p:grpSpPr>
            <a:xfrm>
              <a:off x="4063785" y="1972404"/>
              <a:ext cx="2712026" cy="1339020"/>
              <a:chOff x="3795735" y="3141693"/>
              <a:chExt cx="2712026" cy="1339020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3831550" y="3276811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412605"/>
                <a:ext cx="1682738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405193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1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>
              <a:xfrm>
                <a:off x="6240167" y="3387054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모서리가 둥근 직사각형 81"/>
              <p:cNvSpPr/>
              <p:nvPr/>
            </p:nvSpPr>
            <p:spPr>
              <a:xfrm>
                <a:off x="3831550" y="3683497"/>
                <a:ext cx="2652743" cy="364486"/>
              </a:xfrm>
              <a:prstGeom prst="roundRect">
                <a:avLst>
                  <a:gd name="adj" fmla="val 9062"/>
                </a:avLst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208115" y="3819291"/>
                <a:ext cx="141278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r>
                  <a:rPr lang="en-US" altLang="ko-KR" sz="7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hwp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09746" y="3811879"/>
                <a:ext cx="24778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2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6240167" y="3793740"/>
                <a:ext cx="144000" cy="144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795735" y="4480713"/>
                <a:ext cx="271202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332218" y="3141693"/>
                <a:ext cx="47434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첨부파일명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6101185" y="3141693"/>
                <a:ext cx="32496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다운로드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838314" y="3141693"/>
                <a:ext cx="390650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항목번호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5968922" y="2605294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965336" y="2159928"/>
              <a:ext cx="546945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sz="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</p:grpSp>
      <p:sp>
        <p:nvSpPr>
          <p:cNvPr id="98" name="타원 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0067" y="23348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177109" y="296764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28750" y="593355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실패했습니다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111842" y="5726035"/>
            <a:ext cx="1890323" cy="18679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다운로드에 성공했습니다</a:t>
            </a:r>
            <a:r>
              <a:rPr kumimoji="1" lang="en-US" altLang="ko-KR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.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056330" y="583712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37" name="그룹 36"/>
          <p:cNvGrpSpPr/>
          <p:nvPr/>
        </p:nvGrpSpPr>
        <p:grpSpPr>
          <a:xfrm>
            <a:off x="720490" y="1493927"/>
            <a:ext cx="2626449" cy="354413"/>
            <a:chOff x="720490" y="4004429"/>
            <a:chExt cx="2626449" cy="354413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00442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35884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2580165" y="4358842"/>
              <a:ext cx="480123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1" name="그룹 40"/>
            <p:cNvGrpSpPr/>
            <p:nvPr/>
          </p:nvGrpSpPr>
          <p:grpSpPr>
            <a:xfrm>
              <a:off x="764169" y="4142235"/>
              <a:ext cx="2210802" cy="107722"/>
              <a:chOff x="764169" y="4142235"/>
              <a:chExt cx="2210802" cy="107722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4169" y="4142235"/>
                <a:ext cx="3597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계약정보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216001" y="4142235"/>
                <a:ext cx="743282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 err="1">
                    <a:latin typeface="+mn-ea"/>
                  </a:rPr>
                  <a:t>기성대가</a:t>
                </a:r>
                <a:r>
                  <a:rPr lang="ko-KR" altLang="en-US" sz="700" dirty="0">
                    <a:latin typeface="+mn-ea"/>
                  </a:rPr>
                  <a:t> 신청금액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051333" y="4142235"/>
                <a:ext cx="462705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</a:rPr>
                  <a:t>세금계산서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606088" y="4142235"/>
                <a:ext cx="368883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b="1" dirty="0">
                    <a:latin typeface="+mn-ea"/>
                  </a:rPr>
                  <a:t>첨부파일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2924086" y="4104112"/>
              <a:ext cx="422853" cy="187961"/>
              <a:chOff x="3641308" y="2234886"/>
              <a:chExt cx="422853" cy="187961"/>
            </a:xfrm>
          </p:grpSpPr>
          <p:sp>
            <p:nvSpPr>
              <p:cNvPr id="43" name="타원 4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4" name="그룹 43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9" name="직선 연결선 4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타원 4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47" name="직선 연결선 4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직선 연결선 47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/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 smtClean="0"/>
              <a:t>– </a:t>
            </a:r>
            <a:r>
              <a:rPr lang="ko-KR" altLang="en-US" dirty="0" smtClean="0">
                <a:latin typeface="+mn-ea"/>
              </a:rPr>
              <a:t>사후정산청구 상세 </a:t>
            </a:r>
            <a:r>
              <a:rPr lang="ko-KR" altLang="en-US" dirty="0" smtClean="0"/>
              <a:t>조회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사후정산청구상세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사후정산 </a:t>
            </a:r>
            <a:r>
              <a:rPr lang="ko-KR" altLang="en-US" sz="800" dirty="0" err="1" smtClean="0">
                <a:latin typeface="+mn-ea"/>
              </a:rPr>
              <a:t>청구상세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3150467" y="3992719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50129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164067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7277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84908" y="1526167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사후청구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758181" y="23796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78107" y="1647997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4099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009170" y="1647997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 넘치는 경우 드래그하여 확인 가능 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en-US" altLang="ko-KR" sz="800" dirty="0"/>
              <a:t>1-2] </a:t>
            </a:r>
            <a:r>
              <a:rPr lang="ko-KR" altLang="en-US" sz="800" dirty="0"/>
              <a:t>문서 정보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en-US" altLang="ko-KR" sz="800" dirty="0"/>
              <a:t>, 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노출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판단번호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전체노출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계약번호</a:t>
            </a:r>
            <a:r>
              <a:rPr lang="ko-KR" altLang="en-US" sz="800" dirty="0"/>
              <a:t> </a:t>
            </a:r>
            <a:r>
              <a:rPr lang="ko-KR" altLang="en-US" sz="800" dirty="0" err="1"/>
              <a:t>노출시</a:t>
            </a:r>
            <a:r>
              <a:rPr lang="ko-KR" altLang="en-US" sz="800" dirty="0"/>
              <a:t> 해당 라인을 넘어가면 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1-3] </a:t>
            </a:r>
            <a:r>
              <a:rPr lang="ko-KR" altLang="en-US" sz="800" dirty="0"/>
              <a:t>문서 제목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제목은 </a:t>
            </a:r>
            <a:r>
              <a:rPr lang="en-US" altLang="ko-KR" sz="800" dirty="0"/>
              <a:t>2</a:t>
            </a:r>
            <a:r>
              <a:rPr lang="ko-KR" altLang="en-US" sz="800" dirty="0"/>
              <a:t>줄 까지 노출 이후</a:t>
            </a:r>
            <a:r>
              <a:rPr lang="en-US" altLang="ko-KR" sz="800" dirty="0"/>
              <a:t>(…) </a:t>
            </a:r>
            <a:r>
              <a:rPr lang="ko-KR" altLang="en-US" sz="800" dirty="0" err="1"/>
              <a:t>말줄임</a:t>
            </a:r>
            <a:r>
              <a:rPr lang="ko-KR" altLang="en-US" sz="800" dirty="0"/>
              <a:t>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탭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신청정보</a:t>
            </a:r>
            <a:r>
              <a:rPr lang="ko-KR" altLang="en-US" sz="800" dirty="0"/>
              <a:t> </a:t>
            </a:r>
            <a:r>
              <a:rPr lang="en-US" altLang="ko-KR" sz="800" dirty="0"/>
              <a:t>Tab</a:t>
            </a:r>
            <a:r>
              <a:rPr lang="ko-KR" altLang="en-US" sz="800" dirty="0"/>
              <a:t>은 진입 시 고정 노출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탭 내용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 err="1" smtClean="0"/>
              <a:t>계약정보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공급자정보</a:t>
            </a:r>
            <a:r>
              <a:rPr lang="en-US" altLang="ko-KR" sz="800" dirty="0" smtClean="0"/>
              <a:t>,</a:t>
            </a:r>
            <a:r>
              <a:rPr lang="ko-KR" altLang="en-US" sz="800" dirty="0" smtClean="0"/>
              <a:t>대금신청금액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세금계산서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진행상태 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로그인 필요 서비스 안내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화면을 </a:t>
            </a:r>
            <a:r>
              <a:rPr lang="ko-KR" altLang="en-US" sz="800" dirty="0" err="1"/>
              <a:t>넘치는경우</a:t>
            </a:r>
            <a:r>
              <a:rPr lang="ko-KR" altLang="en-US" sz="800" dirty="0"/>
              <a:t> 드래그하여 확인</a:t>
            </a:r>
            <a:r>
              <a:rPr lang="en-US" altLang="ko-KR" sz="800" dirty="0"/>
              <a:t>(</a:t>
            </a:r>
            <a:r>
              <a:rPr lang="ko-KR" altLang="en-US" sz="800" dirty="0" err="1"/>
              <a:t>스와이프기능</a:t>
            </a:r>
            <a:r>
              <a:rPr lang="ko-KR" altLang="en-US" sz="800" dirty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세금계산서인 경우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화면에서 </a:t>
            </a:r>
            <a:r>
              <a:rPr lang="en-US" altLang="ko-KR" sz="800" dirty="0" smtClean="0"/>
              <a:t>“</a:t>
            </a:r>
            <a:r>
              <a:rPr lang="ko-KR" altLang="en-US" sz="800" dirty="0" smtClean="0"/>
              <a:t>세금계산서번호 선택 을 체크한 경우 노출</a:t>
            </a:r>
            <a:r>
              <a:rPr lang="en-US" altLang="ko-KR" sz="800" dirty="0" smtClean="0"/>
              <a:t>＂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신청 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각 공고에 맞춰 폼 변화에 유의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상세내용에</a:t>
            </a:r>
            <a:r>
              <a:rPr lang="ko-KR" altLang="en-US" sz="800" dirty="0"/>
              <a:t> 포함된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기본값은 상단 이동 버튼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ko-KR" altLang="en-US" sz="800" dirty="0"/>
              <a:t>현 상세내용 탭에서는 </a:t>
            </a:r>
            <a:endParaRPr lang="en-US" altLang="ko-KR" sz="800" dirty="0"/>
          </a:p>
          <a:p>
            <a:endParaRPr lang="ko-KR" altLang="en-US" sz="800" dirty="0"/>
          </a:p>
        </p:txBody>
      </p:sp>
      <p:sp>
        <p:nvSpPr>
          <p:cNvPr id="167" name="직사각형 166"/>
          <p:cNvSpPr/>
          <p:nvPr/>
        </p:nvSpPr>
        <p:spPr>
          <a:xfrm>
            <a:off x="7103286" y="6104709"/>
            <a:ext cx="2275404" cy="1568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201" name="그룹 200"/>
          <p:cNvGrpSpPr/>
          <p:nvPr/>
        </p:nvGrpSpPr>
        <p:grpSpPr>
          <a:xfrm>
            <a:off x="3836701" y="1988929"/>
            <a:ext cx="2630093" cy="1600147"/>
            <a:chOff x="720490" y="4465173"/>
            <a:chExt cx="2630093" cy="1600147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224" name="그룹 223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235" name="직선 연결선 2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5" name="직사각형 224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37" name="그룹 236"/>
          <p:cNvGrpSpPr/>
          <p:nvPr/>
        </p:nvGrpSpPr>
        <p:grpSpPr>
          <a:xfrm>
            <a:off x="3919539" y="3735455"/>
            <a:ext cx="2456097" cy="181140"/>
            <a:chOff x="763157" y="1527996"/>
            <a:chExt cx="2456097" cy="181140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239" name="그룹 23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240" name="직선 연결선 2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2" name="그룹 241"/>
          <p:cNvGrpSpPr/>
          <p:nvPr/>
        </p:nvGrpSpPr>
        <p:grpSpPr>
          <a:xfrm>
            <a:off x="3832541" y="4027607"/>
            <a:ext cx="2630093" cy="861981"/>
            <a:chOff x="3865118" y="2946203"/>
            <a:chExt cx="2630093" cy="861981"/>
          </a:xfrm>
        </p:grpSpPr>
        <p:sp>
          <p:nvSpPr>
            <p:cNvPr id="243" name="직사각형 242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574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558491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" name="그룹 52"/>
          <p:cNvGrpSpPr/>
          <p:nvPr/>
        </p:nvGrpSpPr>
        <p:grpSpPr>
          <a:xfrm>
            <a:off x="720490" y="1961981"/>
            <a:ext cx="2630093" cy="1600147"/>
            <a:chOff x="720490" y="4465173"/>
            <a:chExt cx="2630093" cy="160014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55" name="그룹 5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87" name="직선 연결선 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직선 연결선 8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직사각형 55"/>
            <p:cNvSpPr/>
            <p:nvPr/>
          </p:nvSpPr>
          <p:spPr>
            <a:xfrm>
              <a:off x="722583" y="4772658"/>
              <a:ext cx="792000" cy="12926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계약금액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2026-01-01 ~ 2026-12-31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 smtClean="0">
                <a:latin typeface="+mn-ea"/>
              </a:endParaRP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751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32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 smtClean="0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92" name="그룹 91"/>
          <p:cNvGrpSpPr/>
          <p:nvPr/>
        </p:nvGrpSpPr>
        <p:grpSpPr>
          <a:xfrm>
            <a:off x="803364" y="3735455"/>
            <a:ext cx="2456097" cy="181140"/>
            <a:chOff x="763157" y="1527996"/>
            <a:chExt cx="2456097" cy="18114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94" name="그룹 93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95" name="직선 연결선 9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7" name="그룹 96"/>
          <p:cNvGrpSpPr/>
          <p:nvPr/>
        </p:nvGrpSpPr>
        <p:grpSpPr>
          <a:xfrm>
            <a:off x="716366" y="4027607"/>
            <a:ext cx="2630093" cy="861981"/>
            <a:chOff x="3865118" y="2946203"/>
            <a:chExt cx="2630093" cy="861981"/>
          </a:xfrm>
        </p:grpSpPr>
        <p:sp>
          <p:nvSpPr>
            <p:cNvPr id="98" name="직사각형 97"/>
            <p:cNvSpPr/>
            <p:nvPr/>
          </p:nvSpPr>
          <p:spPr>
            <a:xfrm>
              <a:off x="3867211" y="2946203"/>
              <a:ext cx="792000" cy="8617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작성자 성명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직책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709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1406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2788354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3266146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71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010073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4640400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89375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51997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515072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797261" y="1853291"/>
            <a:ext cx="2456097" cy="181140"/>
            <a:chOff x="763157" y="1527996"/>
            <a:chExt cx="2456097" cy="18114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신청금액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2" name="그룹 121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23" name="직선 연결선 1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그룹 124"/>
          <p:cNvGrpSpPr/>
          <p:nvPr/>
        </p:nvGrpSpPr>
        <p:grpSpPr>
          <a:xfrm>
            <a:off x="710263" y="2110577"/>
            <a:ext cx="2630093" cy="658520"/>
            <a:chOff x="3865118" y="2946204"/>
            <a:chExt cx="2630093" cy="658520"/>
          </a:xfrm>
        </p:grpSpPr>
        <p:sp>
          <p:nvSpPr>
            <p:cNvPr id="126" name="직사각형 125"/>
            <p:cNvSpPr/>
            <p:nvPr/>
          </p:nvSpPr>
          <p:spPr>
            <a:xfrm>
              <a:off x="3867211" y="2946204"/>
              <a:ext cx="792000" cy="658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일금 </a:t>
              </a:r>
              <a:r>
                <a:rPr lang="en-US" altLang="ko-KR" sz="700" dirty="0" smtClean="0">
                  <a:latin typeface="+mn-ea"/>
                </a:rPr>
                <a:t>(</a:t>
              </a:r>
              <a:r>
                <a:rPr lang="ko-KR" altLang="en-US" sz="700" dirty="0" smtClean="0">
                  <a:latin typeface="+mn-ea"/>
                </a:rPr>
                <a:t>한글</a:t>
              </a:r>
              <a:r>
                <a:rPr lang="en-US" altLang="ko-KR" sz="700" dirty="0" smtClean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\ </a:t>
              </a:r>
              <a:r>
                <a:rPr lang="ko-KR" altLang="en-US" sz="700" dirty="0" smtClean="0">
                  <a:latin typeface="+mn-ea"/>
                </a:rPr>
                <a:t>일천만</a:t>
              </a:r>
              <a:r>
                <a:rPr lang="en-US" altLang="ko-KR" sz="700" dirty="0" smtClean="0">
                  <a:latin typeface="+mn-ea"/>
                </a:rPr>
                <a:t> </a:t>
              </a:r>
              <a:r>
                <a:rPr lang="ko-KR" altLang="en-US" sz="700" dirty="0" smtClean="0">
                  <a:latin typeface="+mn-ea"/>
                </a:rPr>
                <a:t>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 </a:t>
              </a:r>
              <a:r>
                <a:rPr lang="ko-KR" altLang="en-US" sz="700" dirty="0" smtClean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2700477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신청금액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831489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457707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831489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457707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5088462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303798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 smtClean="0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0380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4420009" y="1855650"/>
            <a:ext cx="63854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483181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신청내역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01568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세금계산서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999035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61118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ko-KR" dirty="0" smtClean="0">
                <a:latin typeface="+mn-ea"/>
              </a:rPr>
              <a:t>PC</a:t>
            </a:r>
            <a:r>
              <a:rPr lang="ko-KR" altLang="en-US" dirty="0" smtClean="0">
                <a:latin typeface="+mn-ea"/>
              </a:rPr>
              <a:t>에서 사후정산청구서 작성시</a:t>
            </a:r>
            <a:r>
              <a:rPr lang="en-US" altLang="ko-KR" dirty="0" smtClean="0">
                <a:latin typeface="+mn-ea"/>
              </a:rPr>
              <a:t>(UI-WM-01-M47), </a:t>
            </a:r>
            <a:r>
              <a:rPr lang="ko-KR" altLang="en-US" dirty="0" smtClean="0">
                <a:latin typeface="+mn-ea"/>
              </a:rPr>
              <a:t>세금계산서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“</a:t>
            </a:r>
            <a:r>
              <a:rPr lang="ko-KR" altLang="en-US" dirty="0" smtClean="0">
                <a:latin typeface="+mn-ea"/>
              </a:rPr>
              <a:t>선택</a:t>
            </a:r>
            <a:r>
              <a:rPr lang="en-US" altLang="ko-KR" dirty="0" smtClean="0">
                <a:latin typeface="+mn-ea"/>
              </a:rPr>
              <a:t>” </a:t>
            </a:r>
            <a:r>
              <a:rPr lang="ko-KR" altLang="en-US" dirty="0" smtClean="0">
                <a:latin typeface="+mn-ea"/>
              </a:rPr>
              <a:t>을 선택한 경우 노출 되는 항목</a:t>
            </a:r>
            <a:endParaRPr lang="en-US" altLang="ko-KR" dirty="0" smtClean="0">
              <a:latin typeface="+mn-ea"/>
            </a:endParaRPr>
          </a:p>
          <a:p>
            <a:pPr marL="228600" indent="-228600">
              <a:buAutoNum type="arabicPeriod"/>
            </a:pPr>
            <a:endParaRPr lang="en-US" altLang="ko-KR" dirty="0">
              <a:latin typeface="+mn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사후정산청구 상세 </a:t>
            </a:r>
            <a:r>
              <a:rPr lang="ko-KR" altLang="en-US" dirty="0"/>
              <a:t>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사후정산청구상세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MUI-WM-01-T22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891115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83267"/>
            <a:ext cx="2630093" cy="235931"/>
            <a:chOff x="3865118" y="2946203"/>
            <a:chExt cx="2630093" cy="23593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5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944795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0696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716366" y="2727004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453657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4127377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17020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7103286" y="6036456"/>
            <a:ext cx="2275404" cy="1958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123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56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04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2150521" y="1855650"/>
            <a:ext cx="489284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66970" y="1639043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85357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세금계산서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82824" y="1639043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smtClean="0">
                <a:latin typeface="+mn-ea"/>
              </a:rPr>
              <a:t>진행상태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2195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81090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사후정산청구서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dmt_epfcClclnClmDocCyclInfo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663884"/>
              </p:ext>
            </p:extLst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</a:rPr>
                        <a:t>신청일자</a:t>
                      </a:r>
                      <a:r>
                        <a:rPr lang="ko-KR" altLang="en-US" sz="800" dirty="0" smtClean="0">
                          <a:latin typeface="+mn-ea"/>
                        </a:rPr>
                        <a:t> 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dudtPrdCn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expndCsAmt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57526"/>
          <a:ext cx="8994883" cy="147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arusAplyAmt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usePrnmntAplyAmt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aplyAmtRt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89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신청일자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 smtClean="0">
                          <a:latin typeface="+mn-ea"/>
                        </a:rPr>
                        <a:t>조회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B8C94-46FF-7D29-7A9C-D4F6C039167C}"/>
              </a:ext>
            </a:extLst>
          </p:cNvPr>
          <p:cNvSpPr txBox="1"/>
          <p:nvPr/>
        </p:nvSpPr>
        <p:spPr>
          <a:xfrm>
            <a:off x="458117" y="185647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21507C-ACEB-32D5-61C3-00031118E48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6768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0732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51238"/>
              </p:ext>
            </p:extLst>
          </p:nvPr>
        </p:nvGraphicFramePr>
        <p:xfrm>
          <a:off x="453000" y="104985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 smtClean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18859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대금청구</a:t>
            </a:r>
            <a:r>
              <a:rPr lang="ko-KR" altLang="en-US" dirty="0" smtClean="0"/>
              <a:t> 각 화면에서 보여지는 </a:t>
            </a:r>
            <a:r>
              <a:rPr lang="ko-KR" altLang="en-US" dirty="0" err="1" smtClean="0"/>
              <a:t>지급상태</a:t>
            </a:r>
            <a:r>
              <a:rPr lang="ko-KR" altLang="en-US" dirty="0" smtClean="0"/>
              <a:t> 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진행상태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대금사후</a:t>
            </a:r>
            <a:r>
              <a:rPr lang="ko-KR" altLang="en-US" dirty="0" smtClean="0">
                <a:latin typeface="+mn-ea"/>
              </a:rPr>
              <a:t> 상세 중 진행상태 </a:t>
            </a:r>
            <a:r>
              <a:rPr lang="ko-KR" altLang="en-US" dirty="0" smtClean="0"/>
              <a:t>탭 화면 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대금청구신청목록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대금사후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MUI-WM-01-T24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05" name="그룹 104"/>
          <p:cNvGrpSpPr/>
          <p:nvPr/>
        </p:nvGrpSpPr>
        <p:grpSpPr>
          <a:xfrm>
            <a:off x="716366" y="1527996"/>
            <a:ext cx="2630093" cy="1118054"/>
            <a:chOff x="3795734" y="3441403"/>
            <a:chExt cx="2630093" cy="1118054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7"/>
              <a:ext cx="2630093" cy="861980"/>
              <a:chOff x="3865118" y="2946204"/>
              <a:chExt cx="2630093" cy="86198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5"/>
                <a:ext cx="792000" cy="8617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smtClean="0">
                    <a:latin typeface="+mn-ea"/>
                  </a:rPr>
                  <a:t>진행상태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처리일시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처리부대</a:t>
                </a:r>
                <a:r>
                  <a:rPr lang="en-US" altLang="ko-KR" sz="700" dirty="0" smtClean="0">
                    <a:latin typeface="+mn-ea"/>
                  </a:rPr>
                  <a:t>/</a:t>
                </a:r>
                <a:r>
                  <a:rPr lang="ko-KR" altLang="en-US" sz="700" dirty="0" smtClean="0">
                    <a:latin typeface="+mn-ea"/>
                  </a:rPr>
                  <a:t>업체</a:t>
                </a:r>
                <a:endParaRPr lang="en-US" altLang="ko-KR" sz="700" dirty="0" smtClean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 smtClean="0">
                    <a:latin typeface="+mn-ea"/>
                  </a:rPr>
                  <a:t>처리담당자</a:t>
                </a:r>
                <a:endParaRPr lang="en-US" altLang="ko-KR" sz="700" dirty="0" smtClean="0">
                  <a:latin typeface="+mn-ea"/>
                </a:endParaRP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89335" y="2946204"/>
                <a:ext cx="1644143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smtClean="0">
                    <a:latin typeface="+mn-ea"/>
                  </a:rPr>
                  <a:t>-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</a:t>
                </a:r>
                <a:endParaRPr lang="en-US" altLang="ko-KR" sz="700" dirty="0" smtClean="0">
                  <a:latin typeface="+mn-ea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진행상태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4" name="직사각형 23"/>
          <p:cNvSpPr/>
          <p:nvPr/>
        </p:nvSpPr>
        <p:spPr>
          <a:xfrm>
            <a:off x="7100725" y="6130834"/>
            <a:ext cx="2302845" cy="148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smtClean="0"/>
              <a:t>화면수정</a:t>
            </a:r>
            <a:endParaRPr lang="ko-KR" altLang="en-US" sz="50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27" name="직사각형 2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진행상태 탭 화면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16440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42645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시설용역 대금청구 진행상태별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</a:t>
            </a:r>
            <a:r>
              <a:rPr lang="en-US" altLang="ko-KR" sz="900" b="1" dirty="0">
                <a:solidFill>
                  <a:prstClr val="black"/>
                </a:solidFill>
              </a:rPr>
              <a:t>_ </a:t>
            </a:r>
            <a:r>
              <a:rPr lang="en-US" altLang="ko-KR" sz="900" b="1" dirty="0" err="1">
                <a:solidFill>
                  <a:prstClr val="black"/>
                </a:solidFill>
              </a:rPr>
              <a:t>pymtClmPrgrsSttList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4934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6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64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dlvdocPrgrsSt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:UA34(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UB58(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부대조달시설용역대금청구진행상태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prcsDt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처리일시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hh:mm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처리부대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prcsUnitBzentyNm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처리부대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처리담당자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prcsPicNm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처리담당자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295208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3265765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진행상태별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그룹 1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" name="직사각형 1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대금청구</a:t>
              </a:r>
              <a:r>
                <a:rPr lang="ko-KR" altLang="en-US" sz="700" dirty="0" smtClean="0"/>
                <a:t> 진행상태 탭 화면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889719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상단 </a:t>
            </a:r>
            <a:r>
              <a:rPr lang="ko-KR" altLang="en-US" sz="650" dirty="0" err="1"/>
              <a:t>업무도움은</a:t>
            </a:r>
            <a:r>
              <a:rPr lang="ko-KR" altLang="en-US" sz="650" dirty="0"/>
              <a:t> 기본 값으로 접힘 상태로 정보 제공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페이지 </a:t>
            </a:r>
            <a:r>
              <a:rPr lang="ko-KR" altLang="en-US" sz="650" dirty="0" err="1"/>
              <a:t>호출시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/>
              <a:t>해당 업체에서 진행중인 모든 </a:t>
            </a:r>
            <a:r>
              <a:rPr lang="ko-KR" altLang="en-US" sz="650" dirty="0" err="1"/>
              <a:t>계약건이</a:t>
            </a:r>
            <a:r>
              <a:rPr lang="ko-KR" altLang="en-US" sz="650" dirty="0"/>
              <a:t> 노출됨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계약일자기준 당일 포함 이전 </a:t>
            </a:r>
            <a:r>
              <a:rPr lang="en-US" altLang="ko-KR" sz="650" dirty="0"/>
              <a:t>30</a:t>
            </a:r>
            <a:r>
              <a:rPr lang="ko-KR" altLang="en-US" sz="650" dirty="0"/>
              <a:t>일 동안 신청된 계약 건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기본값 </a:t>
            </a:r>
            <a:r>
              <a:rPr lang="en-US" altLang="ko-KR" sz="650" dirty="0"/>
              <a:t>: </a:t>
            </a:r>
            <a:r>
              <a:rPr lang="ko-KR" altLang="en-US" sz="650" dirty="0"/>
              <a:t>접힘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사용자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확장하여 정보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업무도움</a:t>
            </a:r>
            <a:r>
              <a:rPr lang="en-US" altLang="ko-KR" sz="650" dirty="0"/>
              <a:t> &gt; </a:t>
            </a:r>
            <a:r>
              <a:rPr lang="ko-KR" altLang="en-US" sz="650" dirty="0"/>
              <a:t>내역이 있는 경우 표시</a:t>
            </a:r>
            <a:r>
              <a:rPr lang="en-US" altLang="ko-KR" sz="650" dirty="0"/>
              <a:t>, </a:t>
            </a:r>
            <a:r>
              <a:rPr lang="ko-KR" altLang="en-US" sz="650" dirty="0"/>
              <a:t>내역이 없으면 항목을 표시하지 않음</a:t>
            </a:r>
            <a:r>
              <a:rPr lang="en-US" altLang="ko-KR" sz="65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검색필터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2-1] </a:t>
            </a:r>
            <a:r>
              <a:rPr lang="ko-KR" altLang="en-US" sz="650" dirty="0"/>
              <a:t>통합참조정보</a:t>
            </a:r>
            <a:r>
              <a:rPr lang="en-US" altLang="ko-KR" sz="650" dirty="0"/>
              <a:t>, </a:t>
            </a:r>
            <a:r>
              <a:rPr lang="ko-KR" altLang="en-US" sz="650" dirty="0" err="1"/>
              <a:t>예약번호중</a:t>
            </a:r>
            <a:r>
              <a:rPr lang="ko-KR" altLang="en-US" sz="650" dirty="0"/>
              <a:t> 선택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2-2] </a:t>
            </a:r>
            <a:r>
              <a:rPr lang="ko-KR" altLang="en-US" sz="650" dirty="0" err="1"/>
              <a:t>검색어</a:t>
            </a:r>
            <a:r>
              <a:rPr lang="ko-KR" altLang="en-US" sz="650" dirty="0"/>
              <a:t> 입력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>
                <a:latin typeface="+mn-ea"/>
              </a:rPr>
              <a:t>검색 필터 호출</a:t>
            </a:r>
            <a:r>
              <a:rPr lang="en-US" altLang="ko-KR" sz="650" dirty="0">
                <a:latin typeface="+mn-ea"/>
              </a:rPr>
              <a:t/>
            </a:r>
            <a:br>
              <a:rPr lang="en-US" altLang="ko-KR" sz="650" dirty="0">
                <a:latin typeface="+mn-ea"/>
              </a:rPr>
            </a:br>
            <a:r>
              <a:rPr lang="ko-KR" altLang="en-US" sz="650" dirty="0">
                <a:latin typeface="+mn-ea"/>
              </a:rPr>
              <a:t> </a:t>
            </a:r>
            <a:r>
              <a:rPr lang="en-US" altLang="ko-KR" sz="650" dirty="0">
                <a:latin typeface="+mn-ea"/>
              </a:rPr>
              <a:t>– </a:t>
            </a:r>
            <a:r>
              <a:rPr lang="ko-KR" altLang="en-US" sz="650" dirty="0">
                <a:latin typeface="+mn-ea"/>
              </a:rPr>
              <a:t>계약 페이지 참고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표시 개수 영역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총 개수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표시 개수 </a:t>
            </a:r>
            <a:r>
              <a:rPr lang="en-US" altLang="ko-KR" sz="650" dirty="0"/>
              <a:t>(</a:t>
            </a:r>
            <a:r>
              <a:rPr lang="ko-KR" altLang="en-US" sz="650" dirty="0"/>
              <a:t>선택한 건수 만큼 보여주고 </a:t>
            </a:r>
            <a:r>
              <a:rPr lang="ko-KR" altLang="en-US" sz="650" dirty="0" err="1"/>
              <a:t>더보기시</a:t>
            </a:r>
            <a:r>
              <a:rPr lang="ko-KR" altLang="en-US" sz="650" dirty="0"/>
              <a:t> 추가로 불러옴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ko-KR" altLang="en-US" sz="650" dirty="0"/>
              <a:t>목록 카드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카드 </a:t>
            </a:r>
            <a:r>
              <a:rPr lang="ko-KR" altLang="en-US" sz="650" dirty="0" err="1"/>
              <a:t>클릭시</a:t>
            </a:r>
            <a:r>
              <a:rPr lang="ko-KR" altLang="en-US" sz="650" dirty="0"/>
              <a:t> </a:t>
            </a:r>
            <a:r>
              <a:rPr lang="ko-KR" altLang="en-US" sz="650" dirty="0" err="1"/>
              <a:t>바텀시트</a:t>
            </a:r>
            <a:r>
              <a:rPr lang="ko-KR" altLang="en-US" sz="650" dirty="0"/>
              <a:t> 호출</a:t>
            </a:r>
            <a:r>
              <a:rPr lang="en-US" altLang="ko-KR" sz="650" dirty="0"/>
              <a:t>(</a:t>
            </a:r>
            <a:r>
              <a:rPr lang="en-US" altLang="ko-KR" sz="650" dirty="0">
                <a:latin typeface="+mn-ea"/>
              </a:rPr>
              <a:t>MUI-WM-01-P13)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4-1] </a:t>
            </a:r>
            <a:r>
              <a:rPr lang="ko-KR" altLang="en-US" sz="650" dirty="0" err="1"/>
              <a:t>표시레이블</a:t>
            </a:r>
            <a:r>
              <a:rPr lang="ko-KR" altLang="en-US" sz="650" dirty="0"/>
              <a:t> 영역 항목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레이블이 화면을 넘치는 경우 드래그하여 확인 가능 </a:t>
            </a:r>
            <a:r>
              <a:rPr lang="en-US" altLang="ko-KR" sz="650" dirty="0"/>
              <a:t>(</a:t>
            </a:r>
            <a:r>
              <a:rPr lang="ko-KR" altLang="en-US" sz="650" dirty="0" err="1"/>
              <a:t>스와이프기능</a:t>
            </a:r>
            <a:r>
              <a:rPr lang="ko-KR" altLang="en-US" sz="650" dirty="0"/>
              <a:t> 반영 필요</a:t>
            </a:r>
            <a:r>
              <a:rPr lang="en-US" altLang="ko-KR" sz="650" dirty="0"/>
              <a:t>)</a:t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업무구분</a:t>
            </a:r>
            <a:r>
              <a:rPr lang="ko-KR" altLang="en-US" sz="650" dirty="0"/>
              <a:t> </a:t>
            </a:r>
            <a:r>
              <a:rPr lang="en-US" altLang="ko-KR" sz="650" dirty="0"/>
              <a:t>:  </a:t>
            </a:r>
            <a:r>
              <a:rPr lang="ko-KR" altLang="en-US" sz="650" dirty="0"/>
              <a:t>전체</a:t>
            </a:r>
            <a:r>
              <a:rPr lang="en-US" altLang="ko-KR" sz="650" dirty="0"/>
              <a:t>, </a:t>
            </a:r>
            <a:r>
              <a:rPr lang="ko-KR" altLang="en-US" sz="650" dirty="0"/>
              <a:t>물품</a:t>
            </a:r>
            <a:r>
              <a:rPr lang="en-US" altLang="ko-KR" sz="650" dirty="0"/>
              <a:t>, </a:t>
            </a:r>
            <a:r>
              <a:rPr lang="ko-KR" altLang="en-US" sz="650" dirty="0"/>
              <a:t>용역</a:t>
            </a:r>
            <a:r>
              <a:rPr lang="en-US" altLang="ko-KR" sz="650" dirty="0"/>
              <a:t>, </a:t>
            </a:r>
            <a:r>
              <a:rPr lang="ko-KR" altLang="en-US" sz="650" dirty="0"/>
              <a:t>공사</a:t>
            </a:r>
            <a:r>
              <a:rPr lang="en-US" altLang="ko-KR" sz="650" dirty="0"/>
              <a:t>, </a:t>
            </a:r>
            <a:r>
              <a:rPr lang="ko-KR" altLang="en-US" sz="650" dirty="0"/>
              <a:t>국외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입찰구분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총액제</a:t>
            </a:r>
            <a:r>
              <a:rPr lang="en-US" altLang="ko-KR" sz="650" dirty="0"/>
              <a:t>, </a:t>
            </a:r>
            <a:r>
              <a:rPr lang="ko-KR" altLang="en-US" sz="650" dirty="0" err="1"/>
              <a:t>단가제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대금상태</a:t>
            </a:r>
            <a:r>
              <a:rPr lang="ko-KR" altLang="en-US" sz="650" dirty="0"/>
              <a:t> </a:t>
            </a:r>
            <a:r>
              <a:rPr lang="en-US" altLang="ko-KR" sz="650" dirty="0"/>
              <a:t>: </a:t>
            </a:r>
            <a:r>
              <a:rPr lang="ko-KR" altLang="en-US" sz="650" dirty="0" err="1"/>
              <a:t>선금신청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착중도금신청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대금청구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대금수정</a:t>
            </a:r>
            <a:r>
              <a:rPr lang="en-US" altLang="ko-KR" sz="650" dirty="0"/>
              <a:t>, </a:t>
            </a:r>
            <a:r>
              <a:rPr lang="ko-KR" altLang="en-US" sz="650" dirty="0" err="1"/>
              <a:t>대금확정</a:t>
            </a:r>
            <a:r>
              <a:rPr lang="en-US" altLang="ko-KR" sz="650" dirty="0"/>
              <a:t>, </a:t>
            </a:r>
            <a:r>
              <a:rPr lang="ko-KR" altLang="en-US" sz="650" dirty="0"/>
              <a:t>사후정산</a:t>
            </a:r>
            <a:br>
              <a:rPr lang="ko-KR" altLang="en-US" sz="650" dirty="0"/>
            </a:br>
            <a:r>
              <a:rPr lang="en-US" altLang="ko-KR" sz="650" dirty="0"/>
              <a:t>4-2] </a:t>
            </a:r>
            <a:r>
              <a:rPr lang="ko-KR" altLang="en-US" sz="650" dirty="0"/>
              <a:t>문서 정보 영역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 err="1"/>
              <a:t>회차노출</a:t>
            </a:r>
            <a:r>
              <a:rPr lang="ko-KR" altLang="en-US" sz="650" dirty="0"/>
              <a:t>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ko-KR" altLang="en-US" sz="650" dirty="0"/>
              <a:t> </a:t>
            </a:r>
            <a:r>
              <a:rPr lang="ko-KR" altLang="en-US" sz="650" dirty="0" err="1"/>
              <a:t>노출시</a:t>
            </a:r>
            <a:r>
              <a:rPr lang="ko-KR" altLang="en-US" sz="650" dirty="0"/>
              <a:t> 해당 라인을 넘어가면 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:</a:t>
            </a:r>
            <a:r>
              <a:rPr lang="ko-KR" altLang="en-US" sz="650" dirty="0"/>
              <a:t> </a:t>
            </a:r>
            <a:r>
              <a:rPr lang="ko-KR" altLang="en-US" sz="650" dirty="0" err="1"/>
              <a:t>계약번호</a:t>
            </a:r>
            <a:r>
              <a:rPr lang="en-US" altLang="ko-KR" sz="650" dirty="0"/>
              <a:t>+</a:t>
            </a:r>
            <a:r>
              <a:rPr lang="ko-KR" altLang="en-US" sz="650" dirty="0"/>
              <a:t>계약번호차수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4-3] </a:t>
            </a:r>
            <a:r>
              <a:rPr lang="ko-KR" altLang="en-US" sz="650" dirty="0"/>
              <a:t>문서 제목 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제목은 </a:t>
            </a:r>
            <a:r>
              <a:rPr lang="en-US" altLang="ko-KR" sz="650" dirty="0"/>
              <a:t>2</a:t>
            </a:r>
            <a:r>
              <a:rPr lang="ko-KR" altLang="en-US" sz="650" dirty="0"/>
              <a:t>줄 까지 노출 이후</a:t>
            </a:r>
            <a:r>
              <a:rPr lang="en-US" altLang="ko-KR" sz="650" dirty="0"/>
              <a:t>(…) </a:t>
            </a:r>
            <a:r>
              <a:rPr lang="ko-KR" altLang="en-US" sz="650" dirty="0" err="1"/>
              <a:t>말줄임</a:t>
            </a:r>
            <a:r>
              <a:rPr lang="ko-KR" altLang="en-US" sz="650" dirty="0"/>
              <a:t> 표시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</a:t>
            </a:r>
            <a:r>
              <a:rPr lang="ko-KR" altLang="en-US" sz="650" dirty="0"/>
              <a:t>대금청구상세 페이지로 이동 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 err="1"/>
              <a:t>더보기</a:t>
            </a:r>
            <a:r>
              <a:rPr lang="ko-KR" altLang="en-US" sz="650" dirty="0"/>
              <a:t> 기능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r>
              <a:rPr lang="en-US" altLang="ko-KR" sz="650" dirty="0"/>
              <a:t>- 3</a:t>
            </a:r>
            <a:r>
              <a:rPr lang="ko-KR" altLang="en-US" sz="650" dirty="0" err="1"/>
              <a:t>번항목</a:t>
            </a:r>
            <a:r>
              <a:rPr lang="ko-KR" altLang="en-US" sz="650" dirty="0"/>
              <a:t> 표시 개수 영역에서 선택한 개수로 증가</a:t>
            </a:r>
            <a:r>
              <a:rPr lang="en-US" altLang="ko-KR" sz="650" dirty="0"/>
              <a:t>.</a:t>
            </a:r>
            <a:br>
              <a:rPr lang="en-US" altLang="ko-KR" sz="650" dirty="0"/>
            </a:br>
            <a:r>
              <a:rPr lang="ko-KR" altLang="en-US" sz="650" dirty="0"/>
              <a:t>예</a:t>
            </a:r>
            <a:r>
              <a:rPr lang="en-US" altLang="ko-KR" sz="650" dirty="0"/>
              <a:t>) 10</a:t>
            </a:r>
            <a:r>
              <a:rPr lang="ko-KR" altLang="en-US" sz="650" dirty="0"/>
              <a:t>개 노출 이후 </a:t>
            </a:r>
            <a:r>
              <a:rPr lang="ko-KR" altLang="en-US" sz="650" dirty="0" err="1"/>
              <a:t>더보기</a:t>
            </a:r>
            <a:r>
              <a:rPr lang="ko-KR" altLang="en-US" sz="650" dirty="0"/>
              <a:t> 버튼 클릭으로 </a:t>
            </a:r>
            <a:r>
              <a:rPr lang="en-US" altLang="ko-KR" sz="650" dirty="0"/>
              <a:t>10</a:t>
            </a:r>
            <a:r>
              <a:rPr lang="ko-KR" altLang="en-US" sz="650" dirty="0"/>
              <a:t>개씩 추가 로드</a:t>
            </a:r>
            <a:endParaRPr lang="en-US" altLang="ko-KR" sz="65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650" dirty="0"/>
              <a:t>대금청구관련 안내문을 호출한다</a:t>
            </a:r>
            <a:r>
              <a:rPr lang="en-US" altLang="ko-KR" sz="650" dirty="0"/>
              <a:t>.</a:t>
            </a:r>
            <a:r>
              <a:rPr lang="en-US" altLang="ko-KR" sz="650" dirty="0">
                <a:latin typeface="+mn-ea"/>
              </a:rPr>
              <a:t> (MUI-WM-01-P09)</a:t>
            </a:r>
            <a:r>
              <a:rPr lang="en-US" altLang="ko-KR" sz="650" dirty="0"/>
              <a:t/>
            </a:r>
            <a:br>
              <a:rPr lang="en-US" altLang="ko-KR" sz="650" dirty="0"/>
            </a:br>
            <a:endParaRPr lang="en-US" altLang="ko-KR" sz="6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대금청구진행현황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1237060"/>
            <a:chOff x="781461" y="3087955"/>
            <a:chExt cx="2473257" cy="1237060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신청번호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청구금액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청구일자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9" y="3617129"/>
              <a:ext cx="472950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1234-5678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 smtClean="0">
                  <a:latin typeface="+mn-ea"/>
                </a:rPr>
                <a:t>원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2026-02-05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73381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0903098" y="2146386"/>
            <a:ext cx="2849517" cy="1297490"/>
            <a:chOff x="3840447" y="4794923"/>
            <a:chExt cx="2849517" cy="1297490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4614060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4794923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4914986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5215975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5519047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4318635" y="5105666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111505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4318635" y="5438197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4695883" y="5439645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44403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578427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대금상태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4318634" y="5780346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선금신청</a:t>
              </a:r>
              <a:endParaRPr lang="ko-KR" altLang="en-US" sz="600" dirty="0"/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4762118" y="5781794"/>
              <a:ext cx="55591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착중도금신청</a:t>
              </a:r>
              <a:endParaRPr lang="ko-KR" altLang="en-US" sz="600" dirty="0"/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5833259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대금수정</a:t>
              </a:r>
              <a:endParaRPr lang="ko-KR" altLang="en-US" sz="600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5364593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대금청구</a:t>
              </a:r>
              <a:r>
                <a:rPr lang="ko-KR" altLang="en-US" sz="600" dirty="0"/>
                <a:t>                          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6286574" y="5781794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대금확정</a:t>
              </a:r>
              <a:endParaRPr lang="ko-KR" altLang="en-US" sz="600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4318634" y="597301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사후정산</a:t>
              </a:r>
            </a:p>
          </p:txBody>
        </p:sp>
      </p:grp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14386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7067290" y="6120986"/>
            <a:ext cx="2336280" cy="17214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b="1" dirty="0" smtClean="0">
                <a:solidFill>
                  <a:schemeClr val="bg1"/>
                </a:solidFill>
              </a:rPr>
              <a:t>0706)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계약일자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 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청구일자</a:t>
            </a:r>
            <a:r>
              <a:rPr lang="en-US" altLang="ko-KR" sz="500" b="1" dirty="0" smtClean="0">
                <a:solidFill>
                  <a:schemeClr val="bg1"/>
                </a:solidFill>
              </a:rPr>
              <a:t>,</a:t>
            </a:r>
            <a:r>
              <a:rPr lang="ko-KR" altLang="en-US" sz="500" b="1" dirty="0" err="1" smtClean="0">
                <a:solidFill>
                  <a:schemeClr val="bg1"/>
                </a:solidFill>
              </a:rPr>
              <a:t>수령금액</a:t>
            </a:r>
            <a:r>
              <a:rPr lang="ko-KR" altLang="en-US" sz="500" b="1" dirty="0" smtClean="0">
                <a:solidFill>
                  <a:schemeClr val="bg1"/>
                </a:solidFill>
              </a:rPr>
              <a:t> 누락</a:t>
            </a:r>
            <a:endParaRPr lang="ko-KR" altLang="ko-KR" sz="50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67903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1" name="직사각형 10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청구일자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1080735"/>
            <a:chOff x="781461" y="3087955"/>
            <a:chExt cx="2473257" cy="1080735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 smtClean="0"/>
                <a:t>계약번호</a:t>
              </a:r>
              <a:r>
                <a:rPr lang="ko-KR" altLang="en-US" sz="700" dirty="0" smtClean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신청번호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1234-5678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037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0356927" y="2118048"/>
            <a:ext cx="2855757" cy="1227135"/>
            <a:chOff x="3834207" y="2304240"/>
            <a:chExt cx="2855757" cy="1227135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4614060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34207" y="230424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4914986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5215975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5519047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4318635" y="254462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2550467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4318635" y="2877159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4695883" y="2878607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2882998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40447" y="3223238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대금상태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4318634" y="3219308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선금신청</a:t>
              </a:r>
              <a:endParaRPr lang="ko-KR" altLang="en-US" sz="600" dirty="0"/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4762118" y="3220756"/>
              <a:ext cx="55591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착중도금신청</a:t>
              </a:r>
              <a:endParaRPr lang="ko-KR" altLang="en-US" sz="600" dirty="0"/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5833259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대금수정</a:t>
              </a:r>
              <a:endParaRPr lang="ko-KR" altLang="en-US" sz="600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5364593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대금청구</a:t>
              </a:r>
              <a:r>
                <a:rPr lang="ko-KR" altLang="en-US" sz="600" dirty="0"/>
                <a:t>                          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6286574" y="3220756"/>
              <a:ext cx="40339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대금확정</a:t>
              </a:r>
              <a:endParaRPr lang="ko-KR" altLang="en-US" sz="600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4318634" y="341197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사후정산</a:t>
              </a:r>
            </a:p>
          </p:txBody>
        </p:sp>
      </p:grp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136" name="텍스트 개체 틀 5"/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페이지 </a:t>
            </a:r>
            <a:r>
              <a:rPr lang="ko-KR" altLang="en-US" sz="700" dirty="0" err="1" smtClean="0"/>
              <a:t>호출시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해당 업체에서 진행중인 모든 </a:t>
            </a:r>
            <a:r>
              <a:rPr lang="ko-KR" altLang="en-US" sz="700" dirty="0" err="1" smtClean="0"/>
              <a:t>계약건이</a:t>
            </a:r>
            <a:r>
              <a:rPr lang="ko-KR" altLang="en-US" sz="700" dirty="0" smtClean="0"/>
              <a:t> 노출됨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계약일자기준 당일 포함 이전 </a:t>
            </a:r>
            <a:r>
              <a:rPr lang="en-US" altLang="ko-KR" sz="700" dirty="0" smtClean="0"/>
              <a:t>30</a:t>
            </a:r>
            <a:r>
              <a:rPr lang="ko-KR" altLang="en-US" sz="700" dirty="0" smtClean="0"/>
              <a:t>일 동안 신청된 계약 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2-1] </a:t>
            </a:r>
            <a:r>
              <a:rPr lang="ko-KR" altLang="en-US" sz="700" dirty="0" smtClean="0"/>
              <a:t>통합참조정보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예약번호중</a:t>
            </a:r>
            <a:r>
              <a:rPr lang="ko-KR" altLang="en-US" sz="700" dirty="0" smtClean="0"/>
              <a:t> 선택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2-2] </a:t>
            </a:r>
            <a:r>
              <a:rPr lang="ko-KR" altLang="en-US" sz="700" dirty="0" err="1" smtClean="0"/>
              <a:t>검색어</a:t>
            </a:r>
            <a:r>
              <a:rPr lang="ko-KR" altLang="en-US" sz="700" dirty="0" smtClean="0"/>
              <a:t> 입력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latin typeface="+mn-ea"/>
              </a:rPr>
              <a:t>검색 필터 호출</a:t>
            </a:r>
            <a:r>
              <a:rPr lang="en-US" altLang="ko-KR" sz="700" dirty="0" smtClean="0">
                <a:latin typeface="+mn-ea"/>
              </a:rPr>
              <a:t/>
            </a:r>
            <a:br>
              <a:rPr lang="en-US" altLang="ko-KR" sz="700" dirty="0" smtClean="0">
                <a:latin typeface="+mn-ea"/>
              </a:rPr>
            </a:br>
            <a:r>
              <a:rPr lang="ko-KR" altLang="en-US" sz="700" dirty="0" smtClean="0">
                <a:latin typeface="+mn-ea"/>
              </a:rPr>
              <a:t> </a:t>
            </a:r>
            <a:r>
              <a:rPr lang="en-US" altLang="ko-KR" sz="700" dirty="0" smtClean="0">
                <a:latin typeface="+mn-ea"/>
              </a:rPr>
              <a:t>– </a:t>
            </a:r>
            <a:r>
              <a:rPr lang="ko-KR" altLang="en-US" sz="700" dirty="0" smtClean="0">
                <a:latin typeface="+mn-ea"/>
              </a:rPr>
              <a:t>계약 페이지 참고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바텀시트</a:t>
            </a:r>
            <a:r>
              <a:rPr lang="ko-KR" altLang="en-US" sz="700" dirty="0" smtClean="0"/>
              <a:t> 호출</a:t>
            </a:r>
            <a:r>
              <a:rPr lang="en-US" altLang="ko-KR" sz="700" dirty="0" smtClean="0"/>
              <a:t>(</a:t>
            </a:r>
            <a:r>
              <a:rPr lang="en-US" altLang="ko-KR" sz="700" dirty="0" smtClean="0">
                <a:latin typeface="+mn-ea"/>
              </a:rPr>
              <a:t>MUI-WM-01-P13)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입찰구분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총액제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단가제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대금상태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선금신청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착중도금신청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대금청구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대금수정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대금확정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사후정산</a:t>
            </a:r>
            <a:br>
              <a:rPr lang="ko-KR" altLang="en-US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err="1" smtClean="0"/>
              <a:t>회차노출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대금청구상세 페이지로 이동 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대금청구관련 안내문을 호출한다</a:t>
            </a:r>
            <a:r>
              <a:rPr lang="en-US" altLang="ko-KR" sz="700" dirty="0" smtClean="0"/>
              <a:t>.</a:t>
            </a:r>
            <a:r>
              <a:rPr lang="en-US" altLang="ko-KR" dirty="0" smtClean="0">
                <a:latin typeface="+mn-ea"/>
              </a:rPr>
              <a:t> (</a:t>
            </a:r>
            <a:r>
              <a:rPr lang="en-US" altLang="ko-KR" sz="700" dirty="0" smtClean="0">
                <a:latin typeface="+mn-ea"/>
              </a:rPr>
              <a:t>MUI-WM-01-P09)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3636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50531" y="14618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693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918479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2026-08-05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</a:t>
              </a:r>
              <a:r>
                <a:rPr lang="en-US" altLang="ko-KR" sz="700" dirty="0" smtClean="0"/>
                <a:t>(</a:t>
              </a:r>
              <a:r>
                <a:rPr lang="ko-KR" altLang="en-US" sz="700" dirty="0" err="1" smtClean="0"/>
                <a:t>뱃지</a:t>
              </a:r>
              <a:r>
                <a:rPr lang="en-US" altLang="ko-KR" sz="700" dirty="0" smtClean="0"/>
                <a:t>)</a:t>
              </a:r>
              <a:r>
                <a:rPr lang="ko-KR" altLang="en-US" sz="700" dirty="0" smtClean="0"/>
                <a:t> 설명 추가</a:t>
              </a:r>
              <a:r>
                <a:rPr lang="en-US" altLang="ko-KR" sz="700" dirty="0" smtClean="0"/>
                <a:t>,</a:t>
              </a:r>
              <a:r>
                <a:rPr lang="ko-KR" altLang="en-US" sz="700" dirty="0" smtClean="0"/>
                <a:t>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목록 </a:t>
              </a:r>
              <a:r>
                <a:rPr lang="en-US" altLang="ko-KR" sz="700" dirty="0" smtClean="0"/>
                <a:t>–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청구일자</a:t>
              </a:r>
              <a:r>
                <a:rPr lang="ko-KR" altLang="en-US" sz="700" dirty="0" smtClean="0"/>
                <a:t>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55935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 smtClean="0"/>
              <a:t>2. </a:t>
            </a:r>
            <a:r>
              <a:rPr lang="ko-KR" altLang="en-US" dirty="0">
                <a:latin typeface="+mn-ea"/>
              </a:rPr>
              <a:t>물품수령확인서목록</a:t>
            </a:r>
            <a:endParaRPr lang="en-US" altLang="ko-KR" dirty="0"/>
          </a:p>
          <a:p>
            <a:r>
              <a:rPr lang="en-US" altLang="ko-KR" dirty="0" smtClean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84424"/>
              </p:ext>
            </p:extLst>
          </p:nvPr>
        </p:nvGraphicFramePr>
        <p:xfrm>
          <a:off x="635474" y="1365204"/>
          <a:ext cx="8701200" cy="35759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MUI-WM-01-M71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물품수령확인서목록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OvsCmdtyRcvCnfdocList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물품수령확인서 목록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OvsCmdtyRcvCnfdocList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OvsCmdtyRcvCnfdocList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UC-WM-02-01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MUI-WM-01-P72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물품수령확인서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OvsCmdtyRcvCnfdocList_SrchFilter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OvsCmdtyRcvCnfdocList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OvsCmdtyRcvCnfdocList_SrchFilter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UC-WM-02-01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MUI-WM-01-P73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전자계산서목록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OvsElcrtTxivList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물품수령확인서의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전자계산서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OvsCmdtyRcvCnfdocList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OvsElcrtTxivList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UC-WM-02-01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5637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MUI-WM-01-M74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전자계산서상세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OvsElcrtTxivDtl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물품수령확인서의 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전자계산서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조회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OvsCmdtyRcvCnfdocList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OvsElcrtTxivDtl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UC-WM-02-01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MUI-WM-01-M75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대금지불정보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OvsRtnPymtDfryInfo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건에 대한 대금지불 정보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OvsRtnPymtDfryInfo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OvsRtnPymtDfryInfo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4119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MUI-WM-01-P76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대금지불정보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OvsRtnPymtDfryInfo_SrchFilter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OvsRtnPymtDfryInfo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OvsRtnPymtDfryInfo_SrchFilter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7571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MUI-WM-01-M77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대금지급현황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OvsPymtPrgrsList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건에 대한 대금지급현황 목록 정보 조회 화면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OvsRtnPymtDfryInfo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OvsPymtPrgrsList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9574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MUI-WM-01-P78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선적품목내역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OvsShpgItemDsctn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대금지급현황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조회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wm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OvsRtnPymtDfryInfo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OvsShpgItemDsctn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UC-WM-04-01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56228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" name="직사각형 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2026-08-13 </a:t>
              </a:r>
              <a:r>
                <a:rPr lang="ko-KR" altLang="en-US" dirty="0" smtClean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smtClean="0"/>
                <a:t>국외 신규 화면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751043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2.2</a:t>
            </a:r>
            <a:r>
              <a:rPr lang="en-US" altLang="ko-KR" dirty="0"/>
              <a:t>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22348" y="21864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물품수령확인서목록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2243689" y="22404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2450549" y="23304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14710" y="21864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물품수령확인서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905341" y="337013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934338" y="316264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917520" y="1541293"/>
            <a:ext cx="2019" cy="1292362"/>
          </a:xfrm>
          <a:prstGeom prst="bentConnector3">
            <a:avLst>
              <a:gd name="adj1" fmla="val 1142243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2206660" y="20723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82" idx="1"/>
          </p:cNvCxnSpPr>
          <p:nvPr/>
        </p:nvCxnSpPr>
        <p:spPr>
          <a:xfrm>
            <a:off x="2450549" y="2330464"/>
            <a:ext cx="371799" cy="11561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722348" y="2330464"/>
            <a:ext cx="392362" cy="20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2" idx="2"/>
            <a:endCxn id="155" idx="2"/>
          </p:cNvCxnSpPr>
          <p:nvPr/>
        </p:nvCxnSpPr>
        <p:spPr>
          <a:xfrm rot="5400000" flipH="1" flipV="1">
            <a:off x="5579643" y="1185951"/>
            <a:ext cx="137400" cy="4751990"/>
          </a:xfrm>
          <a:prstGeom prst="bentConnector3">
            <a:avLst>
              <a:gd name="adj1" fmla="val -16637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22348" y="334264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대금지불정보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14710" y="266855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전자계산서목록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03" idx="1"/>
          </p:cNvCxnSpPr>
          <p:nvPr/>
        </p:nvCxnSpPr>
        <p:spPr>
          <a:xfrm rot="16200000" flipH="1">
            <a:off x="3524485" y="2222327"/>
            <a:ext cx="338089" cy="84236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3" idx="3"/>
            <a:endCxn id="116" idx="1"/>
          </p:cNvCxnSpPr>
          <p:nvPr/>
        </p:nvCxnSpPr>
        <p:spPr>
          <a:xfrm>
            <a:off x="5014710" y="2812553"/>
            <a:ext cx="69229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707002" y="266855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전자계산서상세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14710" y="334264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대금지불정보</a:t>
            </a:r>
          </a:p>
        </p:txBody>
      </p:sp>
      <p:cxnSp>
        <p:nvCxnSpPr>
          <p:cNvPr id="11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7" idx="0"/>
            <a:endCxn id="82" idx="0"/>
          </p:cNvCxnSpPr>
          <p:nvPr/>
        </p:nvCxnSpPr>
        <p:spPr>
          <a:xfrm rot="16200000" flipH="1" flipV="1">
            <a:off x="3918528" y="2696464"/>
            <a:ext cx="2" cy="1292362"/>
          </a:xfrm>
          <a:prstGeom prst="bentConnector3">
            <a:avLst>
              <a:gd name="adj1" fmla="val -114300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82" idx="3"/>
            <a:endCxn id="117" idx="1"/>
          </p:cNvCxnSpPr>
          <p:nvPr/>
        </p:nvCxnSpPr>
        <p:spPr>
          <a:xfrm flipV="1">
            <a:off x="3722348" y="3486644"/>
            <a:ext cx="392362" cy="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22348" y="441227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대금지급현황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14710" y="441227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선적품목내역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22" idx="3"/>
            <a:endCxn id="123" idx="1"/>
          </p:cNvCxnSpPr>
          <p:nvPr/>
        </p:nvCxnSpPr>
        <p:spPr>
          <a:xfrm flipV="1">
            <a:off x="3722348" y="4556275"/>
            <a:ext cx="392362" cy="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122" idx="1"/>
          </p:cNvCxnSpPr>
          <p:nvPr/>
        </p:nvCxnSpPr>
        <p:spPr>
          <a:xfrm>
            <a:off x="2450549" y="2330464"/>
            <a:ext cx="371799" cy="22258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159" idx="0"/>
          </p:cNvCxnSpPr>
          <p:nvPr/>
        </p:nvCxnSpPr>
        <p:spPr>
          <a:xfrm>
            <a:off x="6607002" y="2812553"/>
            <a:ext cx="1417336" cy="3860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3" idx="3"/>
            <a:endCxn id="155" idx="2"/>
          </p:cNvCxnSpPr>
          <p:nvPr/>
        </p:nvCxnSpPr>
        <p:spPr>
          <a:xfrm flipV="1">
            <a:off x="5014710" y="3493246"/>
            <a:ext cx="3009628" cy="106302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3020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47958"/>
            <a:ext cx="967509" cy="11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335492"/>
            <a:ext cx="967509" cy="65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292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75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06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65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1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물품수령확인서목록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OvsCmdtyRcvCnfdocList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13167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물품수령확인서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OvsCmdtyRcvCnfdocList_SrchFilter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0786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전자계산서상세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OvsElcrtTxivDtl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541431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대금지불정보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OvsRtnPymtDfryInfo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992962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대금지불정보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OvsRtnPymtDfryInfo_SrchFilter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44449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대금지급현황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OvsPymtPrgrsList.</a:t>
            </a:r>
            <a:r>
              <a:rPr lang="en-US" altLang="ko-KR" sz="700" dirty="0" err="1">
                <a:solidFill>
                  <a:schemeClr val="tx1"/>
                </a:solidFill>
              </a:rPr>
              <a:t>tsx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96024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선적품목내역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OvsShpgItemDsctn</a:t>
            </a:r>
            <a:r>
              <a:rPr lang="en-US" altLang="ko-KR" sz="700" dirty="0" err="1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620423"/>
            <a:ext cx="1727200" cy="40763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전자계산서목록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7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OvsElcrtTxivList</a:t>
            </a:r>
            <a:r>
              <a:rPr lang="en-US" altLang="ko-KR" sz="7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7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7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31" idx="3"/>
            <a:endCxn id="9" idx="1"/>
          </p:cNvCxnSpPr>
          <p:nvPr/>
        </p:nvCxnSpPr>
        <p:spPr>
          <a:xfrm>
            <a:off x="2992582" y="2824241"/>
            <a:ext cx="967509" cy="16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101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물품수령확인서목록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물품수령확인서목록</a:t>
            </a:r>
            <a:r>
              <a:rPr lang="ko-KR" altLang="en-US" dirty="0" smtClean="0"/>
              <a:t>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물품수령확인서목록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물품수령확인서목록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0" y="3374704"/>
            <a:ext cx="2473258" cy="1375560"/>
            <a:chOff x="781460" y="3087955"/>
            <a:chExt cx="2473258" cy="1375560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/>
                <a:t>L/C</a:t>
              </a:r>
              <a:r>
                <a:rPr lang="ko-KR" altLang="en-US" sz="700" dirty="0" smtClean="0"/>
                <a:t>번호 </a:t>
              </a:r>
              <a:r>
                <a:rPr lang="en-US" altLang="ko-KR" sz="700" dirty="0"/>
                <a:t>2025000000 - 01</a:t>
              </a:r>
            </a:p>
            <a:p>
              <a:r>
                <a:rPr lang="en-US" altLang="ko-KR" sz="900" b="1" dirty="0"/>
                <a:t>B/L</a:t>
              </a:r>
              <a:r>
                <a:rPr lang="ko-KR" altLang="en-US" sz="900" b="1" dirty="0"/>
                <a:t>번호 </a:t>
              </a:r>
              <a:r>
                <a:rPr lang="en-US" altLang="ko-KR" sz="900" b="1" dirty="0"/>
                <a:t>2025000000 - 01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411972" cy="830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 </a:t>
              </a:r>
              <a:r>
                <a:rPr lang="ko-KR" altLang="en-US" sz="600" dirty="0" err="1" smtClean="0">
                  <a:latin typeface="+mn-ea"/>
                </a:rPr>
                <a:t>품목수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계약금액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선적 </a:t>
              </a:r>
              <a:r>
                <a:rPr lang="ko-KR" altLang="en-US" sz="600" dirty="0" err="1" smtClean="0">
                  <a:latin typeface="+mn-ea"/>
                </a:rPr>
                <a:t>품목수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송장금액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수령 </a:t>
              </a:r>
              <a:r>
                <a:rPr lang="ko-KR" altLang="en-US" sz="600" dirty="0" err="1" smtClean="0">
                  <a:latin typeface="+mn-ea"/>
                </a:rPr>
                <a:t>품목수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941082" y="3617129"/>
              <a:ext cx="285398" cy="830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1,100.00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1,100.00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1,,00.00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0" y="3087955"/>
              <a:ext cx="72825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smtClean="0">
                  <a:solidFill>
                    <a:schemeClr val="dk1"/>
                  </a:solidFill>
                </a:rPr>
                <a:t>INVOICE 123456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226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482436" cy="155984"/>
              <a:chOff x="808107" y="2288229"/>
              <a:chExt cx="135742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</a:t>
                </a: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73118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err="1" smtClean="0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조회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en-US" altLang="ko-KR" sz="800" kern="0" dirty="0" smtClean="0">
                    <a:latin typeface="맑은 고딕"/>
                    <a:ea typeface="맑은 고딕" panose="020B0503020000020004" pitchFamily="50" charset="-127"/>
                  </a:rPr>
                  <a:t>&gt;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상단 </a:t>
            </a:r>
            <a:r>
              <a:rPr lang="ko-KR" altLang="en-US" sz="800" dirty="0" err="1"/>
              <a:t>업무도움은</a:t>
            </a:r>
            <a:r>
              <a:rPr lang="ko-KR" altLang="en-US" sz="800" dirty="0"/>
              <a:t> 기본 값으로 접힘 상태로 정보 제공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페이지 </a:t>
            </a:r>
            <a:r>
              <a:rPr lang="ko-KR" altLang="en-US" sz="800" dirty="0" err="1" smtClean="0"/>
              <a:t>호출시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해당 업체에서 진행중인 모든 </a:t>
            </a:r>
            <a:r>
              <a:rPr lang="ko-KR" altLang="en-US" sz="800" dirty="0" err="1" smtClean="0"/>
              <a:t>계약건이</a:t>
            </a:r>
            <a:r>
              <a:rPr lang="ko-KR" altLang="en-US" sz="800" dirty="0" smtClean="0"/>
              <a:t> 노출됨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계약일자기준 당일 포함 이전 </a:t>
            </a:r>
            <a:r>
              <a:rPr lang="en-US" altLang="ko-KR" sz="800" dirty="0" smtClean="0"/>
              <a:t>30</a:t>
            </a:r>
            <a:r>
              <a:rPr lang="ko-KR" altLang="en-US" sz="800" dirty="0" smtClean="0"/>
              <a:t>일 동안 신청된 계약 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사용자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> &gt; </a:t>
            </a:r>
            <a:r>
              <a:rPr lang="ko-KR" altLang="en-US" sz="800" dirty="0"/>
              <a:t>내역이 있는 경우 표시</a:t>
            </a:r>
            <a:r>
              <a:rPr lang="en-US" altLang="ko-KR" sz="800" dirty="0"/>
              <a:t>, </a:t>
            </a:r>
            <a:r>
              <a:rPr lang="ko-KR" altLang="en-US" sz="800" dirty="0"/>
              <a:t>내역이 없으면 항목을 표시하지 않음</a:t>
            </a:r>
            <a:r>
              <a:rPr lang="en-US" altLang="ko-KR" sz="800" dirty="0" smtClean="0"/>
              <a:t>.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2-1]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입력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조회 </a:t>
            </a:r>
            <a:r>
              <a:rPr lang="en-US" altLang="ko-KR" sz="800" dirty="0"/>
              <a:t>(</a:t>
            </a:r>
            <a:r>
              <a:rPr lang="en-US" altLang="ko-KR" sz="800" dirty="0" smtClean="0"/>
              <a:t>MUI-EX-02-P79)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2-2] </a:t>
            </a:r>
            <a:r>
              <a:rPr lang="ko-KR" altLang="en-US" sz="800" dirty="0" err="1"/>
              <a:t>검색어</a:t>
            </a:r>
            <a:r>
              <a:rPr lang="ko-KR" altLang="en-US" sz="800" dirty="0"/>
              <a:t> 입력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>
                <a:latin typeface="+mn-ea"/>
              </a:rPr>
              <a:t>검색 필터 </a:t>
            </a:r>
            <a:r>
              <a:rPr lang="ko-KR" altLang="en-US" sz="800" dirty="0" smtClean="0">
                <a:latin typeface="+mn-ea"/>
              </a:rPr>
              <a:t>호출</a:t>
            </a:r>
            <a:r>
              <a:rPr lang="en-US" altLang="ko-KR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(MUI-WM-01-P72)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</a:t>
            </a:r>
            <a:r>
              <a:rPr lang="ko-KR" altLang="en-US" sz="800" dirty="0"/>
              <a:t>개수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총 개수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표시 개수 </a:t>
            </a:r>
            <a:r>
              <a:rPr lang="en-US" altLang="ko-KR" sz="800" dirty="0"/>
              <a:t>(</a:t>
            </a:r>
            <a:r>
              <a:rPr lang="ko-KR" altLang="en-US" sz="800" dirty="0"/>
              <a:t>선택한 건수 만큼 보여주고 </a:t>
            </a:r>
            <a:r>
              <a:rPr lang="ko-KR" altLang="en-US" sz="800" dirty="0" err="1"/>
              <a:t>더보기시</a:t>
            </a:r>
            <a:r>
              <a:rPr lang="ko-KR" altLang="en-US" sz="800" dirty="0"/>
              <a:t> 추가로 불러옴</a:t>
            </a:r>
            <a:r>
              <a:rPr lang="en-US" altLang="ko-KR" sz="800" dirty="0"/>
              <a:t>)</a:t>
            </a:r>
            <a:br>
              <a:rPr lang="en-US" altLang="ko-KR" sz="800" dirty="0"/>
            </a:br>
            <a:r>
              <a:rPr lang="ko-KR" altLang="en-US" sz="800" dirty="0"/>
              <a:t>목록 카드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카드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</a:t>
            </a:r>
            <a:r>
              <a:rPr lang="ko-KR" altLang="en-US" sz="800" dirty="0" err="1" smtClean="0"/>
              <a:t>바텀시트</a:t>
            </a:r>
            <a:r>
              <a:rPr lang="ko-KR" altLang="en-US" sz="800" dirty="0" smtClean="0"/>
              <a:t> 호출</a:t>
            </a:r>
            <a:r>
              <a:rPr lang="en-US" altLang="ko-KR" sz="800" dirty="0" smtClean="0"/>
              <a:t>(</a:t>
            </a:r>
            <a:r>
              <a:rPr lang="en-US" altLang="ko-KR" sz="800" dirty="0">
                <a:latin typeface="+mn-ea"/>
              </a:rPr>
              <a:t>MUI-WM-01-P73)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4-1] </a:t>
            </a:r>
            <a:r>
              <a:rPr lang="ko-KR" altLang="en-US" sz="800" dirty="0" err="1"/>
              <a:t>표시레이블</a:t>
            </a:r>
            <a:r>
              <a:rPr lang="ko-KR" altLang="en-US" sz="800" dirty="0"/>
              <a:t> 영역 </a:t>
            </a:r>
            <a:r>
              <a:rPr lang="ko-KR" altLang="en-US" sz="800" dirty="0" smtClean="0"/>
              <a:t>항목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인보이스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 smtClean="0"/>
              <a:t>4-2] </a:t>
            </a:r>
            <a:r>
              <a:rPr lang="ko-KR" altLang="en-US" sz="800" dirty="0"/>
              <a:t>문서 정보 영역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+</a:t>
            </a:r>
            <a:r>
              <a:rPr lang="ko-KR" altLang="en-US" sz="800" dirty="0" err="1" smtClean="0"/>
              <a:t>회차노출</a:t>
            </a:r>
            <a:r>
              <a:rPr lang="ko-KR" altLang="en-US" sz="800" dirty="0" smtClean="0"/>
              <a:t>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L/C</a:t>
            </a:r>
            <a:r>
              <a:rPr lang="ko-KR" altLang="en-US" sz="800" dirty="0" smtClean="0"/>
              <a:t>번호</a:t>
            </a:r>
            <a:r>
              <a:rPr lang="en-US" altLang="ko-KR" sz="800" dirty="0" smtClean="0"/>
              <a:t>, </a:t>
            </a:r>
            <a:r>
              <a:rPr lang="en-US" altLang="ko-KR" sz="800" dirty="0" smtClean="0"/>
              <a:t>B/L</a:t>
            </a:r>
            <a:r>
              <a:rPr lang="ko-KR" altLang="en-US" sz="800" dirty="0" smtClean="0"/>
              <a:t>번호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계약 </a:t>
            </a:r>
            <a:r>
              <a:rPr lang="ko-KR" altLang="en-US" sz="800" dirty="0" err="1" smtClean="0"/>
              <a:t>품목수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계약금액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선적 </a:t>
            </a:r>
            <a:r>
              <a:rPr lang="ko-KR" altLang="en-US" sz="800" dirty="0" err="1" smtClean="0"/>
              <a:t>품목수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송장금액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수령 </a:t>
            </a:r>
            <a:r>
              <a:rPr lang="ko-KR" altLang="en-US" sz="800" dirty="0" err="1" smtClean="0"/>
              <a:t>품목수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수령금액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더보기</a:t>
            </a:r>
            <a:r>
              <a:rPr lang="ko-KR" altLang="en-US" sz="800" dirty="0"/>
              <a:t> 기능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- 3</a:t>
            </a:r>
            <a:r>
              <a:rPr lang="ko-KR" altLang="en-US" sz="800" dirty="0" err="1"/>
              <a:t>번항목</a:t>
            </a:r>
            <a:r>
              <a:rPr lang="ko-KR" altLang="en-US" sz="800" dirty="0"/>
              <a:t> 표시 개수 영역에서 선택한 개수로 증가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/>
              <a:t>예</a:t>
            </a:r>
            <a:r>
              <a:rPr lang="en-US" altLang="ko-KR" sz="800" dirty="0"/>
              <a:t>) 10</a:t>
            </a:r>
            <a:r>
              <a:rPr lang="ko-KR" altLang="en-US" sz="800" dirty="0"/>
              <a:t>개 노출 이후 </a:t>
            </a:r>
            <a:r>
              <a:rPr lang="ko-KR" altLang="en-US" sz="800" dirty="0" err="1"/>
              <a:t>더보기</a:t>
            </a:r>
            <a:r>
              <a:rPr lang="ko-KR" altLang="en-US" sz="800" dirty="0"/>
              <a:t> 버튼 클릭으로 </a:t>
            </a:r>
            <a:r>
              <a:rPr lang="en-US" altLang="ko-KR" sz="800" dirty="0"/>
              <a:t>10</a:t>
            </a:r>
            <a:r>
              <a:rPr lang="ko-KR" altLang="en-US" sz="800" dirty="0"/>
              <a:t>개씩 추가 </a:t>
            </a:r>
            <a:r>
              <a:rPr lang="ko-KR" altLang="en-US" sz="800" dirty="0" smtClean="0"/>
              <a:t>로드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55745" y="21078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</p:spTree>
    <p:extLst>
      <p:ext uri="{BB962C8B-B14F-4D97-AF65-F5344CB8AC3E}">
        <p14:creationId xmlns:p14="http://schemas.microsoft.com/office/powerpoint/2010/main" val="11009551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1-1] </a:t>
            </a:r>
            <a:r>
              <a:rPr lang="ko-KR" altLang="en-US" dirty="0"/>
              <a:t>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1-2] </a:t>
            </a:r>
            <a:r>
              <a:rPr lang="ko-KR" altLang="en-US" dirty="0"/>
              <a:t>창 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smtClean="0">
                <a:sym typeface="Wingdings" panose="05000000000000000000" pitchFamily="2" charset="2"/>
              </a:rPr>
              <a:t>B/L</a:t>
            </a:r>
            <a:r>
              <a:rPr lang="ko-KR" altLang="en-US" dirty="0" smtClean="0">
                <a:sym typeface="Wingdings" panose="05000000000000000000" pitchFamily="2" charset="2"/>
              </a:rPr>
              <a:t>번호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숫자검색</a:t>
            </a:r>
            <a:r>
              <a:rPr lang="en-US" altLang="ko-KR" dirty="0" smtClean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계약 번호 </a:t>
            </a:r>
            <a:r>
              <a:rPr lang="en-US" altLang="ko-KR" dirty="0">
                <a:sym typeface="Wingdings" panose="05000000000000000000" pitchFamily="2" charset="2"/>
              </a:rPr>
              <a:t>(MUI-EX-02-P79)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처리</a:t>
            </a:r>
            <a:endParaRPr lang="en-US" altLang="ko-KR" dirty="0" smtClean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물품수령확인서목록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MUI-WM-01-P72</a:t>
            </a:r>
            <a:endParaRPr lang="ko-KR" altLang="en-US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2015247"/>
            <a:ext cx="2516607" cy="883322"/>
            <a:chOff x="778515" y="4388257"/>
            <a:chExt cx="2516607" cy="883322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계약</a:t>
              </a:r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+mn-ea"/>
                </a:rPr>
                <a:t>*</a:t>
              </a:r>
              <a:endParaRPr lang="en-US" altLang="ko-KR" sz="700" dirty="0">
                <a:solidFill>
                  <a:srgbClr val="FF0000"/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B/L</a:t>
              </a:r>
              <a:r>
                <a:rPr lang="ko-KR" altLang="en-US" sz="700" dirty="0" smtClean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B/L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224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6" name="그룹 65"/>
          <p:cNvGrpSpPr/>
          <p:nvPr/>
        </p:nvGrpSpPr>
        <p:grpSpPr>
          <a:xfrm rot="16200000">
            <a:off x="3178185" y="2366478"/>
            <a:ext cx="91438" cy="45719"/>
            <a:chOff x="6812560" y="3297172"/>
            <a:chExt cx="94010" cy="47005"/>
          </a:xfrm>
        </p:grpSpPr>
        <p:cxnSp>
          <p:nvCxnSpPr>
            <p:cNvPr id="67" name="직선 연결선 6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56657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전자계산서목록</a:t>
            </a:r>
            <a:r>
              <a:rPr lang="ko-KR" altLang="en-US" dirty="0" smtClean="0"/>
              <a:t> </a:t>
            </a:r>
            <a:r>
              <a:rPr lang="ko-KR" altLang="en-US" dirty="0" smtClean="0"/>
              <a:t>목록의 </a:t>
            </a:r>
            <a:r>
              <a:rPr lang="ko-KR" altLang="en-US" dirty="0" err="1" smtClean="0"/>
              <a:t>계약번호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계약명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전자계산서목록</a:t>
            </a:r>
            <a:r>
              <a:rPr lang="ko-KR" altLang="en-US" dirty="0" smtClean="0"/>
              <a:t> </a:t>
            </a:r>
            <a:r>
              <a:rPr lang="ko-KR" altLang="en-US" dirty="0"/>
              <a:t>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</a:t>
            </a:r>
            <a:r>
              <a:rPr lang="ko-KR" altLang="en-US" dirty="0" smtClean="0"/>
              <a:t>이동 </a:t>
            </a:r>
            <a:r>
              <a:rPr lang="en-US" altLang="ko-KR" dirty="0"/>
              <a:t>(MUI-WM-01-M74)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물품수령확인서목록</a:t>
            </a:r>
            <a:r>
              <a:rPr lang="ko-KR" altLang="en-US" dirty="0" smtClean="0"/>
              <a:t>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전자계산서목록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물품수령확인서목록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전자계산서목록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9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38345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계산서 </a:t>
            </a:r>
            <a:r>
              <a:rPr lang="ko-KR" altLang="en-US" sz="700" dirty="0" err="1" smtClean="0">
                <a:solidFill>
                  <a:prstClr val="black"/>
                </a:solidFill>
              </a:rPr>
              <a:t>발행번호</a:t>
            </a:r>
            <a:endParaRPr lang="en-US" altLang="ko-KR" sz="70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sz="900" b="1" dirty="0" smtClean="0">
                <a:solidFill>
                  <a:prstClr val="black"/>
                </a:solidFill>
              </a:rPr>
              <a:t>1234567890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93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774248"/>
            <a:ext cx="307777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계약금액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공급금액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smtClean="0">
                <a:latin typeface="+mn-ea"/>
              </a:rPr>
              <a:t>발행일자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94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4574" y="3766887"/>
            <a:ext cx="654025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000,000,000,000.00</a:t>
            </a:r>
            <a:endParaRPr lang="ko-KR" altLang="en-US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000,000,000,000.00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2025-11-20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74445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980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123456</a:t>
            </a:r>
            <a:endParaRPr lang="en-US" altLang="ko-KR" sz="700" dirty="0" smtClean="0"/>
          </a:p>
          <a:p>
            <a:r>
              <a:rPr lang="ko-KR" altLang="en-US" sz="900" b="1" dirty="0" smtClean="0"/>
              <a:t>변속기 부품 계약의 건</a:t>
            </a:r>
            <a:endParaRPr lang="ko-KR" altLang="en-US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54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854555"/>
              </p:ext>
            </p:extLst>
          </p:nvPr>
        </p:nvGraphicFramePr>
        <p:xfrm>
          <a:off x="3801286" y="1616448"/>
          <a:ext cx="306977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billSe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수정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prgrsSttsCd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국세청승인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저장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60088"/>
                  </a:ext>
                </a:extLst>
              </a:tr>
            </a:tbl>
          </a:graphicData>
        </a:graphic>
      </p:graphicFrame>
      <p:sp>
        <p:nvSpPr>
          <p:cNvPr id="60" name="모서리가 둥근 직사각형 59"/>
          <p:cNvSpPr/>
          <p:nvPr/>
        </p:nvSpPr>
        <p:spPr>
          <a:xfrm>
            <a:off x="781461" y="320969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smtClean="0">
                <a:solidFill>
                  <a:schemeClr val="dk1"/>
                </a:solidFill>
              </a:rPr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089238" y="3209691"/>
            <a:ext cx="48903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국세청승인</a:t>
            </a:r>
            <a:endParaRPr lang="ko-KR" altLang="en-US" sz="600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28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0468049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91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1293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12189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B/L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B/L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794179"/>
            <a:ext cx="328672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물품수령확인서목록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dl_goodsConfirmInfo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5558" y="2005382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INVOICE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invcNo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선적내역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INVOICE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L/C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선적내역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L/C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39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B/L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선적내역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B/L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43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ctrtItemNmbt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19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선적품목수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shpgItemCnt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선적품목수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송장금액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invcAmtmn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송장금액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수령품목수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rcptItemQty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수령품목수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rcptAmtmn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D4A453D-A630-CA2F-A3BF-C26221ED86AE}"/>
              </a:ext>
            </a:extLst>
          </p:cNvPr>
          <p:cNvSpPr txBox="1"/>
          <p:nvPr/>
        </p:nvSpPr>
        <p:spPr>
          <a:xfrm>
            <a:off x="457409" y="4040387"/>
            <a:ext cx="24403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전자계산서목록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dl_billInfo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741AF-83BF-D6E6-A41A-89A8DD0FA5C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/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67604C5B-0BAC-4549-0F24-48216F5D1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F861F67-C234-1979-70ED-37F4CF4C41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215" y="429794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billSe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prgrsSttsCd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mdfcnRsn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bilPblcnNo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ctrtAmt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7385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92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4960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D60E458-2EBF-FEF8-59DA-9444E4E8E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71952"/>
              </p:ext>
            </p:extLst>
          </p:nvPr>
        </p:nvGraphicFramePr>
        <p:xfrm>
          <a:off x="458117" y="876191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B/L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번호로 물품수령확인서 목록정보를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필수항목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scwin.btn_OvsElcrtTxiv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onclick</a:t>
                      </a:r>
                      <a:endParaRPr lang="ko-KR" altLang="en-US" sz="800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전자계산서상세화면으로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/>
                        <a:t>(MUI-WM-01-M74) </a:t>
                      </a:r>
                      <a:r>
                        <a:rPr lang="ko-KR" altLang="en-US" sz="800" dirty="0" smtClean="0"/>
                        <a:t>전자계산서상세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64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1173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타이틀 영역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1-1] </a:t>
            </a:r>
            <a:r>
              <a:rPr lang="ko-KR" altLang="en-US" sz="800" dirty="0"/>
              <a:t>레이블이 화면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smtClean="0"/>
              <a:t>이전 목록의 클릭한 정보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&gt; </a:t>
            </a:r>
            <a:r>
              <a:rPr lang="ko-KR" altLang="en-US" sz="800" dirty="0"/>
              <a:t>내역이 있는 경우 만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일반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세액구분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확정 구분은 값에 따라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세금계산서 공급자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공급받는자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err="1" smtClean="0"/>
              <a:t>품목정보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smtClean="0"/>
              <a:t>탭 없이 하단으로 표시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/>
              <a:t>이동 </a:t>
            </a:r>
            <a:r>
              <a:rPr lang="ko-KR" altLang="en-US" sz="800" dirty="0" smtClean="0"/>
              <a:t>버튼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전자계산서상세</a:t>
            </a:r>
            <a:r>
              <a:rPr lang="ko-KR" altLang="en-US" dirty="0" smtClean="0"/>
              <a:t> </a:t>
            </a:r>
            <a:r>
              <a:rPr lang="ko-KR" altLang="en-US" dirty="0"/>
              <a:t>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물품수령확인서목록</a:t>
            </a:r>
            <a:r>
              <a:rPr lang="ko-KR" altLang="en-US" dirty="0"/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전자계산서목록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전자계산서상세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전자계산서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698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110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0358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3493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1691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5370" y="504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21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1597494"/>
            <a:ext cx="2630093" cy="2190577"/>
            <a:chOff x="3836701" y="2575831"/>
            <a:chExt cx="2630093" cy="2190577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75831"/>
              <a:ext cx="104879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세금계산서 </a:t>
              </a:r>
              <a:r>
                <a:rPr lang="en-US" altLang="ko-KR" sz="700" dirty="0" smtClean="0">
                  <a:latin typeface="+mn-ea"/>
                </a:rPr>
                <a:t>- </a:t>
              </a:r>
              <a:r>
                <a:rPr lang="ko-KR" altLang="en-US" sz="700" dirty="0" err="1" smtClean="0">
                  <a:latin typeface="+mn-ea"/>
                </a:rPr>
                <a:t>공급자정보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9353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9046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조달업체</a:t>
              </a:r>
              <a:r>
                <a:rPr lang="en-US" altLang="ko-KR" sz="700" dirty="0" smtClean="0">
                  <a:latin typeface="+mn-ea"/>
                </a:rPr>
                <a:t>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제조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서울특별시 종로구</a:t>
              </a:r>
              <a:r>
                <a:rPr lang="en-US" altLang="ko-KR" sz="700" dirty="0" smtClean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개발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홍길동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영업개발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353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9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6278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207960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일반정보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책번호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일련번호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발행번호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확정구분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0000 0000 000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과세 </a:t>
              </a:r>
              <a:r>
                <a:rPr lang="en-US" altLang="ko-KR" sz="700" dirty="0" smtClean="0">
                  <a:latin typeface="+mn-ea"/>
                </a:rPr>
                <a:t>/ </a:t>
              </a:r>
              <a:r>
                <a:rPr lang="ko-KR" altLang="en-US" sz="700" dirty="0" smtClean="0">
                  <a:latin typeface="+mn-ea"/>
                </a:rPr>
                <a:t>영세 </a:t>
              </a:r>
              <a:r>
                <a:rPr lang="en-US" altLang="ko-KR" sz="700" dirty="0" smtClean="0">
                  <a:latin typeface="+mn-ea"/>
                </a:rPr>
                <a:t>/ </a:t>
              </a:r>
              <a:r>
                <a:rPr lang="ko-KR" altLang="en-US" sz="700" dirty="0" smtClean="0">
                  <a:latin typeface="+mn-ea"/>
                </a:rPr>
                <a:t>면세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확정 </a:t>
              </a:r>
              <a:r>
                <a:rPr lang="en-US" altLang="ko-KR" sz="700" dirty="0" smtClean="0">
                  <a:latin typeface="+mn-ea"/>
                </a:rPr>
                <a:t>/ </a:t>
              </a:r>
              <a:r>
                <a:rPr lang="ko-KR" altLang="en-US" sz="700" dirty="0" smtClean="0">
                  <a:latin typeface="+mn-ea"/>
                </a:rPr>
                <a:t>예정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508551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2643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349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126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14" name="그룹 13"/>
          <p:cNvGrpSpPr/>
          <p:nvPr/>
        </p:nvGrpSpPr>
        <p:grpSpPr>
          <a:xfrm>
            <a:off x="781461" y="2277897"/>
            <a:ext cx="2473257" cy="942397"/>
            <a:chOff x="781461" y="2277897"/>
            <a:chExt cx="2473257" cy="942397"/>
          </a:xfrm>
        </p:grpSpPr>
        <p:sp>
          <p:nvSpPr>
            <p:cNvPr id="14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462389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계산서 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발행번호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1234567890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4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2822621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공급금액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5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80702" y="2807232"/>
              <a:ext cx="65402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000,000,000,000.00</a:t>
              </a:r>
              <a:endParaRPr lang="ko-KR" altLang="en-US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2025-11-20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81461" y="2278058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smtClean="0">
                  <a:solidFill>
                    <a:schemeClr val="dk1"/>
                  </a:solidFill>
                </a:rPr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90" name="모서리가 둥근 직사각형 189"/>
            <p:cNvSpPr/>
            <p:nvPr/>
          </p:nvSpPr>
          <p:spPr>
            <a:xfrm>
              <a:off x="1089238" y="2277897"/>
              <a:ext cx="48903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 smtClean="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1" name="그룹 190"/>
          <p:cNvGrpSpPr/>
          <p:nvPr/>
        </p:nvGrpSpPr>
        <p:grpSpPr>
          <a:xfrm>
            <a:off x="3836701" y="4001777"/>
            <a:ext cx="2630093" cy="1138549"/>
            <a:chOff x="3836701" y="2575831"/>
            <a:chExt cx="2630093" cy="1138549"/>
          </a:xfrm>
        </p:grpSpPr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75831"/>
              <a:ext cx="132864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 smtClean="0">
                  <a:latin typeface="+mn-ea"/>
                </a:rPr>
                <a:t>공급받는자정보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3838794" y="2827416"/>
              <a:ext cx="792000" cy="8869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상호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홍길순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방위사업청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경기도 과천시</a:t>
              </a:r>
              <a:r>
                <a:rPr lang="en-US" altLang="ko-KR" sz="700" dirty="0" smtClean="0">
                  <a:latin typeface="+mn-ea"/>
                </a:rPr>
                <a:t>…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25" name="그룹 224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226" name="직선 연결선 22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직선 연결선 22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20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5154" y="38941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</p:spTree>
    <p:extLst>
      <p:ext uri="{BB962C8B-B14F-4D97-AF65-F5344CB8AC3E}">
        <p14:creationId xmlns:p14="http://schemas.microsoft.com/office/powerpoint/2010/main" val="13273444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품목정보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건수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세액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영세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면세의 경우 </a:t>
            </a:r>
            <a:r>
              <a:rPr lang="en-US" altLang="ko-KR" sz="800" dirty="0" smtClean="0"/>
              <a:t>0</a:t>
            </a:r>
            <a:r>
              <a:rPr lang="ko-KR" altLang="en-US" sz="800" dirty="0" smtClean="0"/>
              <a:t>원이 </a:t>
            </a:r>
            <a:r>
              <a:rPr lang="ko-KR" altLang="en-US" sz="800" dirty="0" err="1" smtClean="0"/>
              <a:t>리턴될</a:t>
            </a:r>
            <a:r>
              <a:rPr lang="ko-KR" altLang="en-US" sz="800" dirty="0" smtClean="0"/>
              <a:t> 때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하이픈</a:t>
            </a:r>
            <a:r>
              <a:rPr lang="en-US" altLang="ko-KR" sz="800" dirty="0" smtClean="0"/>
              <a:t>(-)</a:t>
            </a:r>
            <a:r>
              <a:rPr lang="ko-KR" altLang="en-US" sz="800" dirty="0" smtClean="0"/>
              <a:t>으로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sz="800" dirty="0" smtClean="0"/>
              <a:t>10</a:t>
            </a:r>
            <a:r>
              <a:rPr lang="ko-KR" altLang="en-US" sz="800" dirty="0" smtClean="0"/>
              <a:t>건이 넘어가는 경우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버튼 표시</a:t>
            </a:r>
            <a:endParaRPr lang="en-US" altLang="ko-KR" sz="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전자계산서상세</a:t>
            </a:r>
            <a:r>
              <a:rPr lang="ko-KR" altLang="en-US" dirty="0" smtClean="0"/>
              <a:t> </a:t>
            </a:r>
            <a:r>
              <a:rPr lang="ko-KR" altLang="en-US" dirty="0"/>
              <a:t>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물품수령확인서목록</a:t>
            </a:r>
            <a:r>
              <a:rPr lang="ko-KR" altLang="en-US" dirty="0"/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전자계산서목록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전자계산서상세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1" name="그룹 190"/>
          <p:cNvGrpSpPr/>
          <p:nvPr/>
        </p:nvGrpSpPr>
        <p:grpSpPr>
          <a:xfrm>
            <a:off x="716365" y="1573176"/>
            <a:ext cx="2630093" cy="2190577"/>
            <a:chOff x="3836701" y="2575831"/>
            <a:chExt cx="2630093" cy="2190577"/>
          </a:xfrm>
        </p:grpSpPr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품목정보</a:t>
              </a:r>
              <a:r>
                <a:rPr lang="ko-KR" altLang="en-US" sz="700" dirty="0" smtClean="0">
                  <a:latin typeface="+mn-ea"/>
                </a:rPr>
                <a:t> </a:t>
              </a:r>
              <a:r>
                <a:rPr lang="en-US" altLang="ko-KR" sz="700" dirty="0" smtClean="0">
                  <a:latin typeface="+mn-ea"/>
                </a:rPr>
                <a:t>– </a:t>
              </a:r>
              <a:r>
                <a:rPr lang="ko-KR" altLang="en-US" sz="700" dirty="0" smtClean="0">
                  <a:latin typeface="+mn-ea"/>
                </a:rPr>
                <a:t>총 </a:t>
              </a:r>
              <a:r>
                <a:rPr lang="en-US" altLang="ko-KR" sz="700" dirty="0" smtClean="0">
                  <a:latin typeface="+mn-ea"/>
                </a:rPr>
                <a:t>00</a:t>
              </a:r>
              <a:r>
                <a:rPr lang="ko-KR" altLang="en-US" sz="700" dirty="0" smtClean="0">
                  <a:latin typeface="+mn-ea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3838794" y="2827415"/>
              <a:ext cx="792000" cy="19179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월일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계산서번호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품목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공급자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수량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단가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공급가액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세액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배추김치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공급자 조회 결과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10,000,000.00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10,000,000.00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1,000,000.00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-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25" name="그룹 224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226" name="직선 연결선 22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직선 연결선 22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79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316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453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16315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33263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58717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082935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403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전자계산서목록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dl_billInfo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70E98-F886-26CA-E2A7-82FF390BC9D7}"/>
              </a:ext>
            </a:extLst>
          </p:cNvPr>
          <p:cNvSpPr txBox="1"/>
          <p:nvPr/>
        </p:nvSpPr>
        <p:spPr>
          <a:xfrm>
            <a:off x="458117" y="3034060"/>
            <a:ext cx="27224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전자계산서정보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dm_billSubInfo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B4A32068-C4D4-645E-3218-68F9BE8EA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2C4815-DC49-3985-1F29-05BEF3C68F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issuNo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05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40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brno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07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528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998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27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18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09365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EE1F4D9-4980-8D95-CED6-36F3032B7BC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245263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05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일련변호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40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07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528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998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0020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74491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전자계산서상세정보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dm_billInfo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AD85D131-A6E2-70C9-213D-EF4735123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BA2C7-F946-DC2E-982B-040441F8B4E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E2C466-1C83-20E7-1005-68BC3A491C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brno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 또는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 또는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05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 또는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 상호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40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bzstatCd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업태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071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또는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공급받는자의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854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업종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67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청구인성명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12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splrEntlno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89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공급자 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191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3087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97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30495"/>
              </p:ext>
            </p:extLst>
          </p:nvPr>
        </p:nvGraphicFramePr>
        <p:xfrm>
          <a:off x="453000" y="1068343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05FA8D-8D1B-49EC-2795-FDBE7CF4760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5013BFB-8C88-432A-8990-231C027BB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89202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대금지불정보목록</a:t>
            </a:r>
            <a:r>
              <a:rPr lang="ko-KR" altLang="en-US" dirty="0" smtClean="0"/>
              <a:t>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대금지불정보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0" y="3374704"/>
            <a:ext cx="2473258" cy="1514059"/>
            <a:chOff x="781460" y="3087955"/>
            <a:chExt cx="2473258" cy="1514059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/>
                <a:t>B/L</a:t>
              </a:r>
              <a:r>
                <a:rPr lang="ko-KR" altLang="en-US" sz="700" dirty="0" smtClean="0"/>
                <a:t>번호 </a:t>
              </a:r>
              <a:r>
                <a:rPr lang="en-US" altLang="ko-KR" sz="700" dirty="0"/>
                <a:t>2025000000 </a:t>
              </a:r>
              <a:r>
                <a:rPr lang="en-US" altLang="ko-KR" sz="700" dirty="0" smtClean="0"/>
                <a:t>– </a:t>
              </a:r>
              <a:r>
                <a:rPr lang="en-US" altLang="ko-KR" sz="700" dirty="0"/>
                <a:t>01</a:t>
              </a:r>
            </a:p>
            <a:p>
              <a:r>
                <a:rPr lang="ko-KR" altLang="en-US" sz="900" b="1" dirty="0" err="1" smtClean="0"/>
                <a:t>계약번호</a:t>
              </a:r>
              <a:r>
                <a:rPr lang="ko-KR" altLang="en-US" sz="900" b="1" dirty="0" smtClean="0"/>
                <a:t> </a:t>
              </a:r>
              <a:r>
                <a:rPr lang="en-US" altLang="ko-KR" sz="900" b="1" dirty="0" smtClean="0"/>
                <a:t>KD0000 0000 00</a:t>
              </a:r>
              <a:endParaRPr lang="en-US" altLang="ko-KR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461665" cy="9694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L/C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지불의뢰금액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지체상금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실지급액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심사일자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이체일자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지불일자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43207" y="3617129"/>
              <a:ext cx="689291" cy="9694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XX</a:t>
              </a:r>
              <a:r>
                <a:rPr lang="ko-KR" altLang="en-US" sz="600" dirty="0" smtClean="0">
                  <a:latin typeface="+mn-ea"/>
                </a:rPr>
                <a:t>은행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2026-01-20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2026-03-10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2026-03-10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0" y="3087955"/>
              <a:ext cx="72825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smtClean="0">
                  <a:solidFill>
                    <a:schemeClr val="dk1"/>
                  </a:solidFill>
                </a:rPr>
                <a:t>INVOICE 123456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1549954" y="3087955"/>
              <a:ext cx="24551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>
                  <a:solidFill>
                    <a:schemeClr val="dk1"/>
                  </a:solidFill>
                </a:rPr>
                <a:t>지불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1843134" y="3087955"/>
              <a:ext cx="41630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이체완료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102033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8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482436" cy="155984"/>
              <a:chOff x="808107" y="2288229"/>
              <a:chExt cx="135742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</a:t>
                </a: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73118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err="1" smtClean="0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조회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en-US" altLang="ko-KR" sz="800" kern="0" dirty="0" smtClean="0">
                    <a:latin typeface="맑은 고딕"/>
                    <a:ea typeface="맑은 고딕" panose="020B0503020000020004" pitchFamily="50" charset="-127"/>
                  </a:rPr>
                  <a:t>&gt;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상단 </a:t>
            </a:r>
            <a:r>
              <a:rPr lang="ko-KR" altLang="en-US" sz="800" dirty="0" err="1"/>
              <a:t>업무도움은</a:t>
            </a:r>
            <a:r>
              <a:rPr lang="ko-KR" altLang="en-US" sz="800" dirty="0"/>
              <a:t> 기본 값으로 접힘 상태로 정보 제공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페이지 </a:t>
            </a:r>
            <a:r>
              <a:rPr lang="ko-KR" altLang="en-US" sz="800" dirty="0" err="1" smtClean="0"/>
              <a:t>호출시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해당 업체에서 진행중인 모든 </a:t>
            </a:r>
            <a:r>
              <a:rPr lang="ko-KR" altLang="en-US" sz="800" dirty="0" err="1" smtClean="0"/>
              <a:t>계약건이</a:t>
            </a:r>
            <a:r>
              <a:rPr lang="ko-KR" altLang="en-US" sz="800" dirty="0" smtClean="0"/>
              <a:t> 노출됨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계약일자기준 당일 포함 이전 </a:t>
            </a:r>
            <a:r>
              <a:rPr lang="en-US" altLang="ko-KR" sz="800" dirty="0" smtClean="0"/>
              <a:t>30</a:t>
            </a:r>
            <a:r>
              <a:rPr lang="ko-KR" altLang="en-US" sz="800" dirty="0" smtClean="0"/>
              <a:t>일 동안 신청된 계약 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사용자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> &gt; </a:t>
            </a:r>
            <a:r>
              <a:rPr lang="ko-KR" altLang="en-US" sz="800" dirty="0"/>
              <a:t>내역이 있는 경우 표시</a:t>
            </a:r>
            <a:r>
              <a:rPr lang="en-US" altLang="ko-KR" sz="800" dirty="0"/>
              <a:t>, </a:t>
            </a:r>
            <a:r>
              <a:rPr lang="ko-KR" altLang="en-US" sz="800" dirty="0"/>
              <a:t>내역이 없으면 항목을 표시하지 않음</a:t>
            </a:r>
            <a:r>
              <a:rPr lang="en-US" altLang="ko-KR" sz="800" dirty="0" smtClean="0"/>
              <a:t>.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2-1]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입력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조회 </a:t>
            </a:r>
            <a:r>
              <a:rPr lang="en-US" altLang="ko-KR" sz="800" dirty="0"/>
              <a:t>(</a:t>
            </a:r>
            <a:r>
              <a:rPr lang="en-US" altLang="ko-KR" sz="800" dirty="0" smtClean="0"/>
              <a:t>MUI-EX-02-P79)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2-2] </a:t>
            </a:r>
            <a:r>
              <a:rPr lang="ko-KR" altLang="en-US" sz="800" dirty="0" err="1"/>
              <a:t>검색어</a:t>
            </a:r>
            <a:r>
              <a:rPr lang="ko-KR" altLang="en-US" sz="800" dirty="0"/>
              <a:t> 입력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>
                <a:latin typeface="+mn-ea"/>
              </a:rPr>
              <a:t>검색 필터 </a:t>
            </a:r>
            <a:r>
              <a:rPr lang="ko-KR" altLang="en-US" sz="800" dirty="0" smtClean="0">
                <a:latin typeface="+mn-ea"/>
              </a:rPr>
              <a:t>호출</a:t>
            </a:r>
            <a:r>
              <a:rPr lang="en-US" altLang="ko-KR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en-US" altLang="ko-KR" sz="800" dirty="0" smtClean="0">
                <a:latin typeface="+mn-ea"/>
              </a:rPr>
              <a:t>MUI-WM-01-P76)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개수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총 개수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표시 개수 </a:t>
            </a:r>
            <a:r>
              <a:rPr lang="en-US" altLang="ko-KR" sz="800" dirty="0" smtClean="0"/>
              <a:t>(</a:t>
            </a:r>
            <a:r>
              <a:rPr lang="ko-KR" altLang="en-US" sz="800" dirty="0" smtClean="0"/>
              <a:t>선택한 건수 만큼 보여주고 </a:t>
            </a:r>
            <a:r>
              <a:rPr lang="ko-KR" altLang="en-US" sz="800" dirty="0" err="1" smtClean="0"/>
              <a:t>더보기시</a:t>
            </a:r>
            <a:r>
              <a:rPr lang="ko-KR" altLang="en-US" sz="800" dirty="0" smtClean="0"/>
              <a:t> 추가로 불러옴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ko-KR" altLang="en-US" sz="800" dirty="0" smtClean="0"/>
              <a:t>목록 카드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>
                <a:solidFill>
                  <a:srgbClr val="FF0000"/>
                </a:solidFill>
              </a:rPr>
              <a:t>- </a:t>
            </a:r>
            <a:r>
              <a:rPr lang="ko-KR" altLang="en-US" sz="800" dirty="0" smtClean="0">
                <a:solidFill>
                  <a:srgbClr val="FF0000"/>
                </a:solidFill>
              </a:rPr>
              <a:t>카드 클릭</a:t>
            </a:r>
            <a:r>
              <a:rPr lang="en-US" altLang="ko-KR" sz="800" dirty="0" smtClean="0">
                <a:solidFill>
                  <a:srgbClr val="FF0000"/>
                </a:solidFill>
              </a:rPr>
              <a:t> </a:t>
            </a:r>
            <a:r>
              <a:rPr lang="ko-KR" altLang="en-US" sz="800" dirty="0" smtClean="0">
                <a:solidFill>
                  <a:srgbClr val="FF0000"/>
                </a:solidFill>
              </a:rPr>
              <a:t>없음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4-1] </a:t>
            </a:r>
            <a:r>
              <a:rPr lang="ko-KR" altLang="en-US" sz="800" dirty="0" err="1" smtClean="0"/>
              <a:t>표시레이블</a:t>
            </a:r>
            <a:r>
              <a:rPr lang="ko-KR" altLang="en-US" sz="800" dirty="0" smtClean="0"/>
              <a:t> 영역 항목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인보이스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지불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이체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4-2] </a:t>
            </a:r>
            <a:r>
              <a:rPr lang="ko-KR" altLang="en-US" sz="800" dirty="0" smtClean="0"/>
              <a:t>문서 정보 영역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en-US" altLang="ko-KR" sz="800" dirty="0" smtClean="0"/>
              <a:t>BL </a:t>
            </a:r>
            <a:r>
              <a:rPr lang="ko-KR" altLang="en-US" sz="800" dirty="0" smtClean="0"/>
              <a:t>번호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 </a:t>
            </a:r>
            <a:r>
              <a:rPr lang="ko-KR" altLang="en-US" sz="800" dirty="0" smtClean="0"/>
              <a:t>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지불의뢰금액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지체상금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실지급액에서 화폐단위를 뒤에 붙여 표시 </a:t>
            </a:r>
            <a:r>
              <a:rPr lang="en-US" altLang="ko-KR" sz="800" dirty="0" smtClean="0"/>
              <a:t>(</a:t>
            </a:r>
            <a:r>
              <a:rPr lang="en-US" altLang="ko-KR" sz="800" dirty="0" err="1">
                <a:latin typeface="+mn-ea"/>
              </a:rPr>
              <a:t>cmcUnit</a:t>
            </a:r>
            <a:r>
              <a:rPr lang="en-US" altLang="ko-KR" sz="800" dirty="0">
                <a:latin typeface="+mn-ea"/>
              </a:rPr>
              <a:t>)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- </a:t>
            </a:r>
            <a:r>
              <a:rPr lang="en-US" altLang="ko-KR" sz="800" dirty="0" smtClean="0">
                <a:latin typeface="+mn-ea"/>
              </a:rPr>
              <a:t>L/C, </a:t>
            </a:r>
            <a:r>
              <a:rPr lang="ko-KR" altLang="en-US" sz="800" dirty="0" smtClean="0">
                <a:latin typeface="+mn-ea"/>
              </a:rPr>
              <a:t>지불의뢰금액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smtClean="0">
                <a:latin typeface="+mn-ea"/>
              </a:rPr>
              <a:t>지체상금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실지급액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심사일자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이체일자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지불일자</a:t>
            </a:r>
            <a:r>
              <a:rPr lang="ko-KR" altLang="en-US" sz="800" dirty="0" smtClean="0">
                <a:latin typeface="+mn-ea"/>
              </a:rPr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기능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- 3</a:t>
            </a:r>
            <a:r>
              <a:rPr lang="ko-KR" altLang="en-US" sz="800" dirty="0" err="1"/>
              <a:t>번항목</a:t>
            </a:r>
            <a:r>
              <a:rPr lang="ko-KR" altLang="en-US" sz="800" dirty="0"/>
              <a:t> 표시 개수 영역에서 선택한 개수로 증가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/>
              <a:t>예</a:t>
            </a:r>
            <a:r>
              <a:rPr lang="en-US" altLang="ko-KR" sz="800" dirty="0"/>
              <a:t>) 10</a:t>
            </a:r>
            <a:r>
              <a:rPr lang="ko-KR" altLang="en-US" sz="800" dirty="0"/>
              <a:t>개 노출 이후 </a:t>
            </a:r>
            <a:r>
              <a:rPr lang="ko-KR" altLang="en-US" sz="800" dirty="0" err="1"/>
              <a:t>더보기</a:t>
            </a:r>
            <a:r>
              <a:rPr lang="ko-KR" altLang="en-US" sz="800" dirty="0"/>
              <a:t> 버튼 클릭으로 </a:t>
            </a:r>
            <a:r>
              <a:rPr lang="en-US" altLang="ko-KR" sz="800" dirty="0"/>
              <a:t>10</a:t>
            </a:r>
            <a:r>
              <a:rPr lang="ko-KR" altLang="en-US" sz="800" dirty="0"/>
              <a:t>개씩 추가 </a:t>
            </a:r>
            <a:r>
              <a:rPr lang="ko-KR" altLang="en-US" sz="800" dirty="0" smtClean="0"/>
              <a:t>로드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55745" y="21078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84573" y="22247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099556"/>
              </p:ext>
            </p:extLst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invcNo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$</a:t>
                      </a:r>
                      <a:r>
                        <a:rPr lang="ko-KR" altLang="en-US" sz="700" dirty="0" err="1" smtClean="0"/>
                        <a:t>번호표시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85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지출상태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expndStts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확인필요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prgrsSttn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확인필요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6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159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69852" y="1501912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1-1] </a:t>
            </a:r>
            <a:r>
              <a:rPr lang="ko-KR" altLang="en-US" dirty="0"/>
              <a:t>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1-2] </a:t>
            </a:r>
            <a:r>
              <a:rPr lang="ko-KR" altLang="en-US" dirty="0"/>
              <a:t>창 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smtClean="0">
                <a:sym typeface="Wingdings" panose="05000000000000000000" pitchFamily="2" charset="2"/>
              </a:rPr>
              <a:t>B/L</a:t>
            </a:r>
            <a:r>
              <a:rPr lang="ko-KR" altLang="en-US" dirty="0" smtClean="0">
                <a:sym typeface="Wingdings" panose="05000000000000000000" pitchFamily="2" charset="2"/>
              </a:rPr>
              <a:t>번호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en-US" altLang="ko-KR" dirty="0" smtClean="0">
                <a:sym typeface="Wingdings" panose="05000000000000000000" pitchFamily="2" charset="2"/>
              </a:rPr>
              <a:t>INVOICE NO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숫자검색</a:t>
            </a:r>
            <a:r>
              <a:rPr lang="en-US" altLang="ko-KR" dirty="0" smtClean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계약 번호 </a:t>
            </a:r>
            <a:r>
              <a:rPr lang="en-US" altLang="ko-KR" dirty="0">
                <a:sym typeface="Wingdings" panose="05000000000000000000" pitchFamily="2" charset="2"/>
              </a:rPr>
              <a:t>(MUI-EX-02-P79)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처리</a:t>
            </a:r>
            <a:endParaRPr lang="en-US" altLang="ko-KR" dirty="0" smtClean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대금지불정보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대금지불정보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smtClean="0">
                <a:latin typeface="+mn-ea"/>
              </a:rPr>
              <a:t>검색 </a:t>
            </a:r>
            <a:r>
              <a:rPr lang="ko-KR" altLang="en-US" dirty="0">
                <a:latin typeface="+mn-ea"/>
              </a:rPr>
              <a:t>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MUI-WM-01-P76</a:t>
            </a:r>
            <a:endParaRPr lang="ko-KR" altLang="en-US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221" name="그룹 220"/>
          <p:cNvGrpSpPr/>
          <p:nvPr/>
        </p:nvGrpSpPr>
        <p:grpSpPr>
          <a:xfrm>
            <a:off x="675399" y="5678278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93320" y="2881155"/>
            <a:ext cx="2516607" cy="907137"/>
            <a:chOff x="778515" y="4388257"/>
            <a:chExt cx="2516607" cy="90713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계약</a:t>
              </a:r>
              <a:r>
                <a:rPr lang="ko-KR" altLang="en-US" sz="700" dirty="0" err="1" smtClean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solidFill>
                  <a:srgbClr val="FF0000"/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B/L</a:t>
              </a:r>
              <a:r>
                <a:rPr lang="ko-KR" altLang="en-US" sz="700" dirty="0" smtClean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INVOICE NO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B/L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>
            <a:xfrm>
              <a:off x="1449284" y="510819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</a:rPr>
                <a:t>INVOICE </a:t>
              </a:r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</a:rPr>
                <a:t>번호를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8770" y="58149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27883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6" name="그룹 65"/>
          <p:cNvGrpSpPr/>
          <p:nvPr/>
        </p:nvGrpSpPr>
        <p:grpSpPr>
          <a:xfrm rot="16200000">
            <a:off x="3178185" y="3232386"/>
            <a:ext cx="91438" cy="45719"/>
            <a:chOff x="6812560" y="3297172"/>
            <a:chExt cx="94010" cy="47005"/>
          </a:xfrm>
        </p:grpSpPr>
        <p:cxnSp>
          <p:nvCxnSpPr>
            <p:cNvPr id="67" name="직선 연결선 6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84285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206823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심사</a:t>
            </a:r>
            <a:r>
              <a:rPr lang="ko-KR" altLang="en-US" sz="700" dirty="0" err="1" smtClean="0">
                <a:latin typeface="+mn-ea"/>
              </a:rPr>
              <a:t>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36" name="그룹 35"/>
          <p:cNvGrpSpPr/>
          <p:nvPr/>
        </p:nvGrpSpPr>
        <p:grpSpPr>
          <a:xfrm flipV="1">
            <a:off x="3140949" y="2081975"/>
            <a:ext cx="91438" cy="45719"/>
            <a:chOff x="6812560" y="3297172"/>
            <a:chExt cx="94010" cy="47005"/>
          </a:xfrm>
        </p:grpSpPr>
        <p:cxnSp>
          <p:nvCxnSpPr>
            <p:cNvPr id="37" name="직선 연결선 3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2234454"/>
            <a:ext cx="859319" cy="188244"/>
            <a:chOff x="5613534" y="2854836"/>
            <a:chExt cx="804671" cy="188244"/>
          </a:xfrm>
        </p:grpSpPr>
        <p:sp>
          <p:nvSpPr>
            <p:cNvPr id="40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42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2254401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1464781" y="2465123"/>
            <a:ext cx="1845146" cy="188135"/>
            <a:chOff x="1430277" y="4057651"/>
            <a:chExt cx="1845146" cy="188135"/>
          </a:xfrm>
        </p:grpSpPr>
        <p:sp>
          <p:nvSpPr>
            <p:cNvPr id="44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5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46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2234454"/>
            <a:ext cx="859319" cy="188244"/>
            <a:chOff x="5613534" y="2854836"/>
            <a:chExt cx="804671" cy="188244"/>
          </a:xfrm>
        </p:grpSpPr>
        <p:sp>
          <p:nvSpPr>
            <p:cNvPr id="48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50" name="타원 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22108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ko-KR" altLang="en-US" sz="5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22108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ko-KR" altLang="en-US" sz="5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2477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/>
              <a:t>3</a:t>
            </a:r>
            <a:r>
              <a:rPr lang="en-US" altLang="ko-KR" sz="500" b="1" dirty="0" smtClean="0"/>
              <a:t>-3</a:t>
            </a:r>
            <a:endParaRPr lang="ko-KR" altLang="en-US" sz="500" b="1" dirty="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51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3476" y="19534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338381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설명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0469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</a:t>
            </a:r>
            <a:r>
              <a:rPr lang="en-US" altLang="ko-KR" sz="900" b="1" dirty="0">
                <a:solidFill>
                  <a:prstClr val="black"/>
                </a:solidFill>
              </a:rPr>
              <a:t> 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17083"/>
            <a:ext cx="3025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 그리드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 (</a:t>
            </a:r>
            <a:r>
              <a:rPr lang="en-US" altLang="ko-KR" sz="900" b="1" dirty="0" err="1">
                <a:solidFill>
                  <a:prstClr val="black"/>
                </a:solidFill>
              </a:rPr>
              <a:t>dl_paymentInfo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심사일자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srngYmdFrom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대금지불정보 심사 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심사일자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srngYmdTo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대금지불정보 심사 종료일자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대금지불정보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 클릭하여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B/L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대금지불정보 </a:t>
                      </a:r>
                      <a:r>
                        <a:rPr lang="en-US" altLang="ko-KR" sz="800" dirty="0">
                          <a:latin typeface="+mn-ea"/>
                        </a:rPr>
                        <a:t>B/L NO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706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INVOICE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대금지불정보 </a:t>
                      </a:r>
                      <a:r>
                        <a:rPr lang="en-US" altLang="ko-KR" sz="800" dirty="0">
                          <a:latin typeface="+mn-ea"/>
                        </a:rPr>
                        <a:t>INVOICE NO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41054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65325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dfryYmd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지출상태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prgrsSttn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진행상황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이체일자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이체일자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cmcUnit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65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지불의뢰금액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dfryAmt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의뢰금액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37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arrsPrmny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지체상금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517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실지급액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44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심사일자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심사일자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361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72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L/C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L/C </a:t>
                      </a:r>
                      <a:r>
                        <a:rPr lang="ko-KR" altLang="en-US" sz="800" dirty="0">
                          <a:latin typeface="+mn-ea"/>
                        </a:rPr>
                        <a:t>개설은행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7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B/L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</a:t>
                      </a:r>
                      <a:r>
                        <a:rPr lang="en-US" altLang="ko-KR" sz="800" dirty="0">
                          <a:latin typeface="+mn-ea"/>
                        </a:rPr>
                        <a:t>B/L</a:t>
                      </a:r>
                      <a:r>
                        <a:rPr lang="ko-KR" altLang="en-US" sz="800" dirty="0">
                          <a:latin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90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INVOICE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대금지불 </a:t>
                      </a:r>
                      <a:r>
                        <a:rPr lang="en-US" altLang="ko-KR" sz="800" dirty="0">
                          <a:latin typeface="+mn-ea"/>
                        </a:rPr>
                        <a:t>INVOICE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99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8E0FE2A8-B23C-3A2F-C8F4-52DEBF04E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8712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101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61261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780412"/>
              </p:ext>
            </p:extLst>
          </p:nvPr>
        </p:nvGraphicFramePr>
        <p:xfrm>
          <a:off x="453000" y="89074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심사일자가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개월 전부터 현재일로 입력된다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대금지불현황 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scwin.btn_paySearch_onclick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대금지불정보 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9628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8E0FE2A8-B23C-3A2F-C8F4-52DEBF04E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0555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대금지급현황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대금지급현황 </a:t>
            </a:r>
            <a:r>
              <a:rPr lang="ko-KR" altLang="en-US" dirty="0" smtClean="0">
                <a:latin typeface="+mn-ea"/>
              </a:rPr>
              <a:t>목록</a:t>
            </a:r>
            <a:r>
              <a:rPr lang="ko-KR" altLang="en-US" dirty="0" smtClean="0"/>
              <a:t>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사후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대금지급현황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MUI-WM-01-M77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대금지급현황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0" y="3374704"/>
            <a:ext cx="2473258" cy="1514059"/>
            <a:chOff x="781460" y="3087955"/>
            <a:chExt cx="2473258" cy="1514059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/>
                <a:t>B/L</a:t>
              </a:r>
              <a:r>
                <a:rPr lang="ko-KR" altLang="en-US" sz="700" dirty="0" smtClean="0"/>
                <a:t>번호 </a:t>
              </a:r>
              <a:r>
                <a:rPr lang="en-US" altLang="ko-KR" sz="700" dirty="0"/>
                <a:t>2025000000 </a:t>
              </a:r>
              <a:r>
                <a:rPr lang="en-US" altLang="ko-KR" sz="700" dirty="0" smtClean="0"/>
                <a:t>– </a:t>
              </a:r>
              <a:r>
                <a:rPr lang="en-US" altLang="ko-KR" sz="700" dirty="0"/>
                <a:t>01</a:t>
              </a:r>
            </a:p>
            <a:p>
              <a:r>
                <a:rPr lang="ko-KR" altLang="en-US" sz="900" b="1" dirty="0" err="1" smtClean="0"/>
                <a:t>계약번호</a:t>
              </a:r>
              <a:r>
                <a:rPr lang="ko-KR" altLang="en-US" sz="900" b="1" dirty="0" smtClean="0"/>
                <a:t> </a:t>
              </a:r>
              <a:r>
                <a:rPr lang="en-US" altLang="ko-KR" sz="900" b="1" dirty="0" smtClean="0"/>
                <a:t>KD0000 0000 00</a:t>
              </a:r>
              <a:endParaRPr lang="en-US" altLang="ko-KR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461665" cy="9694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L/C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지불의뢰금액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지체상금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실지급액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심사일자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이체일자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지불일자</a:t>
              </a:r>
              <a:endParaRPr lang="en-US" altLang="ko-KR" sz="600" dirty="0" smtClean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43207" y="3617129"/>
              <a:ext cx="689291" cy="96949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XX</a:t>
              </a:r>
              <a:r>
                <a:rPr lang="ko-KR" altLang="en-US" sz="600" dirty="0" smtClean="0">
                  <a:latin typeface="+mn-ea"/>
                </a:rPr>
                <a:t>은행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000,000,000.00 USD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2026-01-20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2026-03-10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2026-03-10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0" y="3087955"/>
              <a:ext cx="72825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smtClean="0">
                  <a:solidFill>
                    <a:schemeClr val="dk1"/>
                  </a:solidFill>
                </a:rPr>
                <a:t>INVOICE 123456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3" name="모서리가 둥근 직사각형 62"/>
            <p:cNvSpPr/>
            <p:nvPr/>
          </p:nvSpPr>
          <p:spPr>
            <a:xfrm>
              <a:off x="1549954" y="3087955"/>
              <a:ext cx="24551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>
                  <a:solidFill>
                    <a:schemeClr val="dk1"/>
                  </a:solidFill>
                </a:rPr>
                <a:t>지불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1843134" y="3087955"/>
              <a:ext cx="41630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이체완료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102033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8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482436" cy="155984"/>
              <a:chOff x="808107" y="2288229"/>
              <a:chExt cx="135742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</a:t>
                </a:r>
                <a:r>
                  <a:rPr kumimoji="1" lang="ko-KR" altLang="en-US" sz="800" kern="0" dirty="0" err="1" smtClean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73118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err="1" smtClean="0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조회</a:t>
                </a:r>
                <a:r>
                  <a:rPr kumimoji="1" lang="ko-KR" altLang="en-US" sz="800" kern="0" dirty="0" smtClean="0">
                    <a:latin typeface="맑은 고딕"/>
                    <a:ea typeface="맑은 고딕" panose="020B0503020000020004" pitchFamily="50" charset="-127"/>
                  </a:rPr>
                  <a:t> </a:t>
                </a:r>
                <a:r>
                  <a:rPr kumimoji="1" lang="en-US" altLang="ko-KR" sz="800" kern="0" dirty="0" smtClean="0">
                    <a:latin typeface="맑은 고딕"/>
                    <a:ea typeface="맑은 고딕" panose="020B0503020000020004" pitchFamily="50" charset="-127"/>
                  </a:rPr>
                  <a:t>&gt;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261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  <a:endParaRPr lang="en-US" altLang="ko-KR" sz="500" b="1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상단 </a:t>
            </a:r>
            <a:r>
              <a:rPr lang="ko-KR" altLang="en-US" sz="800" dirty="0" err="1"/>
              <a:t>업무도움은</a:t>
            </a:r>
            <a:r>
              <a:rPr lang="ko-KR" altLang="en-US" sz="800" dirty="0"/>
              <a:t> 기본 값으로 접힘 상태로 정보 제공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페이지 </a:t>
            </a:r>
            <a:r>
              <a:rPr lang="ko-KR" altLang="en-US" sz="800" dirty="0" err="1" smtClean="0"/>
              <a:t>호출시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해당 업체에서 진행중인 모든 </a:t>
            </a:r>
            <a:r>
              <a:rPr lang="ko-KR" altLang="en-US" sz="800" dirty="0" err="1" smtClean="0"/>
              <a:t>계약건이</a:t>
            </a:r>
            <a:r>
              <a:rPr lang="ko-KR" altLang="en-US" sz="800" dirty="0" smtClean="0"/>
              <a:t> 노출됨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계약일자기준 당일 포함 이전 </a:t>
            </a:r>
            <a:r>
              <a:rPr lang="en-US" altLang="ko-KR" sz="800" dirty="0" smtClean="0"/>
              <a:t>30</a:t>
            </a:r>
            <a:r>
              <a:rPr lang="ko-KR" altLang="en-US" sz="800" dirty="0" smtClean="0"/>
              <a:t>일 동안 신청된 계약 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/>
              <a:t>기본값 </a:t>
            </a:r>
            <a:r>
              <a:rPr lang="en-US" altLang="ko-KR" sz="800" dirty="0"/>
              <a:t>: </a:t>
            </a:r>
            <a:r>
              <a:rPr lang="ko-KR" altLang="en-US" sz="800" dirty="0"/>
              <a:t>접힘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사용자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확장하여 정보 표시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업무도움</a:t>
            </a:r>
            <a:r>
              <a:rPr lang="en-US" altLang="ko-KR" sz="800" dirty="0"/>
              <a:t> &gt; </a:t>
            </a:r>
            <a:r>
              <a:rPr lang="ko-KR" altLang="en-US" sz="800" dirty="0"/>
              <a:t>내역이 있는 경우 표시</a:t>
            </a:r>
            <a:r>
              <a:rPr lang="en-US" altLang="ko-KR" sz="800" dirty="0"/>
              <a:t>, </a:t>
            </a:r>
            <a:r>
              <a:rPr lang="ko-KR" altLang="en-US" sz="800" dirty="0"/>
              <a:t>내역이 없으면 항목을 표시하지 않음</a:t>
            </a:r>
            <a:r>
              <a:rPr lang="en-US" altLang="ko-KR" sz="800" dirty="0" smtClean="0"/>
              <a:t>.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/>
              <a:t>검색필터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2-1]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입력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조회 </a:t>
            </a:r>
            <a:r>
              <a:rPr lang="en-US" altLang="ko-KR" sz="800" dirty="0"/>
              <a:t>(</a:t>
            </a:r>
            <a:r>
              <a:rPr lang="en-US" altLang="ko-KR" sz="800" dirty="0" smtClean="0"/>
              <a:t>MUI-EX-02-P79)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2-2] </a:t>
            </a:r>
            <a:r>
              <a:rPr lang="ko-KR" altLang="en-US" sz="800" dirty="0" err="1"/>
              <a:t>검색어</a:t>
            </a:r>
            <a:r>
              <a:rPr lang="ko-KR" altLang="en-US" sz="800" dirty="0"/>
              <a:t> </a:t>
            </a:r>
            <a:r>
              <a:rPr lang="ko-KR" altLang="en-US" sz="800" dirty="0" smtClean="0"/>
              <a:t>입력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>
                <a:solidFill>
                  <a:srgbClr val="FF0000"/>
                </a:solidFill>
              </a:rPr>
              <a:t>- </a:t>
            </a:r>
            <a:r>
              <a:rPr lang="ko-KR" altLang="en-US" sz="800" dirty="0" smtClean="0">
                <a:solidFill>
                  <a:srgbClr val="FF0000"/>
                </a:solidFill>
              </a:rPr>
              <a:t>검색인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계약번호는</a:t>
            </a:r>
            <a:r>
              <a:rPr lang="ko-KR" altLang="en-US" sz="800" dirty="0" smtClean="0">
                <a:solidFill>
                  <a:srgbClr val="FF0000"/>
                </a:solidFill>
              </a:rPr>
              <a:t> 필수 입력 값으로 값이 없을 때는 목록 정보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미표시</a:t>
            </a:r>
            <a:r>
              <a:rPr lang="en-US" altLang="ko-KR" sz="800" dirty="0" smtClean="0">
                <a:solidFill>
                  <a:srgbClr val="FF0000"/>
                </a:solidFill>
              </a:rPr>
              <a:t/>
            </a:r>
            <a:br>
              <a:rPr lang="en-US" altLang="ko-KR" sz="800" dirty="0" smtClean="0">
                <a:solidFill>
                  <a:srgbClr val="FF0000"/>
                </a:solidFill>
              </a:rPr>
            </a:br>
            <a:r>
              <a:rPr lang="en-US" altLang="ko-KR" sz="800" dirty="0" smtClean="0">
                <a:solidFill>
                  <a:srgbClr val="FF0000"/>
                </a:solidFill>
              </a:rPr>
              <a:t>  &gt; 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검색영역</a:t>
            </a:r>
            <a:r>
              <a:rPr lang="ko-KR" altLang="en-US" sz="800" dirty="0" smtClean="0">
                <a:solidFill>
                  <a:srgbClr val="FF0000"/>
                </a:solidFill>
              </a:rPr>
              <a:t> </a:t>
            </a:r>
            <a:r>
              <a:rPr lang="en-US" altLang="ko-KR" sz="800" dirty="0" smtClean="0">
                <a:solidFill>
                  <a:srgbClr val="FF0000"/>
                </a:solidFill>
              </a:rPr>
              <a:t>[</a:t>
            </a:r>
            <a:r>
              <a:rPr lang="ko-KR" altLang="en-US" sz="800" dirty="0" err="1" smtClean="0">
                <a:solidFill>
                  <a:srgbClr val="FF0000"/>
                </a:solidFill>
              </a:rPr>
              <a:t>계약번호로</a:t>
            </a:r>
            <a:r>
              <a:rPr lang="ko-KR" altLang="en-US" sz="800" dirty="0" smtClean="0">
                <a:solidFill>
                  <a:srgbClr val="FF0000"/>
                </a:solidFill>
              </a:rPr>
              <a:t> 조회할 수 있습니다</a:t>
            </a:r>
            <a:r>
              <a:rPr lang="en-US" altLang="ko-KR" sz="800" dirty="0" smtClean="0">
                <a:solidFill>
                  <a:srgbClr val="FF0000"/>
                </a:solidFill>
              </a:rPr>
              <a:t>.] </a:t>
            </a:r>
            <a:r>
              <a:rPr lang="ko-KR" altLang="en-US" sz="800" dirty="0" smtClean="0">
                <a:solidFill>
                  <a:srgbClr val="FF0000"/>
                </a:solidFill>
              </a:rPr>
              <a:t>등 사용자가 인지할 수 있는 메시지 노출</a:t>
            </a:r>
            <a:endParaRPr lang="en-US" altLang="ko-KR" sz="8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개수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총 개수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표시 개수 </a:t>
            </a:r>
            <a:r>
              <a:rPr lang="en-US" altLang="ko-KR" sz="800" dirty="0" smtClean="0"/>
              <a:t>(</a:t>
            </a:r>
            <a:r>
              <a:rPr lang="ko-KR" altLang="en-US" sz="800" dirty="0" smtClean="0"/>
              <a:t>선택한 건수 만큼 보여주고 </a:t>
            </a:r>
            <a:r>
              <a:rPr lang="ko-KR" altLang="en-US" sz="800" dirty="0" err="1" smtClean="0"/>
              <a:t>더보기시</a:t>
            </a:r>
            <a:r>
              <a:rPr lang="ko-KR" altLang="en-US" sz="800" dirty="0" smtClean="0"/>
              <a:t> 추가로 불러옴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ko-KR" altLang="en-US" sz="800" dirty="0" smtClean="0"/>
              <a:t>목록 카드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>
                <a:solidFill>
                  <a:srgbClr val="FF0000"/>
                </a:solidFill>
              </a:rPr>
              <a:t>- </a:t>
            </a:r>
            <a:r>
              <a:rPr lang="ko-KR" altLang="en-US" sz="800" dirty="0" smtClean="0">
                <a:solidFill>
                  <a:srgbClr val="FF0000"/>
                </a:solidFill>
              </a:rPr>
              <a:t>카드 클릭</a:t>
            </a:r>
            <a:r>
              <a:rPr lang="en-US" altLang="ko-KR" sz="800" dirty="0" smtClean="0">
                <a:solidFill>
                  <a:srgbClr val="FF0000"/>
                </a:solidFill>
              </a:rPr>
              <a:t> </a:t>
            </a:r>
            <a:r>
              <a:rPr lang="ko-KR" altLang="en-US" sz="800" dirty="0" smtClean="0">
                <a:solidFill>
                  <a:srgbClr val="FF0000"/>
                </a:solidFill>
              </a:rPr>
              <a:t>없음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4-1] </a:t>
            </a:r>
            <a:r>
              <a:rPr lang="ko-KR" altLang="en-US" sz="800" dirty="0" err="1" smtClean="0"/>
              <a:t>표시레이블</a:t>
            </a:r>
            <a:r>
              <a:rPr lang="ko-KR" altLang="en-US" sz="800" dirty="0" smtClean="0"/>
              <a:t> 영역 항목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인보이스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지불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이체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4-2] </a:t>
            </a:r>
            <a:r>
              <a:rPr lang="ko-KR" altLang="en-US" sz="800" dirty="0" smtClean="0"/>
              <a:t>문서 정보 영역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en-US" altLang="ko-KR" sz="800" dirty="0" smtClean="0"/>
              <a:t>BL </a:t>
            </a:r>
            <a:r>
              <a:rPr lang="ko-KR" altLang="en-US" sz="800" dirty="0" smtClean="0"/>
              <a:t>번호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 </a:t>
            </a:r>
            <a:r>
              <a:rPr lang="ko-KR" altLang="en-US" sz="800" dirty="0" smtClean="0"/>
              <a:t>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지불의뢰금액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지체상금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실지급액에서 화폐단위를 뒤에 붙여 표시 </a:t>
            </a:r>
            <a:r>
              <a:rPr lang="en-US" altLang="ko-KR" sz="800" dirty="0" smtClean="0"/>
              <a:t>(</a:t>
            </a:r>
            <a:r>
              <a:rPr lang="en-US" altLang="ko-KR" sz="800" dirty="0" err="1">
                <a:latin typeface="+mn-ea"/>
              </a:rPr>
              <a:t>cmcUnit</a:t>
            </a:r>
            <a:r>
              <a:rPr lang="en-US" altLang="ko-KR" sz="800" dirty="0">
                <a:latin typeface="+mn-ea"/>
              </a:rPr>
              <a:t>)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- </a:t>
            </a:r>
            <a:r>
              <a:rPr lang="en-US" altLang="ko-KR" sz="800" dirty="0" smtClean="0">
                <a:latin typeface="+mn-ea"/>
              </a:rPr>
              <a:t>L/C, </a:t>
            </a:r>
            <a:r>
              <a:rPr lang="ko-KR" altLang="en-US" sz="800" dirty="0" smtClean="0">
                <a:latin typeface="+mn-ea"/>
              </a:rPr>
              <a:t>지불의뢰금액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smtClean="0">
                <a:latin typeface="+mn-ea"/>
              </a:rPr>
              <a:t>지체상금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실지급액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심사일자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이체일자</a:t>
            </a:r>
            <a:r>
              <a:rPr lang="en-US" altLang="ko-KR" sz="800" dirty="0" smtClean="0">
                <a:latin typeface="+mn-ea"/>
              </a:rPr>
              <a:t>, </a:t>
            </a:r>
            <a:r>
              <a:rPr lang="ko-KR" altLang="en-US" sz="800" dirty="0" err="1" smtClean="0">
                <a:latin typeface="+mn-ea"/>
              </a:rPr>
              <a:t>지불일자</a:t>
            </a:r>
            <a:r>
              <a:rPr lang="ko-KR" altLang="en-US" sz="800" dirty="0" smtClean="0">
                <a:latin typeface="+mn-ea"/>
              </a:rPr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</a:t>
            </a:r>
            <a:r>
              <a:rPr lang="ko-KR" altLang="en-US" sz="800" dirty="0"/>
              <a:t>기능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- 3</a:t>
            </a:r>
            <a:r>
              <a:rPr lang="ko-KR" altLang="en-US" sz="800" dirty="0" err="1"/>
              <a:t>번항목</a:t>
            </a:r>
            <a:r>
              <a:rPr lang="ko-KR" altLang="en-US" sz="800" dirty="0"/>
              <a:t> 표시 개수 영역에서 선택한 개수로 증가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/>
              <a:t>예</a:t>
            </a:r>
            <a:r>
              <a:rPr lang="en-US" altLang="ko-KR" sz="800" dirty="0"/>
              <a:t>) 10</a:t>
            </a:r>
            <a:r>
              <a:rPr lang="ko-KR" altLang="en-US" sz="800" dirty="0"/>
              <a:t>개 노출 이후 </a:t>
            </a:r>
            <a:r>
              <a:rPr lang="ko-KR" altLang="en-US" sz="800" dirty="0" err="1"/>
              <a:t>더보기</a:t>
            </a:r>
            <a:r>
              <a:rPr lang="ko-KR" altLang="en-US" sz="800" dirty="0"/>
              <a:t> 버튼 클릭으로 </a:t>
            </a:r>
            <a:r>
              <a:rPr lang="en-US" altLang="ko-KR" sz="800" dirty="0"/>
              <a:t>10</a:t>
            </a:r>
            <a:r>
              <a:rPr lang="ko-KR" altLang="en-US" sz="800" dirty="0"/>
              <a:t>개씩 추가 </a:t>
            </a:r>
            <a:r>
              <a:rPr lang="ko-KR" altLang="en-US" sz="800" dirty="0" smtClean="0"/>
              <a:t>로드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2055" y="22338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55745" y="21078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250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5095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3-2</a:t>
            </a:r>
            <a:endParaRPr lang="en-US" altLang="ko-KR" sz="500" b="1" dirty="0" smtClean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24215" y="3747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3-3</a:t>
            </a:r>
            <a:endParaRPr lang="en-US" altLang="ko-KR" sz="500" b="1" dirty="0" smtClean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/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invcNo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$</a:t>
                      </a:r>
                      <a:r>
                        <a:rPr lang="ko-KR" altLang="en-US" sz="700" dirty="0" err="1" smtClean="0"/>
                        <a:t>번호표시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85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지출상태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expndStts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확인필요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prgrsSttn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확인필요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6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6726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대금지급현황 </a:t>
            </a:r>
            <a:r>
              <a:rPr lang="ko-KR" altLang="en-US" dirty="0" smtClean="0"/>
              <a:t>목록의 클릭한 </a:t>
            </a:r>
            <a:r>
              <a:rPr lang="en-US" altLang="ko-KR" dirty="0" smtClean="0"/>
              <a:t>B/L</a:t>
            </a:r>
            <a:r>
              <a:rPr lang="ko-KR" altLang="en-US" dirty="0" smtClean="0"/>
              <a:t>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선적품목내역</a:t>
            </a:r>
            <a:r>
              <a:rPr lang="ko-KR" altLang="en-US" dirty="0" smtClean="0"/>
              <a:t> </a:t>
            </a:r>
            <a:r>
              <a:rPr lang="ko-KR" altLang="en-US" dirty="0"/>
              <a:t>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선적품목내역</a:t>
            </a:r>
            <a:r>
              <a:rPr lang="ko-KR" altLang="en-US" dirty="0" smtClean="0"/>
              <a:t>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세부 목록 </a:t>
            </a:r>
            <a:r>
              <a:rPr lang="ko-KR" altLang="en-US" dirty="0" smtClean="0">
                <a:solidFill>
                  <a:srgbClr val="FF0000"/>
                </a:solidFill>
              </a:rPr>
              <a:t>없음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선적품목내역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선적품목내역 </a:t>
            </a:r>
            <a:r>
              <a:rPr lang="ko-KR" altLang="en-US" dirty="0" smtClean="0">
                <a:latin typeface="+mn-ea"/>
              </a:rPr>
              <a:t>목록</a:t>
            </a:r>
            <a:r>
              <a:rPr lang="ko-KR" altLang="en-US" dirty="0" smtClean="0"/>
              <a:t> </a:t>
            </a:r>
            <a:r>
              <a:rPr lang="ko-KR" altLang="en-US" dirty="0"/>
              <a:t>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대금지급현황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선적품목내역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MUI-WM-01-P78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대금지급현황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선적품목내역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9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38345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 smtClean="0">
                <a:solidFill>
                  <a:prstClr val="black"/>
                </a:solidFill>
              </a:rPr>
              <a:t>재고번호</a:t>
            </a:r>
            <a:r>
              <a:rPr lang="ko-KR" altLang="en-US" sz="70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1234567890</a:t>
            </a:r>
          </a:p>
          <a:p>
            <a:pPr lvl="0"/>
            <a:r>
              <a:rPr lang="ko-KR" altLang="en-US" sz="900" b="1" dirty="0" smtClean="0">
                <a:solidFill>
                  <a:prstClr val="black"/>
                </a:solidFill>
              </a:rPr>
              <a:t>품명 정보 타이틀 표시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93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774248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부품번호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선적수량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선적단가</a:t>
            </a:r>
            <a:endParaRPr lang="en-US" altLang="ko-KR" sz="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선적금액</a:t>
            </a:r>
            <a:endParaRPr lang="en-US" altLang="ko-KR" sz="600" dirty="0" smtClean="0">
              <a:latin typeface="+mn-ea"/>
            </a:endParaRPr>
          </a:p>
        </p:txBody>
      </p:sp>
      <p:sp>
        <p:nvSpPr>
          <p:cNvPr id="194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416640" y="3766887"/>
            <a:ext cx="83195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259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12</a:t>
            </a:r>
            <a:endParaRPr lang="ko-KR" altLang="en-US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000,000,000,000.00</a:t>
            </a:r>
            <a:r>
              <a:rPr lang="en-US" altLang="ko-KR" sz="600" dirty="0">
                <a:latin typeface="+mn-ea"/>
              </a:rPr>
              <a:t> USD</a:t>
            </a:r>
            <a:endParaRPr lang="ko-KR" altLang="en-US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000,000,000,000.00</a:t>
            </a:r>
            <a:r>
              <a:rPr lang="en-US" altLang="ko-KR" sz="600" dirty="0">
                <a:latin typeface="+mn-ea"/>
              </a:rPr>
              <a:t> USD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74445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47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B/L</a:t>
            </a:r>
            <a:r>
              <a:rPr lang="ko-KR" altLang="en-US" sz="700" dirty="0"/>
              <a:t>번호 </a:t>
            </a:r>
            <a:r>
              <a:rPr lang="en-US" altLang="ko-KR" sz="700" dirty="0"/>
              <a:t>2025000000 – 01</a:t>
            </a:r>
          </a:p>
          <a:p>
            <a:r>
              <a:rPr lang="ko-KR" altLang="en-US" sz="900" b="1" dirty="0" err="1"/>
              <a:t>계약번호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KD0000 0000 00</a:t>
            </a:r>
            <a:endParaRPr lang="en-US" altLang="ko-KR" sz="900" b="1" dirty="0"/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3</a:t>
            </a:r>
            <a:r>
              <a:rPr lang="ko-KR" altLang="en-US" sz="700" dirty="0" smtClean="0">
                <a:latin typeface="+mn-ea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54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5347"/>
              </p:ext>
            </p:extLst>
          </p:nvPr>
        </p:nvGraphicFramePr>
        <p:xfrm>
          <a:off x="3801286" y="1616448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invcNo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INVOICE $</a:t>
                      </a:r>
                      <a:r>
                        <a:rPr lang="ko-KR" altLang="en-US" sz="700" dirty="0" err="1" smtClean="0"/>
                        <a:t>번호표시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28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781460" y="3209691"/>
            <a:ext cx="72825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 smtClean="0">
                <a:solidFill>
                  <a:schemeClr val="dk1"/>
                </a:solidFill>
              </a:rPr>
              <a:t>INVOICE 123456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586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</a:t>
            </a:r>
            <a:r>
              <a:rPr lang="ko-KR" altLang="en-US" sz="1000" b="1" dirty="0" smtClean="0">
                <a:solidFill>
                  <a:prstClr val="black"/>
                </a:solidFill>
              </a:rPr>
              <a:t>설명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1514310"/>
            <a:ext cx="23601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선적내역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dl_shippingInfo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725513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계약번호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선적횟수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shpgNmtm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선적횟수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25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L/C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L/C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02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B/L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B/L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6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계약금액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계약금액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22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선적수량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선적수량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479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선적금액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($)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선적금액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($)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23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지출환율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expndExchrt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지출환율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2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지급급액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지급급액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지체상금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지체상금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공제금액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공제금액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706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지급일자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dfryYmd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선적내역 지급일자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4105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8E0FE2A8-B23C-3A2F-C8F4-52DEBF04E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E526E-22C5-760F-4CC4-7F82A6F4E772}"/>
              </a:ext>
            </a:extLst>
          </p:cNvPr>
          <p:cNvSpPr txBox="1"/>
          <p:nvPr/>
        </p:nvSpPr>
        <p:spPr>
          <a:xfrm>
            <a:off x="434333" y="4354766"/>
            <a:ext cx="263430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선적품목내역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 (</a:t>
            </a:r>
            <a:r>
              <a:rPr lang="en-US" altLang="ko-KR" sz="900" b="1" dirty="0" err="1">
                <a:solidFill>
                  <a:prstClr val="black"/>
                </a:solidFill>
              </a:rPr>
              <a:t>dl_shipItemInfo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F066A36-CDC8-FCB6-3238-9292B45FAC0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215" y="4565969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선적품목 계약번호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B/L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B/L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25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INVOICE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INVOICE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02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재고번호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69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부품번호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prtsNo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부품번호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22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품명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479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선적수량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선적수량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23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선적단가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선적단가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32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선적금액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shpgAmt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선적품목 선적금액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15D3769-91BA-F297-13EE-80BFC9B37887}"/>
              </a:ext>
            </a:extLst>
          </p:cNvPr>
          <p:cNvSpPr txBox="1"/>
          <p:nvPr/>
        </p:nvSpPr>
        <p:spPr>
          <a:xfrm>
            <a:off x="458117" y="803113"/>
            <a:ext cx="24227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</a:t>
            </a:r>
            <a:r>
              <a:rPr lang="en-US" altLang="ko-KR" sz="900" b="1" dirty="0">
                <a:solidFill>
                  <a:prstClr val="black"/>
                </a:solidFill>
              </a:rPr>
              <a:t> (</a:t>
            </a:r>
            <a:r>
              <a:rPr lang="en-US" altLang="ko-KR" sz="900" b="1" dirty="0" err="1">
                <a:solidFill>
                  <a:prstClr val="black"/>
                </a:solidFill>
              </a:rPr>
              <a:t>dm_statSearch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8EFE9F4-F0E6-0115-A973-82CC0AD21D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대금지급현황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 클릭하여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0061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105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61261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165577"/>
              </p:ext>
            </p:extLst>
          </p:nvPr>
        </p:nvGraphicFramePr>
        <p:xfrm>
          <a:off x="453000" y="890743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심사일자가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개월 전부터 현재일로 입력된다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대금지급현황 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scwin.btn_statSearch_onclick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대금지급현황 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202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scwin.grd_shipItem_onrowclick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선적품목내역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팝업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877931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8E0FE2A8-B23C-3A2F-C8F4-52DEBF04E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22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15799</TotalTime>
  <Words>13200</Words>
  <Application>Microsoft Office PowerPoint</Application>
  <PresentationFormat>A4 용지(210x297mm)</PresentationFormat>
  <Paragraphs>6425</Paragraphs>
  <Slides>106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106</vt:i4>
      </vt:variant>
    </vt:vector>
  </HeadingPairs>
  <TitlesOfParts>
    <vt:vector size="114" baseType="lpstr">
      <vt:lpstr>HG꼬딕씨_Pro 40g</vt:lpstr>
      <vt:lpstr>Pretendard Medium</vt:lpstr>
      <vt:lpstr>맑은 고딕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925</cp:revision>
  <cp:lastPrinted>2016-10-27T08:57:39Z</cp:lastPrinted>
  <dcterms:created xsi:type="dcterms:W3CDTF">2016-10-27T07:41:55Z</dcterms:created>
  <dcterms:modified xsi:type="dcterms:W3CDTF">2026-08-13T06:22:31Z</dcterms:modified>
  <cp:category>서브시스템/업무명</cp:category>
  <cp:contentStatus>0.1</cp:contentStatus>
</cp:coreProperties>
</file>