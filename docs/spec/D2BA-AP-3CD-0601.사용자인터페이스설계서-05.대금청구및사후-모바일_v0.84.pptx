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1"/>
  </p:sldMasterIdLst>
  <p:notesMasterIdLst>
    <p:notesMasterId r:id="rId87"/>
  </p:notesMasterIdLst>
  <p:handoutMasterIdLst>
    <p:handoutMasterId r:id="rId88"/>
  </p:handoutMasterIdLst>
  <p:sldIdLst>
    <p:sldId id="256" r:id="rId2"/>
    <p:sldId id="790" r:id="rId3"/>
    <p:sldId id="759" r:id="rId4"/>
    <p:sldId id="356" r:id="rId5"/>
    <p:sldId id="260" r:id="rId6"/>
    <p:sldId id="791" r:id="rId7"/>
    <p:sldId id="792" r:id="rId8"/>
    <p:sldId id="793" r:id="rId9"/>
    <p:sldId id="809" r:id="rId10"/>
    <p:sldId id="794" r:id="rId11"/>
    <p:sldId id="798" r:id="rId12"/>
    <p:sldId id="795" r:id="rId13"/>
    <p:sldId id="796" r:id="rId14"/>
    <p:sldId id="797" r:id="rId15"/>
    <p:sldId id="813" r:id="rId16"/>
    <p:sldId id="758" r:id="rId17"/>
    <p:sldId id="785" r:id="rId18"/>
    <p:sldId id="292" r:id="rId19"/>
    <p:sldId id="782" r:id="rId20"/>
    <p:sldId id="814" r:id="rId21"/>
    <p:sldId id="761" r:id="rId22"/>
    <p:sldId id="630" r:id="rId23"/>
    <p:sldId id="631" r:id="rId24"/>
    <p:sldId id="633" r:id="rId25"/>
    <p:sldId id="709" r:id="rId26"/>
    <p:sldId id="762" r:id="rId27"/>
    <p:sldId id="763" r:id="rId28"/>
    <p:sldId id="764" r:id="rId29"/>
    <p:sldId id="713" r:id="rId30"/>
    <p:sldId id="714" r:id="rId31"/>
    <p:sldId id="715" r:id="rId32"/>
    <p:sldId id="716" r:id="rId33"/>
    <p:sldId id="765" r:id="rId34"/>
    <p:sldId id="766" r:id="rId35"/>
    <p:sldId id="767" r:id="rId36"/>
    <p:sldId id="784" r:id="rId37"/>
    <p:sldId id="768" r:id="rId38"/>
    <p:sldId id="722" r:id="rId39"/>
    <p:sldId id="723" r:id="rId40"/>
    <p:sldId id="724" r:id="rId41"/>
    <p:sldId id="725" r:id="rId42"/>
    <p:sldId id="786" r:id="rId43"/>
    <p:sldId id="769" r:id="rId44"/>
    <p:sldId id="770" r:id="rId45"/>
    <p:sldId id="771" r:id="rId46"/>
    <p:sldId id="730" r:id="rId47"/>
    <p:sldId id="731" r:id="rId48"/>
    <p:sldId id="732" r:id="rId49"/>
    <p:sldId id="787" r:id="rId50"/>
    <p:sldId id="733" r:id="rId51"/>
    <p:sldId id="734" r:id="rId52"/>
    <p:sldId id="772" r:id="rId53"/>
    <p:sldId id="773" r:id="rId54"/>
    <p:sldId id="774" r:id="rId55"/>
    <p:sldId id="738" r:id="rId56"/>
    <p:sldId id="739" r:id="rId57"/>
    <p:sldId id="740" r:id="rId58"/>
    <p:sldId id="742" r:id="rId59"/>
    <p:sldId id="775" r:id="rId60"/>
    <p:sldId id="776" r:id="rId61"/>
    <p:sldId id="745" r:id="rId62"/>
    <p:sldId id="746" r:id="rId63"/>
    <p:sldId id="748" r:id="rId64"/>
    <p:sldId id="788" r:id="rId65"/>
    <p:sldId id="749" r:id="rId66"/>
    <p:sldId id="750" r:id="rId67"/>
    <p:sldId id="777" r:id="rId68"/>
    <p:sldId id="778" r:id="rId69"/>
    <p:sldId id="779" r:id="rId70"/>
    <p:sldId id="720" r:id="rId71"/>
    <p:sldId id="704" r:id="rId72"/>
    <p:sldId id="799" r:id="rId73"/>
    <p:sldId id="800" r:id="rId74"/>
    <p:sldId id="804" r:id="rId75"/>
    <p:sldId id="805" r:id="rId76"/>
    <p:sldId id="803" r:id="rId77"/>
    <p:sldId id="810" r:id="rId78"/>
    <p:sldId id="811" r:id="rId79"/>
    <p:sldId id="812" r:id="rId80"/>
    <p:sldId id="815" r:id="rId81"/>
    <p:sldId id="816" r:id="rId82"/>
    <p:sldId id="756" r:id="rId83"/>
    <p:sldId id="781" r:id="rId84"/>
    <p:sldId id="789" r:id="rId85"/>
    <p:sldId id="780" r:id="rId86"/>
  </p:sldIdLst>
  <p:sldSz cx="9906000" cy="6858000" type="A4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E17E9566-FE8C-4BF9-8A43-99A4B4FC8091}">
          <p14:sldIdLst>
            <p14:sldId id="256"/>
            <p14:sldId id="790"/>
            <p14:sldId id="759"/>
            <p14:sldId id="356"/>
            <p14:sldId id="260"/>
          </p14:sldIdLst>
        </p14:section>
        <p14:section name="목록" id="{A88D8C4A-42D5-488C-851B-9A15CEB54A60}">
          <p14:sldIdLst>
            <p14:sldId id="791"/>
            <p14:sldId id="792"/>
            <p14:sldId id="793"/>
            <p14:sldId id="809"/>
          </p14:sldIdLst>
        </p14:section>
        <p14:section name="1.계약통합목록" id="{BB5718C8-07C1-4018-9189-79486BE9C0C5}">
          <p14:sldIdLst>
            <p14:sldId id="794"/>
            <p14:sldId id="798"/>
            <p14:sldId id="795"/>
            <p14:sldId id="796"/>
            <p14:sldId id="797"/>
            <p14:sldId id="813"/>
            <p14:sldId id="758"/>
            <p14:sldId id="785"/>
            <p14:sldId id="292"/>
            <p14:sldId id="782"/>
            <p14:sldId id="814"/>
            <p14:sldId id="761"/>
            <p14:sldId id="630"/>
            <p14:sldId id="631"/>
            <p14:sldId id="633"/>
            <p14:sldId id="709"/>
            <p14:sldId id="762"/>
            <p14:sldId id="763"/>
            <p14:sldId id="764"/>
            <p14:sldId id="713"/>
            <p14:sldId id="714"/>
            <p14:sldId id="715"/>
            <p14:sldId id="716"/>
            <p14:sldId id="765"/>
            <p14:sldId id="766"/>
            <p14:sldId id="767"/>
            <p14:sldId id="784"/>
            <p14:sldId id="768"/>
            <p14:sldId id="722"/>
            <p14:sldId id="723"/>
            <p14:sldId id="724"/>
            <p14:sldId id="725"/>
            <p14:sldId id="786"/>
            <p14:sldId id="769"/>
            <p14:sldId id="770"/>
            <p14:sldId id="771"/>
            <p14:sldId id="730"/>
            <p14:sldId id="731"/>
            <p14:sldId id="732"/>
            <p14:sldId id="787"/>
            <p14:sldId id="733"/>
            <p14:sldId id="734"/>
            <p14:sldId id="772"/>
            <p14:sldId id="773"/>
            <p14:sldId id="774"/>
            <p14:sldId id="738"/>
            <p14:sldId id="739"/>
            <p14:sldId id="740"/>
            <p14:sldId id="742"/>
            <p14:sldId id="775"/>
            <p14:sldId id="776"/>
            <p14:sldId id="745"/>
            <p14:sldId id="746"/>
            <p14:sldId id="748"/>
            <p14:sldId id="788"/>
            <p14:sldId id="749"/>
            <p14:sldId id="750"/>
            <p14:sldId id="777"/>
            <p14:sldId id="778"/>
            <p14:sldId id="779"/>
            <p14:sldId id="720"/>
            <p14:sldId id="704"/>
            <p14:sldId id="799"/>
            <p14:sldId id="800"/>
            <p14:sldId id="804"/>
            <p14:sldId id="805"/>
            <p14:sldId id="803"/>
            <p14:sldId id="810"/>
            <p14:sldId id="811"/>
            <p14:sldId id="812"/>
            <p14:sldId id="815"/>
            <p14:sldId id="816"/>
          </p14:sldIdLst>
        </p14:section>
        <p14:section name="2. 대금청구진행현황" id="{818F5B40-D4DD-4315-9209-98F8CD025444}">
          <p14:sldIdLst>
            <p14:sldId id="756"/>
            <p14:sldId id="781"/>
          </p14:sldIdLst>
        </p14:section>
        <p14:section name="3.대금지불정보(반납)" id="{ADA4911A-617C-45D8-B34E-F8DEC2891795}">
          <p14:sldIdLst>
            <p14:sldId id="789"/>
            <p14:sldId id="78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D0D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566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966" y="102"/>
      </p:cViewPr>
      <p:guideLst>
        <p:guide orient="horz" pos="2160"/>
        <p:guide pos="312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996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viewProps" Target="viewProp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handoutMaster" Target="handoutMasters/handoutMaster1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486772-663E-498C-98A4-55676C0C79D5}" type="datetimeFigureOut">
              <a:rPr lang="ko-KR" altLang="en-US" smtClean="0"/>
              <a:t>2026-08-05 (Wednesday)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728BB6-27BE-4996-B82F-8E6CE98335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19048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880DED-BD55-4631-A63F-CC2459F192F4}" type="datetimeFigureOut">
              <a:rPr lang="ko-KR" altLang="en-US" smtClean="0"/>
              <a:t>2026-08-05 (Wednesday)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1425"/>
            <a:ext cx="48355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E14ED1-D705-4645-B89F-2D03A70CCA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7730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E14ED1-D705-4645-B89F-2D03A70CCA77}" type="slidenum">
              <a:rPr lang="ko-KR" altLang="en-US" smtClean="0"/>
              <a:t>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70184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E14ED1-D705-4645-B89F-2D03A70CCA7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46509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E14ED1-D705-4645-B89F-2D03A70CCA7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12509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E14ED1-D705-4645-B89F-2D03A70CCA77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5767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D56036D5-DD5F-441E-9594-5002CA0E85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95427" y="5938279"/>
            <a:ext cx="1331674" cy="1648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6694" y="1306235"/>
            <a:ext cx="8640000" cy="612000"/>
          </a:xfrm>
          <a:prstGeom prst="rect">
            <a:avLst/>
          </a:prstGeom>
          <a:ln w="12700">
            <a:noFill/>
          </a:ln>
        </p:spPr>
        <p:txBody>
          <a:bodyPr anchor="b"/>
          <a:lstStyle>
            <a:lvl1pPr algn="r">
              <a:lnSpc>
                <a:spcPct val="100000"/>
              </a:lnSpc>
              <a:defRPr sz="2400" b="1" u="none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7669" y="1942226"/>
            <a:ext cx="8649025" cy="396376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6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마스터 부제목 스타일 편집</a:t>
            </a:r>
            <a:endParaRPr lang="en-US" dirty="0"/>
          </a:p>
        </p:txBody>
      </p:sp>
      <p:cxnSp>
        <p:nvCxnSpPr>
          <p:cNvPr id="8" name="직선 연결선 7"/>
          <p:cNvCxnSpPr/>
          <p:nvPr userDrawn="1"/>
        </p:nvCxnSpPr>
        <p:spPr>
          <a:xfrm>
            <a:off x="637669" y="1925053"/>
            <a:ext cx="86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표 10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13922239"/>
              </p:ext>
            </p:extLst>
          </p:nvPr>
        </p:nvGraphicFramePr>
        <p:xfrm>
          <a:off x="4551204" y="3815479"/>
          <a:ext cx="4744543" cy="952503"/>
        </p:xfrm>
        <a:graphic>
          <a:graphicData uri="http://schemas.openxmlformats.org/drawingml/2006/table">
            <a:tbl>
              <a:tblPr firstRow="1" firstCol="1" bandRow="1"/>
              <a:tblGrid>
                <a:gridCol w="971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31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75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프로젝트</a:t>
                      </a:r>
                    </a:p>
                  </a:txBody>
                  <a:tcPr marL="36195" marR="36195" marT="36195" marB="3619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문서번호</a:t>
                      </a:r>
                    </a:p>
                  </a:txBody>
                  <a:tcPr marL="36195" marR="36195" marT="36195" marB="3619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1000" b="1" kern="100" dirty="0" err="1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제개정이력</a:t>
                      </a:r>
                      <a:endParaRPr lang="ko-KR" sz="1000" b="1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5183031"/>
                  </a:ext>
                </a:extLst>
              </a:tr>
            </a:tbl>
          </a:graphicData>
        </a:graphic>
      </p:graphicFrame>
      <p:sp>
        <p:nvSpPr>
          <p:cNvPr id="14" name="텍스트 개체 틀 12"/>
          <p:cNvSpPr>
            <a:spLocks noGrp="1"/>
          </p:cNvSpPr>
          <p:nvPr>
            <p:ph type="body" sz="quarter" idx="11"/>
          </p:nvPr>
        </p:nvSpPr>
        <p:spPr>
          <a:xfrm>
            <a:off x="5540722" y="3848071"/>
            <a:ext cx="3736946" cy="252000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ko-KR" altLang="ko-KR" sz="1000" kern="100" dirty="0">
              <a:effectLst/>
              <a:latin typeface="맑은 고딕" panose="020B0503020000020004" pitchFamily="50" charset="-127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" name="텍스트 개체 틀 12"/>
          <p:cNvSpPr>
            <a:spLocks noGrp="1"/>
          </p:cNvSpPr>
          <p:nvPr>
            <p:ph type="body" sz="quarter" idx="12"/>
          </p:nvPr>
        </p:nvSpPr>
        <p:spPr>
          <a:xfrm>
            <a:off x="5540722" y="4163525"/>
            <a:ext cx="3736946" cy="252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endParaRPr lang="ko-KR" altLang="en-US" dirty="0"/>
          </a:p>
        </p:txBody>
      </p:sp>
      <p:sp>
        <p:nvSpPr>
          <p:cNvPr id="13" name="직사각형 12"/>
          <p:cNvSpPr/>
          <p:nvPr userDrawn="1"/>
        </p:nvSpPr>
        <p:spPr>
          <a:xfrm>
            <a:off x="1527804" y="6225242"/>
            <a:ext cx="6858548" cy="408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lang="en-US" altLang="ko-KR" sz="9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Copyright © 2025 by </a:t>
            </a:r>
            <a:r>
              <a:rPr lang="ko-KR" altLang="en-US" sz="9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방위사업청</a:t>
            </a:r>
            <a:endParaRPr lang="en-US" altLang="ko-KR" sz="900" kern="100" dirty="0">
              <a:effectLst/>
              <a:latin typeface="+mn-ea"/>
              <a:ea typeface="+mn-ea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lang="ko-KR" altLang="en-US" sz="9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방위사업청의 </a:t>
            </a:r>
            <a:r>
              <a:rPr lang="ko-KR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사전 승인 없이 본 내용의 전부 또는 일부에 대한 복사</a:t>
            </a:r>
            <a:r>
              <a:rPr lang="en-US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, </a:t>
            </a:r>
            <a:r>
              <a:rPr lang="ko-KR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전재</a:t>
            </a:r>
            <a:r>
              <a:rPr lang="en-US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, </a:t>
            </a:r>
            <a:r>
              <a:rPr lang="ko-KR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배포</a:t>
            </a:r>
            <a:r>
              <a:rPr lang="en-US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, </a:t>
            </a:r>
            <a:r>
              <a:rPr lang="ko-KR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사용을 금합니다</a:t>
            </a:r>
            <a:r>
              <a:rPr lang="en-US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.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12" name="텍스트 개체 틀 12"/>
          <p:cNvSpPr>
            <a:spLocks noGrp="1"/>
          </p:cNvSpPr>
          <p:nvPr>
            <p:ph type="body" sz="quarter" idx="13"/>
          </p:nvPr>
        </p:nvSpPr>
        <p:spPr>
          <a:xfrm>
            <a:off x="5540722" y="4479945"/>
            <a:ext cx="3736946" cy="252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endParaRPr lang="ko-KR" altLang="en-US" dirty="0"/>
          </a:p>
        </p:txBody>
      </p:sp>
      <p:pic>
        <p:nvPicPr>
          <p:cNvPr id="17" name="그림 16" descr="그래픽, 폰트, 그래픽 디자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A9D3F7C-59D2-46B0-9671-095C3D9268C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7641" y="465349"/>
            <a:ext cx="1005840" cy="340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303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개정이력/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6220" y="6588000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0" name="텍스트 개체 틀 12"/>
          <p:cNvSpPr>
            <a:spLocks noGrp="1"/>
          </p:cNvSpPr>
          <p:nvPr>
            <p:ph type="body" sz="quarter" idx="10"/>
          </p:nvPr>
        </p:nvSpPr>
        <p:spPr>
          <a:xfrm>
            <a:off x="2250485" y="821363"/>
            <a:ext cx="5400000" cy="41789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400" b="1" u="sng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7577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200" y="6588000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457199" y="612000"/>
            <a:ext cx="9001125" cy="32400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50000"/>
              </a:lnSpc>
              <a:buNone/>
              <a:defRPr sz="1400" b="1"/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266025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제목&amp;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734" y="6590501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467025" y="612000"/>
            <a:ext cx="9000000" cy="32400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50000"/>
              </a:lnSpc>
              <a:buNone/>
              <a:defRPr sz="1200" b="1"/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endParaRPr lang="ko-KR" altLang="en-US" dirty="0"/>
          </a:p>
        </p:txBody>
      </p:sp>
      <p:sp>
        <p:nvSpPr>
          <p:cNvPr id="10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457200" y="1038808"/>
            <a:ext cx="9000000" cy="5424196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50000"/>
              </a:lnSpc>
              <a:buNone/>
              <a:defRPr sz="1000" b="0"/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210315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내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7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457200" y="612000"/>
            <a:ext cx="9000000" cy="5851004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50000"/>
              </a:lnSpc>
              <a:buNone/>
              <a:defRPr sz="1100" b="0"/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03965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서식없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5475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인터페이스 이미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072137626"/>
              </p:ext>
            </p:extLst>
          </p:nvPr>
        </p:nvGraphicFramePr>
        <p:xfrm>
          <a:off x="458167" y="719999"/>
          <a:ext cx="8988374" cy="57554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8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1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59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80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42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33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765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35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UI</a:t>
                      </a:r>
                      <a:r>
                        <a:rPr lang="en-US" altLang="ko-KR" sz="900" b="1" baseline="0" dirty="0"/>
                        <a:t> ID</a:t>
                      </a:r>
                      <a:endParaRPr lang="ko-KR" altLang="en-US" sz="900" b="1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UI </a:t>
                      </a:r>
                      <a:r>
                        <a:rPr lang="ko-KR" altLang="en-US" sz="900" b="1" dirty="0"/>
                        <a:t>명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/>
                        <a:t>화면경로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5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/>
                        <a:t>개요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322">
                <a:tc rowSpan="2" gridSpan="6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/>
                        <a:t>설명 및 특이사항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1007"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텍스트 개체 틀 5"/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7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9DF8E3FD-B4FB-473B-BCAD-C4534B9A9D9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1" name="텍스트 개체 틀 10"/>
          <p:cNvSpPr>
            <a:spLocks noGrp="1"/>
          </p:cNvSpPr>
          <p:nvPr>
            <p:ph type="body" sz="quarter" idx="12"/>
          </p:nvPr>
        </p:nvSpPr>
        <p:spPr>
          <a:xfrm>
            <a:off x="3390640" y="755764"/>
            <a:ext cx="2101850" cy="162201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12" name="텍스트 개체 틀 10"/>
          <p:cNvSpPr>
            <a:spLocks noGrp="1"/>
          </p:cNvSpPr>
          <p:nvPr>
            <p:ph type="body" sz="quarter" idx="13"/>
          </p:nvPr>
        </p:nvSpPr>
        <p:spPr>
          <a:xfrm>
            <a:off x="956623" y="1010025"/>
            <a:ext cx="8434506" cy="193878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13" name="텍스트 개체 틀 10"/>
          <p:cNvSpPr>
            <a:spLocks noGrp="1"/>
          </p:cNvSpPr>
          <p:nvPr>
            <p:ph type="body" sz="quarter" idx="14"/>
          </p:nvPr>
        </p:nvSpPr>
        <p:spPr>
          <a:xfrm>
            <a:off x="6238614" y="755764"/>
            <a:ext cx="3140076" cy="177622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10" name="텍스트 개체 틀 10"/>
          <p:cNvSpPr>
            <a:spLocks noGrp="1"/>
          </p:cNvSpPr>
          <p:nvPr>
            <p:ph type="body" sz="quarter" idx="15"/>
          </p:nvPr>
        </p:nvSpPr>
        <p:spPr>
          <a:xfrm>
            <a:off x="956623" y="755764"/>
            <a:ext cx="1404000" cy="193878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89716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D11E9F2C-2481-4ADA-BED0-11F45689328C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8685200" y="6640342"/>
            <a:ext cx="738733" cy="91480"/>
          </a:xfrm>
          <a:prstGeom prst="rect">
            <a:avLst/>
          </a:prstGeom>
        </p:spPr>
      </p:pic>
      <p:cxnSp>
        <p:nvCxnSpPr>
          <p:cNvPr id="8" name="직선 연결선 7"/>
          <p:cNvCxnSpPr/>
          <p:nvPr userDrawn="1"/>
        </p:nvCxnSpPr>
        <p:spPr>
          <a:xfrm>
            <a:off x="445168" y="540000"/>
            <a:ext cx="900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 userDrawn="1"/>
        </p:nvCxnSpPr>
        <p:spPr>
          <a:xfrm>
            <a:off x="465216" y="6588000"/>
            <a:ext cx="900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/>
          <p:cNvSpPr/>
          <p:nvPr userDrawn="1"/>
        </p:nvSpPr>
        <p:spPr>
          <a:xfrm>
            <a:off x="4950372" y="376754"/>
            <a:ext cx="4519928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ko-KR" altLang="en-US" sz="1000" b="1" kern="100" dirty="0" smtClean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사용자인터페이스설계서 </a:t>
            </a:r>
            <a:r>
              <a:rPr lang="en-US" altLang="ko-KR" sz="1000" b="1" kern="100" dirty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– 05.</a:t>
            </a:r>
            <a:r>
              <a:rPr lang="ko-KR" altLang="en-US" sz="1000" b="1" kern="100" dirty="0" err="1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대금청구및사후</a:t>
            </a:r>
            <a:r>
              <a:rPr lang="en-US" altLang="ko-KR" sz="1000" b="1" kern="100" dirty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-</a:t>
            </a:r>
            <a:r>
              <a:rPr lang="ko-KR" altLang="en-US" sz="1000" b="1" kern="100" dirty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모바일</a:t>
            </a:r>
            <a:endParaRPr lang="ko-KR" altLang="en-US" sz="1000" dirty="0"/>
          </a:p>
        </p:txBody>
      </p:sp>
      <p:sp>
        <p:nvSpPr>
          <p:cNvPr id="10" name="직사각형 9"/>
          <p:cNvSpPr/>
          <p:nvPr userDrawn="1"/>
        </p:nvSpPr>
        <p:spPr>
          <a:xfrm>
            <a:off x="445168" y="376754"/>
            <a:ext cx="3939450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sz="1000" b="1" kern="100" dirty="0">
                <a:effectLst/>
              </a:rPr>
              <a:t>국방전자조달시스템 고도화 구축사업</a:t>
            </a:r>
          </a:p>
        </p:txBody>
      </p:sp>
      <p:pic>
        <p:nvPicPr>
          <p:cNvPr id="11" name="Picture 1">
            <a:extLst>
              <a:ext uri="{FF2B5EF4-FFF2-40B4-BE49-F238E27FC236}">
                <a16:creationId xmlns:a16="http://schemas.microsoft.com/office/drawing/2014/main" id="{3BECD7E0-1778-4975-BFA0-E9C4CE243F54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474463" y="6577231"/>
            <a:ext cx="668534" cy="233715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714012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7" r:id="rId3"/>
    <p:sldLayoutId id="2147483664" r:id="rId4"/>
    <p:sldLayoutId id="2147483665" r:id="rId5"/>
    <p:sldLayoutId id="2147483666" r:id="rId6"/>
    <p:sldLayoutId id="2147483668" r:id="rId7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제목 5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사용자인터페이스 설계서 </a:t>
            </a:r>
            <a:r>
              <a:rPr lang="en-US" altLang="ko-KR" dirty="0"/>
              <a:t>- </a:t>
            </a:r>
            <a:r>
              <a:rPr lang="ko-KR" altLang="en-US" dirty="0"/>
              <a:t>모바일</a:t>
            </a:r>
          </a:p>
        </p:txBody>
      </p:sp>
      <p:sp>
        <p:nvSpPr>
          <p:cNvPr id="54" name="부제목 5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05.</a:t>
            </a:r>
            <a:r>
              <a:rPr lang="ko-KR" altLang="en-US" dirty="0" err="1"/>
              <a:t>대금청구및사후</a:t>
            </a:r>
            <a:endParaRPr lang="ko-KR" altLang="en-US" dirty="0"/>
          </a:p>
        </p:txBody>
      </p:sp>
      <p:sp>
        <p:nvSpPr>
          <p:cNvPr id="56" name="텍스트 개체 틀 55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국방전자조달시스템 고도화 구축사업</a:t>
            </a:r>
          </a:p>
        </p:txBody>
      </p:sp>
      <p:sp>
        <p:nvSpPr>
          <p:cNvPr id="57" name="텍스트 개체 틀 56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D2BA-AP-3CD-0601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2026.06.18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15632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F21A837-6853-B5CA-5641-F9A516F3B3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CF8D2BE-3FE8-714A-457C-A4A1521A282B}"/>
              </a:ext>
            </a:extLst>
          </p:cNvPr>
          <p:cNvSpPr/>
          <p:nvPr/>
        </p:nvSpPr>
        <p:spPr>
          <a:xfrm>
            <a:off x="3079266" y="1809750"/>
            <a:ext cx="3771900" cy="34004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ko-KR" altLang="en-US" sz="1400" dirty="0">
                <a:solidFill>
                  <a:schemeClr val="tx1"/>
                </a:solidFill>
              </a:rPr>
              <a:t>본 문서는 국방전자조달시스템 고도화 구축 사업 이외의 어떠한 목적에도 사용을 금하며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사업관리기관 및 개발업체  요원 이외의 열람을 통제한다</a:t>
            </a:r>
            <a:r>
              <a:rPr lang="en-US" altLang="ko-KR" sz="1400" dirty="0">
                <a:solidFill>
                  <a:schemeClr val="tx1"/>
                </a:solidFill>
              </a:rPr>
              <a:t>.</a:t>
            </a:r>
          </a:p>
          <a:p>
            <a:pPr marL="342900" indent="-342900">
              <a:buAutoNum type="arabicPeriod"/>
            </a:pPr>
            <a:endParaRPr lang="en-US" altLang="ko-KR" sz="1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r>
              <a:rPr lang="ko-KR" altLang="en-US" sz="1400" dirty="0">
                <a:solidFill>
                  <a:schemeClr val="tx1"/>
                </a:solidFill>
              </a:rPr>
              <a:t>본 문서는 방위사업청의 승인없이 발췌 및 복사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배포를 금지하며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방위사업청  문서관리규정에 의하여 관리한다</a:t>
            </a:r>
            <a:r>
              <a:rPr lang="en-US" altLang="ko-KR" sz="1400" dirty="0">
                <a:solidFill>
                  <a:schemeClr val="tx1"/>
                </a:solidFill>
              </a:rPr>
              <a:t>.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8" name="텍스트 개체 틀 2">
            <a:extLst>
              <a:ext uri="{FF2B5EF4-FFF2-40B4-BE49-F238E27FC236}">
                <a16:creationId xmlns:a16="http://schemas.microsoft.com/office/drawing/2014/main" id="{B3A35A62-3F88-2F9F-9F03-E16DFE92E11E}"/>
              </a:ext>
            </a:extLst>
          </p:cNvPr>
          <p:cNvSpPr txBox="1">
            <a:spLocks/>
          </p:cNvSpPr>
          <p:nvPr/>
        </p:nvSpPr>
        <p:spPr>
          <a:xfrm>
            <a:off x="2265216" y="978498"/>
            <a:ext cx="5400000" cy="417890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/>
              <a:t>경 고 문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124944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2</a:t>
            </a:fld>
            <a:endParaRPr lang="ko-KR" altLang="en-US"/>
          </a:p>
        </p:txBody>
      </p:sp>
      <p:sp>
        <p:nvSpPr>
          <p:cNvPr id="4" name="텍스트 개체 틀 15">
            <a:extLst>
              <a:ext uri="{FF2B5EF4-FFF2-40B4-BE49-F238E27FC236}">
                <a16:creationId xmlns:a16="http://schemas.microsoft.com/office/drawing/2014/main" id="{44A815B9-A3EA-BA0B-410C-A69AB9D1A0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50485" y="821363"/>
            <a:ext cx="5400000" cy="417890"/>
          </a:xfrm>
        </p:spPr>
        <p:txBody>
          <a:bodyPr/>
          <a:lstStyle/>
          <a:p>
            <a:r>
              <a:rPr lang="ko-KR" altLang="en-US" dirty="0" err="1"/>
              <a:t>제</a:t>
            </a:r>
            <a:r>
              <a:rPr lang="ko-KR" altLang="en-US" dirty="0" err="1">
                <a:sym typeface="Wingdings" panose="05000000000000000000" pitchFamily="2" charset="2"/>
              </a:rPr>
              <a:t></a:t>
            </a:r>
            <a:r>
              <a:rPr lang="ko-KR" altLang="en-US" dirty="0" err="1"/>
              <a:t>개</a:t>
            </a:r>
            <a:r>
              <a:rPr lang="ko-KR" altLang="en-US" dirty="0"/>
              <a:t> 정 이 력</a:t>
            </a:r>
          </a:p>
        </p:txBody>
      </p:sp>
      <p:graphicFrame>
        <p:nvGraphicFramePr>
          <p:cNvPr id="7" name="Group 759">
            <a:extLst>
              <a:ext uri="{FF2B5EF4-FFF2-40B4-BE49-F238E27FC236}">
                <a16:creationId xmlns:a16="http://schemas.microsoft.com/office/drawing/2014/main" id="{2831990E-7701-AF86-804F-42A7268A90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9049858"/>
              </p:ext>
            </p:extLst>
          </p:nvPr>
        </p:nvGraphicFramePr>
        <p:xfrm>
          <a:off x="652374" y="1286787"/>
          <a:ext cx="8782571" cy="3743598"/>
        </p:xfrm>
        <a:graphic>
          <a:graphicData uri="http://schemas.openxmlformats.org/drawingml/2006/table">
            <a:tbl>
              <a:tblPr/>
              <a:tblGrid>
                <a:gridCol w="784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19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98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61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9745">
                  <a:extLst>
                    <a:ext uri="{9D8B030D-6E8A-4147-A177-3AD203B41FA5}">
                      <a16:colId xmlns:a16="http://schemas.microsoft.com/office/drawing/2014/main" val="35388339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제개정일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버전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제개정내용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작성자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승인자 및 관련근거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2025.11.03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0.1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서식 작성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신미영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2026.03.16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0.3.2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서식 수정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김민재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2026.04.23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0.4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1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차 작성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김영수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권순태</a:t>
                      </a: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2026.06.16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0.4.1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설계단계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작성 완료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김영수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권순태</a:t>
                      </a: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2026.06.16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0.5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설계단계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 내부 검토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김영수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권순태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2026.06.17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0.6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설계단계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PL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검토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 err="1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황종서</a:t>
                      </a: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2026.06.17</a:t>
                      </a:r>
                    </a:p>
                  </a:txBody>
                  <a:tcPr marL="53975" marR="53975" marT="53975" marB="53975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0.7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품질 검토</a:t>
                      </a:r>
                    </a:p>
                  </a:txBody>
                  <a:tcPr marL="53975" marR="5397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김민재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2026.06.18</a:t>
                      </a:r>
                    </a:p>
                  </a:txBody>
                  <a:tcPr marL="53975" marR="53975" marT="53975" marB="53975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0.8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PM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검토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박재욱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2026.06.18</a:t>
                      </a:r>
                    </a:p>
                  </a:txBody>
                  <a:tcPr marL="53975" marR="53975" marT="53975" marB="53975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0.9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PMO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검토 및 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TF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검토요청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김민재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33313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0641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8493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2159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3949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54980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7192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3</a:t>
            </a:fld>
            <a:endParaRPr lang="ko-KR" altLang="en-US"/>
          </a:p>
        </p:txBody>
      </p:sp>
      <p:sp>
        <p:nvSpPr>
          <p:cNvPr id="7" name="텍스트 개체 틀 15">
            <a:extLst>
              <a:ext uri="{FF2B5EF4-FFF2-40B4-BE49-F238E27FC236}">
                <a16:creationId xmlns:a16="http://schemas.microsoft.com/office/drawing/2014/main" id="{74E68DA1-2E20-231A-31AD-28EAC2F24FE9}"/>
              </a:ext>
            </a:extLst>
          </p:cNvPr>
          <p:cNvSpPr txBox="1">
            <a:spLocks/>
          </p:cNvSpPr>
          <p:nvPr/>
        </p:nvSpPr>
        <p:spPr>
          <a:xfrm>
            <a:off x="2250485" y="959912"/>
            <a:ext cx="5400000" cy="417890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신구 변경 </a:t>
            </a:r>
            <a:r>
              <a:rPr lang="ko-KR" altLang="en-US" dirty="0" err="1"/>
              <a:t>내용표</a:t>
            </a:r>
            <a:endParaRPr lang="ko-KR" altLang="en-US" dirty="0"/>
          </a:p>
        </p:txBody>
      </p:sp>
      <p:graphicFrame>
        <p:nvGraphicFramePr>
          <p:cNvPr id="2" name="Group 759">
            <a:extLst>
              <a:ext uri="{FF2B5EF4-FFF2-40B4-BE49-F238E27FC236}">
                <a16:creationId xmlns:a16="http://schemas.microsoft.com/office/drawing/2014/main" id="{F55A7F85-0CCB-E3F1-ADC8-44D278CE1E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3303742"/>
              </p:ext>
            </p:extLst>
          </p:nvPr>
        </p:nvGraphicFramePr>
        <p:xfrm>
          <a:off x="652374" y="1416776"/>
          <a:ext cx="8782571" cy="491472"/>
        </p:xfrm>
        <a:graphic>
          <a:graphicData uri="http://schemas.openxmlformats.org/drawingml/2006/table">
            <a:tbl>
              <a:tblPr/>
              <a:tblGrid>
                <a:gridCol w="590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3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05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84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44489">
                  <a:extLst>
                    <a:ext uri="{9D8B030D-6E8A-4147-A177-3AD203B41FA5}">
                      <a16:colId xmlns:a16="http://schemas.microsoft.com/office/drawing/2014/main" val="3538833938"/>
                    </a:ext>
                  </a:extLst>
                </a:gridCol>
                <a:gridCol w="938150">
                  <a:extLst>
                    <a:ext uri="{9D8B030D-6E8A-4147-A177-3AD203B41FA5}">
                      <a16:colId xmlns:a16="http://schemas.microsoft.com/office/drawing/2014/main" val="39264155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순번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구버전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신버전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변경 항목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변경 내용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7860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4</a:t>
            </a:fld>
            <a:endParaRPr lang="ko-KR" altLang="en-US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목     차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5849427"/>
              </p:ext>
            </p:extLst>
          </p:nvPr>
        </p:nvGraphicFramePr>
        <p:xfrm>
          <a:off x="988586" y="1265003"/>
          <a:ext cx="7926814" cy="51022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4197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7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02241"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대금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사후통합목록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1.1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목록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1.2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흐름도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1.3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앱 구성 다이어그램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1.4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Layout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5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5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9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11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smtClean="0">
                          <a:latin typeface="+mn-ea"/>
                          <a:ea typeface="+mn-ea"/>
                        </a:rPr>
                        <a:t>15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9697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2122368-0202-31C8-C260-22B3270E06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88000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E9582C-E43E-5A8F-8BC8-AB0EA50F2D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8" y="612000"/>
            <a:ext cx="8991601" cy="847274"/>
          </a:xfrm>
        </p:spPr>
        <p:txBody>
          <a:bodyPr anchor="t"/>
          <a:lstStyle/>
          <a:p>
            <a:r>
              <a:rPr lang="en-US" altLang="ko-KR" dirty="0"/>
              <a:t>1.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통합</a:t>
            </a:r>
            <a:r>
              <a:rPr lang="ko-KR" altLang="en-US" dirty="0"/>
              <a:t> 목록</a:t>
            </a:r>
            <a:endParaRPr lang="en-US" altLang="ko-KR" dirty="0"/>
          </a:p>
          <a:p>
            <a:r>
              <a:rPr lang="en-US" altLang="ko-KR" dirty="0"/>
              <a:t>1.1 </a:t>
            </a:r>
            <a:r>
              <a:rPr lang="ko-KR" altLang="en-US" dirty="0"/>
              <a:t>화면 </a:t>
            </a:r>
            <a:r>
              <a:rPr lang="ko-KR" altLang="en-US" dirty="0" smtClean="0"/>
              <a:t>목록 </a:t>
            </a:r>
            <a:r>
              <a:rPr lang="en-US" altLang="ko-KR" dirty="0" smtClean="0"/>
              <a:t>(1/4)</a:t>
            </a:r>
            <a:endParaRPr lang="ko-KR" altLang="en-US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9543680"/>
              </p:ext>
            </p:extLst>
          </p:nvPr>
        </p:nvGraphicFramePr>
        <p:xfrm>
          <a:off x="635474" y="1365204"/>
          <a:ext cx="8701200" cy="508318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7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3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582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 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웹페이지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경로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 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유스케이스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MUI-WM-01-M01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</a:rPr>
                        <a:t>대금청구통합목록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PymtClmIntgListPage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선금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착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〮중도금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대금청구를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진행한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계약목록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조회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pymtClmIntgList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PymtClmIntgListPage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UC-WM-01-01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UC-WM-01-02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MUI-WM-01-P12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검색필터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PymtClmIntgList_SrchFilter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상세 검색을 위한 검색 필터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pymtClmIntgList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PymtClmIntgList_SrchFilter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UC-WM-01-01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UC-WM-01-02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032035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MUI-WM-01-P13</a:t>
                      </a:r>
                      <a:endParaRPr lang="en-US" sz="7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대금청구신청목록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PymtClmIntgAplyList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계약에 따른 선금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착</a:t>
                      </a: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〮중도금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대금청구를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신청한 </a:t>
                      </a: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계약목록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조회 화면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pymtClmIntgList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PymtClmIntgAplyList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UC-WM-01-01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UC-WM-01-02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UC-WM-01-03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456370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MUI-WM-01-M02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선금신청서상세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PrpayApfrDtlPage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계약당시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선급지급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조건에 따라 </a:t>
                      </a: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선금신청을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진행한 조회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pymtClmIntgList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PrpayApfrDtlPage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UC-WM-01-01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632487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MUI-WM-01-T01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신청정보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PrpayApfrDtl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선금신청서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탭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pymtClmIntgList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PrpayApfrDtl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UC-WM-01-01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441198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MUI-WM-01-T02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세부신청내역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PrpayApfrDtl_AplyDtsm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선금신청서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탭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pymtClmIntgList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PrpayApfrDtl_AplyDtsm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UC-WM-01-01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275711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MUI-WM-01-M03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착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중도금신청서상세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DpsmnItrpyApfrDtlPage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계약당시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지급조건에 따라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착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〮중도금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대금 신청을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진행한 조회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dpsmnItrpyApfrDtl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DpsmnItrpyApfrDtlPage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UC-WM-01-02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815931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MUI-WM-01-T03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신청정보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DpsmnItrpyApfrDtl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착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중도금신청서 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탭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/biz/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wm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dpsmnItrpyApfrDtl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DpsmnItrpyApfrDtl.tsx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UC-WM-01-02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195747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MUI-WM-01-T04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세부신청내역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DpsmnItrpyApfrDtl_AplyDtsm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착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중도금신청서 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탭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/biz/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wm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dpsmnItrpyApfrDtl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DpsmnItrpyApfrDtl</a:t>
                      </a:r>
                      <a:r>
                        <a:rPr lang="en-US" altLang="ko-KR" sz="8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_</a:t>
                      </a:r>
                      <a:r>
                        <a:rPr lang="en-US" altLang="ko-KR" sz="8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AplyDtsm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tsx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UC-WM-01-02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756228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MUI-WM-01-T23</a:t>
                      </a:r>
                      <a:endParaRPr lang="en-US" sz="7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지급상태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PrpayDpsmnItrpyGiveSttsPage</a:t>
                      </a:r>
                      <a:endParaRPr lang="ko-KR" alt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선금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착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〮중도금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지급 상태를 조회하는 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탭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prpayDpsmnItrpyGiveStts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PrpayDpsmnItrpyGiveStts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UC-WM-01-03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366545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MUI-WM-01-M05</a:t>
                      </a:r>
                      <a:endParaRPr lang="en-US" sz="7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대금청구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상세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중앙조달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CenterPrcmPymtClmDtlPage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검사 및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납품조서를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확인하고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출납완료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된 검사 및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납품조서를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근거로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대금청구를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작성한 내역 조회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centerPrcmPymtClmDtl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CenterPrcmPymtClmDtl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UC-WM-01-03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320861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MUI-WM-01-T05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계약정보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CenterPrcmPymtClmDtl_Ctrt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대금청구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상세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중앙조달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탭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centerPrcmPymtClmDtl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CenterPrcmPymtClmDtl_Ctrt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UC-WM-01-03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7174161"/>
                  </a:ext>
                </a:extLst>
              </a:tr>
            </a:tbl>
          </a:graphicData>
        </a:graphic>
      </p:graphicFrame>
      <p:sp>
        <p:nvSpPr>
          <p:cNvPr id="7" name="Text Box 73">
            <a:extLst>
              <a:ext uri="{FF2B5EF4-FFF2-40B4-BE49-F238E27FC236}">
                <a16:creationId xmlns:a16="http://schemas.microsoft.com/office/drawing/2014/main" id="{AD7ECE73-1C00-0BE7-EBF7-4F2FAD6CF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6550" y="97519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31151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2122368-0202-31C8-C260-22B3270E06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88000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E9582C-E43E-5A8F-8BC8-AB0EA50F2D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8" y="612000"/>
            <a:ext cx="8991601" cy="847274"/>
          </a:xfrm>
        </p:spPr>
        <p:txBody>
          <a:bodyPr anchor="t"/>
          <a:lstStyle/>
          <a:p>
            <a:r>
              <a:rPr lang="en-US" altLang="ko-KR" dirty="0"/>
              <a:t>1.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통합</a:t>
            </a:r>
            <a:r>
              <a:rPr lang="ko-KR" altLang="en-US" dirty="0"/>
              <a:t> 목록</a:t>
            </a:r>
            <a:endParaRPr lang="en-US" altLang="ko-KR" dirty="0"/>
          </a:p>
          <a:p>
            <a:r>
              <a:rPr lang="en-US" altLang="ko-KR" dirty="0"/>
              <a:t>1.1 </a:t>
            </a:r>
            <a:r>
              <a:rPr lang="ko-KR" altLang="en-US" dirty="0"/>
              <a:t>화면 </a:t>
            </a:r>
            <a:r>
              <a:rPr lang="ko-KR" altLang="en-US" dirty="0" smtClean="0"/>
              <a:t>목록 </a:t>
            </a:r>
            <a:r>
              <a:rPr lang="en-US" altLang="ko-KR" dirty="0" smtClean="0"/>
              <a:t>(2/4)</a:t>
            </a:r>
            <a:endParaRPr lang="ko-KR" altLang="en-US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1165191"/>
              </p:ext>
            </p:extLst>
          </p:nvPr>
        </p:nvGraphicFramePr>
        <p:xfrm>
          <a:off x="635474" y="1365204"/>
          <a:ext cx="8701200" cy="501118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7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3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582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 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웹페이지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경로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 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유스케이스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MUI-WM-01-T06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공급자정보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CenterPrcmPymtClmDtl_Splr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대금청구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상세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중앙조달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탭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centerPrcmPymtClmDtl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CenterPrcmPymtClmDtl_Splr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UC-WM-01-03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119112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MUI-WM-01-T07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대금신청금액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CenterPrcmPymtClmDtl_Pymt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대금청구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상세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중앙조달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탭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centerPrcmPymtClmDtl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CenterPrcmPymtClmDtl_Pymt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UC-WM-01-03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383680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MUI-WM-01-T08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세금계산서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CenterPrcmPymtClmDtl_Txiv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대금청구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상세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중앙조달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탭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centerPrcmPymtClmDtl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CenterPrcmPymtClmDtl_Txiv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UC-WM-01-03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003046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MUI-WM-01-M06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대금청구상세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부대조달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SbsdPrcmPymtClmDtl</a:t>
                      </a:r>
                      <a:r>
                        <a:rPr lang="en-US" altLang="ko-KR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Page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검사 및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납품조서를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확인하고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출납완료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된 검사 및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납품조서를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근거로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대금청구를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작성한 내역 조회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sbsdPrcmPymtClmDtl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SbsdPrcmPymtClmDtlPage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440808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MUI-WM-01-T09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계약정보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SbsdPrcmPymtClmDtl_Ctrt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부대조달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탭 화면</a:t>
                      </a:r>
                      <a:endParaRPr lang="en-US" altLang="ko-KR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sbsdPrcmPymtClmDtl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SbsdPrcmPymtClmDtl_Ctrt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UC-WM-01-03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706727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MUI-WM-01-T10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대금신청업체정보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SbsdPrcmPymtClmDtl_PymtBzenty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부대조달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탭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/biz/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wm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sbsdPrcmPymtClmDtl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en-US" altLang="ko-KR" sz="8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SbsdPrcmPymtClmDtl_PymtBzenty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UC-WM-01-03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167871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MUI-WM-01-T11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대금신청금액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SbsdPrcmPymtClmDtl_PymtAply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부대조달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탭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/biz/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wm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sbsdPrcmPymtClmDtl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en-US" altLang="ko-KR" sz="8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SbsdPrcmPymtClmDtl_PymtAply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UC-WM-01-03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627330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MUI-WM-01-T12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첨부파일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SbsdPrcmPymtClmDtl_Atch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부대조달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탭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/biz/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wm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sbsdPrcmPymtClmDtl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en-US" altLang="ko-KR" sz="8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SbsdPrcmPymtClmDtl_Atch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UC-WM-01-03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794577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MUI-WM-01-M07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대금청구상세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공사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CstrnPymtClmDtl</a:t>
                      </a:r>
                      <a:r>
                        <a:rPr lang="en-US" altLang="ko-KR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Page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검사 및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납품조서를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확인하고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출납완료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된 검사 및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납품조서를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근거로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대금청구를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작성한 내역 조회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cstrnPymtClmDtl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CstrnPymtClmDtlPage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694996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MUI-WM-01-T13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계약정보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CstrnPymtClmDtl_Ctrt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공사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탭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cstrnPymtClmDtl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CstrnPymtClmDtl_Ctrt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UC-WM-01-03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221828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MUI-WM-01-T14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대가지급업체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CstrnPymtClmDtl_GiveBzenty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공사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탭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cstrnPymtClmDtl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CstrnPymtClmDtl_GiveBzenty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UC-WM-01-03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9677084"/>
                  </a:ext>
                </a:extLst>
              </a:tr>
            </a:tbl>
          </a:graphicData>
        </a:graphic>
      </p:graphicFrame>
      <p:sp>
        <p:nvSpPr>
          <p:cNvPr id="7" name="Text Box 73">
            <a:extLst>
              <a:ext uri="{FF2B5EF4-FFF2-40B4-BE49-F238E27FC236}">
                <a16:creationId xmlns:a16="http://schemas.microsoft.com/office/drawing/2014/main" id="{AD7ECE73-1C00-0BE7-EBF7-4F2FAD6CF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6550" y="97519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34470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2122368-0202-31C8-C260-22B3270E06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88000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E9582C-E43E-5A8F-8BC8-AB0EA50F2D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8" y="612000"/>
            <a:ext cx="8991601" cy="847274"/>
          </a:xfrm>
        </p:spPr>
        <p:txBody>
          <a:bodyPr anchor="t"/>
          <a:lstStyle/>
          <a:p>
            <a:r>
              <a:rPr lang="en-US" altLang="ko-KR" dirty="0"/>
              <a:t>1.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통합</a:t>
            </a:r>
            <a:r>
              <a:rPr lang="ko-KR" altLang="en-US" dirty="0"/>
              <a:t> 목록</a:t>
            </a:r>
            <a:endParaRPr lang="en-US" altLang="ko-KR" dirty="0"/>
          </a:p>
          <a:p>
            <a:r>
              <a:rPr lang="en-US" altLang="ko-KR" dirty="0"/>
              <a:t>1.1 </a:t>
            </a:r>
            <a:r>
              <a:rPr lang="ko-KR" altLang="en-US" dirty="0"/>
              <a:t>화면 </a:t>
            </a:r>
            <a:r>
              <a:rPr lang="ko-KR" altLang="en-US" dirty="0" smtClean="0"/>
              <a:t>목록 </a:t>
            </a:r>
            <a:r>
              <a:rPr lang="en-US" altLang="ko-KR" dirty="0" smtClean="0"/>
              <a:t>(3/4)</a:t>
            </a:r>
            <a:endParaRPr lang="ko-KR" altLang="en-US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8888283"/>
              </p:ext>
            </p:extLst>
          </p:nvPr>
        </p:nvGraphicFramePr>
        <p:xfrm>
          <a:off x="635474" y="1365204"/>
          <a:ext cx="8701200" cy="501118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7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3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582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 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웹페이지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경로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 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유스케이스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MUI-WM-01-T15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첨부파일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CstrnPymtClmDtl_Atch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공사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탭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cstrnPymtClmDtl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CstrnPymtClmDtl_Atch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UC-WM-01-03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320600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MUI-WM-01-M08</a:t>
                      </a:r>
                      <a:endParaRPr lang="en-US" sz="7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대금청구상세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기성대가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PxcndCstPymtClmDtl</a:t>
                      </a:r>
                      <a:r>
                        <a:rPr lang="en-US" altLang="ko-KR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Page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검사 및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납품조서를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확인하고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출납완료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된 검사 및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납품조서를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근거로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대금청구를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작성한 내역 조회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pxcndCstPymtClmDtl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PxcndCstPymtClmDtlPage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397847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MUI-WM-01-T16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계약정보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PxcndCstPymtClmDtl_Ctrt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기성대가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탭 화면</a:t>
                      </a:r>
                      <a:endParaRPr lang="en-US" altLang="ko-KR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/biz/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wm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pxcndCstPymtClmDtl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PxcndCstPymtClmDtl_Ctrt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UC-WM-01-03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009698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MUI-WM-01-T17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기성대가신청금액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PxcndCstPymtClmDtl_PxcndPymt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기성대가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탭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/biz/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wm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pxcndCstPymtClmDtl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PxcndCstPymtClmDtl_PxcndPymt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UC-WM-01-03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283006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MUI-WM-01-T18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세금계산서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PxcndCstPymtClmDtl_Txiv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기성대가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탭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/biz/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wm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pxcndCstPymtClmDtl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PxcndCstPymtClmDtl_Txiv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UC-WM-01-03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902760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MUI-WM-01-T19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첨부파일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PxcndCstPymtClmDtl_Atch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기성대가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탭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/biz/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wm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pxcndCstPymtClmDtl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PxcndCstPymtClmDtl_Atch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UC-WM-01-03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153175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MUI-WM-01-M13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사후정산청구상세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EpfcClclnClmDtlPage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사후정산청구신청서 상세 조회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/biz/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wm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ko-KR" sz="80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EpfcClclnClmDtlPage</a:t>
                      </a:r>
                      <a:r>
                        <a:rPr lang="en-US" altLang="ko-KR" sz="8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ko-KR" sz="80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EpfcClclnClmDtlPage.tsx</a:t>
                      </a:r>
                      <a:endParaRPr lang="en-US" altLang="ko-KR" sz="8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UC-WM-01-04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47190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MUI-WM-01-T20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r>
                        <a:rPr lang="ko-KR" altLang="en-US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계약정보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EpfcClclnClmDtl_CN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사후정산청구신청서 상세 조회 </a:t>
                      </a:r>
                      <a:r>
                        <a:rPr kumimoji="0" lang="ko-KR" altLang="en-US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계약정보</a:t>
                      </a:r>
                      <a:r>
                        <a:rPr kumimoji="0" lang="ko-KR" altLang="en-US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탭 화면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/biz/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wm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ko-KR" sz="80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EpfcClclnClmDtlPage</a:t>
                      </a:r>
                      <a:r>
                        <a:rPr lang="en-US" altLang="ko-KR" sz="8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ko-KR" sz="80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EpfcClclnClmDtl_CN.tsx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UC-WM-01-04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099611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MUI-WM-01-T21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신청금액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EpfcClclnClmDtl_AplyAmt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사후정산청구신청서 상세 조회 신청금액 탭 화면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/biz/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wm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ko-KR" sz="80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EpfcClclnClmDtlPage</a:t>
                      </a:r>
                      <a:r>
                        <a:rPr lang="en-US" altLang="ko-KR" sz="8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ko-KR" sz="80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EpfcClclnClmDtl_AplyAmt.tsx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UC-WM-01-04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451921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MUI-WM-01-T22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세금계산서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EpfcClclnClmDtl_Txiv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사후정산청구신청서 상세 조회 세금계산서 탭 화면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/biz/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wm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ko-KR" sz="80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EpfcClclnClmDtlPage</a:t>
                      </a:r>
                      <a:r>
                        <a:rPr lang="en-US" altLang="ko-KR" sz="8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ko-KR" sz="80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EpfcClclnClmDtl_Txiv.tsx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UC-WM-01-04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979281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MUI-WM-01-T24</a:t>
                      </a:r>
                      <a:endParaRPr lang="en-US" sz="7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진행상태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PrcmPymtClmSttsPage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대금청구상세에서 진행상태 탭 화면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/biz/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wm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ko-KR" sz="80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PrcmPymtClmSttsPage</a:t>
                      </a:r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ko-KR" sz="80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PrcmPymtClmSttsPage.tsx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UC-WM-01-03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8278142"/>
                  </a:ext>
                </a:extLst>
              </a:tr>
            </a:tbl>
          </a:graphicData>
        </a:graphic>
      </p:graphicFrame>
      <p:sp>
        <p:nvSpPr>
          <p:cNvPr id="7" name="Text Box 73">
            <a:extLst>
              <a:ext uri="{FF2B5EF4-FFF2-40B4-BE49-F238E27FC236}">
                <a16:creationId xmlns:a16="http://schemas.microsoft.com/office/drawing/2014/main" id="{AD7ECE73-1C00-0BE7-EBF7-4F2FAD6CF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6550" y="97519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973641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2122368-0202-31C8-C260-22B3270E06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88000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E9582C-E43E-5A8F-8BC8-AB0EA50F2D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8" y="612000"/>
            <a:ext cx="8991601" cy="847274"/>
          </a:xfrm>
        </p:spPr>
        <p:txBody>
          <a:bodyPr anchor="t"/>
          <a:lstStyle/>
          <a:p>
            <a:r>
              <a:rPr lang="en-US" altLang="ko-KR" dirty="0"/>
              <a:t>1.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통합</a:t>
            </a:r>
            <a:r>
              <a:rPr lang="ko-KR" altLang="en-US" dirty="0"/>
              <a:t> 목록</a:t>
            </a:r>
            <a:endParaRPr lang="en-US" altLang="ko-KR" dirty="0"/>
          </a:p>
          <a:p>
            <a:r>
              <a:rPr lang="en-US" altLang="ko-KR" dirty="0"/>
              <a:t>1.1 </a:t>
            </a:r>
            <a:r>
              <a:rPr lang="ko-KR" altLang="en-US" dirty="0"/>
              <a:t>화면 </a:t>
            </a:r>
            <a:r>
              <a:rPr lang="ko-KR" altLang="en-US" dirty="0" smtClean="0"/>
              <a:t>목록 </a:t>
            </a:r>
            <a:r>
              <a:rPr lang="en-US" altLang="ko-KR" dirty="0" smtClean="0"/>
              <a:t>(4/4)</a:t>
            </a:r>
            <a:endParaRPr lang="ko-KR" altLang="en-US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0464154"/>
              </p:ext>
            </p:extLst>
          </p:nvPr>
        </p:nvGraphicFramePr>
        <p:xfrm>
          <a:off x="635474" y="1365204"/>
          <a:ext cx="8701200" cy="126526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7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3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582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 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웹페이지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경로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 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유스케이스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MUI-WM-01-P09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대금청구</a:t>
                      </a:r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안내문</a:t>
                      </a:r>
                      <a:endParaRPr lang="en-US" altLang="ko-KR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PymtClmGdntc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안내문을 확인하는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centerPrcmPymtClmDtl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PymtClmGdntc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578340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MUI-WM-01-M10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대금지불정보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반납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RtnPymtDfryInfoPage</a:t>
                      </a:r>
                      <a:endParaRPr lang="ko-KR" alt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조달업체에서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과지급된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대금에 대하여 반납해야하는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정보를 조회하는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rtnPymtDfryInfo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RtnPymtDfryInfo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UC-WM-01-05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180518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MUI-WM-01-M11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대금청구진행현황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PymtClmPrgrsPrstPage</a:t>
                      </a:r>
                      <a:endParaRPr lang="ko-KR" alt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진행상태를 조회하는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pymtClmPrgrsPrst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PymtClmPrgrsPrst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Page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1512742"/>
                  </a:ext>
                </a:extLst>
              </a:tr>
            </a:tbl>
          </a:graphicData>
        </a:graphic>
      </p:graphicFrame>
      <p:sp>
        <p:nvSpPr>
          <p:cNvPr id="7" name="Text Box 73">
            <a:extLst>
              <a:ext uri="{FF2B5EF4-FFF2-40B4-BE49-F238E27FC236}">
                <a16:creationId xmlns:a16="http://schemas.microsoft.com/office/drawing/2014/main" id="{AD7ECE73-1C00-0BE7-EBF7-4F2FAD6CF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6550" y="97519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45540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1.2. </a:t>
            </a:r>
            <a:r>
              <a:rPr lang="ko-KR" altLang="en-US" dirty="0"/>
              <a:t>화면 흐름도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1071925" y="162896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대금</a:t>
            </a:r>
            <a:r>
              <a:rPr lang="en-US" altLang="ko-KR" sz="800" dirty="0">
                <a:solidFill>
                  <a:schemeClr val="tx1"/>
                </a:solidFill>
              </a:rPr>
              <a:t>/</a:t>
            </a:r>
            <a:r>
              <a:rPr lang="ko-KR" altLang="en-US" sz="800" dirty="0">
                <a:solidFill>
                  <a:schemeClr val="tx1"/>
                </a:solidFill>
              </a:rPr>
              <a:t>사후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통합목록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4256C95A-5B12-C9E0-F2B5-BC9D5BAB5422}"/>
              </a:ext>
            </a:extLst>
          </p:cNvPr>
          <p:cNvGrpSpPr/>
          <p:nvPr/>
        </p:nvGrpSpPr>
        <p:grpSpPr>
          <a:xfrm>
            <a:off x="493266" y="1682964"/>
            <a:ext cx="237994" cy="316983"/>
            <a:chOff x="4762389" y="1663914"/>
            <a:chExt cx="237994" cy="316983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65003F43-FF09-9E6F-5743-EDAC953723CE}"/>
                </a:ext>
              </a:extLst>
            </p:cNvPr>
            <p:cNvSpPr/>
            <p:nvPr/>
          </p:nvSpPr>
          <p:spPr>
            <a:xfrm>
              <a:off x="4789249" y="1663914"/>
              <a:ext cx="180000" cy="18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9742BB0-8FB4-9410-125F-B3304E0DFFA4}"/>
                </a:ext>
              </a:extLst>
            </p:cNvPr>
            <p:cNvSpPr/>
            <p:nvPr/>
          </p:nvSpPr>
          <p:spPr>
            <a:xfrm>
              <a:off x="4762389" y="1857786"/>
              <a:ext cx="237994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시작</a:t>
              </a:r>
            </a:p>
          </p:txBody>
        </p:sp>
      </p:grp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9" idx="6"/>
            <a:endCxn id="6" idx="1"/>
          </p:cNvCxnSpPr>
          <p:nvPr/>
        </p:nvCxnSpPr>
        <p:spPr>
          <a:xfrm>
            <a:off x="700126" y="1772964"/>
            <a:ext cx="37179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617D047-5413-1F47-3FD7-CCCD3C0C98ED}"/>
              </a:ext>
            </a:extLst>
          </p:cNvPr>
          <p:cNvSpPr/>
          <p:nvPr/>
        </p:nvSpPr>
        <p:spPr>
          <a:xfrm>
            <a:off x="758775" y="1231161"/>
            <a:ext cx="586699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목록</a:t>
            </a:r>
            <a:r>
              <a:rPr lang="en-US" altLang="ko-KR" sz="1000" b="1" dirty="0">
                <a:solidFill>
                  <a:schemeClr val="tx1"/>
                </a:solidFill>
              </a:rPr>
              <a:t> </a:t>
            </a:r>
            <a:r>
              <a:rPr lang="ko-KR" altLang="en-US" sz="1000" b="1" dirty="0">
                <a:solidFill>
                  <a:schemeClr val="tx1"/>
                </a:solidFill>
              </a:rPr>
              <a:t>작성</a:t>
            </a:r>
            <a:r>
              <a:rPr lang="en-US" altLang="ko-KR" sz="1000" b="1" dirty="0">
                <a:solidFill>
                  <a:schemeClr val="tx1"/>
                </a:solidFill>
              </a:rPr>
              <a:t>.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6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2364287" y="1630983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 smtClean="0">
                <a:solidFill>
                  <a:schemeClr val="tx1"/>
                </a:solidFill>
              </a:rPr>
              <a:t>검색필터</a:t>
            </a:r>
            <a:r>
              <a:rPr lang="ko-KR" altLang="en-US" sz="800" dirty="0" smtClean="0">
                <a:solidFill>
                  <a:schemeClr val="tx1"/>
                </a:solidFill>
              </a:rPr>
              <a:t> </a:t>
            </a:r>
            <a:endParaRPr lang="en-US" altLang="ko-KR" sz="800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- </a:t>
            </a:r>
            <a:r>
              <a:rPr lang="ko-KR" altLang="en-US" sz="800" dirty="0" err="1">
                <a:solidFill>
                  <a:schemeClr val="tx1"/>
                </a:solidFill>
              </a:rPr>
              <a:t>대금청구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4FB9FCCA-B5F3-C0E2-F563-4F0CE0FC24CF}"/>
              </a:ext>
            </a:extLst>
          </p:cNvPr>
          <p:cNvSpPr/>
          <p:nvPr/>
        </p:nvSpPr>
        <p:spPr>
          <a:xfrm>
            <a:off x="9324838" y="2844413"/>
            <a:ext cx="237994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끝</a:t>
            </a:r>
          </a:p>
        </p:txBody>
      </p:sp>
      <p:grpSp>
        <p:nvGrpSpPr>
          <p:cNvPr id="157" name="그룹 156">
            <a:extLst>
              <a:ext uri="{FF2B5EF4-FFF2-40B4-BE49-F238E27FC236}">
                <a16:creationId xmlns:a16="http://schemas.microsoft.com/office/drawing/2014/main" id="{E7279F6C-9434-7961-8F6B-B7AE44CE5FCD}"/>
              </a:ext>
            </a:extLst>
          </p:cNvPr>
          <p:cNvGrpSpPr/>
          <p:nvPr/>
        </p:nvGrpSpPr>
        <p:grpSpPr>
          <a:xfrm>
            <a:off x="9353835" y="2636921"/>
            <a:ext cx="180000" cy="180000"/>
            <a:chOff x="5058274" y="2498299"/>
            <a:chExt cx="180000" cy="180000"/>
          </a:xfrm>
        </p:grpSpPr>
        <p:sp>
          <p:nvSpPr>
            <p:cNvPr id="158" name="타원 157">
              <a:extLst>
                <a:ext uri="{FF2B5EF4-FFF2-40B4-BE49-F238E27FC236}">
                  <a16:creationId xmlns:a16="http://schemas.microsoft.com/office/drawing/2014/main" id="{67DBC56A-CBCC-C3A1-2B65-581D8735D2FA}"/>
                </a:ext>
              </a:extLst>
            </p:cNvPr>
            <p:cNvSpPr/>
            <p:nvPr/>
          </p:nvSpPr>
          <p:spPr>
            <a:xfrm>
              <a:off x="5058274" y="2498299"/>
              <a:ext cx="180000" cy="180000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" name="타원 158">
              <a:extLst>
                <a:ext uri="{FF2B5EF4-FFF2-40B4-BE49-F238E27FC236}">
                  <a16:creationId xmlns:a16="http://schemas.microsoft.com/office/drawing/2014/main" id="{63C46758-AEBC-A78C-E468-C4FFF5E2B33D}"/>
                </a:ext>
              </a:extLst>
            </p:cNvPr>
            <p:cNvSpPr/>
            <p:nvPr/>
          </p:nvSpPr>
          <p:spPr>
            <a:xfrm>
              <a:off x="5094274" y="2534299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70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9" idx="0"/>
            <a:endCxn id="6" idx="0"/>
          </p:cNvCxnSpPr>
          <p:nvPr/>
        </p:nvCxnSpPr>
        <p:spPr>
          <a:xfrm rot="16200000" flipV="1">
            <a:off x="2167097" y="983793"/>
            <a:ext cx="2019" cy="1292362"/>
          </a:xfrm>
          <a:prstGeom prst="bentConnector3">
            <a:avLst>
              <a:gd name="adj1" fmla="val 11422437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23C86455-E84C-0CEA-5C6B-05BE50ADCEF5}"/>
              </a:ext>
            </a:extLst>
          </p:cNvPr>
          <p:cNvSpPr/>
          <p:nvPr/>
        </p:nvSpPr>
        <p:spPr>
          <a:xfrm>
            <a:off x="456237" y="1514853"/>
            <a:ext cx="307777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b="1" dirty="0">
                <a:solidFill>
                  <a:schemeClr val="tx1"/>
                </a:solidFill>
              </a:rPr>
              <a:t>사용자</a:t>
            </a:r>
          </a:p>
        </p:txBody>
      </p:sp>
      <p:sp>
        <p:nvSpPr>
          <p:cNvPr id="66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2364287" y="2180188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대금청구</a:t>
            </a:r>
            <a:r>
              <a:rPr lang="ko-KR" altLang="en-US" sz="800" dirty="0">
                <a:solidFill>
                  <a:schemeClr val="tx1"/>
                </a:solidFill>
              </a:rPr>
              <a:t> 안내문</a:t>
            </a:r>
          </a:p>
        </p:txBody>
      </p:sp>
      <p:cxnSp>
        <p:nvCxnSpPr>
          <p:cNvPr id="72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" idx="2"/>
            <a:endCxn id="66" idx="1"/>
          </p:cNvCxnSpPr>
          <p:nvPr/>
        </p:nvCxnSpPr>
        <p:spPr>
          <a:xfrm rot="16200000" flipH="1">
            <a:off x="1739494" y="1699395"/>
            <a:ext cx="407224" cy="842362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82" idx="2"/>
            <a:endCxn id="113" idx="1"/>
          </p:cNvCxnSpPr>
          <p:nvPr/>
        </p:nvCxnSpPr>
        <p:spPr>
          <a:xfrm rot="16200000" flipH="1">
            <a:off x="924985" y="3478083"/>
            <a:ext cx="1924573" cy="730692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6" idx="3"/>
            <a:endCxn id="69" idx="1"/>
          </p:cNvCxnSpPr>
          <p:nvPr/>
        </p:nvCxnSpPr>
        <p:spPr>
          <a:xfrm>
            <a:off x="1971925" y="1772964"/>
            <a:ext cx="392362" cy="201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700970" y="811681"/>
            <a:ext cx="3304672" cy="708908"/>
          </a:xfrm>
          <a:prstGeom prst="roundRect">
            <a:avLst>
              <a:gd name="adj" fmla="val 5227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ko-KR" altLang="en-US" sz="800" b="1" dirty="0">
                <a:solidFill>
                  <a:schemeClr val="tx1"/>
                </a:solidFill>
              </a:rPr>
              <a:t>선금신청서상세 </a:t>
            </a:r>
            <a:r>
              <a:rPr lang="ko-KR" altLang="en-US" sz="800" b="1" dirty="0" smtClean="0">
                <a:solidFill>
                  <a:schemeClr val="tx1"/>
                </a:solidFill>
              </a:rPr>
              <a:t>탭 목록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130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824629" y="1072407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신청정보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3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919226" y="1072407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세부신청내역</a:t>
            </a:r>
          </a:p>
        </p:txBody>
      </p:sp>
      <p:cxnSp>
        <p:nvCxnSpPr>
          <p:cNvPr id="141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01" idx="3"/>
            <a:endCxn id="140" idx="1"/>
          </p:cNvCxnSpPr>
          <p:nvPr/>
        </p:nvCxnSpPr>
        <p:spPr>
          <a:xfrm flipV="1">
            <a:off x="3264287" y="1166135"/>
            <a:ext cx="436683" cy="196828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그룹 87"/>
          <p:cNvGrpSpPr/>
          <p:nvPr/>
        </p:nvGrpSpPr>
        <p:grpSpPr>
          <a:xfrm>
            <a:off x="492190" y="5392498"/>
            <a:ext cx="1063310" cy="783216"/>
            <a:chOff x="492190" y="5392498"/>
            <a:chExt cx="1063310" cy="783216"/>
          </a:xfrm>
        </p:grpSpPr>
        <p:grpSp>
          <p:nvGrpSpPr>
            <p:cNvPr id="89" name="그룹 88"/>
            <p:cNvGrpSpPr/>
            <p:nvPr/>
          </p:nvGrpSpPr>
          <p:grpSpPr>
            <a:xfrm>
              <a:off x="492190" y="5624092"/>
              <a:ext cx="235869" cy="548293"/>
              <a:chOff x="669822" y="4927621"/>
              <a:chExt cx="912149" cy="1378059"/>
            </a:xfrm>
          </p:grpSpPr>
          <p:sp>
            <p:nvSpPr>
              <p:cNvPr id="94" name="사각형: 둥근 모서리 5">
                <a:extLst>
                  <a:ext uri="{FF2B5EF4-FFF2-40B4-BE49-F238E27FC236}">
                    <a16:creationId xmlns:a16="http://schemas.microsoft.com/office/drawing/2014/main" id="{410E5459-200D-7630-863C-88E5109259DF}"/>
                  </a:ext>
                </a:extLst>
              </p:cNvPr>
              <p:cNvSpPr/>
              <p:nvPr/>
            </p:nvSpPr>
            <p:spPr>
              <a:xfrm>
                <a:off x="669822" y="5466998"/>
                <a:ext cx="899998" cy="288000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5" name="사각형: 둥근 모서리 5">
                <a:extLst>
                  <a:ext uri="{FF2B5EF4-FFF2-40B4-BE49-F238E27FC236}">
                    <a16:creationId xmlns:a16="http://schemas.microsoft.com/office/drawing/2014/main" id="{410E5459-200D-7630-863C-88E5109259DF}"/>
                  </a:ext>
                </a:extLst>
              </p:cNvPr>
              <p:cNvSpPr/>
              <p:nvPr/>
            </p:nvSpPr>
            <p:spPr>
              <a:xfrm>
                <a:off x="669822" y="4927621"/>
                <a:ext cx="899998" cy="288000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6" name="사각형: 둥근 모서리 5">
                <a:extLst>
                  <a:ext uri="{FF2B5EF4-FFF2-40B4-BE49-F238E27FC236}">
                    <a16:creationId xmlns:a16="http://schemas.microsoft.com/office/drawing/2014/main" id="{410E5459-200D-7630-863C-88E5109259DF}"/>
                  </a:ext>
                </a:extLst>
              </p:cNvPr>
              <p:cNvSpPr/>
              <p:nvPr/>
            </p:nvSpPr>
            <p:spPr>
              <a:xfrm>
                <a:off x="681971" y="6006377"/>
                <a:ext cx="900000" cy="299303"/>
              </a:xfrm>
              <a:prstGeom prst="roundRect">
                <a:avLst>
                  <a:gd name="adj" fmla="val 5227"/>
                </a:avLst>
              </a:prstGeom>
              <a:noFill/>
              <a:ln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t"/>
              <a:lstStyle/>
              <a:p>
                <a:endParaRPr lang="ko-KR" altLang="en-US" sz="800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F249990F-1DE5-C694-BDBD-2DE7009D57EA}"/>
                </a:ext>
              </a:extLst>
            </p:cNvPr>
            <p:cNvSpPr/>
            <p:nvPr/>
          </p:nvSpPr>
          <p:spPr>
            <a:xfrm>
              <a:off x="499695" y="5392498"/>
              <a:ext cx="205184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800" dirty="0" smtClean="0">
                  <a:solidFill>
                    <a:schemeClr val="tx1"/>
                  </a:solidFill>
                </a:rPr>
                <a:t>범례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F249990F-1DE5-C694-BDBD-2DE7009D57EA}"/>
                </a:ext>
              </a:extLst>
            </p:cNvPr>
            <p:cNvSpPr/>
            <p:nvPr/>
          </p:nvSpPr>
          <p:spPr>
            <a:xfrm>
              <a:off x="829339" y="5617943"/>
              <a:ext cx="652423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800" dirty="0" err="1">
                  <a:solidFill>
                    <a:schemeClr val="tx1"/>
                  </a:solidFill>
                </a:rPr>
                <a:t>화면목록</a:t>
              </a:r>
              <a:r>
                <a:rPr lang="ko-KR" altLang="en-US" sz="800" dirty="0">
                  <a:solidFill>
                    <a:schemeClr val="tx1"/>
                  </a:solidFill>
                </a:rPr>
                <a:t> 항목</a:t>
              </a:r>
            </a:p>
          </p:txBody>
        </p:sp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F249990F-1DE5-C694-BDBD-2DE7009D57EA}"/>
                </a:ext>
              </a:extLst>
            </p:cNvPr>
            <p:cNvSpPr/>
            <p:nvPr/>
          </p:nvSpPr>
          <p:spPr>
            <a:xfrm>
              <a:off x="829339" y="5834434"/>
              <a:ext cx="689291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800" dirty="0" smtClean="0">
                  <a:solidFill>
                    <a:schemeClr val="tx1"/>
                  </a:solidFill>
                </a:rPr>
                <a:t>흐름 참고 항목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F249990F-1DE5-C694-BDBD-2DE7009D57EA}"/>
                </a:ext>
              </a:extLst>
            </p:cNvPr>
            <p:cNvSpPr/>
            <p:nvPr/>
          </p:nvSpPr>
          <p:spPr>
            <a:xfrm>
              <a:off x="829339" y="6052603"/>
              <a:ext cx="726161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800" dirty="0" smtClean="0">
                  <a:solidFill>
                    <a:schemeClr val="tx1"/>
                  </a:solidFill>
                </a:rPr>
                <a:t>탭 등 그룹 항목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</p:grp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7C1E8D88-E9A4-C688-7101-A25821FC8D9D}"/>
              </a:ext>
            </a:extLst>
          </p:cNvPr>
          <p:cNvSpPr/>
          <p:nvPr/>
        </p:nvSpPr>
        <p:spPr>
          <a:xfrm>
            <a:off x="749717" y="1026000"/>
            <a:ext cx="1946169" cy="1846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lang="en-US" altLang="ko-KR" sz="1200" dirty="0">
                <a:solidFill>
                  <a:schemeClr val="tx1"/>
                </a:solidFill>
              </a:rPr>
              <a:t>1.2.1 </a:t>
            </a:r>
            <a:r>
              <a:rPr lang="ko-KR" altLang="en-US" sz="1200" dirty="0" err="1">
                <a:solidFill>
                  <a:schemeClr val="tx1"/>
                </a:solidFill>
              </a:rPr>
              <a:t>대금상세</a:t>
            </a:r>
            <a:r>
              <a:rPr lang="ko-KR" altLang="en-US" sz="1200" dirty="0">
                <a:solidFill>
                  <a:schemeClr val="tx1"/>
                </a:solidFill>
              </a:rPr>
              <a:t> 정보 조회</a:t>
            </a:r>
          </a:p>
        </p:txBody>
      </p:sp>
      <p:sp>
        <p:nvSpPr>
          <p:cNvPr id="101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2364287" y="2990419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선금신청서상세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04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2364287" y="3458658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rgbClr val="000000"/>
                </a:solidFill>
                <a:latin typeface="맑은 고딕" panose="020B0503020000020004" pitchFamily="50" charset="-127"/>
              </a:rPr>
              <a:t>착</a:t>
            </a:r>
            <a:r>
              <a:rPr lang="en-US" altLang="ko-KR" sz="800" dirty="0">
                <a:solidFill>
                  <a:srgbClr val="000000"/>
                </a:solidFill>
                <a:latin typeface="맑은 고딕" panose="020B0503020000020004" pitchFamily="50" charset="-127"/>
              </a:rPr>
              <a:t>.</a:t>
            </a:r>
            <a:r>
              <a:rPr lang="ko-KR" altLang="en-US" sz="800" dirty="0">
                <a:solidFill>
                  <a:srgbClr val="000000"/>
                </a:solidFill>
                <a:latin typeface="맑은 고딕" panose="020B0503020000020004" pitchFamily="50" charset="-127"/>
              </a:rPr>
              <a:t>중도금신청서상세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07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2364287" y="4134706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대금청구상세</a:t>
            </a:r>
            <a:endParaRPr lang="en-US" altLang="ko-KR" sz="800" dirty="0" smtClean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 algn="ctr"/>
            <a:r>
              <a:rPr lang="en-US" altLang="ko-KR" sz="8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80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중앙조달</a:t>
            </a:r>
            <a:r>
              <a:rPr lang="en-US" altLang="ko-KR" sz="800" dirty="0">
                <a:solidFill>
                  <a:srgbClr val="000000"/>
                </a:solidFill>
                <a:latin typeface="맑은 고딕" panose="020B0503020000020004" pitchFamily="50" charset="-127"/>
              </a:rPr>
              <a:t>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0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2364287" y="4549838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대금청구상세</a:t>
            </a:r>
            <a:endParaRPr lang="en-US" altLang="ko-KR" sz="800" dirty="0" smtClean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 algn="ctr"/>
            <a:r>
              <a:rPr lang="en-US" altLang="ko-KR" sz="8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80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부대조달</a:t>
            </a:r>
            <a:r>
              <a:rPr lang="en-US" altLang="ko-KR" sz="800" dirty="0">
                <a:solidFill>
                  <a:srgbClr val="000000"/>
                </a:solidFill>
                <a:latin typeface="맑은 고딕" panose="020B0503020000020004" pitchFamily="50" charset="-127"/>
              </a:rPr>
              <a:t>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10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2364287" y="4968638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대금청구상세</a:t>
            </a:r>
            <a:endParaRPr lang="en-US" altLang="ko-KR" sz="800" dirty="0" smtClean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 algn="ctr"/>
            <a:r>
              <a:rPr lang="en-US" altLang="ko-KR" sz="8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800" dirty="0">
                <a:solidFill>
                  <a:srgbClr val="000000"/>
                </a:solidFill>
                <a:latin typeface="맑은 고딕" panose="020B0503020000020004" pitchFamily="50" charset="-127"/>
              </a:rPr>
              <a:t>공사</a:t>
            </a:r>
            <a:r>
              <a:rPr lang="en-US" altLang="ko-KR" sz="800" dirty="0">
                <a:solidFill>
                  <a:srgbClr val="000000"/>
                </a:solidFill>
                <a:latin typeface="맑은 고딕" panose="020B0503020000020004" pitchFamily="50" charset="-127"/>
              </a:rPr>
              <a:t>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1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2364287" y="5386937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대금청구상세</a:t>
            </a:r>
            <a:endParaRPr lang="en-US" altLang="ko-KR" sz="800" dirty="0" smtClean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 algn="ctr"/>
            <a:r>
              <a:rPr lang="en-US" altLang="ko-KR" sz="8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80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기성대가</a:t>
            </a:r>
            <a:r>
              <a:rPr lang="en-US" altLang="ko-KR" sz="800" dirty="0">
                <a:solidFill>
                  <a:srgbClr val="000000"/>
                </a:solidFill>
                <a:latin typeface="맑은 고딕" panose="020B0503020000020004" pitchFamily="50" charset="-127"/>
              </a:rPr>
              <a:t>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13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2252617" y="3871613"/>
            <a:ext cx="1125417" cy="1868206"/>
          </a:xfrm>
          <a:prstGeom prst="roundRect">
            <a:avLst>
              <a:gd name="adj" fmla="val 5227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ko-KR" altLang="en-US" sz="800" b="1" dirty="0" smtClean="0">
                <a:solidFill>
                  <a:schemeClr val="tx1"/>
                </a:solidFill>
              </a:rPr>
              <a:t>계약에 따른 분기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12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830925" y="1648885"/>
            <a:ext cx="3342187" cy="708908"/>
          </a:xfrm>
          <a:prstGeom prst="roundRect">
            <a:avLst>
              <a:gd name="adj" fmla="val 5227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ko-KR" altLang="en-US" sz="800" b="1" dirty="0" smtClean="0">
                <a:solidFill>
                  <a:schemeClr val="tx1"/>
                </a:solidFill>
              </a:rPr>
              <a:t>착</a:t>
            </a:r>
            <a:r>
              <a:rPr lang="en-US" altLang="ko-KR" sz="800" b="1" dirty="0" smtClean="0">
                <a:solidFill>
                  <a:schemeClr val="tx1"/>
                </a:solidFill>
              </a:rPr>
              <a:t>.</a:t>
            </a:r>
            <a:r>
              <a:rPr lang="ko-KR" altLang="en-US" sz="800" b="1" dirty="0" smtClean="0">
                <a:solidFill>
                  <a:schemeClr val="tx1"/>
                </a:solidFill>
              </a:rPr>
              <a:t>중도금신청서상세 탭 목록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135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954585" y="1909611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신청정보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36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5049182" y="1909611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세부신청내역</a:t>
            </a:r>
          </a:p>
        </p:txBody>
      </p:sp>
      <p:cxnSp>
        <p:nvCxnSpPr>
          <p:cNvPr id="137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04" idx="3"/>
            <a:endCxn id="129" idx="1"/>
          </p:cNvCxnSpPr>
          <p:nvPr/>
        </p:nvCxnSpPr>
        <p:spPr>
          <a:xfrm flipV="1">
            <a:off x="3264287" y="2003339"/>
            <a:ext cx="566638" cy="1599319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832780" y="2486089"/>
            <a:ext cx="5330270" cy="710660"/>
          </a:xfrm>
          <a:prstGeom prst="roundRect">
            <a:avLst>
              <a:gd name="adj" fmla="val 5227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ko-KR" altLang="en-US" sz="800" b="1" dirty="0">
                <a:solidFill>
                  <a:schemeClr val="tx1"/>
                </a:solidFill>
              </a:rPr>
              <a:t>대금청구상세</a:t>
            </a:r>
            <a:r>
              <a:rPr lang="en-US" altLang="ko-KR" sz="800" b="1" dirty="0">
                <a:solidFill>
                  <a:schemeClr val="tx1"/>
                </a:solidFill>
              </a:rPr>
              <a:t>(</a:t>
            </a:r>
            <a:r>
              <a:rPr lang="ko-KR" altLang="en-US" sz="800" b="1" dirty="0" err="1">
                <a:solidFill>
                  <a:schemeClr val="tx1"/>
                </a:solidFill>
              </a:rPr>
              <a:t>중앙조달</a:t>
            </a:r>
            <a:r>
              <a:rPr lang="en-US" altLang="ko-KR" sz="800" b="1" dirty="0">
                <a:solidFill>
                  <a:schemeClr val="tx1"/>
                </a:solidFill>
              </a:rPr>
              <a:t>)</a:t>
            </a:r>
            <a:r>
              <a:rPr lang="ko-KR" altLang="en-US" sz="800" b="1" dirty="0" smtClean="0">
                <a:solidFill>
                  <a:schemeClr val="tx1"/>
                </a:solidFill>
              </a:rPr>
              <a:t> 탭 목록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14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956440" y="2746815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계약정보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43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5051037" y="2746815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공급자정보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47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29" idx="3"/>
            <a:endCxn id="158" idx="0"/>
          </p:cNvCxnSpPr>
          <p:nvPr/>
        </p:nvCxnSpPr>
        <p:spPr>
          <a:xfrm>
            <a:off x="7173112" y="2003339"/>
            <a:ext cx="2270723" cy="633582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119339" y="2746815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대금신청금액</a:t>
            </a:r>
          </a:p>
        </p:txBody>
      </p:sp>
      <p:sp>
        <p:nvSpPr>
          <p:cNvPr id="14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7213936" y="2746815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세금계산서</a:t>
            </a:r>
          </a:p>
        </p:txBody>
      </p:sp>
      <p:cxnSp>
        <p:nvCxnSpPr>
          <p:cNvPr id="150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07" idx="3"/>
            <a:endCxn id="139" idx="1"/>
          </p:cNvCxnSpPr>
          <p:nvPr/>
        </p:nvCxnSpPr>
        <p:spPr>
          <a:xfrm flipV="1">
            <a:off x="3264287" y="2841419"/>
            <a:ext cx="568493" cy="1437287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958382" y="3328809"/>
            <a:ext cx="5366456" cy="703132"/>
          </a:xfrm>
          <a:prstGeom prst="roundRect">
            <a:avLst>
              <a:gd name="adj" fmla="val 5227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ko-KR" altLang="en-US" sz="800" b="1" dirty="0">
                <a:solidFill>
                  <a:schemeClr val="tx1"/>
                </a:solidFill>
              </a:rPr>
              <a:t>대금청구상세</a:t>
            </a:r>
            <a:r>
              <a:rPr lang="en-US" altLang="ko-KR" sz="800" b="1" dirty="0">
                <a:solidFill>
                  <a:schemeClr val="tx1"/>
                </a:solidFill>
              </a:rPr>
              <a:t>(</a:t>
            </a:r>
            <a:r>
              <a:rPr lang="ko-KR" altLang="en-US" sz="800" b="1" dirty="0" err="1">
                <a:solidFill>
                  <a:schemeClr val="tx1"/>
                </a:solidFill>
              </a:rPr>
              <a:t>부대조달</a:t>
            </a:r>
            <a:r>
              <a:rPr lang="en-US" altLang="ko-KR" sz="800" b="1" dirty="0" smtClean="0">
                <a:solidFill>
                  <a:schemeClr val="tx1"/>
                </a:solidFill>
              </a:rPr>
              <a:t>) </a:t>
            </a:r>
            <a:r>
              <a:rPr lang="ko-KR" altLang="en-US" sz="800" b="1" dirty="0" smtClean="0">
                <a:solidFill>
                  <a:schemeClr val="tx1"/>
                </a:solidFill>
              </a:rPr>
              <a:t>탭 목록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15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082042" y="3589535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계약정보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53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5176639" y="3589535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대금신청업체</a:t>
            </a:r>
            <a:endParaRPr lang="en-US" altLang="ko-KR" sz="800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정보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54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244941" y="3589535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대금신청금액</a:t>
            </a:r>
          </a:p>
        </p:txBody>
      </p:sp>
      <p:sp>
        <p:nvSpPr>
          <p:cNvPr id="156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7339538" y="3589535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첨부파일</a:t>
            </a:r>
          </a:p>
        </p:txBody>
      </p:sp>
      <p:cxnSp>
        <p:nvCxnSpPr>
          <p:cNvPr id="160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09" idx="3"/>
            <a:endCxn id="151" idx="1"/>
          </p:cNvCxnSpPr>
          <p:nvPr/>
        </p:nvCxnSpPr>
        <p:spPr>
          <a:xfrm flipV="1">
            <a:off x="3264287" y="3680375"/>
            <a:ext cx="694095" cy="101346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832918" y="4161989"/>
            <a:ext cx="4359789" cy="708908"/>
          </a:xfrm>
          <a:prstGeom prst="roundRect">
            <a:avLst>
              <a:gd name="adj" fmla="val 5227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ko-KR" altLang="en-US" sz="800" b="1" dirty="0">
                <a:solidFill>
                  <a:schemeClr val="tx1"/>
                </a:solidFill>
              </a:rPr>
              <a:t>대금청구상세</a:t>
            </a:r>
            <a:r>
              <a:rPr lang="en-US" altLang="ko-KR" sz="800" b="1" dirty="0">
                <a:solidFill>
                  <a:schemeClr val="tx1"/>
                </a:solidFill>
              </a:rPr>
              <a:t>(</a:t>
            </a:r>
            <a:r>
              <a:rPr lang="ko-KR" altLang="en-US" sz="800" b="1" dirty="0">
                <a:solidFill>
                  <a:schemeClr val="tx1"/>
                </a:solidFill>
              </a:rPr>
              <a:t>공사</a:t>
            </a:r>
            <a:r>
              <a:rPr lang="en-US" altLang="ko-KR" sz="800" b="1" dirty="0" smtClean="0">
                <a:solidFill>
                  <a:schemeClr val="tx1"/>
                </a:solidFill>
              </a:rPr>
              <a:t>) </a:t>
            </a:r>
            <a:r>
              <a:rPr lang="ko-KR" altLang="en-US" sz="800" b="1" dirty="0" smtClean="0">
                <a:solidFill>
                  <a:schemeClr val="tx1"/>
                </a:solidFill>
              </a:rPr>
              <a:t>탭 목록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164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956579" y="4422715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계약정보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67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5051176" y="4422715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대가지급업체</a:t>
            </a:r>
          </a:p>
        </p:txBody>
      </p:sp>
      <p:sp>
        <p:nvSpPr>
          <p:cNvPr id="171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145773" y="4422715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첨부파일</a:t>
            </a:r>
          </a:p>
        </p:txBody>
      </p:sp>
      <p:cxnSp>
        <p:nvCxnSpPr>
          <p:cNvPr id="172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10" idx="3"/>
            <a:endCxn id="162" idx="1"/>
          </p:cNvCxnSpPr>
          <p:nvPr/>
        </p:nvCxnSpPr>
        <p:spPr>
          <a:xfrm flipV="1">
            <a:off x="3264287" y="4516443"/>
            <a:ext cx="568631" cy="59619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819084" y="5035548"/>
            <a:ext cx="5505754" cy="703132"/>
          </a:xfrm>
          <a:prstGeom prst="roundRect">
            <a:avLst>
              <a:gd name="adj" fmla="val 5227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ko-KR" altLang="en-US" sz="800" b="1" dirty="0">
                <a:solidFill>
                  <a:schemeClr val="tx1"/>
                </a:solidFill>
              </a:rPr>
              <a:t>대금청구상세</a:t>
            </a:r>
            <a:r>
              <a:rPr lang="en-US" altLang="ko-KR" sz="800" b="1" dirty="0">
                <a:solidFill>
                  <a:schemeClr val="tx1"/>
                </a:solidFill>
              </a:rPr>
              <a:t>(</a:t>
            </a:r>
            <a:r>
              <a:rPr lang="ko-KR" altLang="en-US" sz="800" b="1" dirty="0" err="1">
                <a:solidFill>
                  <a:schemeClr val="tx1"/>
                </a:solidFill>
              </a:rPr>
              <a:t>기성대가</a:t>
            </a:r>
            <a:r>
              <a:rPr lang="en-US" altLang="ko-KR" sz="800" b="1" dirty="0" smtClean="0">
                <a:solidFill>
                  <a:schemeClr val="tx1"/>
                </a:solidFill>
              </a:rPr>
              <a:t>) </a:t>
            </a:r>
            <a:r>
              <a:rPr lang="ko-KR" altLang="en-US" sz="800" b="1" dirty="0" smtClean="0">
                <a:solidFill>
                  <a:schemeClr val="tx1"/>
                </a:solidFill>
              </a:rPr>
              <a:t>탭 목록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178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942743" y="529627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계약정보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7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5037340" y="529627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 smtClean="0">
                <a:solidFill>
                  <a:schemeClr val="tx1"/>
                </a:solidFill>
              </a:rPr>
              <a:t>기성대가</a:t>
            </a:r>
            <a:endParaRPr lang="en-US" altLang="ko-KR" sz="800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신청금액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8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105642" y="529627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세금계산서</a:t>
            </a:r>
          </a:p>
        </p:txBody>
      </p:sp>
      <p:sp>
        <p:nvSpPr>
          <p:cNvPr id="183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7200239" y="529627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첨부파일</a:t>
            </a:r>
          </a:p>
        </p:txBody>
      </p:sp>
      <p:cxnSp>
        <p:nvCxnSpPr>
          <p:cNvPr id="185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12" idx="3"/>
            <a:endCxn id="177" idx="1"/>
          </p:cNvCxnSpPr>
          <p:nvPr/>
        </p:nvCxnSpPr>
        <p:spPr>
          <a:xfrm flipV="1">
            <a:off x="3264287" y="5387114"/>
            <a:ext cx="554797" cy="14382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77" idx="3"/>
            <a:endCxn id="155" idx="2"/>
          </p:cNvCxnSpPr>
          <p:nvPr/>
        </p:nvCxnSpPr>
        <p:spPr>
          <a:xfrm flipV="1">
            <a:off x="9324838" y="2967524"/>
            <a:ext cx="118997" cy="241959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62" idx="3"/>
            <a:endCxn id="155" idx="2"/>
          </p:cNvCxnSpPr>
          <p:nvPr/>
        </p:nvCxnSpPr>
        <p:spPr>
          <a:xfrm flipV="1">
            <a:off x="8192707" y="2967524"/>
            <a:ext cx="1251128" cy="1548919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40" idx="3"/>
            <a:endCxn id="158" idx="0"/>
          </p:cNvCxnSpPr>
          <p:nvPr/>
        </p:nvCxnSpPr>
        <p:spPr>
          <a:xfrm>
            <a:off x="7005642" y="1166135"/>
            <a:ext cx="2438193" cy="1470786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39" idx="3"/>
            <a:endCxn id="158" idx="2"/>
          </p:cNvCxnSpPr>
          <p:nvPr/>
        </p:nvCxnSpPr>
        <p:spPr>
          <a:xfrm flipV="1">
            <a:off x="9163050" y="2726921"/>
            <a:ext cx="190785" cy="114498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51" idx="3"/>
            <a:endCxn id="155" idx="2"/>
          </p:cNvCxnSpPr>
          <p:nvPr/>
        </p:nvCxnSpPr>
        <p:spPr>
          <a:xfrm flipV="1">
            <a:off x="9324838" y="2967524"/>
            <a:ext cx="118997" cy="712851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82" idx="2"/>
            <a:endCxn id="101" idx="1"/>
          </p:cNvCxnSpPr>
          <p:nvPr/>
        </p:nvCxnSpPr>
        <p:spPr>
          <a:xfrm rot="16200000" flipH="1">
            <a:off x="1816468" y="2586600"/>
            <a:ext cx="253276" cy="842362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82" idx="2"/>
            <a:endCxn id="104" idx="1"/>
          </p:cNvCxnSpPr>
          <p:nvPr/>
        </p:nvCxnSpPr>
        <p:spPr>
          <a:xfrm rot="16200000" flipH="1">
            <a:off x="1582349" y="2820719"/>
            <a:ext cx="721515" cy="842362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1071925" y="2593143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대금청구신청목록</a:t>
            </a:r>
          </a:p>
        </p:txBody>
      </p: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6" idx="2"/>
            <a:endCxn id="82" idx="0"/>
          </p:cNvCxnSpPr>
          <p:nvPr/>
        </p:nvCxnSpPr>
        <p:spPr>
          <a:xfrm>
            <a:off x="1521925" y="1916964"/>
            <a:ext cx="0" cy="67617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2364287" y="587040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rgbClr val="000000"/>
                </a:solidFill>
                <a:latin typeface="맑은 고딕" panose="020B0503020000020004" pitchFamily="50" charset="-127"/>
              </a:rPr>
              <a:t>사후정산청구상세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1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145773" y="1910251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지급상태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20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013823" y="1072407"/>
            <a:ext cx="900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지급상태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31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82" idx="2"/>
            <a:endCxn id="114" idx="1"/>
          </p:cNvCxnSpPr>
          <p:nvPr/>
        </p:nvCxnSpPr>
        <p:spPr>
          <a:xfrm rot="16200000" flipH="1">
            <a:off x="376476" y="4026592"/>
            <a:ext cx="3133261" cy="842362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4FB9FCCA-B5F3-C0E2-F563-4F0CE0FC24CF}"/>
              </a:ext>
            </a:extLst>
          </p:cNvPr>
          <p:cNvSpPr/>
          <p:nvPr/>
        </p:nvSpPr>
        <p:spPr>
          <a:xfrm>
            <a:off x="2700082" y="2800635"/>
            <a:ext cx="237994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끝</a:t>
            </a:r>
          </a:p>
        </p:txBody>
      </p:sp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E7279F6C-9434-7961-8F6B-B7AE44CE5FCD}"/>
              </a:ext>
            </a:extLst>
          </p:cNvPr>
          <p:cNvGrpSpPr/>
          <p:nvPr/>
        </p:nvGrpSpPr>
        <p:grpSpPr>
          <a:xfrm>
            <a:off x="2729079" y="2593143"/>
            <a:ext cx="180000" cy="180000"/>
            <a:chOff x="5058274" y="2498299"/>
            <a:chExt cx="180000" cy="180000"/>
          </a:xfrm>
        </p:grpSpPr>
        <p:sp>
          <p:nvSpPr>
            <p:cNvPr id="146" name="타원 145">
              <a:extLst>
                <a:ext uri="{FF2B5EF4-FFF2-40B4-BE49-F238E27FC236}">
                  <a16:creationId xmlns:a16="http://schemas.microsoft.com/office/drawing/2014/main" id="{67DBC56A-CBCC-C3A1-2B65-581D8735D2FA}"/>
                </a:ext>
              </a:extLst>
            </p:cNvPr>
            <p:cNvSpPr/>
            <p:nvPr/>
          </p:nvSpPr>
          <p:spPr>
            <a:xfrm>
              <a:off x="5058274" y="2498299"/>
              <a:ext cx="180000" cy="180000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" name="타원 160">
              <a:extLst>
                <a:ext uri="{FF2B5EF4-FFF2-40B4-BE49-F238E27FC236}">
                  <a16:creationId xmlns:a16="http://schemas.microsoft.com/office/drawing/2014/main" id="{63C46758-AEBC-A78C-E468-C4FFF5E2B33D}"/>
                </a:ext>
              </a:extLst>
            </p:cNvPr>
            <p:cNvSpPr/>
            <p:nvPr/>
          </p:nvSpPr>
          <p:spPr>
            <a:xfrm>
              <a:off x="5094274" y="2534299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63" name="직선 화살표 연결선 162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66" idx="2"/>
            <a:endCxn id="146" idx="0"/>
          </p:cNvCxnSpPr>
          <p:nvPr/>
        </p:nvCxnSpPr>
        <p:spPr>
          <a:xfrm>
            <a:off x="2814287" y="2468188"/>
            <a:ext cx="4792" cy="12495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832918" y="5793955"/>
            <a:ext cx="4359927" cy="708908"/>
          </a:xfrm>
          <a:prstGeom prst="roundRect">
            <a:avLst>
              <a:gd name="adj" fmla="val 5227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ko-KR" altLang="en-US" sz="800" b="1" dirty="0" smtClean="0">
                <a:solidFill>
                  <a:schemeClr val="tx1"/>
                </a:solidFill>
              </a:rPr>
              <a:t>사후정산청구상세</a:t>
            </a:r>
            <a:r>
              <a:rPr lang="en-US" altLang="ko-KR" sz="800" b="1" dirty="0" smtClean="0">
                <a:solidFill>
                  <a:schemeClr val="tx1"/>
                </a:solidFill>
              </a:rPr>
              <a:t> </a:t>
            </a:r>
            <a:r>
              <a:rPr lang="ko-KR" altLang="en-US" sz="800" b="1" dirty="0" smtClean="0">
                <a:solidFill>
                  <a:schemeClr val="tx1"/>
                </a:solidFill>
              </a:rPr>
              <a:t>탭 목록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181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956579" y="6054681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계약정보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84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5051176" y="6054681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신청금액</a:t>
            </a:r>
          </a:p>
        </p:txBody>
      </p:sp>
      <p:sp>
        <p:nvSpPr>
          <p:cNvPr id="186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145773" y="6054681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세금계산서</a:t>
            </a:r>
          </a:p>
        </p:txBody>
      </p:sp>
      <p:cxnSp>
        <p:nvCxnSpPr>
          <p:cNvPr id="196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14" idx="3"/>
            <a:endCxn id="180" idx="1"/>
          </p:cNvCxnSpPr>
          <p:nvPr/>
        </p:nvCxnSpPr>
        <p:spPr>
          <a:xfrm>
            <a:off x="3264287" y="6014404"/>
            <a:ext cx="568631" cy="13400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80" idx="3"/>
            <a:endCxn id="155" idx="2"/>
          </p:cNvCxnSpPr>
          <p:nvPr/>
        </p:nvCxnSpPr>
        <p:spPr>
          <a:xfrm flipV="1">
            <a:off x="8192845" y="2967524"/>
            <a:ext cx="1250990" cy="318088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7213936" y="6054681"/>
            <a:ext cx="900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지급상태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9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7213936" y="4422715"/>
            <a:ext cx="900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진행상태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0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8187836" y="2746815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진행상태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08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8343944" y="3589535"/>
            <a:ext cx="900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진행상태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15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8343944" y="5296274"/>
            <a:ext cx="900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진행상태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80456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1.2. </a:t>
            </a:r>
            <a:r>
              <a:rPr lang="ko-KR" altLang="en-US" dirty="0"/>
              <a:t>화면 흐름도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617D047-5413-1F47-3FD7-CCCD3C0C98ED}"/>
              </a:ext>
            </a:extLst>
          </p:cNvPr>
          <p:cNvSpPr/>
          <p:nvPr/>
        </p:nvSpPr>
        <p:spPr>
          <a:xfrm>
            <a:off x="758775" y="1231161"/>
            <a:ext cx="586699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목록</a:t>
            </a:r>
            <a:r>
              <a:rPr lang="en-US" altLang="ko-KR" sz="1000" b="1" dirty="0">
                <a:solidFill>
                  <a:schemeClr val="tx1"/>
                </a:solidFill>
              </a:rPr>
              <a:t> </a:t>
            </a:r>
            <a:r>
              <a:rPr lang="ko-KR" altLang="en-US" sz="1000" b="1" dirty="0">
                <a:solidFill>
                  <a:schemeClr val="tx1"/>
                </a:solidFill>
              </a:rPr>
              <a:t>작성</a:t>
            </a:r>
            <a:r>
              <a:rPr lang="en-US" altLang="ko-KR" sz="1000" b="1" dirty="0">
                <a:solidFill>
                  <a:schemeClr val="tx1"/>
                </a:solidFill>
              </a:rPr>
              <a:t>.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grpSp>
        <p:nvGrpSpPr>
          <p:cNvPr id="88" name="그룹 87"/>
          <p:cNvGrpSpPr/>
          <p:nvPr/>
        </p:nvGrpSpPr>
        <p:grpSpPr>
          <a:xfrm>
            <a:off x="492190" y="5392498"/>
            <a:ext cx="1063310" cy="783216"/>
            <a:chOff x="492190" y="5392498"/>
            <a:chExt cx="1063310" cy="783216"/>
          </a:xfrm>
        </p:grpSpPr>
        <p:grpSp>
          <p:nvGrpSpPr>
            <p:cNvPr id="89" name="그룹 88"/>
            <p:cNvGrpSpPr/>
            <p:nvPr/>
          </p:nvGrpSpPr>
          <p:grpSpPr>
            <a:xfrm>
              <a:off x="492190" y="5624092"/>
              <a:ext cx="235869" cy="548293"/>
              <a:chOff x="669822" y="4927621"/>
              <a:chExt cx="912149" cy="1378059"/>
            </a:xfrm>
          </p:grpSpPr>
          <p:sp>
            <p:nvSpPr>
              <p:cNvPr id="94" name="사각형: 둥근 모서리 5">
                <a:extLst>
                  <a:ext uri="{FF2B5EF4-FFF2-40B4-BE49-F238E27FC236}">
                    <a16:creationId xmlns:a16="http://schemas.microsoft.com/office/drawing/2014/main" id="{410E5459-200D-7630-863C-88E5109259DF}"/>
                  </a:ext>
                </a:extLst>
              </p:cNvPr>
              <p:cNvSpPr/>
              <p:nvPr/>
            </p:nvSpPr>
            <p:spPr>
              <a:xfrm>
                <a:off x="669822" y="5466998"/>
                <a:ext cx="899998" cy="288000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5" name="사각형: 둥근 모서리 5">
                <a:extLst>
                  <a:ext uri="{FF2B5EF4-FFF2-40B4-BE49-F238E27FC236}">
                    <a16:creationId xmlns:a16="http://schemas.microsoft.com/office/drawing/2014/main" id="{410E5459-200D-7630-863C-88E5109259DF}"/>
                  </a:ext>
                </a:extLst>
              </p:cNvPr>
              <p:cNvSpPr/>
              <p:nvPr/>
            </p:nvSpPr>
            <p:spPr>
              <a:xfrm>
                <a:off x="669822" y="4927621"/>
                <a:ext cx="899998" cy="288000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6" name="사각형: 둥근 모서리 5">
                <a:extLst>
                  <a:ext uri="{FF2B5EF4-FFF2-40B4-BE49-F238E27FC236}">
                    <a16:creationId xmlns:a16="http://schemas.microsoft.com/office/drawing/2014/main" id="{410E5459-200D-7630-863C-88E5109259DF}"/>
                  </a:ext>
                </a:extLst>
              </p:cNvPr>
              <p:cNvSpPr/>
              <p:nvPr/>
            </p:nvSpPr>
            <p:spPr>
              <a:xfrm>
                <a:off x="681971" y="6006377"/>
                <a:ext cx="900000" cy="299303"/>
              </a:xfrm>
              <a:prstGeom prst="roundRect">
                <a:avLst>
                  <a:gd name="adj" fmla="val 5227"/>
                </a:avLst>
              </a:prstGeom>
              <a:noFill/>
              <a:ln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t"/>
              <a:lstStyle/>
              <a:p>
                <a:endParaRPr lang="ko-KR" altLang="en-US" sz="800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F249990F-1DE5-C694-BDBD-2DE7009D57EA}"/>
                </a:ext>
              </a:extLst>
            </p:cNvPr>
            <p:cNvSpPr/>
            <p:nvPr/>
          </p:nvSpPr>
          <p:spPr>
            <a:xfrm>
              <a:off x="499695" y="5392498"/>
              <a:ext cx="205184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800" dirty="0" smtClean="0">
                  <a:solidFill>
                    <a:schemeClr val="tx1"/>
                  </a:solidFill>
                </a:rPr>
                <a:t>범례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F249990F-1DE5-C694-BDBD-2DE7009D57EA}"/>
                </a:ext>
              </a:extLst>
            </p:cNvPr>
            <p:cNvSpPr/>
            <p:nvPr/>
          </p:nvSpPr>
          <p:spPr>
            <a:xfrm>
              <a:off x="829339" y="5617943"/>
              <a:ext cx="652423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800" dirty="0" err="1">
                  <a:solidFill>
                    <a:schemeClr val="tx1"/>
                  </a:solidFill>
                </a:rPr>
                <a:t>화면목록</a:t>
              </a:r>
              <a:r>
                <a:rPr lang="ko-KR" altLang="en-US" sz="800" dirty="0">
                  <a:solidFill>
                    <a:schemeClr val="tx1"/>
                  </a:solidFill>
                </a:rPr>
                <a:t> 항목</a:t>
              </a:r>
            </a:p>
          </p:txBody>
        </p:sp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F249990F-1DE5-C694-BDBD-2DE7009D57EA}"/>
                </a:ext>
              </a:extLst>
            </p:cNvPr>
            <p:cNvSpPr/>
            <p:nvPr/>
          </p:nvSpPr>
          <p:spPr>
            <a:xfrm>
              <a:off x="829339" y="5834434"/>
              <a:ext cx="689291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800" dirty="0" smtClean="0">
                  <a:solidFill>
                    <a:schemeClr val="tx1"/>
                  </a:solidFill>
                </a:rPr>
                <a:t>흐름 참고 항목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F249990F-1DE5-C694-BDBD-2DE7009D57EA}"/>
                </a:ext>
              </a:extLst>
            </p:cNvPr>
            <p:cNvSpPr/>
            <p:nvPr/>
          </p:nvSpPr>
          <p:spPr>
            <a:xfrm>
              <a:off x="829339" y="6052603"/>
              <a:ext cx="726161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800" dirty="0" smtClean="0">
                  <a:solidFill>
                    <a:schemeClr val="tx1"/>
                  </a:solidFill>
                </a:rPr>
                <a:t>탭 등 그룹 항목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</p:grp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7C1E8D88-E9A4-C688-7101-A25821FC8D9D}"/>
              </a:ext>
            </a:extLst>
          </p:cNvPr>
          <p:cNvSpPr/>
          <p:nvPr/>
        </p:nvSpPr>
        <p:spPr>
          <a:xfrm>
            <a:off x="749717" y="1026000"/>
            <a:ext cx="1946169" cy="1846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lang="en-US" altLang="ko-KR" sz="1200" dirty="0" smtClean="0">
                <a:solidFill>
                  <a:schemeClr val="tx1"/>
                </a:solidFill>
              </a:rPr>
              <a:t>1.2.2 </a:t>
            </a:r>
            <a:r>
              <a:rPr lang="ko-KR" altLang="en-US" sz="1200" dirty="0" smtClean="0">
                <a:solidFill>
                  <a:schemeClr val="tx1"/>
                </a:solidFill>
              </a:rPr>
              <a:t>대금지불정보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4256C95A-5B12-C9E0-F2B5-BC9D5BAB5422}"/>
              </a:ext>
            </a:extLst>
          </p:cNvPr>
          <p:cNvGrpSpPr/>
          <p:nvPr/>
        </p:nvGrpSpPr>
        <p:grpSpPr>
          <a:xfrm>
            <a:off x="2042420" y="2151836"/>
            <a:ext cx="237994" cy="316983"/>
            <a:chOff x="4762389" y="1663914"/>
            <a:chExt cx="237994" cy="316983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65003F43-FF09-9E6F-5743-EDAC953723CE}"/>
                </a:ext>
              </a:extLst>
            </p:cNvPr>
            <p:cNvSpPr/>
            <p:nvPr/>
          </p:nvSpPr>
          <p:spPr>
            <a:xfrm>
              <a:off x="4789249" y="1663914"/>
              <a:ext cx="180000" cy="18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9742BB0-8FB4-9410-125F-B3304E0DFFA4}"/>
                </a:ext>
              </a:extLst>
            </p:cNvPr>
            <p:cNvSpPr/>
            <p:nvPr/>
          </p:nvSpPr>
          <p:spPr>
            <a:xfrm>
              <a:off x="4762389" y="1857786"/>
              <a:ext cx="237994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시작</a:t>
              </a:r>
            </a:p>
          </p:txBody>
        </p:sp>
      </p:grpSp>
      <p:sp>
        <p:nvSpPr>
          <p:cNvPr id="6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913441" y="2099855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대금지불정보</a:t>
            </a:r>
            <a:r>
              <a:rPr lang="en-US" altLang="ko-KR" sz="800" dirty="0">
                <a:solidFill>
                  <a:schemeClr val="tx1"/>
                </a:solidFill>
              </a:rPr>
              <a:t>(</a:t>
            </a:r>
            <a:r>
              <a:rPr lang="ko-KR" altLang="en-US" sz="800" dirty="0">
                <a:solidFill>
                  <a:schemeClr val="tx1"/>
                </a:solidFill>
              </a:rPr>
              <a:t>반납</a:t>
            </a:r>
            <a:r>
              <a:rPr lang="en-US" altLang="ko-KR" sz="8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4FB9FCCA-B5F3-C0E2-F563-4F0CE0FC24CF}"/>
              </a:ext>
            </a:extLst>
          </p:cNvPr>
          <p:cNvSpPr/>
          <p:nvPr/>
        </p:nvSpPr>
        <p:spPr>
          <a:xfrm>
            <a:off x="7662615" y="2942205"/>
            <a:ext cx="237994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끝</a:t>
            </a:r>
          </a:p>
        </p:txBody>
      </p:sp>
      <p:grpSp>
        <p:nvGrpSpPr>
          <p:cNvPr id="157" name="그룹 156">
            <a:extLst>
              <a:ext uri="{FF2B5EF4-FFF2-40B4-BE49-F238E27FC236}">
                <a16:creationId xmlns:a16="http://schemas.microsoft.com/office/drawing/2014/main" id="{E7279F6C-9434-7961-8F6B-B7AE44CE5FCD}"/>
              </a:ext>
            </a:extLst>
          </p:cNvPr>
          <p:cNvGrpSpPr/>
          <p:nvPr/>
        </p:nvGrpSpPr>
        <p:grpSpPr>
          <a:xfrm>
            <a:off x="7691612" y="2734713"/>
            <a:ext cx="180000" cy="180000"/>
            <a:chOff x="5058274" y="2498299"/>
            <a:chExt cx="180000" cy="180000"/>
          </a:xfrm>
        </p:grpSpPr>
        <p:sp>
          <p:nvSpPr>
            <p:cNvPr id="158" name="타원 157">
              <a:extLst>
                <a:ext uri="{FF2B5EF4-FFF2-40B4-BE49-F238E27FC236}">
                  <a16:creationId xmlns:a16="http://schemas.microsoft.com/office/drawing/2014/main" id="{67DBC56A-CBCC-C3A1-2B65-581D8735D2FA}"/>
                </a:ext>
              </a:extLst>
            </p:cNvPr>
            <p:cNvSpPr/>
            <p:nvPr/>
          </p:nvSpPr>
          <p:spPr>
            <a:xfrm>
              <a:off x="5058274" y="2498299"/>
              <a:ext cx="180000" cy="180000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" name="타원 158">
              <a:extLst>
                <a:ext uri="{FF2B5EF4-FFF2-40B4-BE49-F238E27FC236}">
                  <a16:creationId xmlns:a16="http://schemas.microsoft.com/office/drawing/2014/main" id="{63C46758-AEBC-A78C-E468-C4FFF5E2B33D}"/>
                </a:ext>
              </a:extLst>
            </p:cNvPr>
            <p:cNvSpPr/>
            <p:nvPr/>
          </p:nvSpPr>
          <p:spPr>
            <a:xfrm>
              <a:off x="5094274" y="2534299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23C86455-E84C-0CEA-5C6B-05BE50ADCEF5}"/>
              </a:ext>
            </a:extLst>
          </p:cNvPr>
          <p:cNvSpPr/>
          <p:nvPr/>
        </p:nvSpPr>
        <p:spPr>
          <a:xfrm>
            <a:off x="2005391" y="1983725"/>
            <a:ext cx="307777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b="1" dirty="0">
                <a:solidFill>
                  <a:schemeClr val="tx1"/>
                </a:solidFill>
              </a:rPr>
              <a:t>사용자</a:t>
            </a:r>
          </a:p>
        </p:txBody>
      </p: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9" idx="6"/>
            <a:endCxn id="69" idx="1"/>
          </p:cNvCxnSpPr>
          <p:nvPr/>
        </p:nvCxnSpPr>
        <p:spPr>
          <a:xfrm>
            <a:off x="2249280" y="2241836"/>
            <a:ext cx="1664161" cy="201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913441" y="3149868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대금청구진행현황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35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5503739" y="2099855"/>
            <a:ext cx="900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검색필터</a:t>
            </a:r>
            <a:r>
              <a:rPr lang="ko-KR" altLang="en-US" sz="800" dirty="0">
                <a:solidFill>
                  <a:schemeClr val="tx1"/>
                </a:solidFill>
              </a:rPr>
              <a:t> 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- </a:t>
            </a:r>
            <a:r>
              <a:rPr lang="ko-KR" altLang="en-US" sz="800" dirty="0" err="1">
                <a:solidFill>
                  <a:schemeClr val="tx1"/>
                </a:solidFill>
              </a:rPr>
              <a:t>대금청구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221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35" idx="0"/>
            <a:endCxn id="69" idx="0"/>
          </p:cNvCxnSpPr>
          <p:nvPr/>
        </p:nvCxnSpPr>
        <p:spPr>
          <a:xfrm rot="16200000" flipV="1">
            <a:off x="5158590" y="1304706"/>
            <a:ext cx="12700" cy="1590298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9" idx="6"/>
            <a:endCxn id="101" idx="1"/>
          </p:cNvCxnSpPr>
          <p:nvPr/>
        </p:nvCxnSpPr>
        <p:spPr>
          <a:xfrm>
            <a:off x="2249280" y="2241836"/>
            <a:ext cx="1664161" cy="1052032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9" idx="2"/>
            <a:endCxn id="158" idx="2"/>
          </p:cNvCxnSpPr>
          <p:nvPr/>
        </p:nvCxnSpPr>
        <p:spPr>
          <a:xfrm rot="16200000" flipH="1">
            <a:off x="5809097" y="942198"/>
            <a:ext cx="436858" cy="3328171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69" idx="3"/>
            <a:endCxn id="135" idx="1"/>
          </p:cNvCxnSpPr>
          <p:nvPr/>
        </p:nvCxnSpPr>
        <p:spPr>
          <a:xfrm>
            <a:off x="4813441" y="2243855"/>
            <a:ext cx="690298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01" idx="2"/>
            <a:endCxn id="36" idx="1"/>
          </p:cNvCxnSpPr>
          <p:nvPr/>
        </p:nvCxnSpPr>
        <p:spPr>
          <a:xfrm rot="16200000" flipH="1">
            <a:off x="4296259" y="3505049"/>
            <a:ext cx="1168303" cy="1033939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5509050" y="3935161"/>
            <a:ext cx="900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대금청구상세</a:t>
            </a:r>
            <a:endParaRPr lang="en-US" altLang="ko-KR" sz="800" dirty="0" smtClean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 algn="ctr"/>
            <a:r>
              <a:rPr lang="en-US" altLang="ko-KR" sz="8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80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중앙조달</a:t>
            </a:r>
            <a:r>
              <a:rPr lang="en-US" altLang="ko-KR" sz="800" dirty="0">
                <a:solidFill>
                  <a:srgbClr val="000000"/>
                </a:solidFill>
                <a:latin typeface="맑은 고딕" panose="020B0503020000020004" pitchFamily="50" charset="-127"/>
              </a:rPr>
              <a:t>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3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5509050" y="4350293"/>
            <a:ext cx="900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대금청구상세</a:t>
            </a:r>
            <a:endParaRPr lang="en-US" altLang="ko-KR" sz="800" dirty="0" smtClean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 algn="ctr"/>
            <a:r>
              <a:rPr lang="en-US" altLang="ko-KR" sz="8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80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부대조달</a:t>
            </a:r>
            <a:r>
              <a:rPr lang="en-US" altLang="ko-KR" sz="800" dirty="0">
                <a:solidFill>
                  <a:srgbClr val="000000"/>
                </a:solidFill>
                <a:latin typeface="맑은 고딕" panose="020B0503020000020004" pitchFamily="50" charset="-127"/>
              </a:rPr>
              <a:t>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4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5509050" y="4769093"/>
            <a:ext cx="900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대금청구상세</a:t>
            </a:r>
            <a:endParaRPr lang="en-US" altLang="ko-KR" sz="800" dirty="0" smtClean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 algn="ctr"/>
            <a:r>
              <a:rPr lang="en-US" altLang="ko-KR" sz="8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800" dirty="0">
                <a:solidFill>
                  <a:srgbClr val="000000"/>
                </a:solidFill>
                <a:latin typeface="맑은 고딕" panose="020B0503020000020004" pitchFamily="50" charset="-127"/>
              </a:rPr>
              <a:t>공사</a:t>
            </a:r>
            <a:r>
              <a:rPr lang="en-US" altLang="ko-KR" sz="800" dirty="0">
                <a:solidFill>
                  <a:srgbClr val="000000"/>
                </a:solidFill>
                <a:latin typeface="맑은 고딕" panose="020B0503020000020004" pitchFamily="50" charset="-127"/>
              </a:rPr>
              <a:t>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5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5509050" y="5187392"/>
            <a:ext cx="900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대금청구상세</a:t>
            </a:r>
            <a:endParaRPr lang="en-US" altLang="ko-KR" sz="800" dirty="0" smtClean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 algn="ctr"/>
            <a:r>
              <a:rPr lang="en-US" altLang="ko-KR" sz="8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80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기성대가</a:t>
            </a:r>
            <a:r>
              <a:rPr lang="en-US" altLang="ko-KR" sz="800" dirty="0">
                <a:solidFill>
                  <a:srgbClr val="000000"/>
                </a:solidFill>
                <a:latin typeface="맑은 고딕" panose="020B0503020000020004" pitchFamily="50" charset="-127"/>
              </a:rPr>
              <a:t>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6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5397380" y="3672068"/>
            <a:ext cx="1125417" cy="1868206"/>
          </a:xfrm>
          <a:prstGeom prst="roundRect">
            <a:avLst>
              <a:gd name="adj" fmla="val 5227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ko-KR" altLang="en-US" sz="800" b="1" dirty="0" smtClean="0">
                <a:solidFill>
                  <a:schemeClr val="tx1"/>
                </a:solidFill>
              </a:rPr>
              <a:t>계약에 따른 분기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cxnSp>
        <p:nvCxnSpPr>
          <p:cNvPr id="39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36" idx="3"/>
            <a:endCxn id="158" idx="2"/>
          </p:cNvCxnSpPr>
          <p:nvPr/>
        </p:nvCxnSpPr>
        <p:spPr>
          <a:xfrm flipV="1">
            <a:off x="6522797" y="2824713"/>
            <a:ext cx="1168815" cy="1781458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5503739" y="3155545"/>
            <a:ext cx="900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검색필터</a:t>
            </a:r>
            <a:r>
              <a:rPr lang="ko-KR" altLang="en-US" sz="800" dirty="0">
                <a:solidFill>
                  <a:schemeClr val="tx1"/>
                </a:solidFill>
              </a:rPr>
              <a:t> 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- </a:t>
            </a:r>
            <a:r>
              <a:rPr lang="ko-KR" altLang="en-US" sz="800" dirty="0" err="1">
                <a:solidFill>
                  <a:schemeClr val="tx1"/>
                </a:solidFill>
              </a:rPr>
              <a:t>대금청구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48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47" idx="0"/>
            <a:endCxn id="101" idx="0"/>
          </p:cNvCxnSpPr>
          <p:nvPr/>
        </p:nvCxnSpPr>
        <p:spPr>
          <a:xfrm rot="16200000" flipV="1">
            <a:off x="5155752" y="2357558"/>
            <a:ext cx="5677" cy="1590298"/>
          </a:xfrm>
          <a:prstGeom prst="bentConnector3">
            <a:avLst>
              <a:gd name="adj1" fmla="val 4126775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101" idx="3"/>
            <a:endCxn id="47" idx="1"/>
          </p:cNvCxnSpPr>
          <p:nvPr/>
        </p:nvCxnSpPr>
        <p:spPr>
          <a:xfrm>
            <a:off x="4813441" y="3293868"/>
            <a:ext cx="690298" cy="567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25333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B3001FFA-599C-959F-11FF-54498DB5D01F}"/>
              </a:ext>
            </a:extLst>
          </p:cNvPr>
          <p:cNvSpPr/>
          <p:nvPr/>
        </p:nvSpPr>
        <p:spPr>
          <a:xfrm>
            <a:off x="6266873" y="1283855"/>
            <a:ext cx="27432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서버 영역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DDF51E2-AA54-3898-F986-0D5FDFD8B700}"/>
              </a:ext>
            </a:extLst>
          </p:cNvPr>
          <p:cNvSpPr/>
          <p:nvPr/>
        </p:nvSpPr>
        <p:spPr>
          <a:xfrm>
            <a:off x="895927" y="1283855"/>
            <a:ext cx="51816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화면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1.3 </a:t>
            </a:r>
            <a:r>
              <a:rPr lang="ko-KR" altLang="en-US" dirty="0"/>
              <a:t>앱 구성 다이어그램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8EEC1B9-CC65-F7BE-5073-784BEE06A8EF}"/>
              </a:ext>
            </a:extLst>
          </p:cNvPr>
          <p:cNvSpPr/>
          <p:nvPr/>
        </p:nvSpPr>
        <p:spPr>
          <a:xfrm>
            <a:off x="3960091" y="2170157"/>
            <a:ext cx="1727200" cy="164003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&lt;&lt;React Object&gt;&gt;</a:t>
            </a:r>
          </a:p>
          <a:p>
            <a:pPr algn="ctr"/>
            <a:endParaRPr lang="en-US" altLang="ko-KR" sz="1100" dirty="0"/>
          </a:p>
          <a:p>
            <a:pPr algn="ctr"/>
            <a:r>
              <a:rPr lang="en-US" altLang="ko-KR" sz="1100" dirty="0"/>
              <a:t>Forms</a:t>
            </a:r>
          </a:p>
          <a:p>
            <a:pPr algn="ctr"/>
            <a:r>
              <a:rPr lang="en-US" altLang="ko-KR" sz="1100" dirty="0"/>
              <a:t>Grid</a:t>
            </a:r>
          </a:p>
          <a:p>
            <a:pPr algn="ctr"/>
            <a:r>
              <a:rPr lang="en-US" altLang="ko-KR" sz="1100" dirty="0"/>
              <a:t>Container</a:t>
            </a:r>
          </a:p>
          <a:p>
            <a:pPr algn="ctr"/>
            <a:r>
              <a:rPr lang="en-US" altLang="ko-KR" sz="1100" dirty="0"/>
              <a:t>Navigation</a:t>
            </a:r>
          </a:p>
          <a:p>
            <a:pPr algn="ctr"/>
            <a:r>
              <a:rPr lang="en-US" altLang="ko-KR" sz="1100" dirty="0"/>
              <a:t>Chart</a:t>
            </a:r>
          </a:p>
          <a:p>
            <a:pPr algn="ctr"/>
            <a:r>
              <a:rPr lang="en-US" altLang="ko-KR" sz="1100" dirty="0"/>
              <a:t>Frame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E6CF8B0-B538-B16B-F0EB-F1F49287D1E5}"/>
              </a:ext>
            </a:extLst>
          </p:cNvPr>
          <p:cNvSpPr/>
          <p:nvPr/>
        </p:nvSpPr>
        <p:spPr>
          <a:xfrm>
            <a:off x="6636459" y="2747194"/>
            <a:ext cx="2281118" cy="485959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</a:t>
            </a:r>
            <a:r>
              <a:rPr lang="ko-KR" altLang="en-US" sz="1100" dirty="0" err="1"/>
              <a:t>대금청구</a:t>
            </a:r>
            <a:r>
              <a:rPr lang="en-US" altLang="ko-KR" sz="1100" dirty="0"/>
              <a:t>Controller&gt;&gt;</a:t>
            </a:r>
          </a:p>
          <a:p>
            <a:pPr algn="ctr"/>
            <a:r>
              <a:rPr lang="en-US" altLang="ko-KR" sz="1100" dirty="0" err="1" smtClean="0"/>
              <a:t>PymtClmController</a:t>
            </a:r>
            <a:endParaRPr lang="en-US" altLang="ko-KR" sz="1100" dirty="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DD2481F-89D8-25C0-6E6F-7535C857EB4B}"/>
              </a:ext>
            </a:extLst>
          </p:cNvPr>
          <p:cNvCxnSpPr>
            <a:stCxn id="6" idx="3"/>
            <a:endCxn id="9" idx="1"/>
          </p:cNvCxnSpPr>
          <p:nvPr/>
        </p:nvCxnSpPr>
        <p:spPr>
          <a:xfrm>
            <a:off x="2992582" y="1847958"/>
            <a:ext cx="967509" cy="11422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AF6B56CB-1ACF-E509-9762-CFE025648775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2992582" y="2335492"/>
            <a:ext cx="967509" cy="6546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2992582" y="2990174"/>
            <a:ext cx="967509" cy="2922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A8B10782-0A07-A41D-DB15-978B72410A31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5687291" y="2990174"/>
            <a:ext cx="94916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 Box 73">
            <a:extLst>
              <a:ext uri="{FF2B5EF4-FFF2-40B4-BE49-F238E27FC236}">
                <a16:creationId xmlns:a16="http://schemas.microsoft.com/office/drawing/2014/main" id="{76C9ABC8-A4D3-5907-4020-49C93E468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694" y="1136459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18" idx="3"/>
            <a:endCxn id="9" idx="1"/>
          </p:cNvCxnSpPr>
          <p:nvPr/>
        </p:nvCxnSpPr>
        <p:spPr>
          <a:xfrm flipV="1">
            <a:off x="2992582" y="2990174"/>
            <a:ext cx="967509" cy="7550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0" idx="3"/>
            <a:endCxn id="9" idx="1"/>
          </p:cNvCxnSpPr>
          <p:nvPr/>
        </p:nvCxnSpPr>
        <p:spPr>
          <a:xfrm flipV="1">
            <a:off x="2992582" y="2990174"/>
            <a:ext cx="967509" cy="12066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2" idx="3"/>
            <a:endCxn id="9" idx="1"/>
          </p:cNvCxnSpPr>
          <p:nvPr/>
        </p:nvCxnSpPr>
        <p:spPr>
          <a:xfrm flipV="1">
            <a:off x="2992582" y="2990174"/>
            <a:ext cx="967509" cy="16581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7" idx="3"/>
            <a:endCxn id="9" idx="1"/>
          </p:cNvCxnSpPr>
          <p:nvPr/>
        </p:nvCxnSpPr>
        <p:spPr>
          <a:xfrm flipV="1">
            <a:off x="2992582" y="2990174"/>
            <a:ext cx="967509" cy="21096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36975C9-B669-2E0F-A599-7B64FBAF2727}"/>
              </a:ext>
            </a:extLst>
          </p:cNvPr>
          <p:cNvSpPr/>
          <p:nvPr/>
        </p:nvSpPr>
        <p:spPr>
          <a:xfrm>
            <a:off x="749717" y="1026000"/>
            <a:ext cx="1946169" cy="1846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lang="en-US" altLang="ko-KR" sz="1200" dirty="0">
                <a:solidFill>
                  <a:schemeClr val="tx1"/>
                </a:solidFill>
              </a:rPr>
              <a:t>1.3.1 </a:t>
            </a:r>
            <a:r>
              <a:rPr lang="ko-KR" altLang="en-US" sz="1200" dirty="0" err="1" smtClean="0">
                <a:solidFill>
                  <a:schemeClr val="tx1"/>
                </a:solidFill>
              </a:rPr>
              <a:t>대금청구및사후</a:t>
            </a:r>
            <a:r>
              <a:rPr lang="ko-KR" altLang="en-US" sz="1200" dirty="0" smtClean="0">
                <a:solidFill>
                  <a:schemeClr val="tx1"/>
                </a:solidFill>
              </a:rPr>
              <a:t> </a:t>
            </a:r>
            <a:r>
              <a:rPr lang="en-US" altLang="ko-KR" sz="1200" dirty="0" smtClean="0">
                <a:solidFill>
                  <a:schemeClr val="tx1"/>
                </a:solidFill>
              </a:rPr>
              <a:t>(1/4)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D7B626-4B5C-AE29-EFB9-628750B32B78}"/>
              </a:ext>
            </a:extLst>
          </p:cNvPr>
          <p:cNvSpPr/>
          <p:nvPr/>
        </p:nvSpPr>
        <p:spPr>
          <a:xfrm>
            <a:off x="1265382" y="1644140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대금청구통합목록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PymtClmIntgListPage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4F2CFBC-290B-2E89-63C0-62C22747051D}"/>
              </a:ext>
            </a:extLst>
          </p:cNvPr>
          <p:cNvSpPr/>
          <p:nvPr/>
        </p:nvSpPr>
        <p:spPr>
          <a:xfrm>
            <a:off x="1265382" y="2131674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검색필터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-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대금청구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PymtClmIntgList_SrchFilter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3078624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7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700" dirty="0" smtClean="0">
                <a:solidFill>
                  <a:schemeClr val="tx1"/>
                </a:solidFill>
                <a:latin typeface="+mn-ea"/>
              </a:rPr>
              <a:t>선금신청서상세</a:t>
            </a:r>
            <a:endParaRPr lang="en-US" altLang="ko-KR" sz="7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7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PrpayApfrDtlPage</a:t>
            </a:r>
            <a:r>
              <a:rPr lang="en-US" altLang="ko-KR" sz="7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7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7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700" dirty="0">
              <a:solidFill>
                <a:schemeClr val="tx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3541431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7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700" dirty="0" err="1" smtClean="0">
                <a:solidFill>
                  <a:schemeClr val="tx1"/>
                </a:solidFill>
                <a:latin typeface="+mn-ea"/>
              </a:rPr>
              <a:t>신청정보</a:t>
            </a:r>
            <a:endParaRPr lang="en-US" altLang="ko-KR" sz="7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7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PrpayApfrDtl</a:t>
            </a:r>
            <a:r>
              <a:rPr lang="en-US" altLang="ko-KR" sz="7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7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7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700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3992962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7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700" dirty="0" smtClean="0">
                <a:solidFill>
                  <a:schemeClr val="tx1"/>
                </a:solidFill>
                <a:latin typeface="+mn-ea"/>
              </a:rPr>
              <a:t>세부신청내역</a:t>
            </a:r>
            <a:endParaRPr lang="en-US" altLang="ko-KR" sz="7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7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PrpayApfrDtl_AplyDtsm</a:t>
            </a:r>
            <a:r>
              <a:rPr lang="en-US" altLang="ko-KR" sz="7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7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7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700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4444493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7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700" dirty="0">
                <a:solidFill>
                  <a:schemeClr val="tx1"/>
                </a:solidFill>
                <a:latin typeface="+mn-ea"/>
              </a:rPr>
              <a:t>착</a:t>
            </a:r>
            <a:r>
              <a:rPr lang="en-US" altLang="ko-KR" sz="700" dirty="0">
                <a:solidFill>
                  <a:schemeClr val="tx1"/>
                </a:solidFill>
                <a:latin typeface="+mn-ea"/>
              </a:rPr>
              <a:t>.</a:t>
            </a:r>
            <a:r>
              <a:rPr lang="ko-KR" altLang="en-US" sz="700" dirty="0" smtClean="0">
                <a:solidFill>
                  <a:schemeClr val="tx1"/>
                </a:solidFill>
                <a:latin typeface="+mn-ea"/>
              </a:rPr>
              <a:t>중도금신청서상세</a:t>
            </a:r>
            <a:endParaRPr lang="en-US" altLang="ko-KR" sz="7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7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DpsmnItrpyApfrDtlPage</a:t>
            </a:r>
            <a:r>
              <a:rPr lang="en-US" altLang="ko-KR" sz="7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7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7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700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4896024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7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700" dirty="0" err="1" smtClean="0">
                <a:solidFill>
                  <a:schemeClr val="tx1"/>
                </a:solidFill>
                <a:latin typeface="+mn-ea"/>
              </a:rPr>
              <a:t>신청정보</a:t>
            </a:r>
            <a:endParaRPr lang="en-US" altLang="ko-KR" sz="7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7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DpsmnItrpyApfrDtl</a:t>
            </a:r>
            <a:r>
              <a:rPr lang="en-US" altLang="ko-KR" sz="700" dirty="0" err="1" smtClean="0">
                <a:solidFill>
                  <a:schemeClr val="tx1"/>
                </a:solidFill>
                <a:latin typeface="맑은 고딕" panose="020B0503020000020004" pitchFamily="50" charset="-127"/>
              </a:rPr>
              <a:t>.</a:t>
            </a:r>
            <a:r>
              <a:rPr lang="en-US" altLang="ko-KR" sz="700" dirty="0" err="1" smtClean="0">
                <a:solidFill>
                  <a:schemeClr val="tx1"/>
                </a:solidFill>
              </a:rPr>
              <a:t>tsx</a:t>
            </a:r>
            <a:r>
              <a:rPr lang="en-US" altLang="ko-KR" sz="7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7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700" dirty="0">
              <a:solidFill>
                <a:schemeClr val="tx1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5354558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7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700" dirty="0" smtClean="0">
                <a:solidFill>
                  <a:schemeClr val="tx1"/>
                </a:solidFill>
                <a:latin typeface="+mn-ea"/>
              </a:rPr>
              <a:t>세부신청내역</a:t>
            </a:r>
            <a:endParaRPr lang="en-US" altLang="ko-KR" sz="7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7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DpsmnItrpyApfrDtl_AplyDtsm</a:t>
            </a:r>
            <a:r>
              <a:rPr lang="en-US" altLang="ko-KR" sz="7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7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7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700" dirty="0">
              <a:solidFill>
                <a:schemeClr val="tx1"/>
              </a:solidFill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5798459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7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700" dirty="0" err="1">
                <a:solidFill>
                  <a:schemeClr val="tx1"/>
                </a:solidFill>
                <a:latin typeface="+mn-ea"/>
              </a:rPr>
              <a:t>지급상태</a:t>
            </a:r>
            <a:endParaRPr lang="en-US" altLang="ko-KR" sz="7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7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PrpayDpsmnItrpyGiveSttsPage</a:t>
            </a:r>
            <a:r>
              <a:rPr lang="en-US" altLang="ko-KR" sz="7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7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7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700" dirty="0">
              <a:solidFill>
                <a:schemeClr val="tx1"/>
              </a:solidFill>
            </a:endParaRPr>
          </a:p>
        </p:txBody>
      </p: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30" idx="3"/>
            <a:endCxn id="9" idx="1"/>
          </p:cNvCxnSpPr>
          <p:nvPr/>
        </p:nvCxnSpPr>
        <p:spPr>
          <a:xfrm flipV="1">
            <a:off x="2992582" y="2990174"/>
            <a:ext cx="967509" cy="25682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67" idx="3"/>
            <a:endCxn id="9" idx="1"/>
          </p:cNvCxnSpPr>
          <p:nvPr/>
        </p:nvCxnSpPr>
        <p:spPr>
          <a:xfrm flipV="1">
            <a:off x="2992582" y="2990174"/>
            <a:ext cx="967509" cy="30121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2620423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7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700" dirty="0">
                <a:solidFill>
                  <a:schemeClr val="tx1"/>
                </a:solidFill>
                <a:latin typeface="+mn-ea"/>
              </a:rPr>
              <a:t>대금청구신청목록</a:t>
            </a:r>
            <a:endParaRPr lang="en-US" altLang="ko-KR" sz="7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7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PymtClmIntgAplyList</a:t>
            </a:r>
            <a:r>
              <a:rPr lang="en-US" altLang="ko-KR" sz="7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7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7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700" dirty="0">
              <a:solidFill>
                <a:schemeClr val="tx1"/>
              </a:solidFill>
            </a:endParaRPr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AF6B56CB-1ACF-E509-9762-CFE025648775}"/>
              </a:ext>
            </a:extLst>
          </p:cNvPr>
          <p:cNvCxnSpPr>
            <a:cxnSpLocks/>
            <a:stCxn id="31" idx="3"/>
            <a:endCxn id="9" idx="1"/>
          </p:cNvCxnSpPr>
          <p:nvPr/>
        </p:nvCxnSpPr>
        <p:spPr>
          <a:xfrm>
            <a:off x="2992582" y="2824241"/>
            <a:ext cx="967509" cy="165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59506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B3001FFA-599C-959F-11FF-54498DB5D01F}"/>
              </a:ext>
            </a:extLst>
          </p:cNvPr>
          <p:cNvSpPr/>
          <p:nvPr/>
        </p:nvSpPr>
        <p:spPr>
          <a:xfrm>
            <a:off x="6266873" y="1283855"/>
            <a:ext cx="27432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서버 영역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DDF51E2-AA54-3898-F986-0D5FDFD8B700}"/>
              </a:ext>
            </a:extLst>
          </p:cNvPr>
          <p:cNvSpPr/>
          <p:nvPr/>
        </p:nvSpPr>
        <p:spPr>
          <a:xfrm>
            <a:off x="895927" y="1283855"/>
            <a:ext cx="51816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화면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1.3 </a:t>
            </a:r>
            <a:r>
              <a:rPr lang="ko-KR" altLang="en-US" dirty="0"/>
              <a:t>앱 구성 다이어그램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8EEC1B9-CC65-F7BE-5073-784BEE06A8EF}"/>
              </a:ext>
            </a:extLst>
          </p:cNvPr>
          <p:cNvSpPr/>
          <p:nvPr/>
        </p:nvSpPr>
        <p:spPr>
          <a:xfrm>
            <a:off x="3960091" y="2170157"/>
            <a:ext cx="1727200" cy="164003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&lt;&lt;React Object&gt;&gt;</a:t>
            </a:r>
          </a:p>
          <a:p>
            <a:pPr algn="ctr"/>
            <a:endParaRPr lang="en-US" altLang="ko-KR" sz="1100" dirty="0"/>
          </a:p>
          <a:p>
            <a:pPr algn="ctr"/>
            <a:r>
              <a:rPr lang="en-US" altLang="ko-KR" sz="1100" dirty="0"/>
              <a:t>Forms</a:t>
            </a:r>
          </a:p>
          <a:p>
            <a:pPr algn="ctr"/>
            <a:r>
              <a:rPr lang="en-US" altLang="ko-KR" sz="1100" dirty="0"/>
              <a:t>Grid</a:t>
            </a:r>
          </a:p>
          <a:p>
            <a:pPr algn="ctr"/>
            <a:r>
              <a:rPr lang="en-US" altLang="ko-KR" sz="1100" dirty="0"/>
              <a:t>Container</a:t>
            </a:r>
          </a:p>
          <a:p>
            <a:pPr algn="ctr"/>
            <a:r>
              <a:rPr lang="en-US" altLang="ko-KR" sz="1100" dirty="0"/>
              <a:t>Navigation</a:t>
            </a:r>
          </a:p>
          <a:p>
            <a:pPr algn="ctr"/>
            <a:r>
              <a:rPr lang="en-US" altLang="ko-KR" sz="1100" dirty="0"/>
              <a:t>Chart</a:t>
            </a:r>
          </a:p>
          <a:p>
            <a:pPr algn="ctr"/>
            <a:r>
              <a:rPr lang="en-US" altLang="ko-KR" sz="1100" dirty="0"/>
              <a:t>Frame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E6CF8B0-B538-B16B-F0EB-F1F49287D1E5}"/>
              </a:ext>
            </a:extLst>
          </p:cNvPr>
          <p:cNvSpPr/>
          <p:nvPr/>
        </p:nvSpPr>
        <p:spPr>
          <a:xfrm>
            <a:off x="6636459" y="2747194"/>
            <a:ext cx="2281118" cy="485959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</a:t>
            </a:r>
            <a:r>
              <a:rPr lang="ko-KR" altLang="en-US" sz="1100" dirty="0" err="1"/>
              <a:t>대금청구</a:t>
            </a:r>
            <a:r>
              <a:rPr lang="en-US" altLang="ko-KR" sz="1100" dirty="0"/>
              <a:t>Controller&gt;&gt;</a:t>
            </a:r>
          </a:p>
          <a:p>
            <a:pPr algn="ctr"/>
            <a:r>
              <a:rPr lang="en-US" altLang="ko-KR" sz="1100" dirty="0" err="1" smtClean="0"/>
              <a:t>PymtClmController</a:t>
            </a:r>
            <a:endParaRPr lang="en-US" altLang="ko-KR" sz="1100" dirty="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DD2481F-89D8-25C0-6E6F-7535C857EB4B}"/>
              </a:ext>
            </a:extLst>
          </p:cNvPr>
          <p:cNvCxnSpPr>
            <a:stCxn id="6" idx="3"/>
            <a:endCxn id="9" idx="1"/>
          </p:cNvCxnSpPr>
          <p:nvPr/>
        </p:nvCxnSpPr>
        <p:spPr>
          <a:xfrm>
            <a:off x="2992582" y="1830843"/>
            <a:ext cx="967509" cy="11593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AF6B56CB-1ACF-E509-9762-CFE025648775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2992582" y="2824241"/>
            <a:ext cx="967509" cy="165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18" idx="3"/>
            <a:endCxn id="9" idx="1"/>
          </p:cNvCxnSpPr>
          <p:nvPr/>
        </p:nvCxnSpPr>
        <p:spPr>
          <a:xfrm flipV="1">
            <a:off x="2992582" y="2990174"/>
            <a:ext cx="967509" cy="2968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A8B10782-0A07-A41D-DB15-978B72410A31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5687291" y="2990174"/>
            <a:ext cx="94916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 Box 73">
            <a:extLst>
              <a:ext uri="{FF2B5EF4-FFF2-40B4-BE49-F238E27FC236}">
                <a16:creationId xmlns:a16="http://schemas.microsoft.com/office/drawing/2014/main" id="{76C9ABC8-A4D3-5907-4020-49C93E468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694" y="1136459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0" idx="3"/>
            <a:endCxn id="9" idx="1"/>
          </p:cNvCxnSpPr>
          <p:nvPr/>
        </p:nvCxnSpPr>
        <p:spPr>
          <a:xfrm flipV="1">
            <a:off x="2992582" y="2990174"/>
            <a:ext cx="967509" cy="7484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2" idx="3"/>
            <a:endCxn id="9" idx="1"/>
          </p:cNvCxnSpPr>
          <p:nvPr/>
        </p:nvCxnSpPr>
        <p:spPr>
          <a:xfrm flipV="1">
            <a:off x="2992582" y="2990174"/>
            <a:ext cx="967509" cy="11999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7" idx="3"/>
            <a:endCxn id="9" idx="1"/>
          </p:cNvCxnSpPr>
          <p:nvPr/>
        </p:nvCxnSpPr>
        <p:spPr>
          <a:xfrm flipV="1">
            <a:off x="2992582" y="2990174"/>
            <a:ext cx="967509" cy="16514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30" idx="3"/>
            <a:endCxn id="9" idx="1"/>
          </p:cNvCxnSpPr>
          <p:nvPr/>
        </p:nvCxnSpPr>
        <p:spPr>
          <a:xfrm flipV="1">
            <a:off x="2992582" y="2990174"/>
            <a:ext cx="967509" cy="21100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36975C9-B669-2E0F-A599-7B64FBAF2727}"/>
              </a:ext>
            </a:extLst>
          </p:cNvPr>
          <p:cNvSpPr/>
          <p:nvPr/>
        </p:nvSpPr>
        <p:spPr>
          <a:xfrm>
            <a:off x="749717" y="1026000"/>
            <a:ext cx="1946169" cy="1846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lang="en-US" altLang="ko-KR" sz="1200" dirty="0">
                <a:solidFill>
                  <a:schemeClr val="tx1"/>
                </a:solidFill>
              </a:rPr>
              <a:t>1.3.1 </a:t>
            </a:r>
            <a:r>
              <a:rPr lang="ko-KR" altLang="en-US" sz="1200" dirty="0" err="1" smtClean="0">
                <a:solidFill>
                  <a:schemeClr val="tx1"/>
                </a:solidFill>
              </a:rPr>
              <a:t>대금청구및사후</a:t>
            </a:r>
            <a:r>
              <a:rPr lang="ko-KR" altLang="en-US" sz="1200" dirty="0" smtClean="0">
                <a:solidFill>
                  <a:schemeClr val="tx1"/>
                </a:solidFill>
              </a:rPr>
              <a:t> </a:t>
            </a:r>
            <a:r>
              <a:rPr lang="en-US" altLang="ko-KR" sz="1200" dirty="0" smtClean="0">
                <a:solidFill>
                  <a:schemeClr val="tx1"/>
                </a:solidFill>
              </a:rPr>
              <a:t>(2/4)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67" idx="3"/>
            <a:endCxn id="9" idx="1"/>
          </p:cNvCxnSpPr>
          <p:nvPr/>
        </p:nvCxnSpPr>
        <p:spPr>
          <a:xfrm flipV="1">
            <a:off x="2992582" y="2990174"/>
            <a:ext cx="967509" cy="25539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9" idx="3"/>
            <a:endCxn id="9" idx="1"/>
          </p:cNvCxnSpPr>
          <p:nvPr/>
        </p:nvCxnSpPr>
        <p:spPr>
          <a:xfrm flipV="1">
            <a:off x="2992582" y="2990174"/>
            <a:ext cx="967509" cy="29978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" name="그룹 3"/>
          <p:cNvGrpSpPr/>
          <p:nvPr/>
        </p:nvGrpSpPr>
        <p:grpSpPr>
          <a:xfrm>
            <a:off x="1265382" y="1644140"/>
            <a:ext cx="1727200" cy="4547654"/>
            <a:chOff x="1265382" y="1644140"/>
            <a:chExt cx="1727200" cy="416577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3FD7B626-4B5C-AE29-EFB9-628750B32B78}"/>
                </a:ext>
              </a:extLst>
            </p:cNvPr>
            <p:cNvSpPr/>
            <p:nvPr/>
          </p:nvSpPr>
          <p:spPr>
            <a:xfrm>
              <a:off x="1265382" y="1644140"/>
              <a:ext cx="1727200" cy="373406"/>
            </a:xfrm>
            <a:prstGeom prst="rect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 fontScale="77500" lnSpcReduction="20000"/>
            </a:bodyPr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&lt;&lt;App Page&gt;&gt;</a:t>
              </a:r>
            </a:p>
            <a:p>
              <a:pPr algn="ctr"/>
              <a:r>
                <a:rPr lang="ko-KR" altLang="en-US" sz="1000" dirty="0" smtClean="0">
                  <a:solidFill>
                    <a:schemeClr val="tx1"/>
                  </a:solidFill>
                  <a:latin typeface="+mn-ea"/>
                </a:rPr>
                <a:t>대금청구상세</a:t>
              </a:r>
              <a:r>
                <a:rPr lang="en-US" altLang="ko-KR" sz="1000" dirty="0">
                  <a:solidFill>
                    <a:schemeClr val="tx1"/>
                  </a:solidFill>
                  <a:latin typeface="+mn-ea"/>
                </a:rPr>
                <a:t>(</a:t>
              </a:r>
              <a:r>
                <a:rPr lang="ko-KR" altLang="en-US" sz="1000" dirty="0" err="1">
                  <a:solidFill>
                    <a:schemeClr val="tx1"/>
                  </a:solidFill>
                  <a:latin typeface="+mn-ea"/>
                </a:rPr>
                <a:t>중앙조달</a:t>
              </a:r>
              <a:r>
                <a:rPr lang="en-US" altLang="ko-KR" sz="1000" dirty="0">
                  <a:solidFill>
                    <a:schemeClr val="tx1"/>
                  </a:solidFill>
                  <a:latin typeface="+mn-ea"/>
                </a:rPr>
                <a:t>)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1000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CenterPrcmPymtClmDtlPage</a:t>
              </a:r>
              <a:r>
                <a:rPr lang="en-US" altLang="ko-KR" sz="1000" dirty="0" err="1" smtClean="0">
                  <a:solidFill>
                    <a:schemeClr val="tx1"/>
                  </a:solidFill>
                </a:rPr>
                <a:t>.tsx</a:t>
              </a:r>
              <a:r>
                <a:rPr lang="en-US" altLang="ko-KR" sz="1000" b="1" baseline="30000" dirty="0" smtClean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en-US" altLang="ko-KR" sz="1000" b="1" baseline="30000" dirty="0">
                  <a:solidFill>
                    <a:schemeClr val="tx1"/>
                  </a:solidFill>
                  <a:latin typeface="+mn-ea"/>
                </a:rPr>
                <a:t>1)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04F2CFBC-290B-2E89-63C0-62C22747051D}"/>
                </a:ext>
              </a:extLst>
            </p:cNvPr>
            <p:cNvSpPr/>
            <p:nvPr/>
          </p:nvSpPr>
          <p:spPr>
            <a:xfrm>
              <a:off x="1265382" y="2090735"/>
              <a:ext cx="1727200" cy="373406"/>
            </a:xfrm>
            <a:prstGeom prst="rect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 fontScale="77500" lnSpcReduction="20000"/>
            </a:bodyPr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&lt;&lt;App Page&gt;&gt;</a:t>
              </a:r>
            </a:p>
            <a:p>
              <a:pPr algn="ctr"/>
              <a:r>
                <a:rPr lang="ko-KR" altLang="en-US" sz="1000" dirty="0" err="1" smtClean="0">
                  <a:solidFill>
                    <a:schemeClr val="tx1"/>
                  </a:solidFill>
                  <a:latin typeface="+mn-ea"/>
                </a:rPr>
                <a:t>계약정보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1000" dirty="0" err="1" smtClean="0">
                  <a:solidFill>
                    <a:schemeClr val="tx1"/>
                  </a:solidFill>
                  <a:latin typeface="맑은 고딕" panose="020B0503020000020004" pitchFamily="50" charset="-127"/>
                </a:rPr>
                <a:t>CenterPrcmPymtClmDtl_Ctrt.</a:t>
              </a:r>
              <a:r>
                <a:rPr lang="en-US" altLang="ko-KR" sz="1000" dirty="0" err="1" smtClean="0">
                  <a:solidFill>
                    <a:schemeClr val="tx1"/>
                  </a:solidFill>
                </a:rPr>
                <a:t>tsx</a:t>
              </a:r>
              <a:r>
                <a:rPr lang="en-US" altLang="ko-KR" sz="1000" b="1" baseline="30000" dirty="0" smtClean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en-US" altLang="ko-KR" sz="1000" b="1" baseline="30000" dirty="0">
                  <a:solidFill>
                    <a:schemeClr val="tx1"/>
                  </a:solidFill>
                  <a:latin typeface="+mn-ea"/>
                </a:rPr>
                <a:t>1)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6CB017-8967-4DC4-0EAD-ADB3B9EAB841}"/>
                </a:ext>
              </a:extLst>
            </p:cNvPr>
            <p:cNvSpPr/>
            <p:nvPr/>
          </p:nvSpPr>
          <p:spPr>
            <a:xfrm>
              <a:off x="1265382" y="2538442"/>
              <a:ext cx="1727200" cy="373406"/>
            </a:xfrm>
            <a:prstGeom prst="rect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 fontScale="62500" lnSpcReduction="200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ko-KR" sz="1000" dirty="0">
                  <a:solidFill>
                    <a:schemeClr val="tx1"/>
                  </a:solidFill>
                </a:rPr>
                <a:t>&lt;&lt;App Page&gt;&gt;</a:t>
              </a:r>
            </a:p>
            <a:p>
              <a:pPr algn="ctr">
                <a:lnSpc>
                  <a:spcPct val="120000"/>
                </a:lnSpc>
              </a:pPr>
              <a:r>
                <a:rPr lang="ko-KR" altLang="en-US" sz="1000" dirty="0" err="1" smtClean="0">
                  <a:solidFill>
                    <a:schemeClr val="tx1"/>
                  </a:solidFill>
                  <a:latin typeface="+mn-ea"/>
                </a:rPr>
                <a:t>공급자정보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>
                <a:lnSpc>
                  <a:spcPct val="120000"/>
                </a:lnSpc>
              </a:pPr>
              <a:r>
                <a:rPr lang="en-US" altLang="ko-KR" sz="1000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CenterPrcmPymtClmDtl_Splr</a:t>
              </a:r>
              <a:r>
                <a:rPr lang="en-US" altLang="ko-KR" sz="1000" dirty="0" err="1" smtClean="0">
                  <a:solidFill>
                    <a:schemeClr val="tx1"/>
                  </a:solidFill>
                </a:rPr>
                <a:t>.tsx</a:t>
              </a:r>
              <a:r>
                <a:rPr lang="en-US" altLang="ko-KR" sz="1000" b="1" baseline="30000" dirty="0" smtClean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en-US" altLang="ko-KR" sz="1000" b="1" baseline="30000" dirty="0">
                  <a:solidFill>
                    <a:schemeClr val="tx1"/>
                  </a:solidFill>
                  <a:latin typeface="+mn-ea"/>
                </a:rPr>
                <a:t>1)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326CB017-8967-4DC4-0EAD-ADB3B9EAB841}"/>
                </a:ext>
              </a:extLst>
            </p:cNvPr>
            <p:cNvSpPr/>
            <p:nvPr/>
          </p:nvSpPr>
          <p:spPr>
            <a:xfrm>
              <a:off x="1265382" y="2962386"/>
              <a:ext cx="1727200" cy="373406"/>
            </a:xfrm>
            <a:prstGeom prst="rect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 fontScale="62500" lnSpcReduction="200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ko-KR" sz="1000" dirty="0">
                  <a:solidFill>
                    <a:schemeClr val="tx1"/>
                  </a:solidFill>
                </a:rPr>
                <a:t>&lt;&lt;App Page&gt;&gt;</a:t>
              </a:r>
            </a:p>
            <a:p>
              <a:pPr algn="ctr">
                <a:lnSpc>
                  <a:spcPct val="120000"/>
                </a:lnSpc>
              </a:pPr>
              <a:r>
                <a:rPr lang="ko-KR" altLang="en-US" sz="1000" dirty="0" smtClean="0">
                  <a:solidFill>
                    <a:schemeClr val="tx1"/>
                  </a:solidFill>
                  <a:latin typeface="+mn-ea"/>
                </a:rPr>
                <a:t>대금신청금액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>
                <a:lnSpc>
                  <a:spcPct val="120000"/>
                </a:lnSpc>
              </a:pPr>
              <a:r>
                <a:rPr lang="en-US" altLang="ko-KR" sz="1000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CenterPrcmPymtClmDtl_Pymt</a:t>
              </a:r>
              <a:r>
                <a:rPr lang="en-US" altLang="ko-KR" sz="1000" dirty="0" err="1" smtClean="0">
                  <a:solidFill>
                    <a:schemeClr val="tx1"/>
                  </a:solidFill>
                </a:rPr>
                <a:t>.tsx</a:t>
              </a:r>
              <a:r>
                <a:rPr lang="en-US" altLang="ko-KR" sz="1000" b="1" baseline="30000" dirty="0" smtClean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en-US" altLang="ko-KR" sz="1000" b="1" baseline="30000" dirty="0">
                  <a:solidFill>
                    <a:schemeClr val="tx1"/>
                  </a:solidFill>
                  <a:latin typeface="+mn-ea"/>
                </a:rPr>
                <a:t>1)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326CB017-8967-4DC4-0EAD-ADB3B9EAB841}"/>
                </a:ext>
              </a:extLst>
            </p:cNvPr>
            <p:cNvSpPr/>
            <p:nvPr/>
          </p:nvSpPr>
          <p:spPr>
            <a:xfrm>
              <a:off x="1265382" y="3376001"/>
              <a:ext cx="1727200" cy="373406"/>
            </a:xfrm>
            <a:prstGeom prst="rect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 fontScale="62500" lnSpcReduction="200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ko-KR" sz="1000" dirty="0">
                  <a:solidFill>
                    <a:schemeClr val="tx1"/>
                  </a:solidFill>
                </a:rPr>
                <a:t>&lt;&lt;App Page&gt;&gt;</a:t>
              </a:r>
            </a:p>
            <a:p>
              <a:pPr algn="ctr">
                <a:lnSpc>
                  <a:spcPct val="120000"/>
                </a:lnSpc>
              </a:pPr>
              <a:r>
                <a:rPr lang="ko-KR" altLang="en-US" sz="1000" dirty="0" smtClean="0">
                  <a:solidFill>
                    <a:schemeClr val="tx1"/>
                  </a:solidFill>
                  <a:latin typeface="+mn-ea"/>
                </a:rPr>
                <a:t>세금계산서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>
                <a:lnSpc>
                  <a:spcPct val="120000"/>
                </a:lnSpc>
              </a:pPr>
              <a:r>
                <a:rPr lang="en-US" altLang="ko-KR" sz="1000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CenterPrcmPymtClmDtl_Txiv</a:t>
              </a:r>
              <a:r>
                <a:rPr lang="en-US" altLang="ko-KR" sz="1000" dirty="0" err="1" smtClean="0">
                  <a:solidFill>
                    <a:schemeClr val="tx1"/>
                  </a:solidFill>
                </a:rPr>
                <a:t>.tsx</a:t>
              </a:r>
              <a:r>
                <a:rPr lang="en-US" altLang="ko-KR" sz="1000" b="1" baseline="30000" dirty="0" smtClean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en-US" altLang="ko-KR" sz="1000" b="1" baseline="30000" dirty="0">
                  <a:solidFill>
                    <a:schemeClr val="tx1"/>
                  </a:solidFill>
                  <a:latin typeface="+mn-ea"/>
                </a:rPr>
                <a:t>1)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326CB017-8967-4DC4-0EAD-ADB3B9EAB841}"/>
                </a:ext>
              </a:extLst>
            </p:cNvPr>
            <p:cNvSpPr/>
            <p:nvPr/>
          </p:nvSpPr>
          <p:spPr>
            <a:xfrm>
              <a:off x="1265382" y="3789616"/>
              <a:ext cx="1727200" cy="373406"/>
            </a:xfrm>
            <a:prstGeom prst="rect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 fontScale="62500" lnSpcReduction="200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ko-KR" sz="1000" dirty="0">
                  <a:solidFill>
                    <a:schemeClr val="tx1"/>
                  </a:solidFill>
                </a:rPr>
                <a:t>&lt;&lt;App Page&gt;&gt;</a:t>
              </a:r>
            </a:p>
            <a:p>
              <a:pPr algn="ctr">
                <a:lnSpc>
                  <a:spcPct val="120000"/>
                </a:lnSpc>
              </a:pPr>
              <a:r>
                <a:rPr lang="ko-KR" altLang="en-US" sz="1000" dirty="0" smtClean="0">
                  <a:solidFill>
                    <a:schemeClr val="tx1"/>
                  </a:solidFill>
                  <a:latin typeface="+mn-ea"/>
                </a:rPr>
                <a:t>대금청구상세</a:t>
              </a:r>
              <a:r>
                <a:rPr lang="en-US" altLang="ko-KR" sz="1000" dirty="0">
                  <a:solidFill>
                    <a:schemeClr val="tx1"/>
                  </a:solidFill>
                  <a:latin typeface="+mn-ea"/>
                </a:rPr>
                <a:t>(</a:t>
              </a:r>
              <a:r>
                <a:rPr lang="ko-KR" altLang="en-US" sz="1000" dirty="0" err="1">
                  <a:solidFill>
                    <a:schemeClr val="tx1"/>
                  </a:solidFill>
                  <a:latin typeface="+mn-ea"/>
                </a:rPr>
                <a:t>부대조달</a:t>
              </a:r>
              <a:r>
                <a:rPr lang="en-US" altLang="ko-KR" sz="1000" dirty="0">
                  <a:solidFill>
                    <a:schemeClr val="tx1"/>
                  </a:solidFill>
                  <a:latin typeface="+mn-ea"/>
                </a:rPr>
                <a:t>)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>
                <a:lnSpc>
                  <a:spcPct val="120000"/>
                </a:lnSpc>
              </a:pPr>
              <a:r>
                <a:rPr lang="en-US" altLang="ko-KR" sz="1000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SbsdPrcmPymtClmDtlPage</a:t>
              </a:r>
              <a:r>
                <a:rPr lang="en-US" altLang="ko-KR" sz="1000" dirty="0" err="1" smtClean="0">
                  <a:solidFill>
                    <a:schemeClr val="tx1"/>
                  </a:solidFill>
                </a:rPr>
                <a:t>.tsx</a:t>
              </a:r>
              <a:r>
                <a:rPr lang="en-US" altLang="ko-KR" sz="1000" b="1" baseline="30000" dirty="0" smtClean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en-US" altLang="ko-KR" sz="1000" b="1" baseline="30000" dirty="0">
                  <a:solidFill>
                    <a:schemeClr val="tx1"/>
                  </a:solidFill>
                  <a:latin typeface="+mn-ea"/>
                </a:rPr>
                <a:t>1)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326CB017-8967-4DC4-0EAD-ADB3B9EAB841}"/>
                </a:ext>
              </a:extLst>
            </p:cNvPr>
            <p:cNvSpPr/>
            <p:nvPr/>
          </p:nvSpPr>
          <p:spPr>
            <a:xfrm>
              <a:off x="1265382" y="4203231"/>
              <a:ext cx="1727200" cy="373406"/>
            </a:xfrm>
            <a:prstGeom prst="rect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 fontScale="62500" lnSpcReduction="200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ko-KR" sz="1000" dirty="0">
                  <a:solidFill>
                    <a:schemeClr val="tx1"/>
                  </a:solidFill>
                </a:rPr>
                <a:t>&lt;&lt;App Page&gt;&gt;</a:t>
              </a:r>
            </a:p>
            <a:p>
              <a:pPr algn="ctr">
                <a:lnSpc>
                  <a:spcPct val="120000"/>
                </a:lnSpc>
              </a:pP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</a:rPr>
                <a:t>계약정보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>
                <a:lnSpc>
                  <a:spcPct val="120000"/>
                </a:lnSpc>
              </a:pPr>
              <a:r>
                <a:rPr lang="en-US" altLang="ko-KR" sz="1000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SbsdPrcmPymtClmDtl_Ctrt</a:t>
              </a:r>
              <a:r>
                <a:rPr lang="en-US" altLang="ko-KR" sz="1000" dirty="0" err="1" smtClean="0">
                  <a:solidFill>
                    <a:schemeClr val="tx1"/>
                  </a:solidFill>
                  <a:latin typeface="맑은 고딕" panose="020B0503020000020004" pitchFamily="50" charset="-127"/>
                </a:rPr>
                <a:t>.</a:t>
              </a:r>
              <a:r>
                <a:rPr lang="en-US" altLang="ko-KR" sz="1000" dirty="0" err="1" smtClean="0">
                  <a:solidFill>
                    <a:schemeClr val="tx1"/>
                  </a:solidFill>
                </a:rPr>
                <a:t>tsx</a:t>
              </a:r>
              <a:r>
                <a:rPr lang="en-US" altLang="ko-KR" sz="1000" b="1" baseline="30000" dirty="0" smtClean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en-US" altLang="ko-KR" sz="1000" b="1" baseline="30000" dirty="0">
                  <a:solidFill>
                    <a:schemeClr val="tx1"/>
                  </a:solidFill>
                  <a:latin typeface="+mn-ea"/>
                </a:rPr>
                <a:t>1)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326CB017-8967-4DC4-0EAD-ADB3B9EAB841}"/>
                </a:ext>
              </a:extLst>
            </p:cNvPr>
            <p:cNvSpPr/>
            <p:nvPr/>
          </p:nvSpPr>
          <p:spPr>
            <a:xfrm>
              <a:off x="1265382" y="4623261"/>
              <a:ext cx="1727200" cy="373406"/>
            </a:xfrm>
            <a:prstGeom prst="rect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 fontScale="62500" lnSpcReduction="200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ko-KR" sz="1000" dirty="0">
                  <a:solidFill>
                    <a:schemeClr val="tx1"/>
                  </a:solidFill>
                </a:rPr>
                <a:t>&lt;&lt;App Page&gt;&gt;</a:t>
              </a:r>
            </a:p>
            <a:p>
              <a:pPr algn="ctr">
                <a:lnSpc>
                  <a:spcPct val="120000"/>
                </a:lnSpc>
              </a:pP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</a:rPr>
                <a:t>대금신청업체정보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>
                <a:lnSpc>
                  <a:spcPct val="120000"/>
                </a:lnSpc>
              </a:pPr>
              <a:r>
                <a:rPr lang="en-US" altLang="ko-KR" sz="1000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SbsdPrcmPymtClmDtl_PymtBzenty</a:t>
              </a:r>
              <a:r>
                <a:rPr lang="en-US" altLang="ko-KR" sz="1000" dirty="0" err="1" smtClean="0">
                  <a:solidFill>
                    <a:schemeClr val="tx1"/>
                  </a:solidFill>
                </a:rPr>
                <a:t>.tsx</a:t>
              </a:r>
              <a:r>
                <a:rPr lang="en-US" altLang="ko-KR" sz="1000" b="1" baseline="30000" dirty="0" smtClean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en-US" altLang="ko-KR" sz="1000" b="1" baseline="30000" dirty="0">
                  <a:solidFill>
                    <a:schemeClr val="tx1"/>
                  </a:solidFill>
                  <a:latin typeface="+mn-ea"/>
                </a:rPr>
                <a:t>1)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326CB017-8967-4DC4-0EAD-ADB3B9EAB841}"/>
                </a:ext>
              </a:extLst>
            </p:cNvPr>
            <p:cNvSpPr/>
            <p:nvPr/>
          </p:nvSpPr>
          <p:spPr>
            <a:xfrm>
              <a:off x="1265382" y="5029886"/>
              <a:ext cx="1727200" cy="373406"/>
            </a:xfrm>
            <a:prstGeom prst="rect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 fontScale="62500" lnSpcReduction="200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ko-KR" sz="1000" dirty="0">
                  <a:solidFill>
                    <a:schemeClr val="tx1"/>
                  </a:solidFill>
                </a:rPr>
                <a:t>&lt;&lt;App Page&gt;&gt;</a:t>
              </a:r>
            </a:p>
            <a:p>
              <a:pPr algn="ctr">
                <a:lnSpc>
                  <a:spcPct val="120000"/>
                </a:lnSpc>
              </a:pP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</a:rPr>
                <a:t>대금신청금액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>
                <a:lnSpc>
                  <a:spcPct val="120000"/>
                </a:lnSpc>
              </a:pPr>
              <a:r>
                <a:rPr lang="en-US" altLang="ko-KR" sz="1000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SbsdPrcmPymtClmDtl_PymtAply</a:t>
              </a:r>
              <a:r>
                <a:rPr lang="en-US" altLang="ko-KR" sz="1000" dirty="0" err="1" smtClean="0">
                  <a:solidFill>
                    <a:schemeClr val="tx1"/>
                  </a:solidFill>
                </a:rPr>
                <a:t>.tsx</a:t>
              </a:r>
              <a:r>
                <a:rPr lang="en-US" altLang="ko-KR" sz="1000" b="1" baseline="30000" dirty="0" smtClean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en-US" altLang="ko-KR" sz="1000" b="1" baseline="30000" dirty="0">
                  <a:solidFill>
                    <a:schemeClr val="tx1"/>
                  </a:solidFill>
                  <a:latin typeface="+mn-ea"/>
                </a:rPr>
                <a:t>1)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326CB017-8967-4DC4-0EAD-ADB3B9EAB841}"/>
                </a:ext>
              </a:extLst>
            </p:cNvPr>
            <p:cNvSpPr/>
            <p:nvPr/>
          </p:nvSpPr>
          <p:spPr>
            <a:xfrm>
              <a:off x="1265382" y="5436511"/>
              <a:ext cx="1727200" cy="373406"/>
            </a:xfrm>
            <a:prstGeom prst="rect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 fontScale="62500" lnSpcReduction="200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ko-KR" sz="1000" dirty="0">
                  <a:solidFill>
                    <a:schemeClr val="tx1"/>
                  </a:solidFill>
                </a:rPr>
                <a:t>&lt;&lt;App Page&gt;&gt;</a:t>
              </a:r>
            </a:p>
            <a:p>
              <a:pPr algn="ctr">
                <a:lnSpc>
                  <a:spcPct val="120000"/>
                </a:lnSpc>
              </a:pP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</a:rPr>
                <a:t>첨부파일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>
                <a:lnSpc>
                  <a:spcPct val="120000"/>
                </a:lnSpc>
              </a:pPr>
              <a:r>
                <a:rPr lang="en-US" altLang="ko-KR" sz="1000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SbsdPrcmPymtClmDtl_Atch</a:t>
              </a:r>
              <a:r>
                <a:rPr lang="en-US" altLang="ko-KR" sz="1000" dirty="0" err="1" smtClean="0">
                  <a:solidFill>
                    <a:schemeClr val="tx1"/>
                  </a:solidFill>
                </a:rPr>
                <a:t>.tsx</a:t>
              </a:r>
              <a:r>
                <a:rPr lang="en-US" altLang="ko-KR" sz="1000" b="1" baseline="30000" dirty="0" smtClean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en-US" altLang="ko-KR" sz="1000" b="1" baseline="30000" dirty="0">
                  <a:solidFill>
                    <a:schemeClr val="tx1"/>
                  </a:solidFill>
                  <a:latin typeface="+mn-ea"/>
                </a:rPr>
                <a:t>1)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8DD2481F-89D8-25C0-6E6F-7535C857EB4B}"/>
              </a:ext>
            </a:extLst>
          </p:cNvPr>
          <p:cNvCxnSpPr>
            <a:stCxn id="7" idx="3"/>
            <a:endCxn id="9" idx="1"/>
          </p:cNvCxnSpPr>
          <p:nvPr/>
        </p:nvCxnSpPr>
        <p:spPr>
          <a:xfrm>
            <a:off x="2992582" y="2335492"/>
            <a:ext cx="967509" cy="6546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7822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B3001FFA-599C-959F-11FF-54498DB5D01F}"/>
              </a:ext>
            </a:extLst>
          </p:cNvPr>
          <p:cNvSpPr/>
          <p:nvPr/>
        </p:nvSpPr>
        <p:spPr>
          <a:xfrm>
            <a:off x="6266873" y="1283855"/>
            <a:ext cx="27432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서버 영역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DDF51E2-AA54-3898-F986-0D5FDFD8B700}"/>
              </a:ext>
            </a:extLst>
          </p:cNvPr>
          <p:cNvSpPr/>
          <p:nvPr/>
        </p:nvSpPr>
        <p:spPr>
          <a:xfrm>
            <a:off x="895927" y="1283855"/>
            <a:ext cx="51816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화면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1.3 </a:t>
            </a:r>
            <a:r>
              <a:rPr lang="ko-KR" altLang="en-US" dirty="0"/>
              <a:t>앱 구성 다이어그램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8EEC1B9-CC65-F7BE-5073-784BEE06A8EF}"/>
              </a:ext>
            </a:extLst>
          </p:cNvPr>
          <p:cNvSpPr/>
          <p:nvPr/>
        </p:nvSpPr>
        <p:spPr>
          <a:xfrm>
            <a:off x="3960091" y="2170157"/>
            <a:ext cx="1727200" cy="164003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&lt;&lt;React Object&gt;&gt;</a:t>
            </a:r>
          </a:p>
          <a:p>
            <a:pPr algn="ctr"/>
            <a:endParaRPr lang="en-US" altLang="ko-KR" sz="1100" dirty="0"/>
          </a:p>
          <a:p>
            <a:pPr algn="ctr"/>
            <a:r>
              <a:rPr lang="en-US" altLang="ko-KR" sz="1100" dirty="0"/>
              <a:t>Forms</a:t>
            </a:r>
          </a:p>
          <a:p>
            <a:pPr algn="ctr"/>
            <a:r>
              <a:rPr lang="en-US" altLang="ko-KR" sz="1100" dirty="0"/>
              <a:t>Grid</a:t>
            </a:r>
          </a:p>
          <a:p>
            <a:pPr algn="ctr"/>
            <a:r>
              <a:rPr lang="en-US" altLang="ko-KR" sz="1100" dirty="0"/>
              <a:t>Container</a:t>
            </a:r>
          </a:p>
          <a:p>
            <a:pPr algn="ctr"/>
            <a:r>
              <a:rPr lang="en-US" altLang="ko-KR" sz="1100" dirty="0"/>
              <a:t>Navigation</a:t>
            </a:r>
          </a:p>
          <a:p>
            <a:pPr algn="ctr"/>
            <a:r>
              <a:rPr lang="en-US" altLang="ko-KR" sz="1100" dirty="0"/>
              <a:t>Chart</a:t>
            </a:r>
          </a:p>
          <a:p>
            <a:pPr algn="ctr"/>
            <a:r>
              <a:rPr lang="en-US" altLang="ko-KR" sz="1100" dirty="0"/>
              <a:t>Frame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E6CF8B0-B538-B16B-F0EB-F1F49287D1E5}"/>
              </a:ext>
            </a:extLst>
          </p:cNvPr>
          <p:cNvSpPr/>
          <p:nvPr/>
        </p:nvSpPr>
        <p:spPr>
          <a:xfrm>
            <a:off x="6636459" y="2747194"/>
            <a:ext cx="2281118" cy="485959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</a:t>
            </a:r>
            <a:r>
              <a:rPr lang="ko-KR" altLang="en-US" sz="1100" dirty="0" err="1"/>
              <a:t>대금청구</a:t>
            </a:r>
            <a:r>
              <a:rPr lang="en-US" altLang="ko-KR" sz="1100" dirty="0"/>
              <a:t>Controller&gt;&gt;</a:t>
            </a:r>
          </a:p>
          <a:p>
            <a:pPr algn="ctr"/>
            <a:r>
              <a:rPr lang="en-US" altLang="ko-KR" sz="1100" dirty="0" err="1" smtClean="0"/>
              <a:t>PymtClmController</a:t>
            </a:r>
            <a:endParaRPr lang="en-US" altLang="ko-KR" sz="1100" dirty="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DD2481F-89D8-25C0-6E6F-7535C857EB4B}"/>
              </a:ext>
            </a:extLst>
          </p:cNvPr>
          <p:cNvCxnSpPr>
            <a:stCxn id="6" idx="3"/>
            <a:endCxn id="9" idx="1"/>
          </p:cNvCxnSpPr>
          <p:nvPr/>
        </p:nvCxnSpPr>
        <p:spPr>
          <a:xfrm>
            <a:off x="2992582" y="1830843"/>
            <a:ext cx="967509" cy="11593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AF6B56CB-1ACF-E509-9762-CFE025648775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2992582" y="2824241"/>
            <a:ext cx="967509" cy="165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18" idx="3"/>
            <a:endCxn id="9" idx="1"/>
          </p:cNvCxnSpPr>
          <p:nvPr/>
        </p:nvCxnSpPr>
        <p:spPr>
          <a:xfrm flipV="1">
            <a:off x="2992582" y="2990174"/>
            <a:ext cx="967509" cy="2968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A8B10782-0A07-A41D-DB15-978B72410A31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5687291" y="2990174"/>
            <a:ext cx="94916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 Box 73">
            <a:extLst>
              <a:ext uri="{FF2B5EF4-FFF2-40B4-BE49-F238E27FC236}">
                <a16:creationId xmlns:a16="http://schemas.microsoft.com/office/drawing/2014/main" id="{76C9ABC8-A4D3-5907-4020-49C93E468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694" y="1136459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0" idx="3"/>
            <a:endCxn id="9" idx="1"/>
          </p:cNvCxnSpPr>
          <p:nvPr/>
        </p:nvCxnSpPr>
        <p:spPr>
          <a:xfrm flipV="1">
            <a:off x="2992582" y="2990174"/>
            <a:ext cx="967509" cy="7484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2" idx="3"/>
            <a:endCxn id="9" idx="1"/>
          </p:cNvCxnSpPr>
          <p:nvPr/>
        </p:nvCxnSpPr>
        <p:spPr>
          <a:xfrm flipV="1">
            <a:off x="2992582" y="2990174"/>
            <a:ext cx="967509" cy="11999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7" idx="3"/>
            <a:endCxn id="9" idx="1"/>
          </p:cNvCxnSpPr>
          <p:nvPr/>
        </p:nvCxnSpPr>
        <p:spPr>
          <a:xfrm flipV="1">
            <a:off x="2992582" y="2990174"/>
            <a:ext cx="967509" cy="16514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30" idx="3"/>
            <a:endCxn id="9" idx="1"/>
          </p:cNvCxnSpPr>
          <p:nvPr/>
        </p:nvCxnSpPr>
        <p:spPr>
          <a:xfrm flipV="1">
            <a:off x="2992582" y="2990174"/>
            <a:ext cx="967509" cy="21100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36975C9-B669-2E0F-A599-7B64FBAF2727}"/>
              </a:ext>
            </a:extLst>
          </p:cNvPr>
          <p:cNvSpPr/>
          <p:nvPr/>
        </p:nvSpPr>
        <p:spPr>
          <a:xfrm>
            <a:off x="749717" y="1026000"/>
            <a:ext cx="1946169" cy="1846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lang="en-US" altLang="ko-KR" sz="1200" dirty="0">
                <a:solidFill>
                  <a:schemeClr val="tx1"/>
                </a:solidFill>
              </a:rPr>
              <a:t>1.3.1 </a:t>
            </a:r>
            <a:r>
              <a:rPr lang="ko-KR" altLang="en-US" sz="1200" dirty="0" err="1" smtClean="0">
                <a:solidFill>
                  <a:schemeClr val="tx1"/>
                </a:solidFill>
              </a:rPr>
              <a:t>대금청구및사후</a:t>
            </a:r>
            <a:r>
              <a:rPr lang="ko-KR" altLang="en-US" sz="1200" dirty="0" smtClean="0">
                <a:solidFill>
                  <a:schemeClr val="tx1"/>
                </a:solidFill>
              </a:rPr>
              <a:t> </a:t>
            </a:r>
            <a:r>
              <a:rPr lang="en-US" altLang="ko-KR" sz="1200" dirty="0" smtClean="0">
                <a:solidFill>
                  <a:schemeClr val="tx1"/>
                </a:solidFill>
              </a:rPr>
              <a:t>(3/4)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67" idx="3"/>
            <a:endCxn id="9" idx="1"/>
          </p:cNvCxnSpPr>
          <p:nvPr/>
        </p:nvCxnSpPr>
        <p:spPr>
          <a:xfrm flipV="1">
            <a:off x="2992582" y="2990174"/>
            <a:ext cx="967509" cy="25539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D7B626-4B5C-AE29-EFB9-628750B32B78}"/>
              </a:ext>
            </a:extLst>
          </p:cNvPr>
          <p:cNvSpPr/>
          <p:nvPr/>
        </p:nvSpPr>
        <p:spPr>
          <a:xfrm>
            <a:off x="1265382" y="1644140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smtClean="0">
                <a:solidFill>
                  <a:schemeClr val="tx1"/>
                </a:solidFill>
                <a:latin typeface="+mn-ea"/>
              </a:rPr>
              <a:t>대금청구상세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공사</a:t>
            </a:r>
            <a:r>
              <a:rPr lang="en-US" altLang="ko-KR" sz="1000" dirty="0" smtClean="0">
                <a:solidFill>
                  <a:schemeClr val="tx1"/>
                </a:solidFill>
                <a:latin typeface="+mn-ea"/>
              </a:rPr>
              <a:t>)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CstrnPymtClmDtlPage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4F2CFBC-290B-2E89-63C0-62C22747051D}"/>
              </a:ext>
            </a:extLst>
          </p:cNvPr>
          <p:cNvSpPr/>
          <p:nvPr/>
        </p:nvSpPr>
        <p:spPr>
          <a:xfrm>
            <a:off x="1265382" y="2131674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 smtClean="0">
                <a:solidFill>
                  <a:schemeClr val="tx1"/>
                </a:solidFill>
                <a:latin typeface="+mn-ea"/>
              </a:rPr>
              <a:t>계약정보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 smtClean="0">
                <a:solidFill>
                  <a:schemeClr val="tx1"/>
                </a:solidFill>
                <a:latin typeface="맑은 고딕" panose="020B0503020000020004" pitchFamily="50" charset="-127"/>
              </a:rPr>
              <a:t>CstrnPymtClmDtl_Ctrt.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2620423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62500" lnSpcReduction="20000"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10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대가지급업체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CstrnPymtClmDtl_GiveBzenty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3083230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62500" lnSpcReduction="20000"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10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첨부파일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CstrnPymtClmDtl_Atch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3534761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62500" lnSpcReduction="20000"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1000" dirty="0" smtClean="0">
                <a:solidFill>
                  <a:schemeClr val="tx1"/>
                </a:solidFill>
                <a:latin typeface="+mn-ea"/>
              </a:rPr>
              <a:t>대금청구상세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기성대가</a:t>
            </a:r>
            <a:r>
              <a:rPr lang="en-US" altLang="ko-KR" sz="1000" dirty="0" smtClean="0">
                <a:solidFill>
                  <a:schemeClr val="tx1"/>
                </a:solidFill>
                <a:latin typeface="+mn-ea"/>
              </a:rPr>
              <a:t>)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PxcndCstPymtClmDtlPage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3986292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62500" lnSpcReduction="20000"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1000" dirty="0" err="1" smtClean="0">
                <a:solidFill>
                  <a:srgbClr val="000000"/>
                </a:solidFill>
                <a:latin typeface="맑은 고딕" panose="020B0503020000020004" pitchFamily="50" charset="-127"/>
              </a:rPr>
              <a:t>계약정보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100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PxcndCstPymtClmDtl_Ctrt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4437823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62500" lnSpcReduction="20000"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10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기성대가신청금액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100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PxcndCstPymtClmDtl_PxcndPymt</a:t>
            </a:r>
            <a:r>
              <a:rPr lang="en-US" altLang="ko-KR" sz="1000" dirty="0" err="1" smtClean="0">
                <a:solidFill>
                  <a:schemeClr val="tx1"/>
                </a:solidFill>
                <a:latin typeface="맑은 고딕" panose="020B0503020000020004" pitchFamily="50" charset="-127"/>
              </a:rPr>
              <a:t>.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4896357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62500" lnSpcReduction="20000"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10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세금계산서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100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PxcndCstPymtClmDtl_Txiv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5340258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62500" lnSpcReduction="20000"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10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첨부파일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100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PxcndCstPymtClmDtl_Atch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8DD2481F-89D8-25C0-6E6F-7535C857EB4B}"/>
              </a:ext>
            </a:extLst>
          </p:cNvPr>
          <p:cNvCxnSpPr>
            <a:stCxn id="7" idx="3"/>
            <a:endCxn id="9" idx="1"/>
          </p:cNvCxnSpPr>
          <p:nvPr/>
        </p:nvCxnSpPr>
        <p:spPr>
          <a:xfrm>
            <a:off x="2992582" y="2335492"/>
            <a:ext cx="967509" cy="6546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5784159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62500" lnSpcReduction="20000"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진행상태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100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PrcmPymtClmSttsPage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31" idx="3"/>
            <a:endCxn id="9" idx="1"/>
          </p:cNvCxnSpPr>
          <p:nvPr/>
        </p:nvCxnSpPr>
        <p:spPr>
          <a:xfrm flipV="1">
            <a:off x="2992582" y="2990174"/>
            <a:ext cx="967509" cy="29978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35590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B3001FFA-599C-959F-11FF-54498DB5D01F}"/>
              </a:ext>
            </a:extLst>
          </p:cNvPr>
          <p:cNvSpPr/>
          <p:nvPr/>
        </p:nvSpPr>
        <p:spPr>
          <a:xfrm>
            <a:off x="6266873" y="1283855"/>
            <a:ext cx="27432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서버 영역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DDF51E2-AA54-3898-F986-0D5FDFD8B700}"/>
              </a:ext>
            </a:extLst>
          </p:cNvPr>
          <p:cNvSpPr/>
          <p:nvPr/>
        </p:nvSpPr>
        <p:spPr>
          <a:xfrm>
            <a:off x="895927" y="1283855"/>
            <a:ext cx="51816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화면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1.3 </a:t>
            </a:r>
            <a:r>
              <a:rPr lang="ko-KR" altLang="en-US" dirty="0"/>
              <a:t>앱 구성 다이어그램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8EEC1B9-CC65-F7BE-5073-784BEE06A8EF}"/>
              </a:ext>
            </a:extLst>
          </p:cNvPr>
          <p:cNvSpPr/>
          <p:nvPr/>
        </p:nvSpPr>
        <p:spPr>
          <a:xfrm>
            <a:off x="3960091" y="2170157"/>
            <a:ext cx="1727200" cy="164003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&lt;&lt;React Object&gt;&gt;</a:t>
            </a:r>
          </a:p>
          <a:p>
            <a:pPr algn="ctr"/>
            <a:endParaRPr lang="en-US" altLang="ko-KR" sz="1100" dirty="0"/>
          </a:p>
          <a:p>
            <a:pPr algn="ctr"/>
            <a:r>
              <a:rPr lang="en-US" altLang="ko-KR" sz="1100" dirty="0"/>
              <a:t>Forms</a:t>
            </a:r>
          </a:p>
          <a:p>
            <a:pPr algn="ctr"/>
            <a:r>
              <a:rPr lang="en-US" altLang="ko-KR" sz="1100" dirty="0"/>
              <a:t>Grid</a:t>
            </a:r>
          </a:p>
          <a:p>
            <a:pPr algn="ctr"/>
            <a:r>
              <a:rPr lang="en-US" altLang="ko-KR" sz="1100" dirty="0"/>
              <a:t>Container</a:t>
            </a:r>
          </a:p>
          <a:p>
            <a:pPr algn="ctr"/>
            <a:r>
              <a:rPr lang="en-US" altLang="ko-KR" sz="1100" dirty="0"/>
              <a:t>Navigation</a:t>
            </a:r>
          </a:p>
          <a:p>
            <a:pPr algn="ctr"/>
            <a:r>
              <a:rPr lang="en-US" altLang="ko-KR" sz="1100" dirty="0"/>
              <a:t>Chart</a:t>
            </a:r>
          </a:p>
          <a:p>
            <a:pPr algn="ctr"/>
            <a:r>
              <a:rPr lang="en-US" altLang="ko-KR" sz="1100" dirty="0"/>
              <a:t>Frame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E6CF8B0-B538-B16B-F0EB-F1F49287D1E5}"/>
              </a:ext>
            </a:extLst>
          </p:cNvPr>
          <p:cNvSpPr/>
          <p:nvPr/>
        </p:nvSpPr>
        <p:spPr>
          <a:xfrm>
            <a:off x="6636459" y="2747194"/>
            <a:ext cx="2281118" cy="485959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</a:t>
            </a:r>
            <a:r>
              <a:rPr lang="ko-KR" altLang="en-US" sz="1100" dirty="0" err="1"/>
              <a:t>대금청구</a:t>
            </a:r>
            <a:r>
              <a:rPr lang="en-US" altLang="ko-KR" sz="1100" dirty="0"/>
              <a:t>Controller&gt;&gt;</a:t>
            </a:r>
          </a:p>
          <a:p>
            <a:pPr algn="ctr"/>
            <a:r>
              <a:rPr lang="en-US" altLang="ko-KR" sz="1100" dirty="0" err="1" smtClean="0"/>
              <a:t>PymtClmController</a:t>
            </a:r>
            <a:endParaRPr lang="en-US" altLang="ko-KR" sz="1100" dirty="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DD2481F-89D8-25C0-6E6F-7535C857EB4B}"/>
              </a:ext>
            </a:extLst>
          </p:cNvPr>
          <p:cNvCxnSpPr>
            <a:stCxn id="6" idx="3"/>
            <a:endCxn id="9" idx="1"/>
          </p:cNvCxnSpPr>
          <p:nvPr/>
        </p:nvCxnSpPr>
        <p:spPr>
          <a:xfrm>
            <a:off x="2992582" y="1830843"/>
            <a:ext cx="967509" cy="11593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AF6B56CB-1ACF-E509-9762-CFE025648775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2992582" y="2824241"/>
            <a:ext cx="967509" cy="165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18" idx="3"/>
            <a:endCxn id="9" idx="1"/>
          </p:cNvCxnSpPr>
          <p:nvPr/>
        </p:nvCxnSpPr>
        <p:spPr>
          <a:xfrm flipV="1">
            <a:off x="2992582" y="2990174"/>
            <a:ext cx="967509" cy="2968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A8B10782-0A07-A41D-DB15-978B72410A31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5687291" y="2990174"/>
            <a:ext cx="94916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 Box 73">
            <a:extLst>
              <a:ext uri="{FF2B5EF4-FFF2-40B4-BE49-F238E27FC236}">
                <a16:creationId xmlns:a16="http://schemas.microsoft.com/office/drawing/2014/main" id="{76C9ABC8-A4D3-5907-4020-49C93E468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694" y="1136459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0" idx="3"/>
            <a:endCxn id="9" idx="1"/>
          </p:cNvCxnSpPr>
          <p:nvPr/>
        </p:nvCxnSpPr>
        <p:spPr>
          <a:xfrm flipV="1">
            <a:off x="2992582" y="2990174"/>
            <a:ext cx="967509" cy="7484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2" idx="3"/>
            <a:endCxn id="9" idx="1"/>
          </p:cNvCxnSpPr>
          <p:nvPr/>
        </p:nvCxnSpPr>
        <p:spPr>
          <a:xfrm flipV="1">
            <a:off x="2992582" y="2990174"/>
            <a:ext cx="967509" cy="11999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7" idx="3"/>
            <a:endCxn id="9" idx="1"/>
          </p:cNvCxnSpPr>
          <p:nvPr/>
        </p:nvCxnSpPr>
        <p:spPr>
          <a:xfrm flipV="1">
            <a:off x="2992582" y="2990174"/>
            <a:ext cx="967509" cy="16514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36975C9-B669-2E0F-A599-7B64FBAF2727}"/>
              </a:ext>
            </a:extLst>
          </p:cNvPr>
          <p:cNvSpPr/>
          <p:nvPr/>
        </p:nvSpPr>
        <p:spPr>
          <a:xfrm>
            <a:off x="749717" y="1026000"/>
            <a:ext cx="1946169" cy="1846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lang="en-US" altLang="ko-KR" sz="1200" dirty="0">
                <a:solidFill>
                  <a:schemeClr val="tx1"/>
                </a:solidFill>
              </a:rPr>
              <a:t>1.3.1 </a:t>
            </a:r>
            <a:r>
              <a:rPr lang="ko-KR" altLang="en-US" sz="1200" dirty="0" err="1" smtClean="0">
                <a:solidFill>
                  <a:schemeClr val="tx1"/>
                </a:solidFill>
              </a:rPr>
              <a:t>대금청구및사후</a:t>
            </a:r>
            <a:r>
              <a:rPr lang="ko-KR" altLang="en-US" sz="1200" dirty="0" smtClean="0">
                <a:solidFill>
                  <a:schemeClr val="tx1"/>
                </a:solidFill>
              </a:rPr>
              <a:t> </a:t>
            </a:r>
            <a:r>
              <a:rPr lang="en-US" altLang="ko-KR" sz="1200" dirty="0" smtClean="0">
                <a:solidFill>
                  <a:schemeClr val="tx1"/>
                </a:solidFill>
              </a:rPr>
              <a:t>(4/4)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D7B626-4B5C-AE29-EFB9-628750B32B78}"/>
              </a:ext>
            </a:extLst>
          </p:cNvPr>
          <p:cNvSpPr/>
          <p:nvPr/>
        </p:nvSpPr>
        <p:spPr>
          <a:xfrm>
            <a:off x="1265382" y="1644140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사후정산청구상세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EpfcClclnClmDtlPage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4F2CFBC-290B-2E89-63C0-62C22747051D}"/>
              </a:ext>
            </a:extLst>
          </p:cNvPr>
          <p:cNvSpPr/>
          <p:nvPr/>
        </p:nvSpPr>
        <p:spPr>
          <a:xfrm>
            <a:off x="1265382" y="2131674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 smtClean="0">
                <a:solidFill>
                  <a:schemeClr val="tx1"/>
                </a:solidFill>
                <a:latin typeface="+mn-ea"/>
              </a:rPr>
              <a:t>계약정보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EpfcClclnClmDtl_CN.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2620423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62500" lnSpcReduction="20000"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신청금액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EpfcClclnClmDtl_AplyAmt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3083230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62500" lnSpcReduction="20000"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세금계산서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EpfcClclnClmDtl_Txiv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3534761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62500" lnSpcReduction="20000"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대금청구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안내문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PymtClmGdntc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3986292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62500" lnSpcReduction="20000"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대금청구진행현황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PymtClmPrgrsPrstPage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4437823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62500" lnSpcReduction="20000"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대금지불정보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반납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)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RtnPymtDfryInfoPage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8DD2481F-89D8-25C0-6E6F-7535C857EB4B}"/>
              </a:ext>
            </a:extLst>
          </p:cNvPr>
          <p:cNvCxnSpPr>
            <a:stCxn id="7" idx="3"/>
            <a:endCxn id="9" idx="1"/>
          </p:cNvCxnSpPr>
          <p:nvPr/>
        </p:nvCxnSpPr>
        <p:spPr>
          <a:xfrm>
            <a:off x="2992582" y="2335492"/>
            <a:ext cx="967509" cy="6546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02304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대금청구통합목록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대금청구통합목록</a:t>
            </a:r>
            <a:r>
              <a:rPr lang="ko-KR" altLang="en-US" dirty="0"/>
              <a:t>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>
                <a:latin typeface="+mn-ea"/>
              </a:rPr>
              <a:t>대금청구통합목록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197695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2890210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2890210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37" name="그룹 36"/>
          <p:cNvGrpSpPr/>
          <p:nvPr/>
        </p:nvGrpSpPr>
        <p:grpSpPr>
          <a:xfrm>
            <a:off x="3143548" y="2992033"/>
            <a:ext cx="94010" cy="47005"/>
            <a:chOff x="6812560" y="3297172"/>
            <a:chExt cx="94010" cy="47005"/>
          </a:xfrm>
        </p:grpSpPr>
        <p:cxnSp>
          <p:nvCxnSpPr>
            <p:cNvPr id="42" name="직선 연결선 4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직선 연결선 4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41494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781461" y="3374704"/>
            <a:ext cx="2473257" cy="1098561"/>
            <a:chOff x="781461" y="3087955"/>
            <a:chExt cx="2473257" cy="1098561"/>
          </a:xfrm>
        </p:grpSpPr>
        <p:sp>
          <p:nvSpPr>
            <p:cNvPr id="55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3272286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계약번호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2025000000 - 01</a:t>
              </a:r>
            </a:p>
            <a:p>
              <a:r>
                <a:rPr lang="ko-KR" altLang="en-US" sz="900" b="1" dirty="0">
                  <a:solidFill>
                    <a:srgbClr val="0070C0"/>
                  </a:solidFill>
                </a:rPr>
                <a:t>물품</a:t>
              </a:r>
              <a:r>
                <a:rPr lang="ko-KR" altLang="en-US" sz="900" b="1" dirty="0"/>
                <a:t>구매</a:t>
              </a:r>
            </a:p>
          </p:txBody>
        </p:sp>
        <p:sp>
          <p:nvSpPr>
            <p:cNvPr id="56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632518"/>
              <a:ext cx="307777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 smtClean="0">
                  <a:latin typeface="+mn-ea"/>
                </a:rPr>
                <a:t>업체명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smtClean="0">
                  <a:latin typeface="+mn-ea"/>
                </a:rPr>
                <a:t>계약금액</a:t>
              </a:r>
              <a:endParaRPr lang="en-US" altLang="ko-KR" sz="600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계약일자</a:t>
              </a:r>
              <a:endParaRPr lang="en-US" altLang="ko-KR" sz="600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발주기관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57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617129"/>
              <a:ext cx="472886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ko-KR" altLang="en-US" sz="600" dirty="0" err="1" smtClean="0">
                  <a:latin typeface="+mn-ea"/>
                </a:rPr>
                <a:t>조달업체</a:t>
              </a:r>
              <a:r>
                <a:rPr lang="ko-KR" altLang="en-US" sz="600" dirty="0" smtClean="0">
                  <a:latin typeface="+mn-ea"/>
                </a:rPr>
                <a:t> </a:t>
              </a:r>
              <a:r>
                <a:rPr lang="en-US" altLang="ko-KR" sz="600" dirty="0" smtClean="0">
                  <a:latin typeface="+mn-ea"/>
                </a:rPr>
                <a:t>A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11,616,000 </a:t>
              </a:r>
              <a:r>
                <a:rPr lang="ko-KR" altLang="en-US" sz="600" dirty="0" smtClean="0">
                  <a:latin typeface="+mn-ea"/>
                </a:rPr>
                <a:t>원</a:t>
              </a:r>
              <a:endParaRPr lang="en-US" altLang="ko-KR" sz="600" dirty="0" smtClean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2026-02-10</a:t>
              </a: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 smtClean="0">
                  <a:latin typeface="+mn-ea"/>
                </a:rPr>
                <a:t>제</a:t>
              </a:r>
              <a:r>
                <a:rPr lang="en-US" altLang="ko-KR" sz="600" dirty="0">
                  <a:latin typeface="+mn-ea"/>
                </a:rPr>
                <a:t>8385</a:t>
              </a:r>
              <a:r>
                <a:rPr lang="ko-KR" altLang="en-US" sz="600" dirty="0">
                  <a:latin typeface="+mn-ea"/>
                </a:rPr>
                <a:t>부대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67" name="모서리가 둥근 직사각형 66"/>
            <p:cNvSpPr/>
            <p:nvPr/>
          </p:nvSpPr>
          <p:spPr>
            <a:xfrm>
              <a:off x="781461" y="3087955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물품</a:t>
              </a:r>
            </a:p>
          </p:txBody>
        </p:sp>
        <p:sp>
          <p:nvSpPr>
            <p:cNvPr id="68" name="모서리가 둥근 직사각형 67"/>
            <p:cNvSpPr/>
            <p:nvPr/>
          </p:nvSpPr>
          <p:spPr>
            <a:xfrm>
              <a:off x="1075655" y="3087955"/>
              <a:ext cx="39641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smtClean="0"/>
                <a:t>일반경쟁</a:t>
              </a:r>
              <a:endParaRPr lang="ko-KR" altLang="en-US" sz="600" dirty="0"/>
            </a:p>
          </p:txBody>
        </p:sp>
        <p:sp>
          <p:nvSpPr>
            <p:cNvPr id="103" name="모서리가 둥근 직사각형 102"/>
            <p:cNvSpPr/>
            <p:nvPr/>
          </p:nvSpPr>
          <p:spPr>
            <a:xfrm>
              <a:off x="1519793" y="3087955"/>
              <a:ext cx="356376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smtClean="0"/>
                <a:t>총액제</a:t>
              </a:r>
              <a:endParaRPr lang="ko-KR" altLang="en-US" sz="600" dirty="0"/>
            </a:p>
          </p:txBody>
        </p:sp>
        <p:sp>
          <p:nvSpPr>
            <p:cNvPr id="104" name="모서리가 둥근 직사각형 103"/>
            <p:cNvSpPr/>
            <p:nvPr/>
          </p:nvSpPr>
          <p:spPr>
            <a:xfrm>
              <a:off x="1921830" y="3087955"/>
              <a:ext cx="356376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smtClean="0"/>
                <a:t>주계약</a:t>
              </a:r>
              <a:endParaRPr lang="ko-KR" altLang="en-US" sz="600" dirty="0"/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4998818"/>
            <a:ext cx="76863" cy="292489"/>
            <a:chOff x="3750067" y="4683795"/>
            <a:chExt cx="76863" cy="292489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594883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2527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9808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2894264"/>
            <a:ext cx="149041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185" name="타원 184"/>
          <p:cNvSpPr/>
          <p:nvPr/>
        </p:nvSpPr>
        <p:spPr>
          <a:xfrm>
            <a:off x="2741767" y="1580377"/>
            <a:ext cx="108000" cy="108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699587" y="1709526"/>
            <a:ext cx="192360" cy="769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500" dirty="0">
                <a:latin typeface="+mn-ea"/>
              </a:rPr>
              <a:t>안내문</a:t>
            </a:r>
          </a:p>
        </p:txBody>
      </p:sp>
      <p:grpSp>
        <p:nvGrpSpPr>
          <p:cNvPr id="114" name="그룹 113"/>
          <p:cNvGrpSpPr/>
          <p:nvPr/>
        </p:nvGrpSpPr>
        <p:grpSpPr>
          <a:xfrm>
            <a:off x="767702" y="2270279"/>
            <a:ext cx="2527420" cy="477995"/>
            <a:chOff x="786326" y="2270279"/>
            <a:chExt cx="2527420" cy="477995"/>
          </a:xfrm>
        </p:grpSpPr>
        <p:sp>
          <p:nvSpPr>
            <p:cNvPr id="117" name="모서리가 둥근 직사각형 116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" name="타원 120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grpSp>
          <p:nvGrpSpPr>
            <p:cNvPr id="124" name="그룹 123"/>
            <p:cNvGrpSpPr/>
            <p:nvPr/>
          </p:nvGrpSpPr>
          <p:grpSpPr>
            <a:xfrm>
              <a:off x="795624" y="2274581"/>
              <a:ext cx="1299303" cy="155984"/>
              <a:chOff x="808107" y="2288229"/>
              <a:chExt cx="1189739" cy="168318"/>
            </a:xfrm>
          </p:grpSpPr>
          <p:sp>
            <p:nvSpPr>
              <p:cNvPr id="182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808107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계약명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/>
                </a:endParaRPr>
              </a:p>
            </p:txBody>
          </p:sp>
          <p:sp>
            <p:nvSpPr>
              <p:cNvPr id="186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1434352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latin typeface="맑은 고딕"/>
                    <a:ea typeface="맑은 고딕" panose="020B0503020000020004" pitchFamily="50" charset="-127"/>
                  </a:rPr>
                  <a:t>계약번호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</p:grpSp>
        <p:sp>
          <p:nvSpPr>
            <p:cNvPr id="126" name="타원 125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133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2726021" y="2270279"/>
              <a:ext cx="582849" cy="15479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 err="1">
                  <a:latin typeface="맑은 고딕"/>
                  <a:ea typeface="맑은 고딕" panose="020B0503020000020004" pitchFamily="50" charset="-127"/>
                </a:rPr>
                <a:t>검색필터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140" name="타원 139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43" name="그룹 142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44" name="직선 연결선 143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8" name="직선 연결선 147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20" name="타원 11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5884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36" name="타원 13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90465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38" name="타원 13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58819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  <p:sp>
        <p:nvSpPr>
          <p:cNvPr id="139" name="타원 13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42020" y="144279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4-1</a:t>
            </a:r>
            <a:endParaRPr lang="ko-KR" altLang="en-US" sz="600" b="1" dirty="0"/>
          </a:p>
        </p:txBody>
      </p:sp>
      <p:sp>
        <p:nvSpPr>
          <p:cNvPr id="171" name="타원 17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06935" y="326122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4-1</a:t>
            </a:r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sz="650" dirty="0"/>
              <a:t>상단 </a:t>
            </a:r>
            <a:r>
              <a:rPr lang="ko-KR" altLang="en-US" sz="650" dirty="0" err="1"/>
              <a:t>업무도움은</a:t>
            </a:r>
            <a:r>
              <a:rPr lang="ko-KR" altLang="en-US" sz="650" dirty="0"/>
              <a:t> 기본 값으로 접힘 상태로 정보 제공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 smtClean="0"/>
              <a:t>- </a:t>
            </a:r>
            <a:r>
              <a:rPr lang="ko-KR" altLang="en-US" sz="650" dirty="0" smtClean="0"/>
              <a:t>페이지 </a:t>
            </a:r>
            <a:r>
              <a:rPr lang="ko-KR" altLang="en-US" sz="650" dirty="0" err="1" smtClean="0"/>
              <a:t>호출시</a:t>
            </a:r>
            <a:r>
              <a:rPr lang="ko-KR" altLang="en-US" sz="650" dirty="0" smtClean="0"/>
              <a:t> </a:t>
            </a:r>
            <a:r>
              <a:rPr lang="en-US" altLang="ko-KR" sz="650" dirty="0" smtClean="0"/>
              <a:t>: </a:t>
            </a:r>
            <a:r>
              <a:rPr lang="ko-KR" altLang="en-US" sz="650" dirty="0" smtClean="0"/>
              <a:t>해당 업체에서 진행중인 모든 </a:t>
            </a:r>
            <a:r>
              <a:rPr lang="ko-KR" altLang="en-US" sz="650" dirty="0" err="1" smtClean="0"/>
              <a:t>계약건이</a:t>
            </a:r>
            <a:r>
              <a:rPr lang="ko-KR" altLang="en-US" sz="650" dirty="0" smtClean="0"/>
              <a:t> 노출됨</a:t>
            </a:r>
            <a:r>
              <a:rPr lang="en-US" altLang="ko-KR" sz="650" dirty="0" smtClean="0"/>
              <a:t/>
            </a:r>
            <a:br>
              <a:rPr lang="en-US" altLang="ko-KR" sz="650" dirty="0" smtClean="0"/>
            </a:br>
            <a:r>
              <a:rPr lang="en-US" altLang="ko-KR" sz="650" dirty="0" smtClean="0"/>
              <a:t>- </a:t>
            </a:r>
            <a:r>
              <a:rPr lang="ko-KR" altLang="en-US" sz="650" dirty="0" smtClean="0"/>
              <a:t>계약일자기준 당일 포함 이전 </a:t>
            </a:r>
            <a:r>
              <a:rPr lang="en-US" altLang="ko-KR" sz="650" dirty="0" smtClean="0"/>
              <a:t>30</a:t>
            </a:r>
            <a:r>
              <a:rPr lang="ko-KR" altLang="en-US" sz="650" dirty="0" smtClean="0"/>
              <a:t>일 동안 신청된 계약 건</a:t>
            </a:r>
            <a:r>
              <a:rPr lang="en-US" altLang="ko-KR" sz="650" dirty="0" smtClean="0"/>
              <a:t/>
            </a:r>
            <a:br>
              <a:rPr lang="en-US" altLang="ko-KR" sz="650" dirty="0" smtClean="0"/>
            </a:br>
            <a:r>
              <a:rPr lang="en-US" altLang="ko-KR" sz="650" dirty="0" smtClean="0"/>
              <a:t>- </a:t>
            </a:r>
            <a:r>
              <a:rPr lang="ko-KR" altLang="en-US" sz="650" dirty="0"/>
              <a:t>기본값 </a:t>
            </a:r>
            <a:r>
              <a:rPr lang="en-US" altLang="ko-KR" sz="650" dirty="0"/>
              <a:t>: </a:t>
            </a:r>
            <a:r>
              <a:rPr lang="ko-KR" altLang="en-US" sz="650" dirty="0"/>
              <a:t>접힘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/>
              <a:t>사용자 </a:t>
            </a:r>
            <a:r>
              <a:rPr lang="ko-KR" altLang="en-US" sz="650" dirty="0" err="1"/>
              <a:t>클릭시</a:t>
            </a:r>
            <a:r>
              <a:rPr lang="ko-KR" altLang="en-US" sz="650" dirty="0"/>
              <a:t> 확장하여 정보 표시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 err="1"/>
              <a:t>업무도움</a:t>
            </a:r>
            <a:r>
              <a:rPr lang="en-US" altLang="ko-KR" sz="650" dirty="0"/>
              <a:t> &gt; </a:t>
            </a:r>
            <a:r>
              <a:rPr lang="ko-KR" altLang="en-US" sz="650" dirty="0"/>
              <a:t>내역이 있는 경우 표시</a:t>
            </a:r>
            <a:r>
              <a:rPr lang="en-US" altLang="ko-KR" sz="650" dirty="0"/>
              <a:t>, </a:t>
            </a:r>
            <a:r>
              <a:rPr lang="ko-KR" altLang="en-US" sz="650" dirty="0"/>
              <a:t>내역이 없으면 항목을 표시하지 않음</a:t>
            </a:r>
            <a:r>
              <a:rPr lang="en-US" altLang="ko-KR" sz="650" dirty="0" smtClean="0"/>
              <a:t>.</a:t>
            </a:r>
            <a:endParaRPr lang="en-US" altLang="ko-KR" sz="65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650" dirty="0" err="1"/>
              <a:t>검색필터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2-1] </a:t>
            </a:r>
            <a:r>
              <a:rPr lang="ko-KR" altLang="en-US" sz="650" dirty="0"/>
              <a:t>통합참조정보</a:t>
            </a:r>
            <a:r>
              <a:rPr lang="en-US" altLang="ko-KR" sz="650" dirty="0"/>
              <a:t>, </a:t>
            </a:r>
            <a:r>
              <a:rPr lang="ko-KR" altLang="en-US" sz="650" dirty="0" err="1"/>
              <a:t>예약번호중</a:t>
            </a:r>
            <a:r>
              <a:rPr lang="ko-KR" altLang="en-US" sz="650" dirty="0"/>
              <a:t> 선택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2-2] </a:t>
            </a:r>
            <a:r>
              <a:rPr lang="ko-KR" altLang="en-US" sz="650" dirty="0" err="1"/>
              <a:t>검색어</a:t>
            </a:r>
            <a:r>
              <a:rPr lang="ko-KR" altLang="en-US" sz="650" dirty="0"/>
              <a:t> 입력</a:t>
            </a:r>
            <a:endParaRPr lang="en-US" altLang="ko-KR" sz="65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650" dirty="0">
                <a:latin typeface="+mn-ea"/>
              </a:rPr>
              <a:t>검색 필터 호출</a:t>
            </a:r>
            <a:r>
              <a:rPr lang="en-US" altLang="ko-KR" sz="650" dirty="0">
                <a:latin typeface="+mn-ea"/>
              </a:rPr>
              <a:t/>
            </a:r>
            <a:br>
              <a:rPr lang="en-US" altLang="ko-KR" sz="650" dirty="0">
                <a:latin typeface="+mn-ea"/>
              </a:rPr>
            </a:br>
            <a:r>
              <a:rPr lang="ko-KR" altLang="en-US" sz="650" dirty="0">
                <a:latin typeface="+mn-ea"/>
              </a:rPr>
              <a:t> </a:t>
            </a:r>
            <a:r>
              <a:rPr lang="en-US" altLang="ko-KR" sz="650" dirty="0">
                <a:latin typeface="+mn-ea"/>
              </a:rPr>
              <a:t>– </a:t>
            </a:r>
            <a:r>
              <a:rPr lang="ko-KR" altLang="en-US" sz="650" dirty="0">
                <a:latin typeface="+mn-ea"/>
              </a:rPr>
              <a:t>계약 페이지 참고</a:t>
            </a:r>
            <a:endParaRPr lang="en-US" altLang="ko-KR" sz="65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650" dirty="0" smtClean="0"/>
              <a:t>표시 </a:t>
            </a:r>
            <a:r>
              <a:rPr lang="ko-KR" altLang="en-US" sz="650" dirty="0"/>
              <a:t>개수 영역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/>
              <a:t>총 개수 표시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/>
              <a:t>표시 개수 </a:t>
            </a:r>
            <a:r>
              <a:rPr lang="en-US" altLang="ko-KR" sz="650" dirty="0"/>
              <a:t>(</a:t>
            </a:r>
            <a:r>
              <a:rPr lang="ko-KR" altLang="en-US" sz="650" dirty="0"/>
              <a:t>선택한 건수 만큼 보여주고 </a:t>
            </a:r>
            <a:r>
              <a:rPr lang="ko-KR" altLang="en-US" sz="650" dirty="0" err="1"/>
              <a:t>더보기시</a:t>
            </a:r>
            <a:r>
              <a:rPr lang="ko-KR" altLang="en-US" sz="650" dirty="0"/>
              <a:t> 추가로 불러옴</a:t>
            </a:r>
            <a:r>
              <a:rPr lang="en-US" altLang="ko-KR" sz="650" dirty="0"/>
              <a:t>)</a:t>
            </a:r>
            <a:br>
              <a:rPr lang="en-US" altLang="ko-KR" sz="650" dirty="0"/>
            </a:br>
            <a:r>
              <a:rPr lang="ko-KR" altLang="en-US" sz="650" dirty="0"/>
              <a:t>목록 카드 표시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/>
              <a:t>카드 </a:t>
            </a:r>
            <a:r>
              <a:rPr lang="ko-KR" altLang="en-US" sz="650" dirty="0" err="1"/>
              <a:t>클릭시</a:t>
            </a:r>
            <a:r>
              <a:rPr lang="ko-KR" altLang="en-US" sz="650" dirty="0"/>
              <a:t> </a:t>
            </a:r>
            <a:r>
              <a:rPr lang="ko-KR" altLang="en-US" sz="650" dirty="0" err="1" smtClean="0"/>
              <a:t>바텀시트</a:t>
            </a:r>
            <a:r>
              <a:rPr lang="ko-KR" altLang="en-US" sz="650" dirty="0" smtClean="0"/>
              <a:t> 호출</a:t>
            </a:r>
            <a:r>
              <a:rPr lang="en-US" altLang="ko-KR" sz="650" dirty="0" smtClean="0"/>
              <a:t>(</a:t>
            </a:r>
            <a:r>
              <a:rPr lang="en-US" altLang="ko-KR" sz="650" dirty="0" smtClean="0">
                <a:latin typeface="+mn-ea"/>
              </a:rPr>
              <a:t>MUI-WM-01-P13)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4-1] </a:t>
            </a:r>
            <a:r>
              <a:rPr lang="ko-KR" altLang="en-US" sz="650" dirty="0" err="1"/>
              <a:t>표시레이블</a:t>
            </a:r>
            <a:r>
              <a:rPr lang="ko-KR" altLang="en-US" sz="650" dirty="0"/>
              <a:t> 영역 </a:t>
            </a:r>
            <a:r>
              <a:rPr lang="ko-KR" altLang="en-US" sz="650" dirty="0" smtClean="0"/>
              <a:t>항목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/>
              <a:t>레이블이 화면을 넘치는 경우 드래그하여 확인 가능 </a:t>
            </a:r>
            <a:r>
              <a:rPr lang="en-US" altLang="ko-KR" sz="650" dirty="0"/>
              <a:t>(</a:t>
            </a:r>
            <a:r>
              <a:rPr lang="ko-KR" altLang="en-US" sz="650" dirty="0" err="1"/>
              <a:t>스와이프기능</a:t>
            </a:r>
            <a:r>
              <a:rPr lang="ko-KR" altLang="en-US" sz="650" dirty="0"/>
              <a:t> 반영 필요</a:t>
            </a:r>
            <a:r>
              <a:rPr lang="en-US" altLang="ko-KR" sz="650" dirty="0"/>
              <a:t>)</a:t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 smtClean="0"/>
              <a:t>표시 레이블</a:t>
            </a:r>
            <a:r>
              <a:rPr lang="en-US" altLang="ko-KR" sz="650" dirty="0" smtClean="0"/>
              <a:t>(</a:t>
            </a:r>
            <a:r>
              <a:rPr lang="ko-KR" altLang="en-US" sz="650" dirty="0" err="1" smtClean="0"/>
              <a:t>뱃지</a:t>
            </a:r>
            <a:r>
              <a:rPr lang="en-US" altLang="ko-KR" sz="650" dirty="0" smtClean="0"/>
              <a:t>)</a:t>
            </a:r>
            <a:r>
              <a:rPr lang="ko-KR" altLang="en-US" sz="650" dirty="0" smtClean="0"/>
              <a:t> 참조</a:t>
            </a:r>
            <a:r>
              <a:rPr lang="en-US" altLang="ko-KR" sz="650" dirty="0" smtClean="0"/>
              <a:t/>
            </a:r>
            <a:br>
              <a:rPr lang="en-US" altLang="ko-KR" sz="650" dirty="0" smtClean="0"/>
            </a:br>
            <a:r>
              <a:rPr lang="en-US" altLang="ko-KR" sz="650" dirty="0" smtClean="0"/>
              <a:t>  &gt; </a:t>
            </a:r>
            <a:r>
              <a:rPr lang="ko-KR" altLang="en-US" sz="650" dirty="0" smtClean="0"/>
              <a:t>계약방법</a:t>
            </a:r>
            <a:r>
              <a:rPr lang="en-US" altLang="ko-KR" sz="650" dirty="0" smtClean="0"/>
              <a:t>/</a:t>
            </a:r>
            <a:r>
              <a:rPr lang="ko-KR" altLang="en-US" sz="650" dirty="0" err="1" smtClean="0"/>
              <a:t>낙찰방법</a:t>
            </a:r>
            <a:r>
              <a:rPr lang="ko-KR" altLang="en-US" sz="650" dirty="0" smtClean="0"/>
              <a:t> </a:t>
            </a:r>
            <a:r>
              <a:rPr lang="en-US" altLang="ko-KR" sz="650" dirty="0" err="1" smtClean="0"/>
              <a:t>asis</a:t>
            </a:r>
            <a:r>
              <a:rPr lang="en-US" altLang="ko-KR" sz="650" dirty="0" smtClean="0"/>
              <a:t> </a:t>
            </a:r>
            <a:r>
              <a:rPr lang="ko-KR" altLang="en-US" sz="650" dirty="0" smtClean="0"/>
              <a:t>및 </a:t>
            </a:r>
            <a:r>
              <a:rPr lang="en-US" altLang="ko-KR" sz="650" dirty="0" err="1" smtClean="0"/>
              <a:t>tobe</a:t>
            </a:r>
            <a:r>
              <a:rPr lang="en-US" altLang="ko-KR" sz="650" dirty="0" smtClean="0"/>
              <a:t> </a:t>
            </a:r>
            <a:r>
              <a:rPr lang="ko-KR" altLang="en-US" sz="650" dirty="0" smtClean="0"/>
              <a:t>정보 참조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 smtClean="0"/>
              <a:t>4-2] </a:t>
            </a:r>
            <a:r>
              <a:rPr lang="ko-KR" altLang="en-US" sz="650" dirty="0"/>
              <a:t>문서 정보 영역 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 err="1" smtClean="0"/>
              <a:t>계약번호</a:t>
            </a:r>
            <a:r>
              <a:rPr lang="en-US" altLang="ko-KR" sz="650" dirty="0" smtClean="0"/>
              <a:t>+</a:t>
            </a:r>
            <a:r>
              <a:rPr lang="ko-KR" altLang="en-US" sz="650" dirty="0" err="1" smtClean="0"/>
              <a:t>회차노출</a:t>
            </a:r>
            <a:r>
              <a:rPr lang="ko-KR" altLang="en-US" sz="650" dirty="0" smtClean="0"/>
              <a:t> 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 err="1" smtClean="0"/>
              <a:t>계약번호</a:t>
            </a:r>
            <a:r>
              <a:rPr lang="ko-KR" altLang="en-US" sz="650" dirty="0" smtClean="0"/>
              <a:t> </a:t>
            </a:r>
            <a:r>
              <a:rPr lang="ko-KR" altLang="en-US" sz="650" dirty="0" err="1"/>
              <a:t>노출시</a:t>
            </a:r>
            <a:r>
              <a:rPr lang="ko-KR" altLang="en-US" sz="650" dirty="0"/>
              <a:t> 해당 라인을 넘어가면 </a:t>
            </a:r>
            <a:r>
              <a:rPr lang="en-US" altLang="ko-KR" sz="650" dirty="0"/>
              <a:t>(…) </a:t>
            </a:r>
            <a:r>
              <a:rPr lang="ko-KR" altLang="en-US" sz="650" dirty="0" err="1"/>
              <a:t>말줄임</a:t>
            </a:r>
            <a:r>
              <a:rPr lang="ko-KR" altLang="en-US" sz="650" dirty="0"/>
              <a:t> 표시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 err="1"/>
              <a:t>계약번호</a:t>
            </a:r>
            <a:r>
              <a:rPr lang="en-US" altLang="ko-KR" sz="650" dirty="0"/>
              <a:t>:</a:t>
            </a:r>
            <a:r>
              <a:rPr lang="ko-KR" altLang="en-US" sz="650" dirty="0"/>
              <a:t> </a:t>
            </a:r>
            <a:r>
              <a:rPr lang="ko-KR" altLang="en-US" sz="650" dirty="0" err="1"/>
              <a:t>계약번호</a:t>
            </a:r>
            <a:r>
              <a:rPr lang="en-US" altLang="ko-KR" sz="650" dirty="0"/>
              <a:t>+</a:t>
            </a:r>
            <a:r>
              <a:rPr lang="ko-KR" altLang="en-US" sz="650" dirty="0"/>
              <a:t>계약번호차수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 smtClean="0"/>
              <a:t>4-3] </a:t>
            </a:r>
            <a:r>
              <a:rPr lang="ko-KR" altLang="en-US" sz="650" dirty="0"/>
              <a:t>문서 제목 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/>
              <a:t>제목은 </a:t>
            </a:r>
            <a:r>
              <a:rPr lang="en-US" altLang="ko-KR" sz="650" dirty="0"/>
              <a:t>2</a:t>
            </a:r>
            <a:r>
              <a:rPr lang="ko-KR" altLang="en-US" sz="650" dirty="0"/>
              <a:t>줄 까지 노출 이후</a:t>
            </a:r>
            <a:r>
              <a:rPr lang="en-US" altLang="ko-KR" sz="650" dirty="0"/>
              <a:t>(…) </a:t>
            </a:r>
            <a:r>
              <a:rPr lang="ko-KR" altLang="en-US" sz="650" dirty="0" err="1"/>
              <a:t>말줄임</a:t>
            </a:r>
            <a:r>
              <a:rPr lang="ko-KR" altLang="en-US" sz="650" dirty="0"/>
              <a:t> 표시</a:t>
            </a:r>
            <a:endParaRPr lang="en-US" altLang="ko-KR" sz="65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650" dirty="0" err="1"/>
              <a:t>더보기</a:t>
            </a:r>
            <a:r>
              <a:rPr lang="ko-KR" altLang="en-US" sz="650" dirty="0"/>
              <a:t> 기능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- 3</a:t>
            </a:r>
            <a:r>
              <a:rPr lang="ko-KR" altLang="en-US" sz="650" dirty="0" err="1"/>
              <a:t>번항목</a:t>
            </a:r>
            <a:r>
              <a:rPr lang="ko-KR" altLang="en-US" sz="650" dirty="0"/>
              <a:t> 표시 개수 영역에서 선택한 개수로 증가</a:t>
            </a:r>
            <a:r>
              <a:rPr lang="en-US" altLang="ko-KR" sz="650" dirty="0"/>
              <a:t>.</a:t>
            </a:r>
            <a:br>
              <a:rPr lang="en-US" altLang="ko-KR" sz="650" dirty="0"/>
            </a:br>
            <a:r>
              <a:rPr lang="ko-KR" altLang="en-US" sz="650" dirty="0"/>
              <a:t>예</a:t>
            </a:r>
            <a:r>
              <a:rPr lang="en-US" altLang="ko-KR" sz="650" dirty="0"/>
              <a:t>) 10</a:t>
            </a:r>
            <a:r>
              <a:rPr lang="ko-KR" altLang="en-US" sz="650" dirty="0"/>
              <a:t>개 노출 이후 </a:t>
            </a:r>
            <a:r>
              <a:rPr lang="ko-KR" altLang="en-US" sz="650" dirty="0" err="1"/>
              <a:t>더보기</a:t>
            </a:r>
            <a:r>
              <a:rPr lang="ko-KR" altLang="en-US" sz="650" dirty="0"/>
              <a:t> 버튼 클릭으로 </a:t>
            </a:r>
            <a:r>
              <a:rPr lang="en-US" altLang="ko-KR" sz="650" dirty="0"/>
              <a:t>10</a:t>
            </a:r>
            <a:r>
              <a:rPr lang="ko-KR" altLang="en-US" sz="650" dirty="0"/>
              <a:t>개씩 추가 </a:t>
            </a:r>
            <a:r>
              <a:rPr lang="ko-KR" altLang="en-US" sz="650" dirty="0" smtClean="0"/>
              <a:t>로드</a:t>
            </a:r>
            <a:endParaRPr lang="en-US" altLang="ko-KR" sz="65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650" dirty="0" smtClean="0"/>
              <a:t>대금청구관련 안내문을 호출한다</a:t>
            </a:r>
            <a:r>
              <a:rPr lang="en-US" altLang="ko-KR" sz="650" dirty="0" smtClean="0"/>
              <a:t>.</a:t>
            </a:r>
            <a:r>
              <a:rPr lang="en-US" altLang="ko-KR" sz="650" dirty="0">
                <a:latin typeface="+mn-ea"/>
              </a:rPr>
              <a:t> </a:t>
            </a:r>
            <a:r>
              <a:rPr lang="en-US" altLang="ko-KR" sz="650" dirty="0" smtClean="0">
                <a:latin typeface="+mn-ea"/>
              </a:rPr>
              <a:t>(MUI-WM-01-P09)</a:t>
            </a:r>
            <a:r>
              <a:rPr lang="en-US" altLang="ko-KR" sz="650" dirty="0" smtClean="0"/>
              <a:t/>
            </a:r>
            <a:br>
              <a:rPr lang="en-US" altLang="ko-KR" sz="650" dirty="0" smtClean="0"/>
            </a:br>
            <a:endParaRPr lang="en-US" altLang="ko-KR" sz="650" dirty="0"/>
          </a:p>
        </p:txBody>
      </p:sp>
      <p:sp>
        <p:nvSpPr>
          <p:cNvPr id="178" name="타원 17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52055" y="223388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79" name="타원 17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463636" y="223388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2-1</a:t>
            </a:r>
            <a:endParaRPr lang="ko-KR" altLang="en-US" sz="600" b="1" dirty="0"/>
          </a:p>
        </p:txBody>
      </p:sp>
      <p:sp>
        <p:nvSpPr>
          <p:cNvPr id="187" name="타원 18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2684573" y="222479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</a:p>
        </p:txBody>
      </p:sp>
      <p:sp>
        <p:nvSpPr>
          <p:cNvPr id="188" name="타원 18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06935" y="250441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2-2</a:t>
            </a:r>
            <a:endParaRPr lang="ko-KR" altLang="en-US" sz="600" b="1" dirty="0"/>
          </a:p>
        </p:txBody>
      </p:sp>
      <p:sp>
        <p:nvSpPr>
          <p:cNvPr id="8" name="직사각형 7"/>
          <p:cNvSpPr/>
          <p:nvPr/>
        </p:nvSpPr>
        <p:spPr>
          <a:xfrm>
            <a:off x="7098114" y="6054072"/>
            <a:ext cx="2305455" cy="214877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500" dirty="0" smtClean="0">
                <a:solidFill>
                  <a:schemeClr val="bg1"/>
                </a:solidFill>
              </a:rPr>
              <a:t>0701]</a:t>
            </a:r>
          </a:p>
          <a:p>
            <a:r>
              <a:rPr lang="ko-KR" altLang="en-US" sz="500" dirty="0" err="1" smtClean="0">
                <a:solidFill>
                  <a:schemeClr val="bg1"/>
                </a:solidFill>
              </a:rPr>
              <a:t>업체명</a:t>
            </a:r>
            <a:r>
              <a:rPr lang="en-US" altLang="ko-KR" sz="500" dirty="0" smtClean="0">
                <a:solidFill>
                  <a:schemeClr val="bg1"/>
                </a:solidFill>
              </a:rPr>
              <a:t>, </a:t>
            </a:r>
            <a:r>
              <a:rPr lang="ko-KR" altLang="en-US" sz="500" dirty="0" smtClean="0">
                <a:solidFill>
                  <a:schemeClr val="bg1"/>
                </a:solidFill>
              </a:rPr>
              <a:t>입찰방법</a:t>
            </a:r>
            <a:r>
              <a:rPr lang="en-US" altLang="ko-KR" sz="500" dirty="0" smtClean="0">
                <a:solidFill>
                  <a:schemeClr val="bg1"/>
                </a:solidFill>
              </a:rPr>
              <a:t>,</a:t>
            </a:r>
            <a:r>
              <a:rPr lang="ko-KR" altLang="en-US" sz="500" dirty="0" err="1" smtClean="0">
                <a:solidFill>
                  <a:schemeClr val="bg1"/>
                </a:solidFill>
              </a:rPr>
              <a:t>계약종류</a:t>
            </a:r>
            <a:r>
              <a:rPr lang="en-US" altLang="ko-KR" sz="500" dirty="0" smtClean="0">
                <a:solidFill>
                  <a:schemeClr val="bg1"/>
                </a:solidFill>
              </a:rPr>
              <a:t>,</a:t>
            </a:r>
            <a:r>
              <a:rPr lang="ko-KR" altLang="en-US" sz="500" dirty="0" err="1" smtClean="0">
                <a:solidFill>
                  <a:schemeClr val="bg1"/>
                </a:solidFill>
              </a:rPr>
              <a:t>계약일자</a:t>
            </a:r>
            <a:r>
              <a:rPr lang="en-US" altLang="ko-KR" sz="500" dirty="0">
                <a:solidFill>
                  <a:schemeClr val="bg1"/>
                </a:solidFill>
              </a:rPr>
              <a:t> </a:t>
            </a:r>
            <a:r>
              <a:rPr lang="ko-KR" altLang="en-US" sz="500" dirty="0" smtClean="0">
                <a:solidFill>
                  <a:schemeClr val="bg1"/>
                </a:solidFill>
              </a:rPr>
              <a:t>누락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134" name="타원 13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2650531" y="146183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6</a:t>
            </a:r>
            <a:endParaRPr lang="ko-KR" altLang="en-US" sz="900" b="1" dirty="0"/>
          </a:p>
        </p:txBody>
      </p:sp>
      <p:sp>
        <p:nvSpPr>
          <p:cNvPr id="135" name="타원 13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06935" y="350959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4-2</a:t>
            </a:r>
          </a:p>
        </p:txBody>
      </p:sp>
      <p:sp>
        <p:nvSpPr>
          <p:cNvPr id="137" name="타원 13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06935" y="374701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4-3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10036" y="1349367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표시 레이블</a:t>
            </a:r>
            <a:endParaRPr lang="ko-KR" altLang="en-US" sz="700" dirty="0">
              <a:latin typeface="+mn-ea"/>
            </a:endParaRPr>
          </a:p>
        </p:txBody>
      </p:sp>
      <p:graphicFrame>
        <p:nvGraphicFramePr>
          <p:cNvPr id="101" name="표 10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181529"/>
              </p:ext>
            </p:extLst>
          </p:nvPr>
        </p:nvGraphicFramePr>
        <p:xfrm>
          <a:off x="3801286" y="1616448"/>
          <a:ext cx="3069778" cy="2997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34889">
                  <a:extLst>
                    <a:ext uri="{9D8B030D-6E8A-4147-A177-3AD203B41FA5}">
                      <a16:colId xmlns:a16="http://schemas.microsoft.com/office/drawing/2014/main" val="3115782702"/>
                    </a:ext>
                  </a:extLst>
                </a:gridCol>
                <a:gridCol w="1534889">
                  <a:extLst>
                    <a:ext uri="{9D8B030D-6E8A-4147-A177-3AD203B41FA5}">
                      <a16:colId xmlns:a16="http://schemas.microsoft.com/office/drawing/2014/main" val="3935822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항목명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표시 값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709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>
                          <a:latin typeface="+mn-ea"/>
                        </a:rPr>
                        <a:t>업무구분</a:t>
                      </a:r>
                      <a:r>
                        <a:rPr lang="ko-KR" altLang="en-US" sz="700" dirty="0" smtClean="0"/>
                        <a:t> 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en-US" altLang="ko-KR" sz="7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taskSecd</a:t>
                      </a:r>
                      <a:r>
                        <a:rPr lang="en-US" altLang="ko-KR" sz="700" dirty="0" smtClean="0"/>
                        <a:t>)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물품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smtClean="0"/>
                        <a:t>용역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smtClean="0"/>
                        <a:t>공사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smtClean="0"/>
                        <a:t>국외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0468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계약방법 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700" dirty="0" err="1" smtClean="0">
                          <a:latin typeface="+mn-ea"/>
                          <a:ea typeface="+mn-ea"/>
                        </a:rPr>
                        <a:t>ctrtMthdCd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)</a:t>
                      </a:r>
                      <a:br>
                        <a:rPr lang="en-US" altLang="ko-KR" sz="700" dirty="0" smtClean="0">
                          <a:latin typeface="+mn-ea"/>
                          <a:ea typeface="+mn-ea"/>
                        </a:rPr>
                      </a:b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As-Is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일반경쟁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smtClean="0"/>
                        <a:t>지명경쟁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smtClean="0"/>
                        <a:t>제한경쟁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smtClean="0"/>
                        <a:t>수의계약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err="1" smtClean="0"/>
                        <a:t>역경매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err="1" smtClean="0"/>
                        <a:t>복수경쟁</a:t>
                      </a:r>
                      <a:r>
                        <a:rPr lang="en-US" altLang="ko-KR" sz="700" dirty="0" smtClean="0"/>
                        <a:t>, 2</a:t>
                      </a:r>
                      <a:r>
                        <a:rPr lang="ko-KR" altLang="en-US" sz="700" dirty="0" err="1" smtClean="0"/>
                        <a:t>단계경쟁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ko-KR" altLang="en-US" sz="700" dirty="0" smtClean="0"/>
                        <a:t>동시</a:t>
                      </a:r>
                      <a:r>
                        <a:rPr lang="en-US" altLang="ko-KR" sz="700" dirty="0" smtClean="0"/>
                        <a:t>), 2</a:t>
                      </a:r>
                      <a:r>
                        <a:rPr lang="ko-KR" altLang="en-US" sz="700" dirty="0" err="1" smtClean="0"/>
                        <a:t>단계경쟁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ko-KR" altLang="en-US" sz="700" dirty="0" smtClean="0"/>
                        <a:t>분리</a:t>
                      </a:r>
                      <a:r>
                        <a:rPr lang="en-US" altLang="ko-KR" sz="700" dirty="0" smtClean="0"/>
                        <a:t>), </a:t>
                      </a:r>
                      <a:r>
                        <a:rPr lang="ko-KR" altLang="en-US" sz="700" dirty="0" err="1" smtClean="0"/>
                        <a:t>협상에의한계약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ko-KR" altLang="en-US" sz="700" dirty="0" smtClean="0"/>
                        <a:t>서류</a:t>
                      </a:r>
                      <a:r>
                        <a:rPr lang="en-US" altLang="ko-KR" sz="700" dirty="0" smtClean="0"/>
                        <a:t>), </a:t>
                      </a:r>
                      <a:r>
                        <a:rPr lang="ko-KR" altLang="en-US" sz="700" dirty="0" err="1" smtClean="0"/>
                        <a:t>협상에의한계약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ko-KR" altLang="en-US" sz="700" dirty="0" smtClean="0"/>
                        <a:t>전자</a:t>
                      </a:r>
                      <a:r>
                        <a:rPr lang="en-US" altLang="ko-KR" sz="700" dirty="0" smtClean="0"/>
                        <a:t>), </a:t>
                      </a:r>
                      <a:r>
                        <a:rPr lang="ko-KR" altLang="en-US" sz="700" dirty="0" err="1" smtClean="0"/>
                        <a:t>종합낙찰제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9989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계약방법 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700" dirty="0" err="1" smtClean="0">
                          <a:latin typeface="+mn-ea"/>
                          <a:ea typeface="+mn-ea"/>
                        </a:rPr>
                        <a:t>ctrtMthdCd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)</a:t>
                      </a:r>
                      <a:br>
                        <a:rPr lang="en-US" altLang="ko-KR" sz="700" dirty="0" smtClean="0">
                          <a:latin typeface="+mn-ea"/>
                          <a:ea typeface="+mn-ea"/>
                        </a:rPr>
                      </a:b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To-Be</a:t>
                      </a:r>
                      <a:endParaRPr lang="ko-KR" altLang="en-US" sz="7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/>
                        <a:t>일반경쟁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smtClean="0"/>
                        <a:t>지명경쟁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smtClean="0"/>
                        <a:t>제한경쟁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smtClean="0"/>
                        <a:t>수의계약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2681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/>
                        <a:t>입찰방법 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en-US" altLang="ko-KR" sz="700" dirty="0" err="1" smtClean="0">
                          <a:latin typeface="+mn-ea"/>
                          <a:ea typeface="+mn-ea"/>
                        </a:rPr>
                        <a:t>bidMthdCd</a:t>
                      </a:r>
                      <a:r>
                        <a:rPr lang="en-US" altLang="ko-KR" sz="700" dirty="0" smtClean="0"/>
                        <a:t>)</a:t>
                      </a:r>
                      <a:endParaRPr lang="ko-KR" altLang="en-US" sz="700" dirty="0" smtClean="0"/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As-Is</a:t>
                      </a:r>
                      <a:endParaRPr lang="ko-KR" altLang="en-US" sz="7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총액제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err="1" smtClean="0"/>
                        <a:t>단가제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err="1" smtClean="0"/>
                        <a:t>리스입찰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err="1" smtClean="0"/>
                        <a:t>단가제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ko-KR" altLang="en-US" sz="700" dirty="0" smtClean="0"/>
                        <a:t>최저가</a:t>
                      </a:r>
                      <a:r>
                        <a:rPr lang="en-US" altLang="ko-KR" sz="700" dirty="0" smtClean="0"/>
                        <a:t>), </a:t>
                      </a:r>
                      <a:r>
                        <a:rPr lang="ko-KR" altLang="en-US" sz="700" dirty="0" err="1" smtClean="0"/>
                        <a:t>내역입찰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ko-KR" altLang="en-US" sz="700" dirty="0" smtClean="0"/>
                        <a:t>최저가</a:t>
                      </a:r>
                      <a:r>
                        <a:rPr lang="en-US" altLang="ko-KR" sz="700" dirty="0" smtClean="0"/>
                        <a:t>), </a:t>
                      </a:r>
                      <a:r>
                        <a:rPr lang="ko-KR" altLang="en-US" sz="700" dirty="0" err="1" smtClean="0"/>
                        <a:t>내역입찰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ko-KR" altLang="en-US" sz="700" dirty="0" smtClean="0"/>
                        <a:t>적격심사</a:t>
                      </a:r>
                      <a:r>
                        <a:rPr lang="en-US" altLang="ko-KR" sz="700" dirty="0" smtClean="0"/>
                        <a:t>), </a:t>
                      </a:r>
                      <a:r>
                        <a:rPr lang="ko-KR" altLang="en-US" sz="700" dirty="0" err="1" smtClean="0"/>
                        <a:t>내역입찰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ko-KR" altLang="en-US" sz="700" dirty="0" err="1" smtClean="0"/>
                        <a:t>종합심사</a:t>
                      </a:r>
                      <a:r>
                        <a:rPr lang="en-US" altLang="ko-KR" sz="700" dirty="0" smtClean="0"/>
                        <a:t>), </a:t>
                      </a:r>
                      <a:r>
                        <a:rPr lang="ko-KR" altLang="en-US" sz="700" dirty="0" err="1" smtClean="0"/>
                        <a:t>내역입찰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ko-KR" altLang="en-US" sz="700" dirty="0" smtClean="0"/>
                        <a:t>설계시공일괄입찰</a:t>
                      </a:r>
                      <a:r>
                        <a:rPr lang="en-US" altLang="ko-KR" sz="700" dirty="0" smtClean="0"/>
                        <a:t>)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9087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/>
                        <a:t>입찰방법 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en-US" altLang="ko-KR" sz="700" dirty="0" err="1" smtClean="0">
                          <a:latin typeface="+mn-ea"/>
                          <a:ea typeface="+mn-ea"/>
                        </a:rPr>
                        <a:t>bidMthdCd</a:t>
                      </a:r>
                      <a:r>
                        <a:rPr lang="en-US" altLang="ko-KR" sz="700" dirty="0" smtClean="0"/>
                        <a:t>)</a:t>
                      </a:r>
                      <a:endParaRPr lang="ko-KR" altLang="en-US" sz="700" dirty="0" smtClean="0"/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To-Be</a:t>
                      </a:r>
                      <a:endParaRPr lang="ko-KR" altLang="en-US" sz="7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총액제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err="1" smtClean="0"/>
                        <a:t>단가제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err="1" smtClean="0"/>
                        <a:t>리스입찰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90212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계약종류</a:t>
                      </a:r>
                      <a:r>
                        <a:rPr lang="ko-KR" altLang="en-US" sz="700" dirty="0" smtClean="0"/>
                        <a:t> 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en-US" altLang="ko-KR" sz="700" dirty="0" err="1" smtClean="0">
                          <a:latin typeface="+mn-ea"/>
                          <a:ea typeface="+mn-ea"/>
                        </a:rPr>
                        <a:t>jntCtrtCdNm</a:t>
                      </a:r>
                      <a:r>
                        <a:rPr lang="en-US" altLang="ko-KR" sz="700" dirty="0" smtClean="0"/>
                        <a:t>)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하도급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공동계약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주계약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6549419"/>
                  </a:ext>
                </a:extLst>
              </a:tr>
            </a:tbl>
          </a:graphicData>
        </a:graphic>
      </p:graphicFrame>
      <p:graphicFrame>
        <p:nvGraphicFramePr>
          <p:cNvPr id="105" name="표 104">
            <a:extLst>
              <a:ext uri="{FF2B5EF4-FFF2-40B4-BE49-F238E27FC236}">
                <a16:creationId xmlns:a16="http://schemas.microsoft.com/office/drawing/2014/main" id="{B522DA37-28F9-9CCB-AF10-E2C7941DD5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7246545"/>
              </p:ext>
            </p:extLst>
          </p:nvPr>
        </p:nvGraphicFramePr>
        <p:xfrm>
          <a:off x="10179512" y="3920563"/>
          <a:ext cx="2995706" cy="27687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14674">
                  <a:extLst>
                    <a:ext uri="{9D8B030D-6E8A-4147-A177-3AD203B41FA5}">
                      <a16:colId xmlns:a16="http://schemas.microsoft.com/office/drawing/2014/main" val="4063926960"/>
                    </a:ext>
                  </a:extLst>
                </a:gridCol>
                <a:gridCol w="966358">
                  <a:extLst>
                    <a:ext uri="{9D8B030D-6E8A-4147-A177-3AD203B41FA5}">
                      <a16:colId xmlns:a16="http://schemas.microsoft.com/office/drawing/2014/main" val="2948377824"/>
                    </a:ext>
                  </a:extLst>
                </a:gridCol>
                <a:gridCol w="1014674">
                  <a:extLst>
                    <a:ext uri="{9D8B030D-6E8A-4147-A177-3AD203B41FA5}">
                      <a16:colId xmlns:a16="http://schemas.microsoft.com/office/drawing/2014/main" val="3761576444"/>
                    </a:ext>
                  </a:extLst>
                </a:gridCol>
              </a:tblGrid>
              <a:tr h="22068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계약방법</a:t>
                      </a:r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(CTMC)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입찰방법</a:t>
                      </a:r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(BDTC)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낙찰방법</a:t>
                      </a:r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(CCMT)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876900"/>
                  </a:ext>
                </a:extLst>
              </a:tr>
              <a:tr h="154786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일반경쟁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총액제</a:t>
                      </a:r>
                      <a:endParaRPr lang="en-US" altLang="ko-KR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제한적최저가격제</a:t>
                      </a:r>
                    </a:p>
                  </a:txBody>
                  <a:tcPr marL="3218" marR="3218" marT="32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3699"/>
                  </a:ext>
                </a:extLst>
              </a:tr>
              <a:tr h="212833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지명경쟁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단가제</a:t>
                      </a:r>
                      <a:endParaRPr lang="en-US" altLang="ko-KR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적격심사제</a:t>
                      </a:r>
                    </a:p>
                  </a:txBody>
                  <a:tcPr marL="3218" marR="3218" marT="32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304345"/>
                  </a:ext>
                </a:extLst>
              </a:tr>
              <a:tr h="212833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제한경쟁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리스입찰</a:t>
                      </a:r>
                      <a:endParaRPr lang="en-US" altLang="ko-KR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협상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243502"/>
                  </a:ext>
                </a:extLst>
              </a:tr>
              <a:tr h="212833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수의계약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단가제</a:t>
                      </a:r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최저가</a:t>
                      </a:r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최저가격제</a:t>
                      </a:r>
                      <a:endParaRPr lang="en-US" altLang="ko-KR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888237"/>
                  </a:ext>
                </a:extLst>
              </a:tr>
              <a:tr h="272344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lang="ko-KR" altLang="en-US" sz="800" b="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역경매</a:t>
                      </a:r>
                      <a:endParaRPr lang="en-US" altLang="ko-KR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내역입찰</a:t>
                      </a:r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최저가</a:t>
                      </a:r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218" marR="3218" marT="32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2588190"/>
                  </a:ext>
                </a:extLst>
              </a:tr>
              <a:tr h="272344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복수경쟁</a:t>
                      </a:r>
                      <a:endParaRPr lang="en-US" altLang="ko-KR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내역입찰</a:t>
                      </a:r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적격심사</a:t>
                      </a:r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218" marR="3218" marT="32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2550853"/>
                  </a:ext>
                </a:extLst>
              </a:tr>
              <a:tr h="239581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2</a:t>
                      </a:r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단계경쟁</a:t>
                      </a:r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동시</a:t>
                      </a:r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내역입찰</a:t>
                      </a:r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종합심사</a:t>
                      </a:r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218" marR="3218" marT="32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13884"/>
                  </a:ext>
                </a:extLst>
              </a:tr>
              <a:tr h="272480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2</a:t>
                      </a:r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단계경쟁</a:t>
                      </a:r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분리</a:t>
                      </a:r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내역입찰</a:t>
                      </a:r>
                      <a:endParaRPr lang="en-US" altLang="ko-KR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800" b="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설계시공일괄입찰</a:t>
                      </a:r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2759089"/>
                  </a:ext>
                </a:extLst>
              </a:tr>
              <a:tr h="212833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lang="ko-KR" altLang="en-US" sz="800" b="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협상에의한계약</a:t>
                      </a:r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서류</a:t>
                      </a:r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1829222"/>
                  </a:ext>
                </a:extLst>
              </a:tr>
              <a:tr h="272344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lang="ko-KR" altLang="en-US" sz="800" b="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협상에의한계약</a:t>
                      </a:r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전자</a:t>
                      </a:r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)</a:t>
                      </a:r>
                      <a:endParaRPr lang="ko-KR" altLang="en-US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8270891"/>
                  </a:ext>
                </a:extLst>
              </a:tr>
              <a:tr h="212833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종합낙찰제</a:t>
                      </a:r>
                      <a:endParaRPr lang="en-US" altLang="ko-KR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93422"/>
                  </a:ext>
                </a:extLst>
              </a:tr>
            </a:tbl>
          </a:graphicData>
        </a:graphic>
      </p:graphicFrame>
      <p:graphicFrame>
        <p:nvGraphicFramePr>
          <p:cNvPr id="106" name="표 105">
            <a:extLst>
              <a:ext uri="{FF2B5EF4-FFF2-40B4-BE49-F238E27FC236}">
                <a16:creationId xmlns:a16="http://schemas.microsoft.com/office/drawing/2014/main" id="{7CCF8D95-8489-327A-F2B5-78561D8A93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233594"/>
              </p:ext>
            </p:extLst>
          </p:nvPr>
        </p:nvGraphicFramePr>
        <p:xfrm>
          <a:off x="13190302" y="3920563"/>
          <a:ext cx="2995705" cy="276872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80203">
                  <a:extLst>
                    <a:ext uri="{9D8B030D-6E8A-4147-A177-3AD203B41FA5}">
                      <a16:colId xmlns:a16="http://schemas.microsoft.com/office/drawing/2014/main" val="4063926960"/>
                    </a:ext>
                  </a:extLst>
                </a:gridCol>
                <a:gridCol w="880203">
                  <a:extLst>
                    <a:ext uri="{9D8B030D-6E8A-4147-A177-3AD203B41FA5}">
                      <a16:colId xmlns:a16="http://schemas.microsoft.com/office/drawing/2014/main" val="2948377824"/>
                    </a:ext>
                  </a:extLst>
                </a:gridCol>
                <a:gridCol w="1235299">
                  <a:extLst>
                    <a:ext uri="{9D8B030D-6E8A-4147-A177-3AD203B41FA5}">
                      <a16:colId xmlns:a16="http://schemas.microsoft.com/office/drawing/2014/main" val="3761576444"/>
                    </a:ext>
                  </a:extLst>
                </a:gridCol>
              </a:tblGrid>
              <a:tr h="222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계약방법</a:t>
                      </a:r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(CTMC)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입찰방법</a:t>
                      </a:r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(BDTC)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낙찰방법</a:t>
                      </a:r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(CCMT)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876900"/>
                  </a:ext>
                </a:extLst>
              </a:tr>
              <a:tr h="15788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일반경쟁</a:t>
                      </a:r>
                      <a:endParaRPr lang="en-US" altLang="ko-KR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총액제</a:t>
                      </a:r>
                      <a:endParaRPr lang="en-US" altLang="ko-KR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제한적최저가격제</a:t>
                      </a:r>
                    </a:p>
                  </a:txBody>
                  <a:tcPr marL="3218" marR="3218" marT="32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3699"/>
                  </a:ext>
                </a:extLst>
              </a:tr>
              <a:tr h="21708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지명경쟁</a:t>
                      </a:r>
                      <a:endParaRPr lang="en-US" altLang="ko-KR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단가제</a:t>
                      </a:r>
                      <a:endParaRPr lang="en-US" altLang="ko-KR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적격심사제</a:t>
                      </a:r>
                    </a:p>
                  </a:txBody>
                  <a:tcPr marL="3218" marR="3218" marT="32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304345"/>
                  </a:ext>
                </a:extLst>
              </a:tr>
              <a:tr h="21708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제한경쟁</a:t>
                      </a:r>
                      <a:endParaRPr lang="en-US" altLang="ko-KR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리스입찰</a:t>
                      </a:r>
                      <a:endParaRPr lang="en-US" altLang="ko-KR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2</a:t>
                      </a:r>
                      <a:r>
                        <a:rPr lang="ko-KR" altLang="en-US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단계경쟁</a:t>
                      </a:r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동시</a:t>
                      </a:r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)</a:t>
                      </a:r>
                    </a:p>
                  </a:txBody>
                  <a:tcPr marL="3218" marR="3218" marT="32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243502"/>
                  </a:ext>
                </a:extLst>
              </a:tr>
              <a:tr h="21708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수의계약</a:t>
                      </a:r>
                      <a:endParaRPr lang="en-US" altLang="ko-KR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2</a:t>
                      </a:r>
                      <a:r>
                        <a:rPr lang="ko-KR" altLang="en-US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단계경쟁</a:t>
                      </a:r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분리</a:t>
                      </a:r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)</a:t>
                      </a:r>
                    </a:p>
                  </a:txBody>
                  <a:tcPr marL="3218" marR="3218" marT="32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888237"/>
                  </a:ext>
                </a:extLst>
              </a:tr>
              <a:tr h="217086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+</a:t>
                      </a:r>
                      <a:r>
                        <a:rPr lang="ko-KR" altLang="en-US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산출내역서적용여부</a:t>
                      </a: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역경매</a:t>
                      </a:r>
                      <a:endParaRPr lang="en-US" altLang="ko-KR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218" marR="3218" marT="32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2588190"/>
                  </a:ext>
                </a:extLst>
              </a:tr>
              <a:tr h="217086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협상에의한계약</a:t>
                      </a:r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서류</a:t>
                      </a:r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218" marR="3218" marT="32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2550853"/>
                  </a:ext>
                </a:extLst>
              </a:tr>
              <a:tr h="217086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협상에의한계약</a:t>
                      </a:r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전자</a:t>
                      </a:r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218" marR="3218" marT="32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13884"/>
                  </a:ext>
                </a:extLst>
              </a:tr>
              <a:tr h="217086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종합낙찰제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2759089"/>
                  </a:ext>
                </a:extLst>
              </a:tr>
              <a:tr h="217086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종합심사제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1829222"/>
                  </a:ext>
                </a:extLst>
              </a:tr>
              <a:tr h="217086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설계시공일괄입찰</a:t>
                      </a:r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8270891"/>
                  </a:ext>
                </a:extLst>
              </a:tr>
              <a:tr h="217086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공개수의협상</a:t>
                      </a:r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가칭</a:t>
                      </a:r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93422"/>
                  </a:ext>
                </a:extLst>
              </a:tr>
              <a:tr h="217086"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비공개수의협상</a:t>
                      </a:r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가칭</a:t>
                      </a:r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7014058"/>
                  </a:ext>
                </a:extLst>
              </a:tr>
            </a:tbl>
          </a:graphicData>
        </a:graphic>
      </p:graphicFrame>
      <p:sp>
        <p:nvSpPr>
          <p:cNvPr id="107" name="TextBox 106"/>
          <p:cNvSpPr txBox="1"/>
          <p:nvPr/>
        </p:nvSpPr>
        <p:spPr>
          <a:xfrm>
            <a:off x="11270650" y="3601752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AS-IS</a:t>
            </a:r>
            <a:endParaRPr lang="ko-KR" altLang="en-US" dirty="0"/>
          </a:p>
        </p:txBody>
      </p:sp>
      <p:sp>
        <p:nvSpPr>
          <p:cNvPr id="108" name="TextBox 107"/>
          <p:cNvSpPr txBox="1"/>
          <p:nvPr/>
        </p:nvSpPr>
        <p:spPr>
          <a:xfrm>
            <a:off x="14182526" y="3601752"/>
            <a:ext cx="822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TO-BE</a:t>
            </a:r>
            <a:endParaRPr lang="ko-KR" altLang="en-US" dirty="0"/>
          </a:p>
        </p:txBody>
      </p:sp>
      <p:sp>
        <p:nvSpPr>
          <p:cNvPr id="109" name="직사각형 108"/>
          <p:cNvSpPr/>
          <p:nvPr/>
        </p:nvSpPr>
        <p:spPr>
          <a:xfrm>
            <a:off x="9999345" y="3148635"/>
            <a:ext cx="21226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계약방법</a:t>
            </a:r>
            <a:r>
              <a:rPr lang="en-US" altLang="ko-KR" dirty="0"/>
              <a:t>/</a:t>
            </a:r>
            <a:r>
              <a:rPr lang="ko-KR" altLang="en-US" dirty="0" err="1"/>
              <a:t>낙찰방법</a:t>
            </a:r>
            <a:endParaRPr lang="ko-KR" altLang="en-US" dirty="0"/>
          </a:p>
        </p:txBody>
      </p:sp>
      <p:grpSp>
        <p:nvGrpSpPr>
          <p:cNvPr id="110" name="그룹 109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111" name="직사각형 110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2026-08-05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112" name="직사각형 111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레이블</a:t>
              </a:r>
              <a:r>
                <a:rPr lang="en-US" altLang="ko-KR" sz="700" dirty="0" smtClean="0"/>
                <a:t>(</a:t>
              </a:r>
              <a:r>
                <a:rPr lang="ko-KR" altLang="en-US" sz="700" dirty="0" err="1" smtClean="0"/>
                <a:t>뱃지</a:t>
              </a:r>
              <a:r>
                <a:rPr lang="en-US" altLang="ko-KR" sz="700" dirty="0" smtClean="0"/>
                <a:t>)</a:t>
              </a:r>
              <a:r>
                <a:rPr lang="ko-KR" altLang="en-US" sz="700" dirty="0" smtClean="0"/>
                <a:t> 설명 추가</a:t>
              </a:r>
              <a:r>
                <a:rPr lang="en-US" altLang="ko-KR" sz="700" dirty="0" smtClean="0"/>
                <a:t>,</a:t>
              </a:r>
              <a:r>
                <a:rPr lang="ko-KR" altLang="en-US" sz="700" dirty="0" smtClean="0"/>
                <a:t> 변경</a:t>
              </a:r>
              <a:endParaRPr lang="en-US" altLang="ko-KR" sz="700" dirty="0" smtClean="0"/>
            </a:p>
            <a:p>
              <a:pPr marL="228600" indent="-228600">
                <a:buAutoNum type="arabicPeriod"/>
              </a:pPr>
              <a:r>
                <a:rPr lang="ko-KR" altLang="en-US" sz="700" dirty="0" smtClean="0"/>
                <a:t>카드 목록 </a:t>
              </a:r>
              <a:r>
                <a:rPr lang="en-US" altLang="ko-KR" sz="700" dirty="0" smtClean="0"/>
                <a:t>–</a:t>
              </a:r>
              <a:r>
                <a:rPr lang="ko-KR" altLang="en-US" sz="700" dirty="0" smtClean="0"/>
                <a:t> </a:t>
              </a:r>
              <a:r>
                <a:rPr lang="ko-KR" altLang="en-US" sz="700" dirty="0" err="1" smtClean="0"/>
                <a:t>업체명</a:t>
              </a:r>
              <a:r>
                <a:rPr lang="ko-KR" altLang="en-US" sz="700" dirty="0" smtClean="0"/>
                <a:t> 추가</a:t>
              </a:r>
              <a:endParaRPr lang="ko-KR" altLang="en-US" sz="700" dirty="0"/>
            </a:p>
          </p:txBody>
        </p:sp>
      </p:grpSp>
    </p:spTree>
    <p:extLst>
      <p:ext uri="{BB962C8B-B14F-4D97-AF65-F5344CB8AC3E}">
        <p14:creationId xmlns:p14="http://schemas.microsoft.com/office/powerpoint/2010/main" val="5405389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197695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90" name="그룹 89"/>
          <p:cNvGrpSpPr/>
          <p:nvPr/>
        </p:nvGrpSpPr>
        <p:grpSpPr>
          <a:xfrm>
            <a:off x="781461" y="3374704"/>
            <a:ext cx="2473257" cy="1098561"/>
            <a:chOff x="781461" y="3087955"/>
            <a:chExt cx="2473257" cy="1098561"/>
          </a:xfrm>
        </p:grpSpPr>
        <p:sp>
          <p:nvSpPr>
            <p:cNvPr id="91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3272286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계약번호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2025000000 - 01</a:t>
              </a:r>
            </a:p>
            <a:p>
              <a:r>
                <a:rPr lang="ko-KR" altLang="en-US" sz="900" b="1" dirty="0">
                  <a:solidFill>
                    <a:srgbClr val="0070C0"/>
                  </a:solidFill>
                </a:rPr>
                <a:t>물품</a:t>
              </a:r>
              <a:r>
                <a:rPr lang="ko-KR" altLang="en-US" sz="900" b="1" dirty="0"/>
                <a:t>구매</a:t>
              </a:r>
            </a:p>
          </p:txBody>
        </p:sp>
        <p:sp>
          <p:nvSpPr>
            <p:cNvPr id="92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632518"/>
              <a:ext cx="307777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 smtClean="0">
                  <a:latin typeface="+mn-ea"/>
                </a:rPr>
                <a:t>업체명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smtClean="0">
                  <a:latin typeface="+mn-ea"/>
                </a:rPr>
                <a:t>계약금액</a:t>
              </a:r>
              <a:endParaRPr lang="en-US" altLang="ko-KR" sz="600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계약일자</a:t>
              </a:r>
              <a:endParaRPr lang="en-US" altLang="ko-KR" sz="600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발주기관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93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617129"/>
              <a:ext cx="472886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ko-KR" altLang="en-US" sz="600" dirty="0" err="1" smtClean="0">
                  <a:latin typeface="+mn-ea"/>
                </a:rPr>
                <a:t>조달업체</a:t>
              </a:r>
              <a:r>
                <a:rPr lang="ko-KR" altLang="en-US" sz="600" dirty="0" smtClean="0">
                  <a:latin typeface="+mn-ea"/>
                </a:rPr>
                <a:t> </a:t>
              </a:r>
              <a:r>
                <a:rPr lang="en-US" altLang="ko-KR" sz="600" dirty="0" smtClean="0">
                  <a:latin typeface="+mn-ea"/>
                </a:rPr>
                <a:t>A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11,616,000 </a:t>
              </a:r>
              <a:r>
                <a:rPr lang="ko-KR" altLang="en-US" sz="600" dirty="0" smtClean="0">
                  <a:latin typeface="+mn-ea"/>
                </a:rPr>
                <a:t>원</a:t>
              </a:r>
              <a:endParaRPr lang="en-US" altLang="ko-KR" sz="600" dirty="0" smtClean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2026-02-10</a:t>
              </a: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 smtClean="0">
                  <a:latin typeface="+mn-ea"/>
                </a:rPr>
                <a:t>제</a:t>
              </a:r>
              <a:r>
                <a:rPr lang="en-US" altLang="ko-KR" sz="600" dirty="0">
                  <a:latin typeface="+mn-ea"/>
                </a:rPr>
                <a:t>8385</a:t>
              </a:r>
              <a:r>
                <a:rPr lang="ko-KR" altLang="en-US" sz="600" dirty="0">
                  <a:latin typeface="+mn-ea"/>
                </a:rPr>
                <a:t>부대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94" name="모서리가 둥근 직사각형 93"/>
            <p:cNvSpPr/>
            <p:nvPr/>
          </p:nvSpPr>
          <p:spPr>
            <a:xfrm>
              <a:off x="781461" y="3087955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물품</a:t>
              </a:r>
            </a:p>
          </p:txBody>
        </p:sp>
        <p:sp>
          <p:nvSpPr>
            <p:cNvPr id="95" name="모서리가 둥근 직사각형 94"/>
            <p:cNvSpPr/>
            <p:nvPr/>
          </p:nvSpPr>
          <p:spPr>
            <a:xfrm>
              <a:off x="1075655" y="3087955"/>
              <a:ext cx="39641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smtClean="0"/>
                <a:t>일반경쟁</a:t>
              </a:r>
              <a:endParaRPr lang="ko-KR" altLang="en-US" sz="600" dirty="0"/>
            </a:p>
          </p:txBody>
        </p:sp>
        <p:sp>
          <p:nvSpPr>
            <p:cNvPr id="96" name="모서리가 둥근 직사각형 95"/>
            <p:cNvSpPr/>
            <p:nvPr/>
          </p:nvSpPr>
          <p:spPr>
            <a:xfrm>
              <a:off x="1519793" y="3087955"/>
              <a:ext cx="356376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smtClean="0"/>
                <a:t>총액제</a:t>
              </a:r>
              <a:endParaRPr lang="ko-KR" altLang="en-US" sz="600" dirty="0"/>
            </a:p>
          </p:txBody>
        </p:sp>
        <p:sp>
          <p:nvSpPr>
            <p:cNvPr id="97" name="모서리가 둥근 직사각형 96"/>
            <p:cNvSpPr/>
            <p:nvPr/>
          </p:nvSpPr>
          <p:spPr>
            <a:xfrm>
              <a:off x="1921830" y="3087955"/>
              <a:ext cx="356376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smtClean="0"/>
                <a:t>주계약</a:t>
              </a:r>
              <a:endParaRPr lang="ko-KR" altLang="en-US" sz="600" dirty="0"/>
            </a:p>
          </p:txBody>
        </p:sp>
      </p:grp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594883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0" name="타원 9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06935" y="326122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4-1</a:t>
            </a:r>
          </a:p>
        </p:txBody>
      </p:sp>
      <p:sp>
        <p:nvSpPr>
          <p:cNvPr id="101" name="타원 10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06935" y="350959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4-2</a:t>
            </a:r>
          </a:p>
        </p:txBody>
      </p:sp>
      <p:sp>
        <p:nvSpPr>
          <p:cNvPr id="102" name="타원 10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06935" y="374701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4-3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대금청구통합목록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대금청구통합목록</a:t>
            </a:r>
            <a:r>
              <a:rPr lang="ko-KR" altLang="en-US" dirty="0"/>
              <a:t>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 smtClean="0">
                <a:latin typeface="+mn-ea"/>
              </a:rPr>
              <a:t>사후 </a:t>
            </a:r>
            <a:r>
              <a:rPr lang="en-US" altLang="ko-KR" dirty="0" smtClean="0">
                <a:latin typeface="+mn-ea"/>
              </a:rPr>
              <a:t>&gt; </a:t>
            </a:r>
            <a:r>
              <a:rPr lang="ko-KR" altLang="en-US" dirty="0"/>
              <a:t>대금청구통합목록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MUI-WM-01-M01</a:t>
            </a:r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>
                <a:latin typeface="+mn-ea"/>
              </a:rPr>
              <a:t>대금청구통합목록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2890210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2890210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37" name="그룹 36"/>
          <p:cNvGrpSpPr/>
          <p:nvPr/>
        </p:nvGrpSpPr>
        <p:grpSpPr>
          <a:xfrm>
            <a:off x="3143548" y="2992033"/>
            <a:ext cx="94010" cy="47005"/>
            <a:chOff x="6812560" y="3297172"/>
            <a:chExt cx="94010" cy="47005"/>
          </a:xfrm>
        </p:grpSpPr>
        <p:cxnSp>
          <p:nvCxnSpPr>
            <p:cNvPr id="42" name="직선 연결선 4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직선 연결선 4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41494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2527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9808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2894264"/>
            <a:ext cx="149041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185" name="타원 184"/>
          <p:cNvSpPr/>
          <p:nvPr/>
        </p:nvSpPr>
        <p:spPr>
          <a:xfrm>
            <a:off x="2741767" y="1580377"/>
            <a:ext cx="108000" cy="108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699587" y="1709526"/>
            <a:ext cx="192360" cy="769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500" dirty="0">
                <a:latin typeface="+mn-ea"/>
              </a:rPr>
              <a:t>안내문</a:t>
            </a:r>
          </a:p>
        </p:txBody>
      </p:sp>
      <p:grpSp>
        <p:nvGrpSpPr>
          <p:cNvPr id="114" name="그룹 113"/>
          <p:cNvGrpSpPr/>
          <p:nvPr/>
        </p:nvGrpSpPr>
        <p:grpSpPr>
          <a:xfrm>
            <a:off x="767702" y="2270279"/>
            <a:ext cx="2527420" cy="477995"/>
            <a:chOff x="786326" y="2270279"/>
            <a:chExt cx="2527420" cy="477995"/>
          </a:xfrm>
        </p:grpSpPr>
        <p:sp>
          <p:nvSpPr>
            <p:cNvPr id="117" name="모서리가 둥근 직사각형 116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" name="타원 120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grpSp>
          <p:nvGrpSpPr>
            <p:cNvPr id="124" name="그룹 123"/>
            <p:cNvGrpSpPr/>
            <p:nvPr/>
          </p:nvGrpSpPr>
          <p:grpSpPr>
            <a:xfrm>
              <a:off x="795624" y="2274581"/>
              <a:ext cx="1299303" cy="155984"/>
              <a:chOff x="808107" y="2288229"/>
              <a:chExt cx="1189739" cy="168318"/>
            </a:xfrm>
          </p:grpSpPr>
          <p:sp>
            <p:nvSpPr>
              <p:cNvPr id="182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808107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계약명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/>
                </a:endParaRPr>
              </a:p>
            </p:txBody>
          </p:sp>
          <p:sp>
            <p:nvSpPr>
              <p:cNvPr id="186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1434352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latin typeface="맑은 고딕"/>
                    <a:ea typeface="맑은 고딕" panose="020B0503020000020004" pitchFamily="50" charset="-127"/>
                  </a:rPr>
                  <a:t>계약번호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</p:grpSp>
        <p:sp>
          <p:nvSpPr>
            <p:cNvPr id="126" name="타원 125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133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2726021" y="2270279"/>
              <a:ext cx="582849" cy="15479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 err="1">
                  <a:latin typeface="맑은 고딕"/>
                  <a:ea typeface="맑은 고딕" panose="020B0503020000020004" pitchFamily="50" charset="-127"/>
                </a:rPr>
                <a:t>검색필터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140" name="타원 139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43" name="그룹 142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44" name="직선 연결선 143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8" name="직선 연결선 147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20" name="타원 11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455540" y="358908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b="1" dirty="0"/>
              <a:t>２</a:t>
            </a:r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선택한 </a:t>
            </a:r>
            <a:r>
              <a:rPr lang="ko-KR" altLang="en-US" sz="800" dirty="0" err="1" smtClean="0"/>
              <a:t>계약건에</a:t>
            </a:r>
            <a:r>
              <a:rPr lang="ko-KR" altLang="en-US" sz="800" dirty="0" smtClean="0"/>
              <a:t> 진행중인 대금 청구가 </a:t>
            </a:r>
            <a:r>
              <a:rPr lang="ko-KR" altLang="en-US" sz="800" dirty="0" err="1" smtClean="0"/>
              <a:t>없는경우</a:t>
            </a:r>
            <a:r>
              <a:rPr lang="ko-KR" altLang="en-US" sz="800" dirty="0" smtClean="0"/>
              <a:t> 토스트 노출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“</a:t>
            </a:r>
            <a:r>
              <a:rPr lang="ko-KR" altLang="en-US" sz="800" dirty="0" smtClean="0"/>
              <a:t>진행중인 대금청구건이 없는 계약입니다</a:t>
            </a:r>
            <a:r>
              <a:rPr lang="en-US" altLang="ko-KR" sz="800" dirty="0" smtClean="0"/>
              <a:t>“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선택한 </a:t>
            </a:r>
            <a:r>
              <a:rPr lang="ko-KR" altLang="en-US" sz="800" dirty="0" err="1" smtClean="0"/>
              <a:t>계약건에</a:t>
            </a:r>
            <a:r>
              <a:rPr lang="ko-KR" altLang="en-US" sz="800" dirty="0" smtClean="0"/>
              <a:t> 진행중인 대금 청구가 있는 경우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바텀시트</a:t>
            </a:r>
            <a:r>
              <a:rPr lang="ko-KR" altLang="en-US" sz="800" dirty="0" smtClean="0"/>
              <a:t> 노출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보유중인 신청 목록 노출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endParaRPr lang="en-US" altLang="ko-KR" sz="800" dirty="0"/>
          </a:p>
        </p:txBody>
      </p:sp>
      <p:sp>
        <p:nvSpPr>
          <p:cNvPr id="4" name="직사각형 3"/>
          <p:cNvSpPr/>
          <p:nvPr/>
        </p:nvSpPr>
        <p:spPr>
          <a:xfrm>
            <a:off x="674315" y="3236053"/>
            <a:ext cx="2713111" cy="1234633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1118010" y="5196138"/>
            <a:ext cx="1890323" cy="186790"/>
          </a:xfrm>
          <a:prstGeom prst="roundRect">
            <a:avLst>
              <a:gd name="adj" fmla="val 50000"/>
            </a:avLst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b="0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</a:rPr>
              <a:t>진행중인 </a:t>
            </a:r>
            <a:r>
              <a:rPr kumimoji="1" lang="ko-KR" altLang="en-US" sz="7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</a:rPr>
              <a:t>대금청구가</a:t>
            </a:r>
            <a:r>
              <a:rPr kumimoji="1" lang="ko-KR" altLang="en-US" sz="700" b="0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</a:rPr>
              <a:t> 없는 계약 입니다</a:t>
            </a:r>
            <a:r>
              <a:rPr kumimoji="1" lang="en-US" altLang="ko-KR" sz="700" b="0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</a:rPr>
              <a:t>.</a:t>
            </a:r>
            <a:endParaRPr kumimoji="1" lang="en-US" sz="7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868868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129541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>
                <a:latin typeface="+mn-ea"/>
              </a:rPr>
              <a:t>대금청구통합목록</a:t>
            </a:r>
          </a:p>
        </p:txBody>
      </p: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74039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74" name="그룹 173"/>
          <p:cNvGrpSpPr/>
          <p:nvPr/>
        </p:nvGrpSpPr>
        <p:grpSpPr>
          <a:xfrm rot="5400000">
            <a:off x="3948482" y="1640499"/>
            <a:ext cx="94010" cy="47005"/>
            <a:chOff x="6812560" y="3297172"/>
            <a:chExt cx="94010" cy="47005"/>
          </a:xfrm>
        </p:grpSpPr>
        <p:cxnSp>
          <p:nvCxnSpPr>
            <p:cNvPr id="175" name="직선 연결선 174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6" name="직선 연결선 17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77" name="타원 176"/>
          <p:cNvSpPr/>
          <p:nvPr/>
        </p:nvSpPr>
        <p:spPr>
          <a:xfrm>
            <a:off x="6238006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9" name="양쪽 모서리가 둥근 사각형 188"/>
          <p:cNvSpPr/>
          <p:nvPr/>
        </p:nvSpPr>
        <p:spPr>
          <a:xfrm>
            <a:off x="3868868" y="1914401"/>
            <a:ext cx="2712027" cy="4317897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190" name="모서리가 둥근 직사각형 189"/>
          <p:cNvSpPr/>
          <p:nvPr/>
        </p:nvSpPr>
        <p:spPr>
          <a:xfrm>
            <a:off x="4954881" y="195102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191" name="그룹 190"/>
          <p:cNvGrpSpPr/>
          <p:nvPr/>
        </p:nvGrpSpPr>
        <p:grpSpPr>
          <a:xfrm>
            <a:off x="6357807" y="2085445"/>
            <a:ext cx="94010" cy="94010"/>
            <a:chOff x="6812560" y="3297172"/>
            <a:chExt cx="94010" cy="94010"/>
          </a:xfrm>
        </p:grpSpPr>
        <p:cxnSp>
          <p:nvCxnSpPr>
            <p:cNvPr id="192" name="직선 연결선 191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3" name="직선 연결선 192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94" name="TextBox 19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97945" y="206612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 smtClean="0">
                <a:latin typeface="+mn-ea"/>
              </a:rPr>
              <a:t>대금청구</a:t>
            </a:r>
            <a:r>
              <a:rPr lang="ko-KR" altLang="en-US" sz="900" dirty="0" smtClean="0">
                <a:latin typeface="+mn-ea"/>
              </a:rPr>
              <a:t> </a:t>
            </a:r>
            <a:r>
              <a:rPr lang="ko-KR" altLang="en-US" sz="900" dirty="0" err="1" smtClean="0">
                <a:latin typeface="+mn-ea"/>
              </a:rPr>
              <a:t>신청목록</a:t>
            </a:r>
            <a:endParaRPr lang="ko-KR" altLang="en-US" sz="900" dirty="0">
              <a:latin typeface="+mn-ea"/>
            </a:endParaRPr>
          </a:p>
        </p:txBody>
      </p:sp>
      <p:cxnSp>
        <p:nvCxnSpPr>
          <p:cNvPr id="195" name="직선 연결선 1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68868" y="232752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96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4001575" y="5813061"/>
            <a:ext cx="2446613" cy="279492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197" name="그룹 196"/>
          <p:cNvGrpSpPr/>
          <p:nvPr/>
        </p:nvGrpSpPr>
        <p:grpSpPr>
          <a:xfrm>
            <a:off x="3974930" y="3383452"/>
            <a:ext cx="2473257" cy="987494"/>
            <a:chOff x="781461" y="2794394"/>
            <a:chExt cx="2473257" cy="987494"/>
          </a:xfrm>
        </p:grpSpPr>
        <p:sp>
          <p:nvSpPr>
            <p:cNvPr id="198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6161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 err="1"/>
                <a:t>청구번호</a:t>
              </a:r>
              <a:r>
                <a:rPr lang="ko-KR" altLang="en-US" sz="800" dirty="0"/>
                <a:t> </a:t>
              </a:r>
              <a:r>
                <a:rPr lang="en-US" altLang="ko-KR" sz="800" dirty="0"/>
                <a:t>12315 - </a:t>
              </a:r>
              <a:r>
                <a:rPr lang="en-US" altLang="ko-KR" sz="800" dirty="0" smtClean="0"/>
                <a:t>42</a:t>
              </a:r>
            </a:p>
            <a:p>
              <a:r>
                <a:rPr lang="ko-KR" altLang="en-US" sz="900" b="1" dirty="0" err="1" smtClean="0"/>
                <a:t>대금청구서</a:t>
              </a:r>
              <a:endParaRPr lang="ko-KR" altLang="en-US" sz="1050" b="1" dirty="0"/>
            </a:p>
          </p:txBody>
        </p:sp>
        <p:sp>
          <p:nvSpPr>
            <p:cNvPr id="199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089391"/>
              <a:ext cx="307777" cy="69249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smtClean="0">
                  <a:latin typeface="+mn-ea"/>
                </a:rPr>
                <a:t>청구금액</a:t>
              </a:r>
              <a:endParaRPr lang="en-US" altLang="ko-KR" sz="600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 smtClean="0">
                  <a:latin typeface="+mn-ea"/>
                </a:rPr>
                <a:t>확정구분</a:t>
              </a:r>
              <a:endParaRPr lang="en-US" altLang="ko-KR" sz="600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 smtClean="0">
                  <a:latin typeface="+mn-ea"/>
                </a:rPr>
                <a:t>세액여부</a:t>
              </a:r>
              <a:endParaRPr lang="en-US" altLang="ko-KR" sz="600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smtClean="0">
                  <a:latin typeface="+mn-ea"/>
                </a:rPr>
                <a:t>작성일자</a:t>
              </a:r>
              <a:endParaRPr lang="en-US" altLang="ko-KR" sz="600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 smtClean="0">
                  <a:latin typeface="+mn-ea"/>
                </a:rPr>
                <a:t>청구일자</a:t>
              </a:r>
              <a:endParaRPr lang="en-US" altLang="ko-KR" sz="600" dirty="0" smtClean="0">
                <a:latin typeface="+mn-ea"/>
              </a:endParaRPr>
            </a:p>
          </p:txBody>
        </p:sp>
        <p:sp>
          <p:nvSpPr>
            <p:cNvPr id="200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4574" y="3082030"/>
              <a:ext cx="657231" cy="69249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000,000,000,000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-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000,000,000,000 </a:t>
              </a:r>
              <a:r>
                <a:rPr lang="ko-KR" altLang="en-US" sz="600" dirty="0">
                  <a:latin typeface="+mn-ea"/>
                </a:rPr>
                <a:t>원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2025-10-15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2025-11-20</a:t>
              </a:r>
              <a:endParaRPr lang="ko-KR" altLang="en-US" sz="600" dirty="0">
                <a:latin typeface="+mn-ea"/>
              </a:endParaRPr>
            </a:p>
          </p:txBody>
        </p:sp>
      </p:grpSp>
      <p:cxnSp>
        <p:nvCxnSpPr>
          <p:cNvPr id="206" name="직선 연결선 20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913959" y="4438935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7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974930" y="2446715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 smtClean="0"/>
              <a:t>계약번호</a:t>
            </a:r>
            <a:r>
              <a:rPr lang="ko-KR" altLang="en-US" sz="700" dirty="0" smtClean="0"/>
              <a:t> </a:t>
            </a:r>
            <a:r>
              <a:rPr lang="en-US" altLang="ko-KR" sz="700" dirty="0" smtClean="0"/>
              <a:t>2025 000 000 - 01</a:t>
            </a:r>
          </a:p>
          <a:p>
            <a:r>
              <a:rPr lang="ko-KR" altLang="en-US" sz="900" b="1" dirty="0" smtClean="0"/>
              <a:t>변속기 부품 계약의 건</a:t>
            </a:r>
            <a:endParaRPr lang="ko-KR" altLang="en-US" sz="900" b="1" dirty="0"/>
          </a:p>
        </p:txBody>
      </p: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68868" y="275932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9" name="직선 연결선 20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68868" y="304507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10" name="TextBox 20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55615" y="2771812"/>
            <a:ext cx="42578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 smtClean="0">
                <a:solidFill>
                  <a:srgbClr val="0070C0"/>
                </a:solidFill>
                <a:latin typeface="+mn-ea"/>
              </a:rPr>
              <a:t>3</a:t>
            </a:r>
            <a:r>
              <a:rPr lang="ko-KR" altLang="en-US" sz="700" dirty="0" smtClean="0">
                <a:latin typeface="+mn-ea"/>
              </a:rPr>
              <a:t>건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9" name="직선 화살표 연결선 8"/>
          <p:cNvCxnSpPr>
            <a:endCxn id="99" idx="0"/>
          </p:cNvCxnSpPr>
          <p:nvPr/>
        </p:nvCxnSpPr>
        <p:spPr>
          <a:xfrm flipH="1">
            <a:off x="2063172" y="4562778"/>
            <a:ext cx="1" cy="633360"/>
          </a:xfrm>
          <a:prstGeom prst="straightConnector1">
            <a:avLst/>
          </a:prstGeom>
          <a:ln w="1905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직선 화살표 연결선 212"/>
          <p:cNvCxnSpPr/>
          <p:nvPr/>
        </p:nvCxnSpPr>
        <p:spPr>
          <a:xfrm>
            <a:off x="3411164" y="3851307"/>
            <a:ext cx="317308" cy="0"/>
          </a:xfrm>
          <a:prstGeom prst="straightConnector1">
            <a:avLst/>
          </a:prstGeom>
          <a:ln w="1905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타원 21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2106076" y="473757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grpSp>
        <p:nvGrpSpPr>
          <p:cNvPr id="215" name="그룹 214"/>
          <p:cNvGrpSpPr/>
          <p:nvPr/>
        </p:nvGrpSpPr>
        <p:grpSpPr>
          <a:xfrm>
            <a:off x="3974930" y="4756982"/>
            <a:ext cx="2473257" cy="987494"/>
            <a:chOff x="781461" y="2794394"/>
            <a:chExt cx="2473257" cy="987494"/>
          </a:xfrm>
        </p:grpSpPr>
        <p:sp>
          <p:nvSpPr>
            <p:cNvPr id="216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6161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ko-KR" altLang="en-US" sz="800" dirty="0" err="1">
                  <a:solidFill>
                    <a:prstClr val="black"/>
                  </a:solidFill>
                </a:rPr>
                <a:t>청구번호</a:t>
              </a:r>
              <a:r>
                <a:rPr lang="ko-KR" altLang="en-US" sz="800" dirty="0">
                  <a:solidFill>
                    <a:prstClr val="black"/>
                  </a:solidFill>
                </a:rPr>
                <a:t> </a:t>
              </a:r>
              <a:r>
                <a:rPr lang="en-US" altLang="ko-KR" sz="800" dirty="0">
                  <a:solidFill>
                    <a:prstClr val="black"/>
                  </a:solidFill>
                </a:rPr>
                <a:t>12315 - 42</a:t>
              </a:r>
            </a:p>
            <a:p>
              <a:r>
                <a:rPr lang="ko-KR" altLang="en-US" sz="900" b="1" dirty="0" err="1" smtClean="0"/>
                <a:t>선금신청서</a:t>
              </a:r>
              <a:r>
                <a:rPr lang="ko-KR" altLang="en-US" sz="900" b="1" dirty="0" smtClean="0"/>
                <a:t> </a:t>
              </a:r>
              <a:endParaRPr lang="ko-KR" altLang="en-US" sz="1050" b="1" dirty="0"/>
            </a:p>
          </p:txBody>
        </p:sp>
        <p:sp>
          <p:nvSpPr>
            <p:cNvPr id="217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089391"/>
              <a:ext cx="307777" cy="69249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smtClean="0">
                  <a:latin typeface="+mn-ea"/>
                </a:rPr>
                <a:t>청구금액</a:t>
              </a:r>
              <a:endParaRPr lang="en-US" altLang="ko-KR" sz="600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 smtClean="0">
                  <a:latin typeface="+mn-ea"/>
                </a:rPr>
                <a:t>확정구분</a:t>
              </a:r>
              <a:endParaRPr lang="en-US" altLang="ko-KR" sz="600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 smtClean="0">
                  <a:latin typeface="+mn-ea"/>
                </a:rPr>
                <a:t>세액여부</a:t>
              </a:r>
              <a:endParaRPr lang="en-US" altLang="ko-KR" sz="600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smtClean="0">
                  <a:latin typeface="+mn-ea"/>
                </a:rPr>
                <a:t>작성일자</a:t>
              </a:r>
              <a:endParaRPr lang="en-US" altLang="ko-KR" sz="600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 smtClean="0">
                  <a:latin typeface="+mn-ea"/>
                </a:rPr>
                <a:t>청구일자</a:t>
              </a:r>
              <a:endParaRPr lang="en-US" altLang="ko-KR" sz="600" dirty="0" smtClean="0">
                <a:latin typeface="+mn-ea"/>
              </a:endParaRPr>
            </a:p>
          </p:txBody>
        </p:sp>
        <p:sp>
          <p:nvSpPr>
            <p:cNvPr id="218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4574" y="3082030"/>
              <a:ext cx="657231" cy="69249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000,000,000,000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-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000,000,000,000 </a:t>
              </a:r>
              <a:r>
                <a:rPr lang="ko-KR" altLang="en-US" sz="600" dirty="0">
                  <a:latin typeface="+mn-ea"/>
                </a:rPr>
                <a:t>원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2025-10-15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2025-11-20</a:t>
              </a:r>
              <a:endParaRPr lang="ko-KR" altLang="en-US" sz="600" dirty="0">
                <a:latin typeface="+mn-ea"/>
              </a:endParaRPr>
            </a:p>
          </p:txBody>
        </p:sp>
      </p:grpSp>
      <p:cxnSp>
        <p:nvCxnSpPr>
          <p:cNvPr id="220" name="직선 연결선 21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913959" y="5812465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3" name="모서리가 둥근 직사각형 102"/>
          <p:cNvSpPr/>
          <p:nvPr/>
        </p:nvSpPr>
        <p:spPr>
          <a:xfrm>
            <a:off x="3969021" y="3209691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104" name="모서리가 둥근 직사각형 103"/>
          <p:cNvSpPr/>
          <p:nvPr/>
        </p:nvSpPr>
        <p:spPr>
          <a:xfrm>
            <a:off x="4263216" y="3209691"/>
            <a:ext cx="248320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/>
              <a:t>확정</a:t>
            </a:r>
            <a:endParaRPr lang="ko-KR" altLang="en-US" sz="600" dirty="0"/>
          </a:p>
        </p:txBody>
      </p:sp>
      <p:sp>
        <p:nvSpPr>
          <p:cNvPr id="105" name="모서리가 둥근 직사각형 104"/>
          <p:cNvSpPr/>
          <p:nvPr/>
        </p:nvSpPr>
        <p:spPr>
          <a:xfrm>
            <a:off x="4562253" y="3209691"/>
            <a:ext cx="409657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 smtClean="0"/>
              <a:t>세액있음</a:t>
            </a:r>
            <a:endParaRPr lang="ko-KR" altLang="en-US" sz="600" dirty="0"/>
          </a:p>
        </p:txBody>
      </p:sp>
      <p:sp>
        <p:nvSpPr>
          <p:cNvPr id="106" name="모서리가 둥근 직사각형 105"/>
          <p:cNvSpPr/>
          <p:nvPr/>
        </p:nvSpPr>
        <p:spPr>
          <a:xfrm>
            <a:off x="5022627" y="3209691"/>
            <a:ext cx="489033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 smtClean="0"/>
              <a:t>국세청승인</a:t>
            </a:r>
            <a:endParaRPr lang="ko-KR" altLang="en-US" sz="600" dirty="0"/>
          </a:p>
        </p:txBody>
      </p:sp>
      <p:sp>
        <p:nvSpPr>
          <p:cNvPr id="108" name="모서리가 둥근 직사각형 107"/>
          <p:cNvSpPr/>
          <p:nvPr/>
        </p:nvSpPr>
        <p:spPr>
          <a:xfrm>
            <a:off x="3969021" y="4568157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109" name="모서리가 둥근 직사각형 108"/>
          <p:cNvSpPr/>
          <p:nvPr/>
        </p:nvSpPr>
        <p:spPr>
          <a:xfrm>
            <a:off x="4263216" y="4568157"/>
            <a:ext cx="248320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/>
              <a:t>확정</a:t>
            </a:r>
            <a:endParaRPr lang="ko-KR" altLang="en-US" sz="600" dirty="0"/>
          </a:p>
        </p:txBody>
      </p:sp>
      <p:sp>
        <p:nvSpPr>
          <p:cNvPr id="110" name="모서리가 둥근 직사각형 109"/>
          <p:cNvSpPr/>
          <p:nvPr/>
        </p:nvSpPr>
        <p:spPr>
          <a:xfrm>
            <a:off x="4562253" y="4568157"/>
            <a:ext cx="409657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 smtClean="0"/>
              <a:t>세액없음</a:t>
            </a:r>
            <a:endParaRPr lang="ko-KR" altLang="en-US" sz="600" dirty="0"/>
          </a:p>
        </p:txBody>
      </p:sp>
      <p:sp>
        <p:nvSpPr>
          <p:cNvPr id="111" name="모서리가 둥근 직사각형 110"/>
          <p:cNvSpPr/>
          <p:nvPr/>
        </p:nvSpPr>
        <p:spPr>
          <a:xfrm>
            <a:off x="5022627" y="4568157"/>
            <a:ext cx="489033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 smtClean="0"/>
              <a:t>국세청승인</a:t>
            </a:r>
            <a:endParaRPr lang="ko-KR" altLang="en-US" sz="600" dirty="0"/>
          </a:p>
        </p:txBody>
      </p:sp>
    </p:spTree>
    <p:extLst>
      <p:ext uri="{BB962C8B-B14F-4D97-AF65-F5344CB8AC3E}">
        <p14:creationId xmlns:p14="http://schemas.microsoft.com/office/powerpoint/2010/main" val="1333909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69852" y="1501912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sz="800" dirty="0" err="1"/>
              <a:t>검색필터</a:t>
            </a:r>
            <a:r>
              <a:rPr lang="ko-KR" altLang="en-US" sz="800" dirty="0"/>
              <a:t> 페이지 타이틀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1-1] </a:t>
            </a:r>
            <a:r>
              <a:rPr lang="ko-KR" altLang="en-US" sz="800" dirty="0"/>
              <a:t>초기화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1-2] </a:t>
            </a:r>
            <a:r>
              <a:rPr lang="ko-KR" altLang="en-US" sz="800" dirty="0"/>
              <a:t>창 닫기 버튼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ko-KR" altLang="en-US" sz="800" dirty="0"/>
              <a:t>각 </a:t>
            </a:r>
            <a:r>
              <a:rPr lang="ko-KR" altLang="en-US" sz="800" dirty="0" err="1"/>
              <a:t>섹션명</a:t>
            </a:r>
            <a:r>
              <a:rPr lang="ko-KR" altLang="en-US" sz="800" dirty="0"/>
              <a:t> 클릭 시 아코디언 동작</a:t>
            </a:r>
            <a:endParaRPr lang="en-US" altLang="ko-KR" sz="8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업무 </a:t>
            </a:r>
            <a:r>
              <a:rPr lang="ko-KR" altLang="en-US" sz="800" dirty="0"/>
              <a:t>구분</a:t>
            </a:r>
            <a:r>
              <a:rPr lang="en-US" altLang="ko-KR" sz="800" dirty="0"/>
              <a:t>(</a:t>
            </a:r>
            <a:r>
              <a:rPr lang="ko-KR" altLang="en-US" sz="800" dirty="0" err="1"/>
              <a:t>필수값</a:t>
            </a:r>
            <a:r>
              <a:rPr lang="en-US" altLang="ko-KR" sz="800" dirty="0"/>
              <a:t>)</a:t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항목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ko-KR" altLang="en-US" sz="800" dirty="0"/>
              <a:t>전체</a:t>
            </a:r>
            <a:r>
              <a:rPr lang="en-US" altLang="ko-KR" sz="800" dirty="0"/>
              <a:t>, </a:t>
            </a:r>
            <a:r>
              <a:rPr lang="ko-KR" altLang="en-US" sz="800" dirty="0"/>
              <a:t>물품</a:t>
            </a:r>
            <a:r>
              <a:rPr lang="en-US" altLang="ko-KR" sz="800" dirty="0"/>
              <a:t>,</a:t>
            </a:r>
            <a:r>
              <a:rPr lang="ko-KR" altLang="en-US" sz="800" dirty="0"/>
              <a:t>용역</a:t>
            </a:r>
            <a:r>
              <a:rPr lang="en-US" altLang="ko-KR" sz="800" dirty="0"/>
              <a:t>,</a:t>
            </a:r>
            <a:r>
              <a:rPr lang="ko-KR" altLang="en-US" sz="800" dirty="0"/>
              <a:t>공사</a:t>
            </a:r>
            <a:r>
              <a:rPr lang="en-US" altLang="ko-KR" sz="800" strike="sngStrike" dirty="0"/>
              <a:t>,</a:t>
            </a:r>
            <a:r>
              <a:rPr lang="ko-KR" altLang="en-US" sz="800" strike="sngStrike" dirty="0"/>
              <a:t>국외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default) </a:t>
            </a:r>
            <a:r>
              <a:rPr lang="ko-KR" altLang="en-US" sz="800" dirty="0"/>
              <a:t>전체</a:t>
            </a:r>
            <a:endParaRPr lang="en-US" altLang="ko-KR" sz="8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/>
              <a:t>검색 설정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err="1" smtClean="0"/>
              <a:t>계약일자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default) </a:t>
            </a:r>
            <a:r>
              <a:rPr lang="ko-KR" altLang="en-US" sz="800" dirty="0"/>
              <a:t>당일 포함 과거 </a:t>
            </a:r>
            <a:r>
              <a:rPr lang="en-US" altLang="ko-KR" sz="800" dirty="0"/>
              <a:t>7</a:t>
            </a:r>
            <a:r>
              <a:rPr lang="ko-KR" altLang="en-US" sz="800" dirty="0"/>
              <a:t>일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>
                <a:sym typeface="Wingdings" panose="05000000000000000000" pitchFamily="2" charset="2"/>
              </a:rPr>
              <a:t>- </a:t>
            </a:r>
            <a:r>
              <a:rPr lang="ko-KR" altLang="en-US" sz="800" dirty="0">
                <a:sym typeface="Wingdings" panose="05000000000000000000" pitchFamily="2" charset="2"/>
              </a:rPr>
              <a:t>선택 날짜 즉시 업데이트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en-US" altLang="ko-KR" sz="800" dirty="0" smtClean="0"/>
              <a:t>3-1</a:t>
            </a:r>
            <a:r>
              <a:rPr lang="en-US" altLang="ko-KR" sz="800" dirty="0"/>
              <a:t>)</a:t>
            </a:r>
            <a:r>
              <a:rPr lang="ko-KR" altLang="en-US" sz="800" dirty="0"/>
              <a:t>직접 입력 가능 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좌</a:t>
            </a:r>
            <a:r>
              <a:rPr lang="en-US" altLang="ko-KR" sz="800" dirty="0"/>
              <a:t>)</a:t>
            </a:r>
            <a:r>
              <a:rPr lang="ko-KR" altLang="en-US" sz="800" dirty="0"/>
              <a:t>과거 우</a:t>
            </a:r>
            <a:r>
              <a:rPr lang="en-US" altLang="ko-KR" sz="800" dirty="0"/>
              <a:t>)</a:t>
            </a:r>
            <a:r>
              <a:rPr lang="ko-KR" altLang="en-US" sz="800" dirty="0" err="1"/>
              <a:t>현재로한다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우</a:t>
            </a:r>
            <a:r>
              <a:rPr lang="en-US" altLang="ko-KR" sz="800" dirty="0"/>
              <a:t>)</a:t>
            </a:r>
            <a:r>
              <a:rPr lang="ko-KR" altLang="en-US" sz="800" dirty="0"/>
              <a:t> 값은 미래를 선택</a:t>
            </a:r>
            <a:r>
              <a:rPr lang="en-US" altLang="ko-KR" sz="800" dirty="0"/>
              <a:t>,</a:t>
            </a:r>
            <a:r>
              <a:rPr lang="ko-KR" altLang="en-US" sz="800" dirty="0"/>
              <a:t>입력 할 </a:t>
            </a:r>
            <a:r>
              <a:rPr lang="ko-KR" altLang="en-US" sz="800" dirty="0" err="1"/>
              <a:t>수없다</a:t>
            </a:r>
            <a:r>
              <a:rPr lang="en-US" altLang="ko-KR" sz="800" dirty="0"/>
              <a:t>.</a:t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우</a:t>
            </a:r>
            <a:r>
              <a:rPr lang="en-US" altLang="ko-KR" sz="800" dirty="0"/>
              <a:t>) </a:t>
            </a:r>
            <a:r>
              <a:rPr lang="ko-KR" altLang="en-US" sz="800" dirty="0"/>
              <a:t>값이 미래를 입력한 경우 오늘로 자동 변경</a:t>
            </a:r>
            <a:r>
              <a:rPr lang="en-US" altLang="ko-KR" sz="800" dirty="0"/>
              <a:t>.</a:t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당일 기준 최대 </a:t>
            </a:r>
            <a:r>
              <a:rPr lang="en-US" altLang="ko-KR" sz="800" dirty="0"/>
              <a:t>1</a:t>
            </a:r>
            <a:r>
              <a:rPr lang="ko-KR" altLang="en-US" sz="800" dirty="0"/>
              <a:t>년</a:t>
            </a:r>
            <a:r>
              <a:rPr lang="en-US" altLang="ko-KR" sz="800" dirty="0"/>
              <a:t>(365</a:t>
            </a:r>
            <a:r>
              <a:rPr lang="ko-KR" altLang="en-US" sz="800" dirty="0"/>
              <a:t>일</a:t>
            </a:r>
            <a:r>
              <a:rPr lang="en-US" altLang="ko-KR" sz="800" dirty="0"/>
              <a:t>)</a:t>
            </a:r>
            <a:r>
              <a:rPr lang="ko-KR" altLang="en-US" sz="800" dirty="0"/>
              <a:t>까지 조회 가능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en-US" altLang="ko-KR" sz="800" dirty="0" smtClean="0"/>
              <a:t>3-2</a:t>
            </a:r>
            <a:r>
              <a:rPr lang="en-US" altLang="ko-KR" sz="800" dirty="0"/>
              <a:t>) </a:t>
            </a:r>
            <a:r>
              <a:rPr lang="ko-KR" altLang="en-US" sz="800" dirty="0"/>
              <a:t>아이콘 </a:t>
            </a:r>
            <a:r>
              <a:rPr lang="en-US" altLang="ko-KR" sz="800" dirty="0">
                <a:sym typeface="Wingdings" panose="05000000000000000000" pitchFamily="2" charset="2"/>
              </a:rPr>
              <a:t> </a:t>
            </a:r>
            <a:r>
              <a:rPr lang="ko-KR" altLang="en-US" sz="800" dirty="0">
                <a:sym typeface="Wingdings" panose="05000000000000000000" pitchFamily="2" charset="2"/>
              </a:rPr>
              <a:t>데이트 </a:t>
            </a:r>
            <a:r>
              <a:rPr lang="ko-KR" altLang="en-US" sz="800" dirty="0" err="1">
                <a:sym typeface="Wingdings" panose="05000000000000000000" pitchFamily="2" charset="2"/>
              </a:rPr>
              <a:t>피커</a:t>
            </a:r>
            <a:r>
              <a:rPr lang="ko-KR" altLang="en-US" sz="800" dirty="0">
                <a:sym typeface="Wingdings" panose="05000000000000000000" pitchFamily="2" charset="2"/>
              </a:rPr>
              <a:t> 호출</a:t>
            </a:r>
            <a:r>
              <a:rPr lang="en-US" altLang="ko-KR" sz="800" dirty="0">
                <a:sym typeface="Wingdings" panose="05000000000000000000" pitchFamily="2" charset="2"/>
              </a:rPr>
              <a:t>( </a:t>
            </a:r>
            <a:r>
              <a:rPr lang="ko-KR" altLang="en-US" sz="800" dirty="0" err="1">
                <a:sym typeface="Wingdings" panose="05000000000000000000" pitchFamily="2" charset="2"/>
              </a:rPr>
              <a:t>미래불가</a:t>
            </a:r>
            <a:r>
              <a:rPr lang="en-US" altLang="ko-KR" sz="800" dirty="0">
                <a:sym typeface="Wingdings" panose="05000000000000000000" pitchFamily="2" charset="2"/>
              </a:rPr>
              <a:t>)</a:t>
            </a:r>
            <a:br>
              <a:rPr lang="en-US" altLang="ko-KR" sz="800" dirty="0">
                <a:sym typeface="Wingdings" panose="05000000000000000000" pitchFamily="2" charset="2"/>
              </a:rPr>
            </a:br>
            <a:r>
              <a:rPr lang="en-US" altLang="ko-KR" sz="800" dirty="0">
                <a:sym typeface="Wingdings" panose="05000000000000000000" pitchFamily="2" charset="2"/>
              </a:rPr>
              <a:t>- </a:t>
            </a:r>
            <a:r>
              <a:rPr lang="en-US" altLang="ko-KR" sz="800" dirty="0" smtClean="0">
                <a:sym typeface="Wingdings" panose="05000000000000000000" pitchFamily="2" charset="2"/>
              </a:rPr>
              <a:t>3-3</a:t>
            </a:r>
            <a:r>
              <a:rPr lang="en-US" altLang="ko-KR" sz="800" dirty="0">
                <a:sym typeface="Wingdings" panose="05000000000000000000" pitchFamily="2" charset="2"/>
              </a:rPr>
              <a:t>) </a:t>
            </a:r>
            <a:r>
              <a:rPr lang="ko-KR" altLang="en-US" sz="800" dirty="0">
                <a:sym typeface="Wingdings" panose="05000000000000000000" pitchFamily="2" charset="2"/>
              </a:rPr>
              <a:t>최근</a:t>
            </a:r>
            <a:r>
              <a:rPr lang="en-US" altLang="ko-KR" sz="800" dirty="0">
                <a:sym typeface="Wingdings" panose="05000000000000000000" pitchFamily="2" charset="2"/>
              </a:rPr>
              <a:t>1,3,6</a:t>
            </a:r>
            <a:r>
              <a:rPr lang="ko-KR" altLang="en-US" sz="800" dirty="0">
                <a:sym typeface="Wingdings" panose="05000000000000000000" pitchFamily="2" charset="2"/>
              </a:rPr>
              <a:t>개월 버튼으로 당일 포함하여 </a:t>
            </a:r>
            <a:r>
              <a:rPr lang="en-US" altLang="ko-KR" sz="800" dirty="0">
                <a:sym typeface="Wingdings" panose="05000000000000000000" pitchFamily="2" charset="2"/>
              </a:rPr>
              <a:t>30</a:t>
            </a:r>
            <a:r>
              <a:rPr lang="ko-KR" altLang="en-US" sz="800" dirty="0">
                <a:sym typeface="Wingdings" panose="05000000000000000000" pitchFamily="2" charset="2"/>
              </a:rPr>
              <a:t>일</a:t>
            </a:r>
            <a:r>
              <a:rPr lang="en-US" altLang="ko-KR" sz="800" dirty="0">
                <a:sym typeface="Wingdings" panose="05000000000000000000" pitchFamily="2" charset="2"/>
              </a:rPr>
              <a:t>, 90</a:t>
            </a:r>
            <a:r>
              <a:rPr lang="ko-KR" altLang="en-US" sz="800" dirty="0">
                <a:sym typeface="Wingdings" panose="05000000000000000000" pitchFamily="2" charset="2"/>
              </a:rPr>
              <a:t>일</a:t>
            </a:r>
            <a:r>
              <a:rPr lang="en-US" altLang="ko-KR" sz="800" dirty="0">
                <a:sym typeface="Wingdings" panose="05000000000000000000" pitchFamily="2" charset="2"/>
              </a:rPr>
              <a:t>,180</a:t>
            </a:r>
            <a:r>
              <a:rPr lang="ko-KR" altLang="en-US" sz="800" dirty="0">
                <a:sym typeface="Wingdings" panose="05000000000000000000" pitchFamily="2" charset="2"/>
              </a:rPr>
              <a:t>일 이전 값을 표시</a:t>
            </a:r>
            <a:r>
              <a:rPr lang="en-US" altLang="ko-KR" sz="800" dirty="0">
                <a:sym typeface="Wingdings" panose="05000000000000000000" pitchFamily="2" charset="2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err="1">
                <a:sym typeface="Wingdings" panose="05000000000000000000" pitchFamily="2" charset="2"/>
              </a:rPr>
              <a:t>검색어</a:t>
            </a:r>
            <a:r>
              <a:rPr lang="ko-KR" altLang="en-US" sz="800" dirty="0">
                <a:sym typeface="Wingdings" panose="05000000000000000000" pitchFamily="2" charset="2"/>
              </a:rPr>
              <a:t> 영역</a:t>
            </a:r>
            <a:r>
              <a:rPr lang="en-US" altLang="ko-KR" sz="800" dirty="0">
                <a:sym typeface="Wingdings" panose="05000000000000000000" pitchFamily="2" charset="2"/>
              </a:rPr>
              <a:t/>
            </a:r>
            <a:br>
              <a:rPr lang="en-US" altLang="ko-KR" sz="800" dirty="0">
                <a:sym typeface="Wingdings" panose="05000000000000000000" pitchFamily="2" charset="2"/>
              </a:rPr>
            </a:br>
            <a:r>
              <a:rPr lang="en-US" altLang="ko-KR" sz="800" dirty="0">
                <a:sym typeface="Wingdings" panose="05000000000000000000" pitchFamily="2" charset="2"/>
              </a:rPr>
              <a:t>- </a:t>
            </a:r>
            <a:r>
              <a:rPr lang="ko-KR" altLang="en-US" sz="800" dirty="0">
                <a:sym typeface="Wingdings" panose="05000000000000000000" pitchFamily="2" charset="2"/>
              </a:rPr>
              <a:t>사용자가 입력하고자 하는 내역만 입력 후 검색 가능</a:t>
            </a:r>
            <a:r>
              <a:rPr lang="en-US" altLang="ko-KR" sz="800" dirty="0">
                <a:sym typeface="Wingdings" panose="05000000000000000000" pitchFamily="2" charset="2"/>
              </a:rPr>
              <a:t/>
            </a:r>
            <a:br>
              <a:rPr lang="en-US" altLang="ko-KR" sz="800" dirty="0">
                <a:sym typeface="Wingdings" panose="05000000000000000000" pitchFamily="2" charset="2"/>
              </a:rPr>
            </a:br>
            <a:r>
              <a:rPr lang="en-US" altLang="ko-KR" sz="800" dirty="0">
                <a:sym typeface="Wingdings" panose="05000000000000000000" pitchFamily="2" charset="2"/>
              </a:rPr>
              <a:t>- </a:t>
            </a:r>
            <a:r>
              <a:rPr lang="ko-KR" altLang="en-US" sz="800" dirty="0" err="1">
                <a:sym typeface="Wingdings" panose="05000000000000000000" pitchFamily="2" charset="2"/>
              </a:rPr>
              <a:t>계약건명</a:t>
            </a:r>
            <a:r>
              <a:rPr lang="en-US" altLang="ko-KR" sz="800" dirty="0" smtClean="0">
                <a:sym typeface="Wingdings" panose="05000000000000000000" pitchFamily="2" charset="2"/>
              </a:rPr>
              <a:t>, </a:t>
            </a:r>
            <a:r>
              <a:rPr lang="ko-KR" altLang="en-US" sz="800" dirty="0" err="1">
                <a:sym typeface="Wingdings" panose="05000000000000000000" pitchFamily="2" charset="2"/>
              </a:rPr>
              <a:t>계약번호</a:t>
            </a:r>
            <a:r>
              <a:rPr lang="en-US" altLang="ko-KR" sz="800" dirty="0">
                <a:sym typeface="Wingdings" panose="05000000000000000000" pitchFamily="2" charset="2"/>
              </a:rPr>
              <a:t>, </a:t>
            </a:r>
            <a:r>
              <a:rPr lang="en-US" altLang="ko-KR" sz="800" dirty="0" smtClean="0">
                <a:sym typeface="Wingdings" panose="05000000000000000000" pitchFamily="2" charset="2"/>
              </a:rPr>
              <a:t/>
            </a:r>
            <a:br>
              <a:rPr lang="en-US" altLang="ko-KR" sz="800" dirty="0" smtClean="0">
                <a:sym typeface="Wingdings" panose="05000000000000000000" pitchFamily="2" charset="2"/>
              </a:rPr>
            </a:br>
            <a:r>
              <a:rPr lang="en-US" altLang="ko-KR" sz="800" dirty="0" smtClean="0">
                <a:sym typeface="Wingdings" panose="05000000000000000000" pitchFamily="2" charset="2"/>
              </a:rPr>
              <a:t>- </a:t>
            </a:r>
            <a:r>
              <a:rPr lang="ko-KR" altLang="en-US" sz="800" dirty="0" err="1">
                <a:sym typeface="Wingdings" panose="05000000000000000000" pitchFamily="2" charset="2"/>
              </a:rPr>
              <a:t>글자검색</a:t>
            </a:r>
            <a:r>
              <a:rPr lang="en-US" altLang="ko-KR" sz="800" dirty="0">
                <a:sym typeface="Wingdings" panose="05000000000000000000" pitchFamily="2" charset="2"/>
              </a:rPr>
              <a:t>: </a:t>
            </a:r>
            <a:r>
              <a:rPr lang="ko-KR" altLang="en-US" sz="800" dirty="0" err="1" smtClean="0">
                <a:sym typeface="Wingdings" panose="05000000000000000000" pitchFamily="2" charset="2"/>
              </a:rPr>
              <a:t>계약건명</a:t>
            </a:r>
            <a:r>
              <a:rPr lang="en-US" altLang="ko-KR" sz="800" dirty="0">
                <a:sym typeface="Wingdings" panose="05000000000000000000" pitchFamily="2" charset="2"/>
              </a:rPr>
              <a:t/>
            </a:r>
            <a:br>
              <a:rPr lang="en-US" altLang="ko-KR" sz="800" dirty="0">
                <a:sym typeface="Wingdings" panose="05000000000000000000" pitchFamily="2" charset="2"/>
              </a:rPr>
            </a:br>
            <a:r>
              <a:rPr lang="en-US" altLang="ko-KR" sz="800" dirty="0">
                <a:sym typeface="Wingdings" panose="05000000000000000000" pitchFamily="2" charset="2"/>
              </a:rPr>
              <a:t>- </a:t>
            </a:r>
            <a:r>
              <a:rPr lang="ko-KR" altLang="en-US" sz="800" dirty="0" err="1">
                <a:sym typeface="Wingdings" panose="05000000000000000000" pitchFamily="2" charset="2"/>
              </a:rPr>
              <a:t>숫자검색</a:t>
            </a:r>
            <a:r>
              <a:rPr lang="en-US" altLang="ko-KR" sz="800" dirty="0" smtClean="0">
                <a:sym typeface="Wingdings" panose="05000000000000000000" pitchFamily="2" charset="2"/>
              </a:rPr>
              <a:t>: </a:t>
            </a:r>
            <a:r>
              <a:rPr lang="ko-KR" altLang="en-US" sz="800" dirty="0">
                <a:sym typeface="Wingdings" panose="05000000000000000000" pitchFamily="2" charset="2"/>
              </a:rPr>
              <a:t>계약 </a:t>
            </a:r>
            <a:r>
              <a:rPr lang="ko-KR" altLang="en-US" sz="800" dirty="0">
                <a:sym typeface="Wingdings" panose="05000000000000000000" pitchFamily="2" charset="2"/>
              </a:rPr>
              <a:t>번호 </a:t>
            </a:r>
            <a:r>
              <a:rPr lang="en-US" altLang="ko-KR" sz="800" dirty="0">
                <a:sym typeface="Wingdings" panose="05000000000000000000" pitchFamily="2" charset="2"/>
              </a:rPr>
              <a:t>(MUI-EX-02-P79)</a:t>
            </a:r>
            <a:endParaRPr lang="en-US" altLang="ko-KR" sz="800" dirty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>
                <a:sym typeface="Wingdings" panose="05000000000000000000" pitchFamily="2" charset="2"/>
              </a:rPr>
              <a:t>검색 </a:t>
            </a:r>
            <a:r>
              <a:rPr lang="ko-KR" altLang="en-US" sz="800" dirty="0">
                <a:sym typeface="Wingdings" panose="05000000000000000000" pitchFamily="2" charset="2"/>
              </a:rPr>
              <a:t>버튼 영역은 화면 하단 </a:t>
            </a:r>
            <a:r>
              <a:rPr lang="ko-KR" altLang="en-US" sz="800" dirty="0" err="1">
                <a:sym typeface="Wingdings" panose="05000000000000000000" pitchFamily="2" charset="2"/>
              </a:rPr>
              <a:t>플로팅</a:t>
            </a:r>
            <a:r>
              <a:rPr lang="ko-KR" altLang="en-US" sz="800" dirty="0">
                <a:sym typeface="Wingdings" panose="05000000000000000000" pitchFamily="2" charset="2"/>
              </a:rPr>
              <a:t> </a:t>
            </a:r>
            <a:r>
              <a:rPr lang="ko-KR" altLang="en-US" sz="800" dirty="0" smtClean="0">
                <a:sym typeface="Wingdings" panose="05000000000000000000" pitchFamily="2" charset="2"/>
              </a:rPr>
              <a:t>처리</a:t>
            </a:r>
            <a:endParaRPr lang="en-US" altLang="ko-KR" sz="800" dirty="0" smtClean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sz="800" strike="sngStrike" dirty="0" smtClean="0">
                <a:sym typeface="Wingdings" panose="05000000000000000000" pitchFamily="2" charset="2"/>
              </a:rPr>
              <a:t>대금청구구분</a:t>
            </a:r>
            <a:r>
              <a:rPr lang="en-US" altLang="ko-KR" sz="800" strike="sngStrike" dirty="0" smtClean="0">
                <a:sym typeface="Wingdings" panose="05000000000000000000" pitchFamily="2" charset="2"/>
              </a:rPr>
              <a:t/>
            </a:r>
            <a:br>
              <a:rPr lang="en-US" altLang="ko-KR" sz="800" strike="sngStrike" dirty="0" smtClean="0">
                <a:sym typeface="Wingdings" panose="05000000000000000000" pitchFamily="2" charset="2"/>
              </a:rPr>
            </a:br>
            <a:r>
              <a:rPr lang="en-US" altLang="ko-KR" sz="800" strike="sngStrike" dirty="0" smtClean="0">
                <a:sym typeface="Wingdings" panose="05000000000000000000" pitchFamily="2" charset="2"/>
              </a:rPr>
              <a:t>- </a:t>
            </a:r>
            <a:r>
              <a:rPr lang="ko-KR" altLang="en-US" sz="800" strike="sngStrike" dirty="0" smtClean="0">
                <a:sym typeface="Wingdings" panose="05000000000000000000" pitchFamily="2" charset="2"/>
              </a:rPr>
              <a:t>전체</a:t>
            </a:r>
            <a:r>
              <a:rPr lang="en-US" altLang="ko-KR" sz="800" strike="sngStrike" dirty="0" smtClean="0">
                <a:sym typeface="Wingdings" panose="05000000000000000000" pitchFamily="2" charset="2"/>
              </a:rPr>
              <a:t>, </a:t>
            </a:r>
            <a:r>
              <a:rPr lang="ko-KR" altLang="en-US" sz="800" strike="sngStrike" dirty="0" err="1" smtClean="0">
                <a:sym typeface="Wingdings" panose="05000000000000000000" pitchFamily="2" charset="2"/>
              </a:rPr>
              <a:t>선금신청</a:t>
            </a:r>
            <a:r>
              <a:rPr lang="en-US" altLang="ko-KR" sz="800" strike="sngStrike" dirty="0" smtClean="0">
                <a:sym typeface="Wingdings" panose="05000000000000000000" pitchFamily="2" charset="2"/>
              </a:rPr>
              <a:t>, </a:t>
            </a:r>
            <a:r>
              <a:rPr lang="ko-KR" altLang="en-US" sz="800" strike="sngStrike" dirty="0" err="1" smtClean="0">
                <a:sym typeface="Wingdings" panose="05000000000000000000" pitchFamily="2" charset="2"/>
              </a:rPr>
              <a:t>착중도금신청</a:t>
            </a:r>
            <a:r>
              <a:rPr lang="en-US" altLang="ko-KR" sz="800" strike="sngStrike" dirty="0" smtClean="0">
                <a:sym typeface="Wingdings" panose="05000000000000000000" pitchFamily="2" charset="2"/>
              </a:rPr>
              <a:t>,</a:t>
            </a:r>
            <a:r>
              <a:rPr lang="ko-KR" altLang="en-US" sz="800" strike="sngStrike" dirty="0" smtClean="0">
                <a:sym typeface="Wingdings" panose="05000000000000000000" pitchFamily="2" charset="2"/>
              </a:rPr>
              <a:t>대금청구신청</a:t>
            </a:r>
            <a:r>
              <a:rPr lang="en-US" altLang="ko-KR" sz="800" strike="sngStrike" dirty="0" smtClean="0">
                <a:sym typeface="Wingdings" panose="05000000000000000000" pitchFamily="2" charset="2"/>
              </a:rPr>
              <a:t>,</a:t>
            </a:r>
            <a:r>
              <a:rPr lang="ko-KR" altLang="en-US" sz="800" strike="sngStrike" dirty="0" smtClean="0">
                <a:sym typeface="Wingdings" panose="05000000000000000000" pitchFamily="2" charset="2"/>
              </a:rPr>
              <a:t>사후정산청구서 </a:t>
            </a:r>
            <a:r>
              <a:rPr lang="en-US" altLang="ko-KR" sz="800" dirty="0">
                <a:sym typeface="Wingdings" panose="05000000000000000000" pitchFamily="2" charset="2"/>
              </a:rPr>
              <a:t/>
            </a:r>
            <a:br>
              <a:rPr lang="en-US" altLang="ko-KR" sz="800" dirty="0">
                <a:sym typeface="Wingdings" panose="05000000000000000000" pitchFamily="2" charset="2"/>
              </a:rPr>
            </a:br>
            <a:endParaRPr lang="en-US" altLang="ko-KR" sz="8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800" dirty="0"/>
          </a:p>
          <a:p>
            <a:pPr marL="228600" indent="-228600">
              <a:buFont typeface="+mj-lt"/>
              <a:buAutoNum type="arabicPeriod"/>
            </a:pPr>
            <a:endParaRPr lang="en-US" altLang="ko-KR" sz="8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검색 필터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계약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상세 검색을 위한 검색 필터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 smtClean="0"/>
              <a:t>&gt; </a:t>
            </a:r>
            <a:r>
              <a:rPr lang="ko-KR" altLang="en-US" dirty="0" smtClean="0">
                <a:latin typeface="+mn-ea"/>
              </a:rPr>
              <a:t>검색 </a:t>
            </a:r>
            <a:r>
              <a:rPr lang="ko-KR" altLang="en-US" dirty="0">
                <a:latin typeface="+mn-ea"/>
              </a:rPr>
              <a:t>필터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MUI-WM-01-P12</a:t>
            </a:r>
            <a:endParaRPr lang="ko-KR" altLang="en-US" dirty="0"/>
          </a:p>
        </p:txBody>
      </p:sp>
      <p:sp>
        <p:nvSpPr>
          <p:cNvPr id="116" name="타원 11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8770" y="432059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18" name="그룹 117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119" name="직선 연결선 11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직선 연결선 122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7" name="타원 126"/>
          <p:cNvSpPr/>
          <p:nvPr/>
        </p:nvSpPr>
        <p:spPr>
          <a:xfrm>
            <a:off x="2773099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447457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8770" y="159227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221" name="그룹 220"/>
          <p:cNvGrpSpPr/>
          <p:nvPr/>
        </p:nvGrpSpPr>
        <p:grpSpPr>
          <a:xfrm>
            <a:off x="675399" y="5678278"/>
            <a:ext cx="2712027" cy="617588"/>
            <a:chOff x="675399" y="5614711"/>
            <a:chExt cx="2712027" cy="617588"/>
          </a:xfrm>
        </p:grpSpPr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3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검색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224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latin typeface="맑은 고딕"/>
                  <a:ea typeface="맑은 고딕" panose="020B0503020000020004" pitchFamily="50" charset="-127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793320" y="4306300"/>
            <a:ext cx="2516607" cy="883322"/>
            <a:chOff x="778515" y="4388257"/>
            <a:chExt cx="2516607" cy="883322"/>
          </a:xfrm>
        </p:grpSpPr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388257"/>
              <a:ext cx="230514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 err="1">
                  <a:latin typeface="+mn-ea"/>
                </a:rPr>
                <a:t>검색어</a:t>
              </a:r>
              <a:r>
                <a:rPr lang="ko-KR" altLang="en-US" sz="700" b="1" dirty="0">
                  <a:latin typeface="+mn-ea"/>
                </a:rPr>
                <a:t> </a:t>
              </a:r>
              <a:r>
                <a:rPr lang="en-US" altLang="ko-KR" sz="700" b="1" dirty="0">
                  <a:latin typeface="+mn-ea"/>
                </a:rPr>
                <a:t>(</a:t>
              </a:r>
              <a:r>
                <a:rPr lang="ko-KR" altLang="en-US" sz="700" b="1" dirty="0">
                  <a:latin typeface="+mn-ea"/>
                </a:rPr>
                <a:t>일부 입력 가능</a:t>
              </a:r>
              <a:r>
                <a:rPr lang="en-US" altLang="ko-KR" sz="700" b="1" dirty="0">
                  <a:latin typeface="+mn-ea"/>
                </a:rPr>
                <a:t>)</a:t>
              </a:r>
              <a:endParaRPr lang="ko-KR" altLang="en-US" sz="700" b="1" dirty="0">
                <a:latin typeface="+mn-ea"/>
              </a:endParaRPr>
            </a:p>
          </p:txBody>
        </p:sp>
        <p:grpSp>
          <p:nvGrpSpPr>
            <p:cNvPr id="201" name="그룹 200"/>
            <p:cNvGrpSpPr/>
            <p:nvPr/>
          </p:nvGrpSpPr>
          <p:grpSpPr>
            <a:xfrm flipV="1">
              <a:off x="3140949" y="4485947"/>
              <a:ext cx="91438" cy="45719"/>
              <a:chOff x="6812560" y="3297172"/>
              <a:chExt cx="94010" cy="47005"/>
            </a:xfrm>
          </p:grpSpPr>
          <p:cxnSp>
            <p:nvCxnSpPr>
              <p:cNvPr id="202" name="직선 연결선 20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3" name="직선 연결선 20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04" name="모서리가 둥근 직사각형 203"/>
            <p:cNvSpPr/>
            <p:nvPr/>
          </p:nvSpPr>
          <p:spPr>
            <a:xfrm>
              <a:off x="1449284" y="4668748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 err="1">
                  <a:solidFill>
                    <a:schemeClr val="bg1">
                      <a:lumMod val="65000"/>
                    </a:schemeClr>
                  </a:solidFill>
                </a:rPr>
                <a:t>계약건명을</a:t>
              </a:r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625248"/>
              <a:ext cx="670770" cy="64633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</p:txBody>
        </p:sp>
        <p:sp>
          <p:nvSpPr>
            <p:cNvPr id="207" name="모서리가 둥근 직사각형 206"/>
            <p:cNvSpPr/>
            <p:nvPr/>
          </p:nvSpPr>
          <p:spPr>
            <a:xfrm>
              <a:off x="1449284" y="4890305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번호를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sp>
        <p:nvSpPr>
          <p:cNvPr id="120" name="타원 11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8770" y="581494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6</a:t>
            </a:r>
            <a:endParaRPr lang="ko-KR" altLang="en-US" sz="900" b="1" dirty="0"/>
          </a:p>
        </p:txBody>
      </p:sp>
      <p:grpSp>
        <p:nvGrpSpPr>
          <p:cNvPr id="134" name="그룹 133"/>
          <p:cNvGrpSpPr/>
          <p:nvPr/>
        </p:nvGrpSpPr>
        <p:grpSpPr>
          <a:xfrm flipV="1">
            <a:off x="3140949" y="2075438"/>
            <a:ext cx="91438" cy="45719"/>
            <a:chOff x="6812560" y="3297172"/>
            <a:chExt cx="94010" cy="47005"/>
          </a:xfrm>
        </p:grpSpPr>
        <p:cxnSp>
          <p:nvCxnSpPr>
            <p:cNvPr id="135" name="직선 연결선 134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6" name="직선 연결선 13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38087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7" name="TextBox 15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3472364"/>
            <a:ext cx="230514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검색 설정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3694902"/>
            <a:ext cx="670770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빠른 설정</a:t>
            </a:r>
            <a:endParaRPr lang="en-US" altLang="ko-KR" sz="700" dirty="0">
              <a:latin typeface="+mn-ea"/>
            </a:endParaRPr>
          </a:p>
        </p:txBody>
      </p:sp>
      <p:grpSp>
        <p:nvGrpSpPr>
          <p:cNvPr id="159" name="그룹 158"/>
          <p:cNvGrpSpPr/>
          <p:nvPr/>
        </p:nvGrpSpPr>
        <p:grpSpPr>
          <a:xfrm flipV="1">
            <a:off x="3140949" y="3570054"/>
            <a:ext cx="91438" cy="45719"/>
            <a:chOff x="6812560" y="3297172"/>
            <a:chExt cx="94010" cy="47005"/>
          </a:xfrm>
        </p:grpSpPr>
        <p:cxnSp>
          <p:nvCxnSpPr>
            <p:cNvPr id="160" name="직선 연결선 159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1" name="직선 연결선 160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8F2F56C4-B606-212C-F131-A4A30AE19BC8}"/>
              </a:ext>
            </a:extLst>
          </p:cNvPr>
          <p:cNvGrpSpPr/>
          <p:nvPr/>
        </p:nvGrpSpPr>
        <p:grpSpPr>
          <a:xfrm>
            <a:off x="1464781" y="3722533"/>
            <a:ext cx="859319" cy="188244"/>
            <a:chOff x="5613534" y="2854836"/>
            <a:chExt cx="804671" cy="188244"/>
          </a:xfrm>
        </p:grpSpPr>
        <p:sp>
          <p:nvSpPr>
            <p:cNvPr id="181" name="사각형: 둥근 모서리 86">
              <a:extLst>
                <a:ext uri="{FF2B5EF4-FFF2-40B4-BE49-F238E27FC236}">
                  <a16:creationId xmlns:a16="http://schemas.microsoft.com/office/drawing/2014/main" id="{C84908FA-11D4-E687-3603-3EA5852F6FAE}"/>
                </a:ext>
              </a:extLst>
            </p:cNvPr>
            <p:cNvSpPr/>
            <p:nvPr/>
          </p:nvSpPr>
          <p:spPr>
            <a:xfrm>
              <a:off x="5613534" y="2854836"/>
              <a:ext cx="804671" cy="188244"/>
            </a:xfrm>
            <a:prstGeom prst="roundRect">
              <a:avLst>
                <a:gd name="adj" fmla="val 1865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700" kern="0" dirty="0">
                  <a:latin typeface="맑은 고딕"/>
                </a:rPr>
                <a:t>2025-10-15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pic>
          <p:nvPicPr>
            <p:cNvPr id="182" name="그림 181">
              <a:extLst>
                <a:ext uri="{FF2B5EF4-FFF2-40B4-BE49-F238E27FC236}">
                  <a16:creationId xmlns:a16="http://schemas.microsoft.com/office/drawing/2014/main" id="{B217D5BC-8335-EED4-D47A-F3F4110845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65649" y="2876004"/>
              <a:ext cx="126296" cy="137278"/>
            </a:xfrm>
            <a:prstGeom prst="rect">
              <a:avLst/>
            </a:prstGeom>
          </p:spPr>
        </p:pic>
      </p:grpSp>
      <p:sp>
        <p:nvSpPr>
          <p:cNvPr id="178" name="TextBox 91">
            <a:extLst>
              <a:ext uri="{FF2B5EF4-FFF2-40B4-BE49-F238E27FC236}">
                <a16:creationId xmlns:a16="http://schemas.microsoft.com/office/drawing/2014/main" id="{02490888-B81F-0F94-5D5F-078AEEB39DDB}"/>
              </a:ext>
            </a:extLst>
          </p:cNvPr>
          <p:cNvSpPr txBox="1"/>
          <p:nvPr/>
        </p:nvSpPr>
        <p:spPr>
          <a:xfrm>
            <a:off x="2347279" y="3742480"/>
            <a:ext cx="8015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dirty="0">
                <a:solidFill>
                  <a:prstClr val="black"/>
                </a:solidFill>
                <a:cs typeface="Pretendard Medium" panose="02000603000000020004" pitchFamily="50" charset="-127"/>
              </a:rPr>
              <a:t>~</a:t>
            </a:r>
            <a:endParaRPr lang="ko-KR" altLang="en-US" sz="900" dirty="0">
              <a:solidFill>
                <a:prstClr val="black"/>
              </a:solidFill>
              <a:cs typeface="Pretendard Medium" panose="02000603000000020004" pitchFamily="50" charset="-127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1464781" y="3953202"/>
            <a:ext cx="1845146" cy="188135"/>
            <a:chOff x="1430277" y="4057651"/>
            <a:chExt cx="1845146" cy="188135"/>
          </a:xfrm>
        </p:grpSpPr>
        <p:sp>
          <p:nvSpPr>
            <p:cNvPr id="189" name="사각형: 둥근 모서리 169">
              <a:extLst>
                <a:ext uri="{FF2B5EF4-FFF2-40B4-BE49-F238E27FC236}">
                  <a16:creationId xmlns:a16="http://schemas.microsoft.com/office/drawing/2014/main" id="{A28DD831-0E4B-31EE-CB08-9E188754698D}"/>
                </a:ext>
              </a:extLst>
            </p:cNvPr>
            <p:cNvSpPr/>
            <p:nvPr/>
          </p:nvSpPr>
          <p:spPr>
            <a:xfrm>
              <a:off x="1430277" y="4057651"/>
              <a:ext cx="582017" cy="188135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최근 </a:t>
              </a:r>
              <a:r>
                <a:rPr kumimoji="1" lang="en-US" altLang="ko-KR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1</a:t>
              </a:r>
              <a:r>
                <a:rPr kumimoji="1" lang="ko-KR" altLang="en-US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개월</a:t>
              </a:r>
              <a:endParaRPr kumimoji="1" lang="en-US" sz="7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190" name="사각형: 둥근 모서리 171">
              <a:extLst>
                <a:ext uri="{FF2B5EF4-FFF2-40B4-BE49-F238E27FC236}">
                  <a16:creationId xmlns:a16="http://schemas.microsoft.com/office/drawing/2014/main" id="{75BECEC6-4045-95B1-98C2-242CA0FC5A06}"/>
                </a:ext>
              </a:extLst>
            </p:cNvPr>
            <p:cNvSpPr/>
            <p:nvPr/>
          </p:nvSpPr>
          <p:spPr>
            <a:xfrm>
              <a:off x="2061841" y="4057651"/>
              <a:ext cx="582017" cy="188135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latin typeface="+mn-ea"/>
                </a:rPr>
                <a:t>최근 </a:t>
              </a:r>
              <a:r>
                <a:rPr kumimoji="1" lang="en-US" altLang="ko-KR" sz="700" kern="0" dirty="0">
                  <a:latin typeface="+mn-ea"/>
                </a:rPr>
                <a:t>3</a:t>
              </a:r>
              <a:r>
                <a:rPr kumimoji="1" lang="ko-KR" altLang="en-US" sz="700" kern="0" dirty="0">
                  <a:latin typeface="+mn-ea"/>
                </a:rPr>
                <a:t>개월</a:t>
              </a:r>
              <a:endParaRPr kumimoji="1" lang="en-US" altLang="ko-KR" sz="700" kern="0" dirty="0">
                <a:latin typeface="+mn-ea"/>
              </a:endParaRPr>
            </a:p>
          </p:txBody>
        </p:sp>
        <p:sp>
          <p:nvSpPr>
            <p:cNvPr id="191" name="사각형: 둥근 모서리 172">
              <a:extLst>
                <a:ext uri="{FF2B5EF4-FFF2-40B4-BE49-F238E27FC236}">
                  <a16:creationId xmlns:a16="http://schemas.microsoft.com/office/drawing/2014/main" id="{7F182F00-C81F-5F02-6A1E-826222B231A9}"/>
                </a:ext>
              </a:extLst>
            </p:cNvPr>
            <p:cNvSpPr/>
            <p:nvPr/>
          </p:nvSpPr>
          <p:spPr>
            <a:xfrm>
              <a:off x="2693406" y="4057651"/>
              <a:ext cx="582017" cy="188135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lvl="0"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solidFill>
                    <a:prstClr val="black"/>
                  </a:solidFill>
                  <a:latin typeface="+mn-ea"/>
                </a:rPr>
                <a:t>최근 </a:t>
              </a:r>
              <a:r>
                <a:rPr kumimoji="1" lang="en-US" altLang="ko-KR" sz="700" kern="0" dirty="0">
                  <a:solidFill>
                    <a:prstClr val="black"/>
                  </a:solidFill>
                  <a:latin typeface="+mn-ea"/>
                </a:rPr>
                <a:t>6</a:t>
              </a:r>
              <a:r>
                <a:rPr kumimoji="1" lang="ko-KR" altLang="en-US" sz="700" kern="0" dirty="0">
                  <a:solidFill>
                    <a:prstClr val="black"/>
                  </a:solidFill>
                  <a:latin typeface="+mn-ea"/>
                </a:rPr>
                <a:t>개월</a:t>
              </a:r>
              <a:endParaRPr kumimoji="1" lang="en-US" altLang="ko-KR" sz="700" kern="0" dirty="0">
                <a:solidFill>
                  <a:prstClr val="black"/>
                </a:solidFill>
                <a:latin typeface="+mn-ea"/>
              </a:endParaRPr>
            </a:p>
          </p:txBody>
        </p:sp>
      </p:grpSp>
      <p:grpSp>
        <p:nvGrpSpPr>
          <p:cNvPr id="195" name="그룹 194">
            <a:extLst>
              <a:ext uri="{FF2B5EF4-FFF2-40B4-BE49-F238E27FC236}">
                <a16:creationId xmlns:a16="http://schemas.microsoft.com/office/drawing/2014/main" id="{8F2F56C4-B606-212C-F131-A4A30AE19BC8}"/>
              </a:ext>
            </a:extLst>
          </p:cNvPr>
          <p:cNvGrpSpPr/>
          <p:nvPr/>
        </p:nvGrpSpPr>
        <p:grpSpPr>
          <a:xfrm>
            <a:off x="2450608" y="3722533"/>
            <a:ext cx="859319" cy="188244"/>
            <a:chOff x="5613534" y="2854836"/>
            <a:chExt cx="804671" cy="188244"/>
          </a:xfrm>
        </p:grpSpPr>
        <p:sp>
          <p:nvSpPr>
            <p:cNvPr id="196" name="사각형: 둥근 모서리 86">
              <a:extLst>
                <a:ext uri="{FF2B5EF4-FFF2-40B4-BE49-F238E27FC236}">
                  <a16:creationId xmlns:a16="http://schemas.microsoft.com/office/drawing/2014/main" id="{C84908FA-11D4-E687-3603-3EA5852F6FAE}"/>
                </a:ext>
              </a:extLst>
            </p:cNvPr>
            <p:cNvSpPr/>
            <p:nvPr/>
          </p:nvSpPr>
          <p:spPr>
            <a:xfrm>
              <a:off x="5613534" y="2854836"/>
              <a:ext cx="804671" cy="188244"/>
            </a:xfrm>
            <a:prstGeom prst="roundRect">
              <a:avLst>
                <a:gd name="adj" fmla="val 1865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700" kern="0" dirty="0">
                  <a:latin typeface="맑은 고딕"/>
                </a:rPr>
                <a:t>2026-01-16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pic>
          <p:nvPicPr>
            <p:cNvPr id="197" name="그림 196">
              <a:extLst>
                <a:ext uri="{FF2B5EF4-FFF2-40B4-BE49-F238E27FC236}">
                  <a16:creationId xmlns:a16="http://schemas.microsoft.com/office/drawing/2014/main" id="{B217D5BC-8335-EED4-D47A-F3F4110845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65649" y="2876004"/>
              <a:ext cx="126296" cy="137278"/>
            </a:xfrm>
            <a:prstGeom prst="rect">
              <a:avLst/>
            </a:prstGeom>
          </p:spPr>
        </p:pic>
      </p:grpSp>
      <p:sp>
        <p:nvSpPr>
          <p:cNvPr id="151" name="TextBox 15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974060"/>
            <a:ext cx="230514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 err="1">
                <a:latin typeface="+mn-ea"/>
              </a:rPr>
              <a:t>업무구분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41620" y="2204218"/>
            <a:ext cx="2305144" cy="10772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전체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물품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용역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공사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국외</a:t>
            </a:r>
            <a:endParaRPr lang="en-US" altLang="ko-KR" sz="7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62" name="직사각형 161"/>
          <p:cNvSpPr/>
          <p:nvPr/>
        </p:nvSpPr>
        <p:spPr>
          <a:xfrm>
            <a:off x="772169" y="2270530"/>
            <a:ext cx="107950" cy="10795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3" name="직사각형 162"/>
          <p:cNvSpPr/>
          <p:nvPr/>
        </p:nvSpPr>
        <p:spPr>
          <a:xfrm>
            <a:off x="772169" y="2487756"/>
            <a:ext cx="107950" cy="1079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8" name="직사각형 167"/>
          <p:cNvSpPr/>
          <p:nvPr/>
        </p:nvSpPr>
        <p:spPr>
          <a:xfrm>
            <a:off x="772169" y="2684846"/>
            <a:ext cx="107950" cy="10795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1" name="직사각형 170"/>
          <p:cNvSpPr/>
          <p:nvPr/>
        </p:nvSpPr>
        <p:spPr>
          <a:xfrm>
            <a:off x="772169" y="2899507"/>
            <a:ext cx="107950" cy="10795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2" name="직사각형 171"/>
          <p:cNvSpPr/>
          <p:nvPr/>
        </p:nvSpPr>
        <p:spPr>
          <a:xfrm>
            <a:off x="772169" y="3111473"/>
            <a:ext cx="107950" cy="1079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9" name="TextBox 178"/>
          <p:cNvSpPr txBox="1"/>
          <p:nvPr/>
        </p:nvSpPr>
        <p:spPr>
          <a:xfrm>
            <a:off x="712771" y="2449398"/>
            <a:ext cx="22153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chemeClr val="bg1"/>
                </a:solidFill>
              </a:rPr>
              <a:t>v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113" name="타원 11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8770" y="340678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15" name="타원 11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408364" y="369896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3-1</a:t>
            </a:r>
            <a:endParaRPr lang="ko-KR" altLang="en-US" sz="500" b="1" dirty="0"/>
          </a:p>
        </p:txBody>
      </p:sp>
      <p:sp>
        <p:nvSpPr>
          <p:cNvPr id="121" name="타원 12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2219722" y="369896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3-2</a:t>
            </a:r>
            <a:endParaRPr lang="ko-KR" altLang="en-US" sz="500" b="1" dirty="0"/>
          </a:p>
        </p:txBody>
      </p:sp>
      <p:sp>
        <p:nvSpPr>
          <p:cNvPr id="122" name="타원 12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408364" y="396605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/>
              <a:t>3</a:t>
            </a:r>
            <a:r>
              <a:rPr lang="en-US" altLang="ko-KR" sz="500" b="1" dirty="0" smtClean="0"/>
              <a:t>-3</a:t>
            </a:r>
            <a:endParaRPr lang="ko-KR" altLang="en-US" sz="500" b="1" dirty="0"/>
          </a:p>
        </p:txBody>
      </p:sp>
      <p:sp>
        <p:nvSpPr>
          <p:cNvPr id="124" name="타원 12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23476" y="192242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424318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66" name="그룹 65"/>
          <p:cNvGrpSpPr/>
          <p:nvPr/>
        </p:nvGrpSpPr>
        <p:grpSpPr>
          <a:xfrm rot="16200000">
            <a:off x="3178184" y="4869786"/>
            <a:ext cx="91438" cy="45719"/>
            <a:chOff x="6812560" y="3297172"/>
            <a:chExt cx="94010" cy="47005"/>
          </a:xfrm>
        </p:grpSpPr>
        <p:cxnSp>
          <p:nvCxnSpPr>
            <p:cNvPr id="67" name="직선 연결선 66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직선 연결선 67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71181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대금청구</a:t>
            </a:r>
            <a:r>
              <a:rPr lang="ko-KR" altLang="en-US" dirty="0" smtClean="0"/>
              <a:t> 목록의 </a:t>
            </a:r>
            <a:r>
              <a:rPr lang="ko-KR" altLang="en-US" dirty="0" err="1" smtClean="0"/>
              <a:t>계약번호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계약명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대금청구신청목록 </a:t>
            </a:r>
            <a:r>
              <a:rPr lang="ko-KR" altLang="en-US" dirty="0"/>
              <a:t>데이터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세금계산서 </a:t>
            </a:r>
            <a:r>
              <a:rPr lang="ko-KR" altLang="en-US" dirty="0" err="1"/>
              <a:t>여러건이</a:t>
            </a:r>
            <a:r>
              <a:rPr lang="ko-KR" altLang="en-US" dirty="0"/>
              <a:t> 물려있는 경우 팝업에서 목록을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세부 목록 선택 시 상세 페이지 </a:t>
            </a:r>
            <a:r>
              <a:rPr lang="ko-KR" altLang="en-US" dirty="0" smtClean="0"/>
              <a:t>이동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표시 레이블 참조</a:t>
            </a: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smtClean="0">
                <a:latin typeface="+mn-ea"/>
              </a:rPr>
              <a:t>대금청구신청목록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smtClean="0">
                <a:latin typeface="+mn-ea"/>
              </a:rPr>
              <a:t>대금청구신청목록</a:t>
            </a:r>
            <a:r>
              <a:rPr lang="ko-KR" altLang="en-US" dirty="0" smtClean="0"/>
              <a:t> </a:t>
            </a:r>
            <a:r>
              <a:rPr lang="ko-KR" altLang="en-US" dirty="0"/>
              <a:t>팝업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 smtClean="0">
                <a:latin typeface="+mn-ea"/>
              </a:rPr>
              <a:t>&gt; </a:t>
            </a:r>
            <a:r>
              <a:rPr lang="ko-KR" altLang="en-US" dirty="0" smtClean="0">
                <a:latin typeface="+mn-ea"/>
              </a:rPr>
              <a:t>대금청구신청목록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MUI-WM-01-P13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>
                <a:latin typeface="+mn-ea"/>
              </a:rPr>
              <a:t>대금청구통합목록</a:t>
            </a: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6" name="양쪽 모서리가 둥근 사각형 165"/>
          <p:cNvSpPr/>
          <p:nvPr/>
        </p:nvSpPr>
        <p:spPr>
          <a:xfrm>
            <a:off x="675399" y="1914401"/>
            <a:ext cx="2712027" cy="4317897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167" name="모서리가 둥근 직사각형 166"/>
          <p:cNvSpPr/>
          <p:nvPr/>
        </p:nvSpPr>
        <p:spPr>
          <a:xfrm>
            <a:off x="1761412" y="195102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168" name="그룹 167"/>
          <p:cNvGrpSpPr/>
          <p:nvPr/>
        </p:nvGrpSpPr>
        <p:grpSpPr>
          <a:xfrm>
            <a:off x="3164338" y="2085445"/>
            <a:ext cx="94010" cy="94010"/>
            <a:chOff x="6812560" y="3297172"/>
            <a:chExt cx="94010" cy="94010"/>
          </a:xfrm>
        </p:grpSpPr>
        <p:cxnSp>
          <p:nvCxnSpPr>
            <p:cNvPr id="169" name="직선 연결선 16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0" name="직선 연결선 169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72" name="TextBox 17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206612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 smtClean="0">
                <a:latin typeface="+mn-ea"/>
              </a:rPr>
              <a:t>대금청구</a:t>
            </a:r>
            <a:r>
              <a:rPr lang="ko-KR" altLang="en-US" sz="900" dirty="0" smtClean="0">
                <a:latin typeface="+mn-ea"/>
              </a:rPr>
              <a:t> </a:t>
            </a:r>
            <a:r>
              <a:rPr lang="ko-KR" altLang="en-US" sz="900" dirty="0" err="1" smtClean="0">
                <a:latin typeface="+mn-ea"/>
              </a:rPr>
              <a:t>신청목록</a:t>
            </a:r>
            <a:endParaRPr lang="ko-KR" altLang="en-US" sz="900" dirty="0">
              <a:latin typeface="+mn-ea"/>
            </a:endParaRPr>
          </a:p>
        </p:txBody>
      </p: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32752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90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13061"/>
            <a:ext cx="2446613" cy="279492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192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3383452"/>
            <a:ext cx="2473257" cy="2616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800" dirty="0" err="1">
                <a:solidFill>
                  <a:prstClr val="black"/>
                </a:solidFill>
              </a:rPr>
              <a:t>청구번호</a:t>
            </a:r>
            <a:r>
              <a:rPr lang="ko-KR" altLang="en-US" sz="800" dirty="0">
                <a:solidFill>
                  <a:prstClr val="black"/>
                </a:solidFill>
              </a:rPr>
              <a:t> </a:t>
            </a:r>
            <a:r>
              <a:rPr lang="en-US" altLang="ko-KR" sz="800" dirty="0">
                <a:solidFill>
                  <a:prstClr val="black"/>
                </a:solidFill>
              </a:rPr>
              <a:t>12315 - 42</a:t>
            </a:r>
          </a:p>
          <a:p>
            <a:pPr lvl="0"/>
            <a:r>
              <a:rPr lang="ko-KR" altLang="en-US" sz="900" b="1" dirty="0" err="1">
                <a:solidFill>
                  <a:prstClr val="black"/>
                </a:solidFill>
              </a:rPr>
              <a:t>대금청구서</a:t>
            </a:r>
            <a:endParaRPr lang="ko-KR" altLang="en-US" sz="1050" b="1" dirty="0">
              <a:solidFill>
                <a:prstClr val="black"/>
              </a:solidFill>
            </a:endParaRPr>
          </a:p>
        </p:txBody>
      </p:sp>
      <p:sp>
        <p:nvSpPr>
          <p:cNvPr id="193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3774248"/>
            <a:ext cx="307777" cy="4154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smtClean="0">
                <a:latin typeface="+mn-ea"/>
              </a:rPr>
              <a:t>청구금액</a:t>
            </a:r>
            <a:endParaRPr lang="en-US" altLang="ko-KR" sz="6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smtClean="0">
                <a:latin typeface="+mn-ea"/>
              </a:rPr>
              <a:t>작성일자</a:t>
            </a:r>
            <a:endParaRPr lang="en-US" altLang="ko-KR" sz="6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 smtClean="0">
                <a:latin typeface="+mn-ea"/>
              </a:rPr>
              <a:t>청구일자</a:t>
            </a:r>
            <a:endParaRPr lang="en-US" altLang="ko-KR" sz="600" dirty="0" smtClean="0">
              <a:latin typeface="+mn-ea"/>
            </a:endParaRPr>
          </a:p>
        </p:txBody>
      </p:sp>
      <p:sp>
        <p:nvSpPr>
          <p:cNvPr id="194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594574" y="3766887"/>
            <a:ext cx="657231" cy="4154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000,000,000,000 </a:t>
            </a:r>
            <a:r>
              <a:rPr lang="ko-KR" altLang="en-US" sz="600" dirty="0" smtClean="0">
                <a:latin typeface="+mn-ea"/>
              </a:rPr>
              <a:t>원</a:t>
            </a:r>
            <a:endParaRPr lang="ko-KR" altLang="en-US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600" dirty="0" smtClean="0">
                <a:latin typeface="+mn-ea"/>
              </a:rPr>
              <a:t>2025-10-15</a:t>
            </a:r>
          </a:p>
          <a:p>
            <a:pPr>
              <a:lnSpc>
                <a:spcPct val="150000"/>
              </a:lnSpc>
            </a:pPr>
            <a:r>
              <a:rPr lang="en-US" altLang="ko-KR" sz="600" dirty="0" smtClean="0">
                <a:latin typeface="+mn-ea"/>
              </a:rPr>
              <a:t>2025-11-20</a:t>
            </a:r>
            <a:endParaRPr lang="ko-KR" altLang="en-US" sz="600" dirty="0">
              <a:latin typeface="+mn-ea"/>
            </a:endParaRPr>
          </a:p>
        </p:txBody>
      </p:sp>
      <p:grpSp>
        <p:nvGrpSpPr>
          <p:cNvPr id="197" name="그룹 196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314962"/>
            <a:ext cx="76863" cy="292489"/>
            <a:chOff x="3750067" y="4683795"/>
            <a:chExt cx="76863" cy="292489"/>
          </a:xfrm>
        </p:grpSpPr>
        <p:sp>
          <p:nvSpPr>
            <p:cNvPr id="198" name="타원 197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99" name="타원 198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200" name="타원 199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cxnSp>
        <p:nvCxnSpPr>
          <p:cNvPr id="207" name="직선 연결선 20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29801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9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446715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 smtClean="0"/>
              <a:t>계약번호</a:t>
            </a:r>
            <a:r>
              <a:rPr lang="ko-KR" altLang="en-US" sz="700" dirty="0" smtClean="0"/>
              <a:t> </a:t>
            </a:r>
            <a:r>
              <a:rPr lang="en-US" altLang="ko-KR" sz="700" dirty="0" smtClean="0"/>
              <a:t>2025 000 000 - 01</a:t>
            </a:r>
          </a:p>
          <a:p>
            <a:r>
              <a:rPr lang="ko-KR" altLang="en-US" sz="900" b="1" dirty="0" smtClean="0"/>
              <a:t>변속기 부품 계약의 건</a:t>
            </a:r>
            <a:endParaRPr lang="ko-KR" altLang="en-US" sz="900" b="1" dirty="0"/>
          </a:p>
        </p:txBody>
      </p:sp>
      <p:cxnSp>
        <p:nvCxnSpPr>
          <p:cNvPr id="210" name="직선 연결선 20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75932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7" name="직선 연결선 2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04507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18" name="TextBox 21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2771812"/>
            <a:ext cx="42578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 smtClean="0">
                <a:solidFill>
                  <a:srgbClr val="0070C0"/>
                </a:solidFill>
                <a:latin typeface="+mn-ea"/>
              </a:rPr>
              <a:t>3</a:t>
            </a:r>
            <a:r>
              <a:rPr lang="ko-KR" altLang="en-US" sz="700" dirty="0" smtClean="0">
                <a:latin typeface="+mn-ea"/>
              </a:rPr>
              <a:t>건</a:t>
            </a:r>
            <a:endParaRPr lang="ko-KR" altLang="en-US" sz="700" dirty="0">
              <a:latin typeface="+mn-ea"/>
            </a:endParaRPr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48542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grpSp>
        <p:nvGrpSpPr>
          <p:cNvPr id="3" name="그룹 2"/>
          <p:cNvGrpSpPr/>
          <p:nvPr/>
        </p:nvGrpSpPr>
        <p:grpSpPr>
          <a:xfrm>
            <a:off x="10328332" y="3719117"/>
            <a:ext cx="2695830" cy="1303657"/>
            <a:chOff x="3840447" y="4011305"/>
            <a:chExt cx="2695830" cy="1303657"/>
          </a:xfrm>
        </p:grpSpPr>
        <p:sp>
          <p:nvSpPr>
            <p:cNvPr id="221" name="TextBox 22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40447" y="4536339"/>
              <a:ext cx="54734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구분</a:t>
              </a:r>
            </a:p>
          </p:txBody>
        </p:sp>
        <p:sp>
          <p:nvSpPr>
            <p:cNvPr id="222" name="모서리가 둥근 직사각형 221"/>
            <p:cNvSpPr/>
            <p:nvPr/>
          </p:nvSpPr>
          <p:spPr>
            <a:xfrm>
              <a:off x="4608594" y="4530500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수정</a:t>
              </a:r>
            </a:p>
          </p:txBody>
        </p:sp>
        <p:sp>
          <p:nvSpPr>
            <p:cNvPr id="226" name="모서리가 둥근 직사각형 225"/>
            <p:cNvSpPr/>
            <p:nvPr/>
          </p:nvSpPr>
          <p:spPr>
            <a:xfrm>
              <a:off x="4313169" y="4530500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600" dirty="0"/>
                <a:t>일반</a:t>
              </a:r>
              <a:endParaRPr lang="ko-KR" altLang="en-US" sz="600" dirty="0">
                <a:solidFill>
                  <a:schemeClr val="dk1"/>
                </a:solidFill>
              </a:endParaRPr>
            </a:p>
          </p:txBody>
        </p: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318635" y="4011305"/>
              <a:ext cx="54734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표시 레이블</a:t>
              </a:r>
            </a:p>
          </p:txBody>
        </p:sp>
        <p:sp>
          <p:nvSpPr>
            <p:cNvPr id="228" name="모서리가 둥근 직사각형 227"/>
            <p:cNvSpPr/>
            <p:nvPr/>
          </p:nvSpPr>
          <p:spPr>
            <a:xfrm>
              <a:off x="4318634" y="4863031"/>
              <a:ext cx="475615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/>
                <a:t>국세청승인</a:t>
              </a:r>
              <a:endParaRPr lang="ko-KR" altLang="en-US" sz="600" dirty="0"/>
            </a:p>
          </p:txBody>
        </p: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40447" y="4868870"/>
              <a:ext cx="54734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진행상태</a:t>
              </a:r>
            </a:p>
          </p:txBody>
        </p:sp>
        <p:sp>
          <p:nvSpPr>
            <p:cNvPr id="230" name="모서리가 둥근 직사각형 229"/>
            <p:cNvSpPr/>
            <p:nvPr/>
          </p:nvSpPr>
          <p:spPr>
            <a:xfrm>
              <a:off x="4840814" y="4863031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/>
                <a:t>작성</a:t>
              </a:r>
              <a:endParaRPr lang="ko-KR" altLang="en-US" sz="600" dirty="0"/>
            </a:p>
          </p:txBody>
        </p:sp>
        <p:sp>
          <p:nvSpPr>
            <p:cNvPr id="231" name="모서리가 둥근 직사각형 230"/>
            <p:cNvSpPr/>
            <p:nvPr/>
          </p:nvSpPr>
          <p:spPr>
            <a:xfrm>
              <a:off x="5130857" y="4863031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저장</a:t>
              </a:r>
            </a:p>
          </p:txBody>
        </p:sp>
        <p:sp>
          <p:nvSpPr>
            <p:cNvPr id="232" name="모서리가 둥근 직사각형 231"/>
            <p:cNvSpPr/>
            <p:nvPr/>
          </p:nvSpPr>
          <p:spPr>
            <a:xfrm>
              <a:off x="5099260" y="5195562"/>
              <a:ext cx="572877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공급가액 변동</a:t>
              </a:r>
            </a:p>
          </p:txBody>
        </p:sp>
        <p:sp>
          <p:nvSpPr>
            <p:cNvPr id="233" name="모서리가 둥근 직사각형 232"/>
            <p:cNvSpPr/>
            <p:nvPr/>
          </p:nvSpPr>
          <p:spPr>
            <a:xfrm>
              <a:off x="4318635" y="5195562"/>
              <a:ext cx="726440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기재사항 </a:t>
              </a:r>
              <a:r>
                <a:rPr lang="ko-KR" altLang="en-US" sz="600" dirty="0" err="1"/>
                <a:t>착오정정</a:t>
              </a:r>
              <a:endParaRPr lang="ko-KR" altLang="en-US" sz="600" dirty="0"/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40447" y="5201401"/>
              <a:ext cx="54734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 err="1">
                  <a:latin typeface="+mn-ea"/>
                </a:rPr>
                <a:t>수정사유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235" name="모서리가 둥근 직사각형 234"/>
            <p:cNvSpPr/>
            <p:nvPr/>
          </p:nvSpPr>
          <p:spPr>
            <a:xfrm>
              <a:off x="6023985" y="5195562"/>
              <a:ext cx="512292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계약의 해제</a:t>
              </a:r>
            </a:p>
          </p:txBody>
        </p:sp>
        <p:sp>
          <p:nvSpPr>
            <p:cNvPr id="236" name="모서리가 둥근 직사각형 235"/>
            <p:cNvSpPr/>
            <p:nvPr/>
          </p:nvSpPr>
          <p:spPr>
            <a:xfrm>
              <a:off x="5726322" y="5195562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kumimoji="1" lang="ko-KR" altLang="en-US" sz="600" spc="-60" dirty="0">
                  <a:solidFill>
                    <a:schemeClr val="tx1"/>
                  </a:solidFill>
                  <a:latin typeface="Verdana" panose="020B0604030504040204" pitchFamily="34" charset="0"/>
                </a:rPr>
                <a:t>환입</a:t>
              </a:r>
              <a:endParaRPr lang="ko-KR" altLang="en-US" sz="600" dirty="0"/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10036" y="1349367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표시 레이블</a:t>
            </a:r>
            <a:endParaRPr lang="ko-KR" altLang="en-US" sz="700" dirty="0">
              <a:latin typeface="+mn-ea"/>
            </a:endParaRPr>
          </a:p>
        </p:txBody>
      </p:sp>
      <p:graphicFrame>
        <p:nvGraphicFramePr>
          <p:cNvPr id="55" name="표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5277727"/>
              </p:ext>
            </p:extLst>
          </p:nvPr>
        </p:nvGraphicFramePr>
        <p:xfrm>
          <a:off x="3801286" y="1616448"/>
          <a:ext cx="3069778" cy="221488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34889">
                  <a:extLst>
                    <a:ext uri="{9D8B030D-6E8A-4147-A177-3AD203B41FA5}">
                      <a16:colId xmlns:a16="http://schemas.microsoft.com/office/drawing/2014/main" val="3115782702"/>
                    </a:ext>
                  </a:extLst>
                </a:gridCol>
                <a:gridCol w="1534889">
                  <a:extLst>
                    <a:ext uri="{9D8B030D-6E8A-4147-A177-3AD203B41FA5}">
                      <a16:colId xmlns:a16="http://schemas.microsoft.com/office/drawing/2014/main" val="3935822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항목명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표시 값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709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>
                          <a:latin typeface="+mn-ea"/>
                        </a:rPr>
                        <a:t>업무구분</a:t>
                      </a:r>
                      <a:r>
                        <a:rPr lang="ko-KR" altLang="en-US" sz="700" dirty="0" smtClean="0"/>
                        <a:t> 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en-US" altLang="ko-KR" sz="7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taskSecd</a:t>
                      </a:r>
                      <a:r>
                        <a:rPr lang="en-US" altLang="ko-KR" sz="700" dirty="0" smtClean="0"/>
                        <a:t>)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물품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smtClean="0"/>
                        <a:t>용역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smtClean="0"/>
                        <a:t>공사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0468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확정구분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700" dirty="0" err="1" smtClean="0">
                          <a:latin typeface="+mn-ea"/>
                          <a:ea typeface="+mn-ea"/>
                        </a:rPr>
                        <a:t>cfmtnYn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Y : 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확정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, N : </a:t>
                      </a: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미확정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6345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세액여부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700" dirty="0" err="1" smtClean="0">
                          <a:latin typeface="+mn-ea"/>
                          <a:ea typeface="+mn-ea"/>
                        </a:rPr>
                        <a:t>vatSecd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A : </a:t>
                      </a: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세액있음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, B : </a:t>
                      </a: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세액없음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9087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진행상태 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7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dlvdocPrgrsSt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국세청승인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작성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저장</a:t>
                      </a:r>
                      <a:endParaRPr lang="en-US" altLang="ko-KR" sz="700" dirty="0" smtClean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dirty="0" smtClean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:UA34(</a:t>
                      </a: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부대조달대금청구진행상태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),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UB58(</a:t>
                      </a: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부대조달시설용역대금청구진행상태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9960088"/>
                  </a:ext>
                </a:extLst>
              </a:tr>
            </a:tbl>
          </a:graphicData>
        </a:graphic>
      </p:graphicFrame>
      <p:sp>
        <p:nvSpPr>
          <p:cNvPr id="60" name="모서리가 둥근 직사각형 59"/>
          <p:cNvSpPr/>
          <p:nvPr/>
        </p:nvSpPr>
        <p:spPr>
          <a:xfrm>
            <a:off x="781461" y="3209691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61" name="모서리가 둥근 직사각형 60"/>
          <p:cNvSpPr/>
          <p:nvPr/>
        </p:nvSpPr>
        <p:spPr>
          <a:xfrm>
            <a:off x="1075656" y="3209691"/>
            <a:ext cx="248320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/>
              <a:t>확정</a:t>
            </a:r>
            <a:endParaRPr lang="ko-KR" altLang="en-US" sz="600" dirty="0"/>
          </a:p>
        </p:txBody>
      </p:sp>
      <p:sp>
        <p:nvSpPr>
          <p:cNvPr id="62" name="모서리가 둥근 직사각형 61"/>
          <p:cNvSpPr/>
          <p:nvPr/>
        </p:nvSpPr>
        <p:spPr>
          <a:xfrm>
            <a:off x="1374693" y="3209691"/>
            <a:ext cx="409657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 smtClean="0"/>
              <a:t>세액있음</a:t>
            </a:r>
            <a:endParaRPr lang="ko-KR" altLang="en-US" sz="600" dirty="0"/>
          </a:p>
        </p:txBody>
      </p:sp>
      <p:sp>
        <p:nvSpPr>
          <p:cNvPr id="63" name="모서리가 둥근 직사각형 62"/>
          <p:cNvSpPr/>
          <p:nvPr/>
        </p:nvSpPr>
        <p:spPr>
          <a:xfrm>
            <a:off x="1835067" y="3209691"/>
            <a:ext cx="489033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 smtClean="0"/>
              <a:t>국세청승인</a:t>
            </a:r>
            <a:endParaRPr lang="ko-KR" altLang="en-US" sz="600" dirty="0"/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42819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grpSp>
        <p:nvGrpSpPr>
          <p:cNvPr id="65" name="그룹 64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66" name="직사각형 65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2026-08-05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67" name="직사각형 66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레이블</a:t>
              </a:r>
              <a:r>
                <a:rPr lang="en-US" altLang="ko-KR" sz="700" dirty="0" smtClean="0"/>
                <a:t>(</a:t>
              </a:r>
              <a:r>
                <a:rPr lang="ko-KR" altLang="en-US" sz="700" dirty="0" err="1" smtClean="0"/>
                <a:t>뱃지</a:t>
              </a:r>
              <a:r>
                <a:rPr lang="en-US" altLang="ko-KR" sz="700" dirty="0" smtClean="0"/>
                <a:t>)</a:t>
              </a:r>
              <a:r>
                <a:rPr lang="ko-KR" altLang="en-US" sz="700" dirty="0" smtClean="0"/>
                <a:t> 설명 추가</a:t>
              </a:r>
              <a:r>
                <a:rPr lang="en-US" altLang="ko-KR" sz="700" dirty="0" smtClean="0"/>
                <a:t>,</a:t>
              </a:r>
              <a:r>
                <a:rPr lang="ko-KR" altLang="en-US" sz="700" dirty="0" smtClean="0"/>
                <a:t> 변경</a:t>
              </a:r>
              <a:endParaRPr lang="en-US" altLang="ko-KR" sz="700" dirty="0" smtClean="0"/>
            </a:p>
            <a:p>
              <a:pPr marL="228600" indent="-228600">
                <a:buAutoNum type="arabicPeriod"/>
              </a:pPr>
              <a:r>
                <a:rPr lang="ko-KR" altLang="en-US" sz="700" dirty="0" smtClean="0"/>
                <a:t>카드 목록 </a:t>
              </a:r>
              <a:r>
                <a:rPr lang="en-US" altLang="ko-KR" sz="700" dirty="0" smtClean="0"/>
                <a:t>–</a:t>
              </a:r>
              <a:r>
                <a:rPr lang="ko-KR" altLang="en-US" sz="700" dirty="0" smtClean="0"/>
                <a:t> </a:t>
              </a:r>
              <a:r>
                <a:rPr lang="ko-KR" altLang="en-US" sz="700" dirty="0" smtClean="0"/>
                <a:t>항목에 맞춰 변경</a:t>
              </a:r>
              <a:endParaRPr lang="ko-KR" altLang="en-US" sz="700" dirty="0"/>
            </a:p>
          </p:txBody>
        </p:sp>
      </p:grpSp>
    </p:spTree>
    <p:extLst>
      <p:ext uri="{BB962C8B-B14F-4D97-AF65-F5344CB8AC3E}">
        <p14:creationId xmlns:p14="http://schemas.microsoft.com/office/powerpoint/2010/main" val="24546281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3084746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대금청구통합목록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dmt_PymtClmIntgSrch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271CA1-8B7B-01B8-8587-605BE3417C65}"/>
              </a:ext>
            </a:extLst>
          </p:cNvPr>
          <p:cNvSpPr txBox="1"/>
          <p:nvPr/>
        </p:nvSpPr>
        <p:spPr>
          <a:xfrm>
            <a:off x="458117" y="2078900"/>
            <a:ext cx="2664759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대금청구목록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dlt_pymtClmList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1014316"/>
          <a:ext cx="8994883" cy="1091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ctrtBgngYmd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ctrtEndYmd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계약일자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-mm-dd((From-To))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계약번호검색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공통팝업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4773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</a:rPr>
                        <a:t>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taskSeCd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업무구분을 선택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FC692424-6A27-FF04-83B1-DBDD428A585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2301691"/>
          <a:ext cx="8994883" cy="19392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40355524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조회결과 자료 순번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N/A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그리드 </a:t>
                      </a: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rownum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taskSeCd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업무구분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996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83255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0316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bzentyNm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업체명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2881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입찰방법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bidMthdNm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입찰방법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:BDTC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23475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계약종류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jntCtrtCdNm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계약종류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N/A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:GTSA0013(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대금청구계약종류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19156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DB6E65A-2A9E-428A-5B6F-2D9A70A8AC9B}"/>
              </a:ext>
            </a:extLst>
          </p:cNvPr>
          <p:cNvSpPr txBox="1"/>
          <p:nvPr/>
        </p:nvSpPr>
        <p:spPr>
          <a:xfrm>
            <a:off x="458117" y="4308312"/>
            <a:ext cx="3229016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대금청구 신청목록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dlt_pymtClmAplyList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2AFEE4E0-F73E-BA2F-1662-ED68211F185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4541300"/>
          <a:ext cx="8994883" cy="18672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조회결과 자료 순번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N/A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그리드 </a:t>
                      </a: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rownum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taskSeCd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업무구분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49216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clmAmt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13302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확정구분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cfmtnYn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확정구분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 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확정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N :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미확정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00533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vatSecd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세액여부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A 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있음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B 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없음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3807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작성일자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wrtYmd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작성일자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41825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clmYmd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청구일자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4773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dlvdocPrgrsSt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처리상태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:UA34(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부대조달대금청구진행상태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),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UB58(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부대조달시설용역대금청구진행상태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</a:tbl>
          </a:graphicData>
        </a:graphic>
      </p:graphicFrame>
      <p:sp>
        <p:nvSpPr>
          <p:cNvPr id="7" name="Text Box 73">
            <a:extLst>
              <a:ext uri="{FF2B5EF4-FFF2-40B4-BE49-F238E27FC236}">
                <a16:creationId xmlns:a16="http://schemas.microsoft.com/office/drawing/2014/main" id="{AC6556DB-F5FC-C865-D984-44E8158CA0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grpSp>
        <p:nvGrpSpPr>
          <p:cNvPr id="11" name="그룹 10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12" name="직사각형 11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2026-08-05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err="1" smtClean="0"/>
                <a:t>대금청구</a:t>
              </a:r>
              <a:r>
                <a:rPr lang="ko-KR" altLang="en-US" sz="700" dirty="0" smtClean="0"/>
                <a:t> 신청 목록 최신화</a:t>
              </a:r>
              <a:endParaRPr lang="ko-KR" altLang="en-US" sz="700" dirty="0"/>
            </a:p>
          </p:txBody>
        </p:sp>
      </p:grpSp>
    </p:spTree>
    <p:extLst>
      <p:ext uri="{BB962C8B-B14F-4D97-AF65-F5344CB8AC3E}">
        <p14:creationId xmlns:p14="http://schemas.microsoft.com/office/powerpoint/2010/main" val="34904875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20</a:t>
            </a:fld>
            <a:endParaRPr lang="ko-KR" altLang="en-US" dirty="0"/>
          </a:p>
        </p:txBody>
      </p:sp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89E1827E-1988-380A-F9F3-3955A79B0F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4835762"/>
              </p:ext>
            </p:extLst>
          </p:nvPr>
        </p:nvGraphicFramePr>
        <p:xfrm>
          <a:off x="453000" y="1041145"/>
          <a:ext cx="8995591" cy="26265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3103963203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공통코드정보를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계약일자를 현재일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– M,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현재일로 기본 값 설정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업무구분은 전체로 설정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검색 클릭 이벤트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scwin.btn_search_onclick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조회조건에 해당하는 결과를 대금청구목록 그리드에 출력한다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10183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대금청구안내문 클릭 이벤트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scwin.btn_pymtClmGdntc_onclick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대금청구 안내문을 팝업으로 호출한다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(MUI-WM-01-P09)</a:t>
                      </a:r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대금청구안내문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3625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 err="1" smtClean="0"/>
                        <a:t>대금청구</a:t>
                      </a:r>
                      <a:r>
                        <a:rPr lang="ko-KR" altLang="en-US" sz="800" dirty="0" smtClean="0"/>
                        <a:t> </a:t>
                      </a:r>
                      <a:r>
                        <a:rPr lang="ko-KR" altLang="en-US" sz="800" dirty="0" err="1" smtClean="0"/>
                        <a:t>카드목록</a:t>
                      </a:r>
                      <a:r>
                        <a:rPr lang="ko-KR" altLang="en-US" sz="800" dirty="0" smtClean="0"/>
                        <a:t> 클릭 이벤트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latin typeface="+mn-ea"/>
                          <a:ea typeface="+mn-ea"/>
                        </a:rPr>
                        <a:t>scwin.btn_pymtClmMdfcnSbmsn</a:t>
                      </a:r>
                      <a:endParaRPr lang="en-US" altLang="ko-KR" sz="800" dirty="0" smtClean="0">
                        <a:latin typeface="+mn-ea"/>
                        <a:ea typeface="+mn-ea"/>
                      </a:endParaRP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_</a:t>
                      </a:r>
                      <a:r>
                        <a:rPr lang="en-US" altLang="ko-KR" sz="800" dirty="0" err="1" smtClean="0">
                          <a:latin typeface="+mn-ea"/>
                          <a:ea typeface="+mn-ea"/>
                        </a:rPr>
                        <a:t>onclick</a:t>
                      </a:r>
                      <a:endParaRPr lang="ko-KR" altLang="en-US" sz="800" dirty="0" smtClean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대금청구신청목록을 호출한다</a:t>
                      </a: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 smtClean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(MUI-WM-01-P13) </a:t>
                      </a:r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대금청구신청목록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59264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 smtClean="0"/>
                        <a:t>대금청구신청목록 카드 </a:t>
                      </a:r>
                      <a:r>
                        <a:rPr lang="ko-KR" altLang="en-US" sz="800" dirty="0"/>
                        <a:t>클릭 이벤트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latin typeface="+mn-ea"/>
                          <a:ea typeface="+mn-ea"/>
                        </a:rPr>
                        <a:t>scwin.btn_pymtClmMdfcnAplyDtl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대금청구 상세화면을 호출한다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(MUI-WM-01-M02) </a:t>
                      </a:r>
                      <a:r>
                        <a:rPr kumimoji="0" lang="ko-KR" altLang="en-US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선금신청서상세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/>
                      </a:r>
                      <a:b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</a:b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(MUI-WM-01-M03) </a:t>
                      </a:r>
                      <a:r>
                        <a:rPr kumimoji="0" lang="ko-KR" altLang="en-US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착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중도금신청서상세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/>
                      </a:r>
                      <a:b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</a:b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(MUI-WM-01-M05) </a:t>
                      </a:r>
                      <a:r>
                        <a:rPr kumimoji="0" lang="ko-KR" altLang="en-US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대금청구상세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중앙조달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</a:t>
                      </a:r>
                      <a:b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</a:b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(MUI-WM-01-M06) </a:t>
                      </a:r>
                      <a:r>
                        <a:rPr kumimoji="0" lang="ko-KR" altLang="en-US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대금청구상세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부대조달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(MUI-WM-01-M07) </a:t>
                      </a:r>
                      <a:r>
                        <a:rPr kumimoji="0" lang="ko-KR" altLang="en-US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대금청구상세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공사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(MUI-WM-01-M08) </a:t>
                      </a:r>
                      <a:r>
                        <a:rPr kumimoji="0" lang="ko-KR" altLang="en-US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대금청구상세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기성대가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(MUI-WM-01-M13) </a:t>
                      </a:r>
                      <a:r>
                        <a:rPr kumimoji="0" lang="ko-KR" altLang="en-US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사후정산청구상세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27559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78B7293-4AE2-DAA5-5A01-3613EC5D2D28}"/>
              </a:ext>
            </a:extLst>
          </p:cNvPr>
          <p:cNvSpPr txBox="1"/>
          <p:nvPr/>
        </p:nvSpPr>
        <p:spPr>
          <a:xfrm>
            <a:off x="458117" y="760911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sp>
        <p:nvSpPr>
          <p:cNvPr id="9" name="Text Box 73">
            <a:extLst>
              <a:ext uri="{FF2B5EF4-FFF2-40B4-BE49-F238E27FC236}">
                <a16:creationId xmlns:a16="http://schemas.microsoft.com/office/drawing/2014/main" id="{6C2B2374-305A-4B28-5E32-57F40AE400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9866" y="82802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637455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sz="800" dirty="0"/>
              <a:t>타이틀 영역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1-1] </a:t>
            </a:r>
            <a:r>
              <a:rPr lang="ko-KR" altLang="en-US" sz="800" dirty="0"/>
              <a:t>레이블이 화면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화면 넘치는 경우 드래그하여 확인 가능 </a:t>
            </a:r>
            <a:r>
              <a:rPr lang="en-US" altLang="ko-KR" sz="800" dirty="0"/>
              <a:t>(</a:t>
            </a:r>
            <a:r>
              <a:rPr lang="ko-KR" altLang="en-US" sz="800" dirty="0" err="1"/>
              <a:t>스와이프기능</a:t>
            </a:r>
            <a:r>
              <a:rPr lang="ko-KR" altLang="en-US" sz="800" dirty="0"/>
              <a:t> 반영 필요</a:t>
            </a:r>
            <a:r>
              <a:rPr lang="en-US" altLang="ko-KR" sz="800" dirty="0"/>
              <a:t>)</a:t>
            </a:r>
            <a:br>
              <a:rPr lang="en-US" altLang="ko-KR" sz="800" dirty="0"/>
            </a:br>
            <a:r>
              <a:rPr lang="en-US" altLang="ko-KR" sz="800" dirty="0"/>
              <a:t>1-2] </a:t>
            </a:r>
            <a:r>
              <a:rPr lang="ko-KR" altLang="en-US" sz="800" dirty="0"/>
              <a:t>문서 정보 영역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err="1"/>
              <a:t>판단번호</a:t>
            </a:r>
            <a:r>
              <a:rPr lang="ko-KR" altLang="en-US" sz="800" dirty="0"/>
              <a:t> </a:t>
            </a:r>
            <a:r>
              <a:rPr lang="en-US" altLang="ko-KR" sz="800" dirty="0"/>
              <a:t>,  </a:t>
            </a:r>
            <a:r>
              <a:rPr lang="ko-KR" altLang="en-US" sz="800" dirty="0" err="1"/>
              <a:t>계약번호</a:t>
            </a:r>
            <a:r>
              <a:rPr lang="ko-KR" altLang="en-US" sz="800" dirty="0"/>
              <a:t> 노출 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err="1"/>
              <a:t>판단번호</a:t>
            </a:r>
            <a:r>
              <a:rPr lang="ko-KR" altLang="en-US" sz="800" dirty="0"/>
              <a:t> </a:t>
            </a:r>
            <a:r>
              <a:rPr lang="ko-KR" altLang="en-US" sz="800" dirty="0" err="1"/>
              <a:t>전체노출</a:t>
            </a:r>
            <a:r>
              <a:rPr lang="ko-KR" altLang="en-US" sz="800" dirty="0"/>
              <a:t> </a:t>
            </a:r>
            <a:r>
              <a:rPr lang="en-US" altLang="ko-KR" sz="800" dirty="0"/>
              <a:t>/ </a:t>
            </a:r>
            <a:r>
              <a:rPr lang="ko-KR" altLang="en-US" sz="800" dirty="0" err="1"/>
              <a:t>계약번호</a:t>
            </a:r>
            <a:r>
              <a:rPr lang="ko-KR" altLang="en-US" sz="800" dirty="0"/>
              <a:t> </a:t>
            </a:r>
            <a:r>
              <a:rPr lang="ko-KR" altLang="en-US" sz="800" dirty="0" err="1"/>
              <a:t>노출시</a:t>
            </a:r>
            <a:r>
              <a:rPr lang="ko-KR" altLang="en-US" sz="800" dirty="0"/>
              <a:t> 해당 라인을 넘어가면 </a:t>
            </a:r>
            <a:r>
              <a:rPr lang="en-US" altLang="ko-KR" sz="800" dirty="0"/>
              <a:t>(…) </a:t>
            </a:r>
            <a:r>
              <a:rPr lang="ko-KR" altLang="en-US" sz="800" dirty="0" err="1"/>
              <a:t>말줄임</a:t>
            </a:r>
            <a:r>
              <a:rPr lang="ko-KR" altLang="en-US" sz="800" dirty="0"/>
              <a:t> 표시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1-3] </a:t>
            </a:r>
            <a:r>
              <a:rPr lang="ko-KR" altLang="en-US" sz="800" dirty="0"/>
              <a:t>문서 제목 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제목은 </a:t>
            </a:r>
            <a:r>
              <a:rPr lang="en-US" altLang="ko-KR" sz="800" dirty="0"/>
              <a:t>2</a:t>
            </a:r>
            <a:r>
              <a:rPr lang="ko-KR" altLang="en-US" sz="800" dirty="0"/>
              <a:t>줄 까지 노출 이후</a:t>
            </a:r>
            <a:r>
              <a:rPr lang="en-US" altLang="ko-KR" sz="800" dirty="0"/>
              <a:t>(…) </a:t>
            </a:r>
            <a:r>
              <a:rPr lang="ko-KR" altLang="en-US" sz="800" dirty="0" err="1"/>
              <a:t>말줄임</a:t>
            </a:r>
            <a:r>
              <a:rPr lang="ko-KR" altLang="en-US" sz="800" dirty="0"/>
              <a:t> 표시</a:t>
            </a:r>
            <a:endParaRPr lang="en-US" altLang="ko-KR" sz="8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err="1"/>
              <a:t>업무도움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기본값 </a:t>
            </a:r>
            <a:r>
              <a:rPr lang="en-US" altLang="ko-KR" sz="800" dirty="0"/>
              <a:t>: </a:t>
            </a:r>
            <a:r>
              <a:rPr lang="ko-KR" altLang="en-US" sz="800" dirty="0"/>
              <a:t>접힘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err="1"/>
              <a:t>클릭시</a:t>
            </a:r>
            <a:r>
              <a:rPr lang="ko-KR" altLang="en-US" sz="800" dirty="0"/>
              <a:t> 확장하여 정보 표시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</a:t>
            </a:r>
            <a:r>
              <a:rPr lang="ko-KR" altLang="en-US" sz="800" dirty="0" err="1"/>
              <a:t>업무도움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&gt; </a:t>
            </a:r>
            <a:r>
              <a:rPr lang="ko-KR" altLang="en-US" sz="800" dirty="0"/>
              <a:t>내역이 있는 경우 만 표시</a:t>
            </a:r>
            <a:endParaRPr lang="en-US" altLang="ko-KR" sz="8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/>
              <a:t>탭 영역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err="1" smtClean="0"/>
              <a:t>신청정보</a:t>
            </a:r>
            <a:r>
              <a:rPr lang="ko-KR" altLang="en-US" sz="800" dirty="0" smtClean="0"/>
              <a:t> </a:t>
            </a:r>
            <a:r>
              <a:rPr lang="en-US" altLang="ko-KR" sz="800" dirty="0"/>
              <a:t>Tab</a:t>
            </a:r>
            <a:r>
              <a:rPr lang="ko-KR" altLang="en-US" sz="800" dirty="0"/>
              <a:t>은 진입 시 고정 노출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탭 내용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ko-KR" altLang="en-US" sz="800" dirty="0" err="1" smtClean="0"/>
              <a:t>신청정보</a:t>
            </a:r>
            <a:r>
              <a:rPr lang="en-US" altLang="ko-KR" sz="800" dirty="0" smtClean="0"/>
              <a:t>, </a:t>
            </a:r>
            <a:r>
              <a:rPr lang="ko-KR" altLang="en-US" sz="800" dirty="0" smtClean="0"/>
              <a:t>세부 </a:t>
            </a:r>
            <a:r>
              <a:rPr lang="ko-KR" altLang="en-US" sz="800" dirty="0" err="1" smtClean="0"/>
              <a:t>신청내역</a:t>
            </a:r>
            <a:r>
              <a:rPr lang="en-US" altLang="ko-KR" sz="800" dirty="0" smtClean="0"/>
              <a:t>, </a:t>
            </a:r>
            <a:r>
              <a:rPr lang="ko-KR" altLang="en-US" sz="800" dirty="0" smtClean="0"/>
              <a:t>진행상태 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&gt; </a:t>
            </a:r>
            <a:r>
              <a:rPr lang="ko-KR" altLang="en-US" sz="800" dirty="0"/>
              <a:t>로그인 필요 서비스 안내 표시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화면을 </a:t>
            </a:r>
            <a:r>
              <a:rPr lang="ko-KR" altLang="en-US" sz="800" dirty="0" err="1"/>
              <a:t>넘치는경우</a:t>
            </a:r>
            <a:r>
              <a:rPr lang="ko-KR" altLang="en-US" sz="800" dirty="0"/>
              <a:t> 드래그하여 확인</a:t>
            </a:r>
            <a:r>
              <a:rPr lang="en-US" altLang="ko-KR" sz="800" dirty="0"/>
              <a:t>(</a:t>
            </a:r>
            <a:r>
              <a:rPr lang="ko-KR" altLang="en-US" sz="800" dirty="0" err="1"/>
              <a:t>스와이프기능</a:t>
            </a:r>
            <a:r>
              <a:rPr lang="ko-KR" altLang="en-US" sz="800" dirty="0"/>
              <a:t> 반영 필요</a:t>
            </a:r>
            <a:r>
              <a:rPr lang="en-US" altLang="ko-KR" sz="800" dirty="0"/>
              <a:t>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신청 </a:t>
            </a:r>
            <a:r>
              <a:rPr lang="ko-KR" altLang="en-US" sz="800" dirty="0"/>
              <a:t>정보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각 공고에 맞춰 폼 변화에 유의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err="1"/>
              <a:t>상세내용에</a:t>
            </a:r>
            <a:r>
              <a:rPr lang="ko-KR" altLang="en-US" sz="800" dirty="0"/>
              <a:t> 포함된 정보 표시</a:t>
            </a:r>
            <a:endParaRPr lang="en-US" altLang="ko-KR" sz="8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상단 </a:t>
            </a:r>
            <a:r>
              <a:rPr lang="ko-KR" altLang="en-US" sz="800" dirty="0"/>
              <a:t>이동 </a:t>
            </a:r>
            <a:r>
              <a:rPr lang="ko-KR" altLang="en-US" sz="800" dirty="0" smtClean="0"/>
              <a:t>버튼</a:t>
            </a:r>
            <a:endParaRPr lang="en-US" altLang="ko-KR" sz="8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선금신청서상세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/>
              <a:t>선금신청서</a:t>
            </a:r>
            <a:r>
              <a:rPr lang="ko-KR" altLang="en-US" dirty="0"/>
              <a:t> 상세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 smtClean="0">
                <a:latin typeface="+mn-ea"/>
              </a:rPr>
              <a:t>&gt; </a:t>
            </a:r>
            <a:r>
              <a:rPr lang="ko-KR" altLang="en-US" dirty="0" smtClean="0">
                <a:latin typeface="+mn-ea"/>
              </a:rPr>
              <a:t>선금신청서상세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MUI-WM-01-M02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err="1">
                <a:latin typeface="+mn-ea"/>
              </a:rPr>
              <a:t>대금청구</a:t>
            </a:r>
            <a:r>
              <a:rPr lang="ko-KR" altLang="en-US" sz="800" dirty="0">
                <a:latin typeface="+mn-ea"/>
              </a:rPr>
              <a:t> </a:t>
            </a:r>
            <a:r>
              <a:rPr lang="ko-KR" altLang="en-US" sz="800" dirty="0" err="1">
                <a:latin typeface="+mn-ea"/>
              </a:rPr>
              <a:t>상세조회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769838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11107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803586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smtClean="0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3834931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916917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65484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4248877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err="1">
                <a:latin typeface="+mn-ea"/>
              </a:rPr>
              <a:t>신청정보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545" y="4248877"/>
            <a:ext cx="58899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세부 </a:t>
            </a:r>
            <a:r>
              <a:rPr lang="ko-KR" altLang="en-US" sz="700" dirty="0" err="1">
                <a:latin typeface="+mn-ea"/>
              </a:rPr>
              <a:t>신청내역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65484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4210754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15010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1857013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4" name="TextBox 20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67701" y="1640406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err="1">
                <a:latin typeface="+mn-ea"/>
              </a:rPr>
              <a:t>신청정보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22077" y="1640406"/>
            <a:ext cx="59046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세부 </a:t>
            </a:r>
            <a:r>
              <a:rPr lang="ko-KR" altLang="en-US" sz="700" dirty="0" err="1">
                <a:latin typeface="+mn-ea"/>
              </a:rPr>
              <a:t>신청내역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1857013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09" name="그룹 208"/>
          <p:cNvGrpSpPr/>
          <p:nvPr/>
        </p:nvGrpSpPr>
        <p:grpSpPr>
          <a:xfrm>
            <a:off x="6027618" y="1602283"/>
            <a:ext cx="422853" cy="187961"/>
            <a:chOff x="3641308" y="2234886"/>
            <a:chExt cx="422853" cy="187961"/>
          </a:xfrm>
        </p:grpSpPr>
        <p:sp>
          <p:nvSpPr>
            <p:cNvPr id="210" name="타원 209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1" name="그룹 210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216" name="직선 연결선 21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7" name="직선 연결선 21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2" name="타원 211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3" name="그룹 212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214" name="직선 연결선 21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직선 연결선 21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77" name="타원 276"/>
          <p:cNvSpPr/>
          <p:nvPr/>
        </p:nvSpPr>
        <p:spPr>
          <a:xfrm>
            <a:off x="6596790" y="515498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5272060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94" name="타원 29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715370" y="504490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41215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9" name="그룹 8"/>
          <p:cNvGrpSpPr/>
          <p:nvPr/>
        </p:nvGrpSpPr>
        <p:grpSpPr>
          <a:xfrm>
            <a:off x="3796091" y="3551651"/>
            <a:ext cx="2712027" cy="830059"/>
            <a:chOff x="3796091" y="4161857"/>
            <a:chExt cx="2712027" cy="830059"/>
          </a:xfrm>
        </p:grpSpPr>
        <p:cxnSp>
          <p:nvCxnSpPr>
            <p:cNvPr id="302" name="직선 연결선 30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96091" y="4161857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03" name="TextBox 30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02153" y="4193387"/>
              <a:ext cx="84376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공급자 정보</a:t>
              </a:r>
            </a:p>
          </p:txBody>
        </p:sp>
        <p:grpSp>
          <p:nvGrpSpPr>
            <p:cNvPr id="304" name="그룹 303"/>
            <p:cNvGrpSpPr/>
            <p:nvPr/>
          </p:nvGrpSpPr>
          <p:grpSpPr>
            <a:xfrm flipV="1">
              <a:off x="6264240" y="4306718"/>
              <a:ext cx="94010" cy="47005"/>
              <a:chOff x="6812560" y="3297172"/>
              <a:chExt cx="94010" cy="47005"/>
            </a:xfrm>
          </p:grpSpPr>
          <p:cxnSp>
            <p:nvCxnSpPr>
              <p:cNvPr id="305" name="직선 연결선 30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6" name="직선 연결선 30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63885" y="4524104"/>
              <a:ext cx="49390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작성자명</a:t>
              </a:r>
              <a:r>
                <a: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직책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09" name="TextBox 30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5159018" y="4524104"/>
              <a:ext cx="49390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휴대폰번호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11" name="모서리가 둥근 직사각형 310"/>
            <p:cNvSpPr/>
            <p:nvPr/>
          </p:nvSpPr>
          <p:spPr>
            <a:xfrm>
              <a:off x="3831550" y="4647106"/>
              <a:ext cx="2652743" cy="344810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2" name="TextBox 31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63885" y="4765650"/>
              <a:ext cx="49390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홍길동 대리</a:t>
              </a:r>
              <a:endPara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14" name="TextBox 31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5159018" y="4765650"/>
              <a:ext cx="64751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010-1234-5678</a:t>
              </a:r>
            </a:p>
          </p:txBody>
        </p:sp>
      </p:grpSp>
      <p:sp>
        <p:nvSpPr>
          <p:cNvPr id="337" name="모서리가 둥근 직사각형 336"/>
          <p:cNvSpPr/>
          <p:nvPr/>
        </p:nvSpPr>
        <p:spPr>
          <a:xfrm>
            <a:off x="781461" y="1944348"/>
            <a:ext cx="243478" cy="119400"/>
          </a:xfrm>
          <a:prstGeom prst="roundRect">
            <a:avLst>
              <a:gd name="adj" fmla="val 23409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>
                <a:solidFill>
                  <a:srgbClr val="FF0000"/>
                </a:solidFill>
              </a:rPr>
              <a:t>중요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33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1082843" y="1950187"/>
            <a:ext cx="220200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>
                <a:solidFill>
                  <a:prstClr val="black"/>
                </a:solidFill>
              </a:rPr>
              <a:t>대금 신청</a:t>
            </a:r>
            <a:r>
              <a:rPr lang="en-US" altLang="ko-KR" sz="700" dirty="0">
                <a:solidFill>
                  <a:prstClr val="black"/>
                </a:solidFill>
              </a:rPr>
              <a:t>, </a:t>
            </a:r>
            <a:r>
              <a:rPr lang="ko-KR" altLang="en-US" sz="700" dirty="0">
                <a:solidFill>
                  <a:prstClr val="black"/>
                </a:solidFill>
              </a:rPr>
              <a:t>청구는 </a:t>
            </a:r>
            <a:r>
              <a:rPr lang="en-US" altLang="ko-KR" sz="700" dirty="0">
                <a:solidFill>
                  <a:prstClr val="black"/>
                </a:solidFill>
              </a:rPr>
              <a:t>PC </a:t>
            </a:r>
            <a:r>
              <a:rPr lang="ko-KR" altLang="en-US" sz="700" dirty="0">
                <a:solidFill>
                  <a:prstClr val="black"/>
                </a:solidFill>
              </a:rPr>
              <a:t>버전에서 가능합니다</a:t>
            </a:r>
            <a:r>
              <a:rPr lang="en-US" altLang="ko-KR" sz="700" dirty="0">
                <a:solidFill>
                  <a:prstClr val="black"/>
                </a:solidFill>
              </a:rPr>
              <a:t>.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cxnSp>
        <p:nvCxnSpPr>
          <p:cNvPr id="340" name="직선 연결선 33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5091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6" name="그룹 5"/>
          <p:cNvGrpSpPr/>
          <p:nvPr/>
        </p:nvGrpSpPr>
        <p:grpSpPr>
          <a:xfrm>
            <a:off x="3836701" y="1930185"/>
            <a:ext cx="2630093" cy="1551225"/>
            <a:chOff x="3836701" y="2575831"/>
            <a:chExt cx="2630093" cy="1551225"/>
          </a:xfrm>
        </p:grpSpPr>
        <p:sp>
          <p:nvSpPr>
            <p:cNvPr id="252" name="TextBox 25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7672" y="2575831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계약내용</a:t>
              </a:r>
            </a:p>
          </p:txBody>
        </p:sp>
        <p:sp>
          <p:nvSpPr>
            <p:cNvPr id="253" name="직사각형 252"/>
            <p:cNvSpPr/>
            <p:nvPr/>
          </p:nvSpPr>
          <p:spPr>
            <a:xfrm>
              <a:off x="3838794" y="2827415"/>
              <a:ext cx="792000" cy="129964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55" name="직선 연결선 2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6701" y="282741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5858" y="2827416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납기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261" name="TextBox 2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2706" y="2827416"/>
              <a:ext cx="1775839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2025-11-23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20257135021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배추김치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2026-01-01 ~ 2026-12~31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</p:txBody>
        </p:sp>
        <p:cxnSp>
          <p:nvCxnSpPr>
            <p:cNvPr id="262" name="직선 연결선 2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0585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3" name="직선 연결선 2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2722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4" name="직선 연결선 2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4859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5" name="직선 연결선 2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6996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6" name="직선 연결선 2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9133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8" name="직선 연결선 2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12705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59" name="그룹 158"/>
            <p:cNvGrpSpPr/>
            <p:nvPr/>
          </p:nvGrpSpPr>
          <p:grpSpPr>
            <a:xfrm flipV="1">
              <a:off x="6259759" y="2635184"/>
              <a:ext cx="94010" cy="47005"/>
              <a:chOff x="6812560" y="3297172"/>
              <a:chExt cx="94010" cy="47005"/>
            </a:xfrm>
          </p:grpSpPr>
          <p:cxnSp>
            <p:nvCxnSpPr>
              <p:cNvPr id="160" name="직선 연결선 15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" name="그룹 7"/>
          <p:cNvGrpSpPr/>
          <p:nvPr/>
        </p:nvGrpSpPr>
        <p:grpSpPr>
          <a:xfrm>
            <a:off x="720490" y="4571815"/>
            <a:ext cx="2630093" cy="1600147"/>
            <a:chOff x="720490" y="4465173"/>
            <a:chExt cx="2630093" cy="1600147"/>
          </a:xfrm>
        </p:grpSpPr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4465173"/>
              <a:ext cx="84376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07" name="그룹 106"/>
            <p:cNvGrpSpPr/>
            <p:nvPr/>
          </p:nvGrpSpPr>
          <p:grpSpPr>
            <a:xfrm flipV="1">
              <a:off x="3143548" y="4578504"/>
              <a:ext cx="94010" cy="47005"/>
              <a:chOff x="6812560" y="3297172"/>
              <a:chExt cx="94010" cy="47005"/>
            </a:xfrm>
          </p:grpSpPr>
          <p:cxnSp>
            <p:nvCxnSpPr>
              <p:cNvPr id="108" name="직선 연결선 10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" name="직선 연결선 10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" name="직사각형 15"/>
            <p:cNvSpPr/>
            <p:nvPr/>
          </p:nvSpPr>
          <p:spPr>
            <a:xfrm>
              <a:off x="722583" y="4772658"/>
              <a:ext cx="792000" cy="12808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5" name="직선 연결선 10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77265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772658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차수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수신자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신청금액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신청금액 </a:t>
              </a:r>
              <a:r>
                <a:rPr lang="en-US" altLang="ko-KR" sz="700" dirty="0" smtClean="0">
                  <a:latin typeface="+mn-ea"/>
                </a:rPr>
                <a:t>(</a:t>
              </a:r>
              <a:r>
                <a:rPr lang="ko-KR" altLang="en-US" sz="700" dirty="0" smtClean="0">
                  <a:latin typeface="+mn-ea"/>
                </a:rPr>
                <a:t>일금</a:t>
              </a:r>
              <a:r>
                <a:rPr lang="en-US" altLang="ko-KR" sz="700" dirty="0" smtClean="0">
                  <a:latin typeface="+mn-ea"/>
                </a:rPr>
                <a:t>)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지출원인금액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772658"/>
              <a:ext cx="1784088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 0000 00 - 01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방위사업청</a:t>
              </a:r>
              <a:r>
                <a:rPr lang="ko-KR" altLang="en-US" sz="700" dirty="0">
                  <a:latin typeface="+mn-ea"/>
                </a:rPr>
                <a:t> 계약관리본부 재무관 귀하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2026-01-30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\ </a:t>
              </a:r>
              <a:r>
                <a:rPr lang="ko-KR" altLang="en-US" sz="700" dirty="0">
                  <a:latin typeface="+mn-ea"/>
                </a:rPr>
                <a:t>일백만 원정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15" name="직선 연결선 11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0037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6" name="직선 연결선 11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2174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7" name="직선 연결선 11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43117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0" name="직선 연결선 16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6260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1" name="직선 연결선 17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8397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2" name="직선 연결선 17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605347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75" name="TextBox 174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grpSp>
        <p:nvGrpSpPr>
          <p:cNvPr id="5" name="그룹 4"/>
          <p:cNvGrpSpPr/>
          <p:nvPr/>
        </p:nvGrpSpPr>
        <p:grpSpPr>
          <a:xfrm>
            <a:off x="747925" y="3508551"/>
            <a:ext cx="2599014" cy="187961"/>
            <a:chOff x="747925" y="3393200"/>
            <a:chExt cx="2599014" cy="187961"/>
          </a:xfrm>
        </p:grpSpPr>
        <p:grpSp>
          <p:nvGrpSpPr>
            <p:cNvPr id="151" name="그룹 150"/>
            <p:cNvGrpSpPr/>
            <p:nvPr/>
          </p:nvGrpSpPr>
          <p:grpSpPr>
            <a:xfrm rot="16200000">
              <a:off x="1250697" y="3463679"/>
              <a:ext cx="94010" cy="47005"/>
              <a:chOff x="6812560" y="3297172"/>
              <a:chExt cx="94010" cy="47005"/>
            </a:xfrm>
          </p:grpSpPr>
          <p:cxnSp>
            <p:nvCxnSpPr>
              <p:cNvPr id="152" name="직선 연결선 15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3" name="직선 연결선 15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604170" y="3433319"/>
              <a:ext cx="40086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계약</a:t>
              </a:r>
            </a:p>
          </p:txBody>
        </p:sp>
        <p:sp>
          <p:nvSpPr>
            <p:cNvPr id="155" name="타원 154"/>
            <p:cNvSpPr/>
            <p:nvPr/>
          </p:nvSpPr>
          <p:spPr>
            <a:xfrm>
              <a:off x="1404035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459092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3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58" name="그룹 157"/>
            <p:cNvGrpSpPr/>
            <p:nvPr/>
          </p:nvGrpSpPr>
          <p:grpSpPr>
            <a:xfrm rot="16200000">
              <a:off x="1906808" y="3463679"/>
              <a:ext cx="94010" cy="47005"/>
              <a:chOff x="6812560" y="3297172"/>
              <a:chExt cx="94010" cy="47005"/>
            </a:xfrm>
          </p:grpSpPr>
          <p:cxnSp>
            <p:nvCxnSpPr>
              <p:cNvPr id="162" name="직선 연결선 16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3" name="직선 연결선 16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64" name="그룹 163"/>
            <p:cNvGrpSpPr/>
            <p:nvPr/>
          </p:nvGrpSpPr>
          <p:grpSpPr>
            <a:xfrm rot="16200000">
              <a:off x="2562920" y="3463679"/>
              <a:ext cx="94010" cy="47005"/>
              <a:chOff x="6812560" y="3297172"/>
              <a:chExt cx="94010" cy="47005"/>
            </a:xfrm>
          </p:grpSpPr>
          <p:cxnSp>
            <p:nvCxnSpPr>
              <p:cNvPr id="165" name="직선 연결선 16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6" name="직선 연결선 16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7" name="타원 166"/>
            <p:cNvSpPr/>
            <p:nvPr/>
          </p:nvSpPr>
          <p:spPr>
            <a:xfrm>
              <a:off x="747925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2982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2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51350" y="3433319"/>
              <a:ext cx="39757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입찰</a:t>
              </a:r>
            </a:p>
          </p:txBody>
        </p:sp>
        <p:sp>
          <p:nvSpPr>
            <p:cNvPr id="173" name="타원 172"/>
            <p:cNvSpPr/>
            <p:nvPr/>
          </p:nvSpPr>
          <p:spPr>
            <a:xfrm>
              <a:off x="2058749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113806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4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263899" y="343331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이행</a:t>
              </a:r>
            </a:p>
          </p:txBody>
        </p:sp>
        <p:sp>
          <p:nvSpPr>
            <p:cNvPr id="177" name="타원 176"/>
            <p:cNvSpPr/>
            <p:nvPr/>
          </p:nvSpPr>
          <p:spPr>
            <a:xfrm>
              <a:off x="2714860" y="3393200"/>
              <a:ext cx="187961" cy="187961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769917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bg1"/>
                  </a:solidFill>
                  <a:latin typeface="+mn-ea"/>
                </a:rPr>
                <a:t>5</a:t>
              </a:r>
              <a:endParaRPr lang="ko-KR" altLang="en-US" sz="7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20010" y="343331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대금</a:t>
              </a:r>
              <a:r>
                <a:rPr lang="en-US" altLang="ko-KR" sz="700" dirty="0">
                  <a:latin typeface="+mn-ea"/>
                </a:rPr>
                <a:t>/</a:t>
              </a:r>
              <a:r>
                <a:rPr lang="ko-KR" altLang="en-US" sz="700" dirty="0">
                  <a:latin typeface="+mn-ea"/>
                </a:rPr>
                <a:t>사후</a:t>
              </a:r>
            </a:p>
          </p:txBody>
        </p:sp>
        <p:grpSp>
          <p:nvGrpSpPr>
            <p:cNvPr id="180" name="그룹 179"/>
            <p:cNvGrpSpPr/>
            <p:nvPr/>
          </p:nvGrpSpPr>
          <p:grpSpPr>
            <a:xfrm rot="5400000">
              <a:off x="3158978" y="3393200"/>
              <a:ext cx="187961" cy="187961"/>
              <a:chOff x="3876200" y="2234886"/>
              <a:chExt cx="187961" cy="187961"/>
            </a:xfrm>
          </p:grpSpPr>
          <p:sp>
            <p:nvSpPr>
              <p:cNvPr id="181" name="타원 180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85" name="그룹 184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187" name="직선 연결선 186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직선 연결선 205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82" name="직사각형 181"/>
          <p:cNvSpPr/>
          <p:nvPr/>
        </p:nvSpPr>
        <p:spPr>
          <a:xfrm>
            <a:off x="7053988" y="5956663"/>
            <a:ext cx="2349581" cy="259128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500" dirty="0" smtClean="0">
                <a:solidFill>
                  <a:schemeClr val="bg1"/>
                </a:solidFill>
              </a:rPr>
              <a:t>0701]</a:t>
            </a:r>
          </a:p>
          <a:p>
            <a:r>
              <a:rPr lang="ko-KR" altLang="en-US" sz="500" dirty="0" smtClean="0">
                <a:solidFill>
                  <a:schemeClr val="bg1"/>
                </a:solidFill>
              </a:rPr>
              <a:t>일금 누락</a:t>
            </a:r>
            <a:endParaRPr lang="en-US" altLang="ko-KR" sz="500" dirty="0" smtClean="0">
              <a:solidFill>
                <a:schemeClr val="bg1"/>
              </a:solidFill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801660" y="4248877"/>
            <a:ext cx="58899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 smtClean="0">
                <a:latin typeface="+mn-ea"/>
              </a:rPr>
              <a:t>지급상태</a:t>
            </a:r>
            <a:endParaRPr lang="ko-KR" altLang="en-US" sz="700" dirty="0">
              <a:latin typeface="+mn-ea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918716" y="1639721"/>
            <a:ext cx="58899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 smtClean="0">
                <a:latin typeface="+mn-ea"/>
              </a:rPr>
              <a:t>지급상태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46" name="그룹 145"/>
          <p:cNvGrpSpPr/>
          <p:nvPr/>
        </p:nvGrpSpPr>
        <p:grpSpPr>
          <a:xfrm>
            <a:off x="781461" y="2278058"/>
            <a:ext cx="2473257" cy="1098561"/>
            <a:chOff x="781461" y="3087955"/>
            <a:chExt cx="2473257" cy="1098561"/>
          </a:xfrm>
        </p:grpSpPr>
        <p:sp>
          <p:nvSpPr>
            <p:cNvPr id="147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3272286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계약번호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2025000000 - 01</a:t>
              </a:r>
            </a:p>
            <a:p>
              <a:r>
                <a:rPr lang="ko-KR" altLang="en-US" sz="900" b="1" dirty="0">
                  <a:solidFill>
                    <a:srgbClr val="0070C0"/>
                  </a:solidFill>
                </a:rPr>
                <a:t>물품</a:t>
              </a:r>
              <a:r>
                <a:rPr lang="ko-KR" altLang="en-US" sz="900" b="1" dirty="0"/>
                <a:t>구매</a:t>
              </a:r>
            </a:p>
          </p:txBody>
        </p:sp>
        <p:sp>
          <p:nvSpPr>
            <p:cNvPr id="148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632518"/>
              <a:ext cx="307777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 smtClean="0">
                  <a:latin typeface="+mn-ea"/>
                </a:rPr>
                <a:t>업체명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smtClean="0">
                  <a:latin typeface="+mn-ea"/>
                </a:rPr>
                <a:t>계약금액</a:t>
              </a:r>
              <a:endParaRPr lang="en-US" altLang="ko-KR" sz="600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계약일자</a:t>
              </a:r>
              <a:endParaRPr lang="en-US" altLang="ko-KR" sz="600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발주기관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156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617129"/>
              <a:ext cx="472886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ko-KR" altLang="en-US" sz="600" dirty="0" err="1" smtClean="0">
                  <a:latin typeface="+mn-ea"/>
                </a:rPr>
                <a:t>조달업체</a:t>
              </a:r>
              <a:r>
                <a:rPr lang="ko-KR" altLang="en-US" sz="600" dirty="0" smtClean="0">
                  <a:latin typeface="+mn-ea"/>
                </a:rPr>
                <a:t> </a:t>
              </a:r>
              <a:r>
                <a:rPr lang="en-US" altLang="ko-KR" sz="600" dirty="0" smtClean="0">
                  <a:latin typeface="+mn-ea"/>
                </a:rPr>
                <a:t>A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11,616,000 </a:t>
              </a:r>
              <a:r>
                <a:rPr lang="ko-KR" altLang="en-US" sz="600" dirty="0" smtClean="0">
                  <a:latin typeface="+mn-ea"/>
                </a:rPr>
                <a:t>원</a:t>
              </a:r>
              <a:endParaRPr lang="en-US" altLang="ko-KR" sz="600" dirty="0" smtClean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2026-02-10</a:t>
              </a: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 smtClean="0">
                  <a:latin typeface="+mn-ea"/>
                </a:rPr>
                <a:t>제</a:t>
              </a:r>
              <a:r>
                <a:rPr lang="en-US" altLang="ko-KR" sz="600" dirty="0">
                  <a:latin typeface="+mn-ea"/>
                </a:rPr>
                <a:t>8385</a:t>
              </a:r>
              <a:r>
                <a:rPr lang="ko-KR" altLang="en-US" sz="600" dirty="0">
                  <a:latin typeface="+mn-ea"/>
                </a:rPr>
                <a:t>부대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183" name="모서리가 둥근 직사각형 182"/>
            <p:cNvSpPr/>
            <p:nvPr/>
          </p:nvSpPr>
          <p:spPr>
            <a:xfrm>
              <a:off x="781461" y="3087955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물품</a:t>
              </a:r>
            </a:p>
          </p:txBody>
        </p:sp>
        <p:sp>
          <p:nvSpPr>
            <p:cNvPr id="184" name="모서리가 둥근 직사각형 183"/>
            <p:cNvSpPr/>
            <p:nvPr/>
          </p:nvSpPr>
          <p:spPr>
            <a:xfrm>
              <a:off x="1075655" y="3087955"/>
              <a:ext cx="39641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smtClean="0"/>
                <a:t>일반경쟁</a:t>
              </a:r>
              <a:endParaRPr lang="ko-KR" altLang="en-US" sz="600" dirty="0"/>
            </a:p>
          </p:txBody>
        </p:sp>
        <p:sp>
          <p:nvSpPr>
            <p:cNvPr id="186" name="모서리가 둥근 직사각형 185"/>
            <p:cNvSpPr/>
            <p:nvPr/>
          </p:nvSpPr>
          <p:spPr>
            <a:xfrm>
              <a:off x="1519793" y="3087955"/>
              <a:ext cx="356376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smtClean="0"/>
                <a:t>총액제</a:t>
              </a:r>
              <a:endParaRPr lang="ko-KR" altLang="en-US" sz="600" dirty="0"/>
            </a:p>
          </p:txBody>
        </p:sp>
        <p:sp>
          <p:nvSpPr>
            <p:cNvPr id="188" name="모서리가 둥근 직사각형 187"/>
            <p:cNvSpPr/>
            <p:nvPr/>
          </p:nvSpPr>
          <p:spPr>
            <a:xfrm>
              <a:off x="1921830" y="3087955"/>
              <a:ext cx="356376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smtClean="0"/>
                <a:t>주계약</a:t>
              </a:r>
              <a:endParaRPr lang="ko-KR" altLang="en-US" sz="600" dirty="0"/>
            </a:p>
          </p:txBody>
        </p:sp>
      </p:grpSp>
      <p:sp>
        <p:nvSpPr>
          <p:cNvPr id="200" name="타원 19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688" y="204634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201" name="타원 20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83493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202" name="타원 20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21267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207" name="타원 20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60247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218" name="타원 21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96143" y="223285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1-1</a:t>
            </a:r>
            <a:endParaRPr lang="ko-KR" altLang="en-US" sz="600" b="1" dirty="0"/>
          </a:p>
        </p:txBody>
      </p:sp>
      <p:sp>
        <p:nvSpPr>
          <p:cNvPr id="219" name="타원 21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758181" y="237965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1-2</a:t>
            </a:r>
            <a:endParaRPr lang="ko-KR" altLang="en-US" sz="600" b="1" dirty="0"/>
          </a:p>
        </p:txBody>
      </p:sp>
      <p:sp>
        <p:nvSpPr>
          <p:cNvPr id="220" name="타원 21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95669" y="260009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1-3</a:t>
            </a:r>
            <a:endParaRPr lang="ko-KR" altLang="en-US" sz="600" b="1" dirty="0"/>
          </a:p>
        </p:txBody>
      </p:sp>
    </p:spTree>
    <p:extLst>
      <p:ext uri="{BB962C8B-B14F-4D97-AF65-F5344CB8AC3E}">
        <p14:creationId xmlns:p14="http://schemas.microsoft.com/office/powerpoint/2010/main" val="15824641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신청서 </a:t>
            </a:r>
            <a:r>
              <a:rPr lang="ko-KR" altLang="en-US" dirty="0"/>
              <a:t>차수 데이터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신청금액 데이터 영역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계약내용 데이터 영역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공급자 정보 데이터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22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smtClean="0">
                <a:latin typeface="+mn-ea"/>
              </a:rPr>
              <a:t>선금신청서상세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신청정보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/>
              <a:t>선금신청서</a:t>
            </a:r>
            <a:r>
              <a:rPr lang="ko-KR" altLang="en-US" dirty="0"/>
              <a:t> 상세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선금신청서상세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MUI-WM-01-T01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grpSp>
        <p:nvGrpSpPr>
          <p:cNvPr id="99" name="그룹 98"/>
          <p:cNvGrpSpPr/>
          <p:nvPr/>
        </p:nvGrpSpPr>
        <p:grpSpPr>
          <a:xfrm>
            <a:off x="675399" y="4899940"/>
            <a:ext cx="2712027" cy="830059"/>
            <a:chOff x="3796091" y="4161857"/>
            <a:chExt cx="2712027" cy="830059"/>
          </a:xfrm>
        </p:grpSpPr>
        <p:cxnSp>
          <p:nvCxnSpPr>
            <p:cNvPr id="100" name="직선 연결선 9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96091" y="4161857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02153" y="4193387"/>
              <a:ext cx="84376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공급자 정보</a:t>
              </a:r>
            </a:p>
          </p:txBody>
        </p:sp>
        <p:grpSp>
          <p:nvGrpSpPr>
            <p:cNvPr id="102" name="그룹 101"/>
            <p:cNvGrpSpPr/>
            <p:nvPr/>
          </p:nvGrpSpPr>
          <p:grpSpPr>
            <a:xfrm flipV="1">
              <a:off x="6264240" y="4306718"/>
              <a:ext cx="94010" cy="47005"/>
              <a:chOff x="6812560" y="3297172"/>
              <a:chExt cx="94010" cy="47005"/>
            </a:xfrm>
          </p:grpSpPr>
          <p:cxnSp>
            <p:nvCxnSpPr>
              <p:cNvPr id="108" name="직선 연결선 10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" name="직선 연결선 10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63885" y="4524104"/>
              <a:ext cx="49390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작성자명</a:t>
              </a:r>
              <a:r>
                <a: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직책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5159018" y="4524104"/>
              <a:ext cx="49390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휴대폰번호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05" name="모서리가 둥근 직사각형 104"/>
            <p:cNvSpPr/>
            <p:nvPr/>
          </p:nvSpPr>
          <p:spPr>
            <a:xfrm>
              <a:off x="3831550" y="4647106"/>
              <a:ext cx="2652743" cy="344810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63885" y="4765650"/>
              <a:ext cx="49390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홍길동 대리</a:t>
              </a:r>
              <a:endPara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5159018" y="4765650"/>
              <a:ext cx="64751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010-1234-5678</a:t>
              </a:r>
            </a:p>
          </p:txBody>
        </p:sp>
      </p:grpSp>
      <p:grpSp>
        <p:nvGrpSpPr>
          <p:cNvPr id="118" name="그룹 117"/>
          <p:cNvGrpSpPr/>
          <p:nvPr/>
        </p:nvGrpSpPr>
        <p:grpSpPr>
          <a:xfrm>
            <a:off x="716366" y="3243034"/>
            <a:ext cx="2630093" cy="1586665"/>
            <a:chOff x="3836701" y="2540391"/>
            <a:chExt cx="2630093" cy="1586665"/>
          </a:xfrm>
        </p:grpSpPr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7671" y="2540391"/>
              <a:ext cx="1391705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계약내용</a:t>
              </a:r>
            </a:p>
          </p:txBody>
        </p:sp>
        <p:sp>
          <p:nvSpPr>
            <p:cNvPr id="120" name="직사각형 119"/>
            <p:cNvSpPr/>
            <p:nvPr/>
          </p:nvSpPr>
          <p:spPr>
            <a:xfrm>
              <a:off x="3838794" y="2827415"/>
              <a:ext cx="792000" cy="129964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21" name="직선 연결선 12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6701" y="282741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5858" y="2827416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납기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2706" y="2827416"/>
              <a:ext cx="1775839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2025-11-23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20257135021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배추김치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2026-01-01 ~ 2026-12~31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</p:txBody>
        </p:sp>
        <p:cxnSp>
          <p:nvCxnSpPr>
            <p:cNvPr id="124" name="직선 연결선 12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0585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5" name="직선 연결선 12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2722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6" name="직선 연결선 12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4859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7" name="직선 연결선 12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6996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8" name="직선 연결선 12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9133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9" name="직선 연결선 12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12705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30" name="그룹 129"/>
            <p:cNvGrpSpPr/>
            <p:nvPr/>
          </p:nvGrpSpPr>
          <p:grpSpPr>
            <a:xfrm flipV="1">
              <a:off x="6259759" y="2635184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2" name="직선 연결선 131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33" name="그룹 132"/>
          <p:cNvGrpSpPr/>
          <p:nvPr/>
        </p:nvGrpSpPr>
        <p:grpSpPr>
          <a:xfrm>
            <a:off x="716366" y="1528651"/>
            <a:ext cx="2630093" cy="1600147"/>
            <a:chOff x="720490" y="4465173"/>
            <a:chExt cx="2630093" cy="1600147"/>
          </a:xfrm>
        </p:grpSpPr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4465173"/>
              <a:ext cx="84376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35" name="그룹 134"/>
            <p:cNvGrpSpPr/>
            <p:nvPr/>
          </p:nvGrpSpPr>
          <p:grpSpPr>
            <a:xfrm flipV="1">
              <a:off x="3143548" y="4578504"/>
              <a:ext cx="94010" cy="47005"/>
              <a:chOff x="6812560" y="3297172"/>
              <a:chExt cx="94010" cy="47005"/>
            </a:xfrm>
          </p:grpSpPr>
          <p:cxnSp>
            <p:nvCxnSpPr>
              <p:cNvPr id="147" name="직선 연결선 14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8" name="직선 연결선 14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36" name="직사각형 135"/>
            <p:cNvSpPr/>
            <p:nvPr/>
          </p:nvSpPr>
          <p:spPr>
            <a:xfrm>
              <a:off x="722583" y="4772658"/>
              <a:ext cx="792000" cy="12808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7" name="직선 연결선 13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77265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772658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차수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수신자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신청금액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신청금액 </a:t>
              </a:r>
              <a:r>
                <a:rPr lang="en-US" altLang="ko-KR" sz="700" dirty="0" smtClean="0">
                  <a:latin typeface="+mn-ea"/>
                </a:rPr>
                <a:t>(</a:t>
              </a:r>
              <a:r>
                <a:rPr lang="ko-KR" altLang="en-US" sz="700" dirty="0" smtClean="0">
                  <a:latin typeface="+mn-ea"/>
                </a:rPr>
                <a:t>일금</a:t>
              </a:r>
              <a:r>
                <a:rPr lang="en-US" altLang="ko-KR" sz="700" dirty="0" smtClean="0">
                  <a:latin typeface="+mn-ea"/>
                </a:rPr>
                <a:t>)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지출원인금액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772658"/>
              <a:ext cx="1784088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 0000 00 - 01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방위사업청</a:t>
              </a:r>
              <a:r>
                <a:rPr lang="ko-KR" altLang="en-US" sz="700" dirty="0">
                  <a:latin typeface="+mn-ea"/>
                </a:rPr>
                <a:t> 계약관리본부 재무관 귀하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2026-01-30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\ </a:t>
              </a:r>
              <a:r>
                <a:rPr lang="ko-KR" altLang="en-US" sz="700" dirty="0">
                  <a:latin typeface="+mn-ea"/>
                </a:rPr>
                <a:t>일백만 원정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41" name="직선 연결선 14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0037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2" name="직선 연결선 14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2174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43117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6260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5" name="직선 연결선 14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8397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6" name="직선 연결선 14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605347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149" name="직선 연결선 14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20227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5" name="타원 15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31977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176" name="타원 17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96603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12548123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신청내역</a:t>
            </a:r>
            <a:r>
              <a:rPr lang="ko-KR" altLang="en-US" dirty="0"/>
              <a:t>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23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smtClean="0">
                <a:latin typeface="+mn-ea"/>
              </a:rPr>
              <a:t>선금신청서상세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smtClean="0">
                <a:latin typeface="+mn-ea"/>
              </a:rPr>
              <a:t>세부신청내역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/>
              <a:t>선금신청서</a:t>
            </a:r>
            <a:r>
              <a:rPr lang="ko-KR" altLang="en-US" dirty="0"/>
              <a:t> 상세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선금신청서상세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MUI-WM-01-T02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5" name="그룹 4"/>
          <p:cNvGrpSpPr/>
          <p:nvPr/>
        </p:nvGrpSpPr>
        <p:grpSpPr>
          <a:xfrm>
            <a:off x="803364" y="1527996"/>
            <a:ext cx="2456097" cy="181140"/>
            <a:chOff x="763157" y="1527996"/>
            <a:chExt cx="2456097" cy="18114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세부신청내역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2038797"/>
            <a:ext cx="2630093" cy="1292663"/>
            <a:chOff x="3865118" y="2946203"/>
            <a:chExt cx="2630093" cy="1292663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3"/>
              <a:ext cx="792000" cy="128939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대상금액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신청금액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 err="1">
                  <a:latin typeface="+mn-ea"/>
                </a:rPr>
                <a:t>기사용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 err="1">
                  <a:latin typeface="+mn-ea"/>
                </a:rPr>
                <a:t>사용예정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신청금액의</a:t>
              </a:r>
              <a:r>
                <a:rPr lang="ko-KR" altLang="en-US" sz="700" dirty="0">
                  <a:latin typeface="+mn-ea"/>
                </a:rPr>
                <a:t> 비율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00 %</a:t>
              </a: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3363" y="1782724"/>
            <a:ext cx="130897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- </a:t>
            </a:r>
            <a:r>
              <a:rPr lang="ko-KR" altLang="en-US" sz="700" dirty="0">
                <a:latin typeface="+mn-ea"/>
              </a:rPr>
              <a:t>재료비 </a:t>
            </a:r>
            <a:r>
              <a:rPr lang="en-US" altLang="ko-KR" sz="700" dirty="0">
                <a:latin typeface="+mn-ea"/>
              </a:rPr>
              <a:t>- </a:t>
            </a:r>
            <a:r>
              <a:rPr lang="ko-KR" altLang="en-US" sz="700" dirty="0">
                <a:latin typeface="+mn-ea"/>
              </a:rPr>
              <a:t>수입 재료비</a:t>
            </a:r>
          </a:p>
        </p:txBody>
      </p:sp>
      <p:grpSp>
        <p:nvGrpSpPr>
          <p:cNvPr id="6" name="그룹 5"/>
          <p:cNvGrpSpPr/>
          <p:nvPr/>
        </p:nvGrpSpPr>
        <p:grpSpPr>
          <a:xfrm>
            <a:off x="716366" y="3413051"/>
            <a:ext cx="2630093" cy="1548736"/>
            <a:chOff x="716366" y="3441403"/>
            <a:chExt cx="2630093" cy="1548736"/>
          </a:xfrm>
        </p:grpSpPr>
        <p:grpSp>
          <p:nvGrpSpPr>
            <p:cNvPr id="53" name="그룹 52"/>
            <p:cNvGrpSpPr/>
            <p:nvPr/>
          </p:nvGrpSpPr>
          <p:grpSpPr>
            <a:xfrm>
              <a:off x="716366" y="3697476"/>
              <a:ext cx="2630093" cy="1292663"/>
              <a:chOff x="3865118" y="2946203"/>
              <a:chExt cx="2630093" cy="1292663"/>
            </a:xfrm>
          </p:grpSpPr>
          <p:sp>
            <p:nvSpPr>
              <p:cNvPr id="54" name="직사각형 53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55" name="직선 연결선 5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58" name="직선 연결선 5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9" name="직선 연결선 5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0" name="직선 연결선 5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1" name="직선 연결선 6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2" name="직선 연결선 6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3" name="직선 연결선 6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3363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재료비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국내 재료비</a:t>
              </a:r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3836701" y="1527996"/>
            <a:ext cx="2630093" cy="1548736"/>
            <a:chOff x="3795734" y="3441403"/>
            <a:chExt cx="2630093" cy="1548736"/>
          </a:xfrm>
        </p:grpSpPr>
        <p:grpSp>
          <p:nvGrpSpPr>
            <p:cNvPr id="67" name="그룹 66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68" name="직사각형 67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69" name="직선 연결선 6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72" name="직선 연결선 7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3" name="직선 연결선 7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4" name="직선 연결선 7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5" name="직선 연결선 7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6" name="직선 연결선 7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7" name="직선 연결선 7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재료비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간접 재료비</a:t>
              </a:r>
            </a:p>
          </p:txBody>
        </p:sp>
      </p:grpSp>
      <p:grpSp>
        <p:nvGrpSpPr>
          <p:cNvPr id="79" name="그룹 78"/>
          <p:cNvGrpSpPr/>
          <p:nvPr/>
        </p:nvGrpSpPr>
        <p:grpSpPr>
          <a:xfrm>
            <a:off x="3836701" y="3154214"/>
            <a:ext cx="2630093" cy="1548736"/>
            <a:chOff x="3795734" y="3441403"/>
            <a:chExt cx="2630093" cy="1548736"/>
          </a:xfrm>
        </p:grpSpPr>
        <p:grpSp>
          <p:nvGrpSpPr>
            <p:cNvPr id="80" name="그룹 79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82" name="직사각형 81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83" name="직선 연결선 8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86" name="직선 연결선 8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7" name="직선 연결선 8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8" name="직선 연결선 8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9" name="직선 연결선 8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0" name="직선 연결선 8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1" name="직선 연결선 9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 err="1">
                  <a:latin typeface="+mn-ea"/>
                </a:rPr>
                <a:t>노무비</a:t>
              </a:r>
              <a:r>
                <a:rPr lang="ko-KR" altLang="en-US" sz="700" dirty="0">
                  <a:latin typeface="+mn-ea"/>
                </a:rPr>
                <a:t> </a:t>
              </a:r>
              <a:r>
                <a:rPr lang="en-US" altLang="ko-KR" sz="700" dirty="0">
                  <a:latin typeface="+mn-ea"/>
                </a:rPr>
                <a:t>– </a:t>
              </a:r>
              <a:r>
                <a:rPr lang="ko-KR" altLang="en-US" sz="700" dirty="0">
                  <a:latin typeface="+mn-ea"/>
                </a:rPr>
                <a:t>직접 </a:t>
              </a:r>
              <a:r>
                <a:rPr lang="ko-KR" altLang="en-US" sz="700" dirty="0" err="1">
                  <a:latin typeface="+mn-ea"/>
                </a:rPr>
                <a:t>노무비</a:t>
              </a:r>
              <a:endParaRPr lang="ko-KR" altLang="en-US" sz="700" dirty="0">
                <a:latin typeface="+mn-ea"/>
              </a:endParaRPr>
            </a:p>
          </p:txBody>
        </p:sp>
      </p:grpSp>
      <p:grpSp>
        <p:nvGrpSpPr>
          <p:cNvPr id="92" name="그룹 91"/>
          <p:cNvGrpSpPr/>
          <p:nvPr/>
        </p:nvGrpSpPr>
        <p:grpSpPr>
          <a:xfrm>
            <a:off x="3836701" y="4784969"/>
            <a:ext cx="2630093" cy="1548736"/>
            <a:chOff x="3795734" y="3441403"/>
            <a:chExt cx="2630093" cy="1548736"/>
          </a:xfrm>
        </p:grpSpPr>
        <p:grpSp>
          <p:nvGrpSpPr>
            <p:cNvPr id="93" name="그룹 92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95" name="직사각형 94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96" name="직선 연결선 9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99" name="직선 연결선 9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0" name="직선 연결선 9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1" name="직선 연결선 10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2" name="직선 연결선 10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3" name="직선 연결선 10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4" name="직선 연결선 10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 err="1">
                  <a:latin typeface="+mn-ea"/>
                </a:rPr>
                <a:t>노무비</a:t>
              </a:r>
              <a:r>
                <a:rPr lang="ko-KR" altLang="en-US" sz="700" dirty="0">
                  <a:latin typeface="+mn-ea"/>
                </a:rPr>
                <a:t> </a:t>
              </a:r>
              <a:r>
                <a:rPr lang="en-US" altLang="ko-KR" sz="700" dirty="0">
                  <a:latin typeface="+mn-ea"/>
                </a:rPr>
                <a:t>– </a:t>
              </a:r>
              <a:r>
                <a:rPr lang="ko-KR" altLang="en-US" sz="700" dirty="0">
                  <a:latin typeface="+mn-ea"/>
                </a:rPr>
                <a:t>간접 </a:t>
              </a:r>
              <a:r>
                <a:rPr lang="ko-KR" altLang="en-US" sz="700" dirty="0" err="1">
                  <a:latin typeface="+mn-ea"/>
                </a:rPr>
                <a:t>노무비</a:t>
              </a:r>
              <a:endParaRPr lang="ko-KR" altLang="en-US" sz="700" dirty="0"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635254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신청내역</a:t>
            </a:r>
            <a:r>
              <a:rPr lang="ko-KR" altLang="en-US" dirty="0"/>
              <a:t>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24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smtClean="0">
                <a:latin typeface="+mn-ea"/>
              </a:rPr>
              <a:t>선금신청서상세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smtClean="0">
                <a:latin typeface="+mn-ea"/>
              </a:rPr>
              <a:t>세부신청내역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/>
              <a:t>선금신청서</a:t>
            </a:r>
            <a:r>
              <a:rPr lang="ko-KR" altLang="en-US" dirty="0"/>
              <a:t> 상세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선금신청서상세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MUI-WM-01-T02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3836701" y="1527996"/>
            <a:ext cx="2630093" cy="1548736"/>
            <a:chOff x="3795734" y="3441403"/>
            <a:chExt cx="2630093" cy="1548736"/>
          </a:xfrm>
        </p:grpSpPr>
        <p:grpSp>
          <p:nvGrpSpPr>
            <p:cNvPr id="67" name="그룹 66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68" name="직사각형 67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69" name="직선 연결선 6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72" name="직선 연결선 7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3" name="직선 연결선 7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4" name="직선 연결선 7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5" name="직선 연결선 7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6" name="직선 연결선 7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7" name="직선 연결선 7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기타</a:t>
              </a:r>
            </a:p>
          </p:txBody>
        </p:sp>
      </p:grpSp>
      <p:grpSp>
        <p:nvGrpSpPr>
          <p:cNvPr id="79" name="그룹 78"/>
          <p:cNvGrpSpPr/>
          <p:nvPr/>
        </p:nvGrpSpPr>
        <p:grpSpPr>
          <a:xfrm>
            <a:off x="3836701" y="3154214"/>
            <a:ext cx="2630093" cy="1548736"/>
            <a:chOff x="3795734" y="3441403"/>
            <a:chExt cx="2630093" cy="1548736"/>
          </a:xfrm>
        </p:grpSpPr>
        <p:grpSp>
          <p:nvGrpSpPr>
            <p:cNvPr id="80" name="그룹 79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82" name="직사각형 81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83" name="직선 연결선 8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86" name="직선 연결선 8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7" name="직선 연결선 8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8" name="직선 연결선 8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9" name="직선 연결선 8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0" name="직선 연결선 8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1" name="직선 연결선 9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합계</a:t>
              </a:r>
            </a:p>
          </p:txBody>
        </p:sp>
      </p:grpSp>
      <p:grpSp>
        <p:nvGrpSpPr>
          <p:cNvPr id="105" name="그룹 104"/>
          <p:cNvGrpSpPr/>
          <p:nvPr/>
        </p:nvGrpSpPr>
        <p:grpSpPr>
          <a:xfrm>
            <a:off x="716366" y="1527996"/>
            <a:ext cx="2630093" cy="1548736"/>
            <a:chOff x="3795734" y="3441403"/>
            <a:chExt cx="2630093" cy="1548736"/>
          </a:xfrm>
        </p:grpSpPr>
        <p:grpSp>
          <p:nvGrpSpPr>
            <p:cNvPr id="106" name="그룹 105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108" name="직사각형 107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09" name="직선 연결선 10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112" name="직선 연결선 11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4" name="직선 연결선 11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5" name="직선 연결선 11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6" name="직선 연결선 11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7" name="직선 연결선 11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8" name="직선 연결선 11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경비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직접 경비</a:t>
              </a:r>
            </a:p>
          </p:txBody>
        </p:sp>
      </p:grpSp>
      <p:grpSp>
        <p:nvGrpSpPr>
          <p:cNvPr id="119" name="그룹 118"/>
          <p:cNvGrpSpPr/>
          <p:nvPr/>
        </p:nvGrpSpPr>
        <p:grpSpPr>
          <a:xfrm>
            <a:off x="716366" y="3154214"/>
            <a:ext cx="2630093" cy="1548736"/>
            <a:chOff x="3795734" y="3441403"/>
            <a:chExt cx="2630093" cy="1548736"/>
          </a:xfrm>
        </p:grpSpPr>
        <p:grpSp>
          <p:nvGrpSpPr>
            <p:cNvPr id="120" name="그룹 119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122" name="직사각형 121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23" name="직선 연결선 12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126" name="직선 연결선 12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27" name="직선 연결선 12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28" name="직선 연결선 12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30" name="직선 연결선 12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32" name="직선 연결선 13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33" name="직선 연결선 13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경비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간접 경비</a:t>
              </a:r>
            </a:p>
          </p:txBody>
        </p:sp>
      </p:grpSp>
      <p:grpSp>
        <p:nvGrpSpPr>
          <p:cNvPr id="134" name="그룹 133"/>
          <p:cNvGrpSpPr/>
          <p:nvPr/>
        </p:nvGrpSpPr>
        <p:grpSpPr>
          <a:xfrm>
            <a:off x="716366" y="4784969"/>
            <a:ext cx="2630093" cy="1548736"/>
            <a:chOff x="3795734" y="3441403"/>
            <a:chExt cx="2630093" cy="1548736"/>
          </a:xfrm>
        </p:grpSpPr>
        <p:grpSp>
          <p:nvGrpSpPr>
            <p:cNvPr id="135" name="그룹 134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137" name="직사각형 136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40" name="직선 연결선 13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145" name="직선 연결선 14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46" name="직선 연결선 14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47" name="직선 연결선 14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48" name="직선 연결선 14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49" name="직선 연결선 14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50" name="직선 연결선 14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일반 관리비</a:t>
              </a:r>
            </a:p>
          </p:txBody>
        </p: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1263273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25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(1/2)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320978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선금신청서 차수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dmt_prpayApfrCyclInfo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271CA1-8B7B-01B8-8587-605BE3417C65}"/>
              </a:ext>
            </a:extLst>
          </p:cNvPr>
          <p:cNvSpPr txBox="1"/>
          <p:nvPr/>
        </p:nvSpPr>
        <p:spPr>
          <a:xfrm>
            <a:off x="458117" y="1817648"/>
            <a:ext cx="239705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계약내용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dmt_ctrtCnInfo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775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차수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ctrtCycl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</a:t>
                      </a:r>
                      <a:r>
                        <a:rPr lang="en-US" altLang="ko-KR" sz="800" dirty="0">
                          <a:latin typeface="+mn-ea"/>
                        </a:rPr>
                        <a:t>-</a:t>
                      </a:r>
                      <a:r>
                        <a:rPr lang="ko-KR" altLang="en-US" sz="800" dirty="0" err="1">
                          <a:latin typeface="+mn-ea"/>
                        </a:rPr>
                        <a:t>신청차수</a:t>
                      </a:r>
                      <a:r>
                        <a:rPr lang="ko-KR" altLang="en-US" sz="800" dirty="0">
                          <a:latin typeface="+mn-ea"/>
                        </a:rPr>
                        <a:t>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</a:rPr>
                        <a:t>계약번호</a:t>
                      </a:r>
                      <a:r>
                        <a:rPr lang="en-US" altLang="ko-KR" sz="800" dirty="0">
                          <a:latin typeface="+mn-ea"/>
                        </a:rPr>
                        <a:t>-</a:t>
                      </a:r>
                      <a:r>
                        <a:rPr lang="ko-KR" altLang="en-US" sz="800" dirty="0" err="1">
                          <a:latin typeface="+mn-ea"/>
                        </a:rPr>
                        <a:t>신청차수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수신자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rcptnOgnzCd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수신자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:RIC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dmndDt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신청일자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FC692424-6A27-FF04-83B1-DBDD428A5857}"/>
              </a:ext>
            </a:extLst>
          </p:cNvPr>
          <p:cNvGraphicFramePr>
            <a:graphicFrameLocks noGrp="1"/>
          </p:cNvGraphicFramePr>
          <p:nvPr/>
        </p:nvGraphicFramePr>
        <p:xfrm>
          <a:off x="461466" y="2049148"/>
          <a:ext cx="8994883" cy="1357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40355524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계약일자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02719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60920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계약금액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83692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dlvgdsYmd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납기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mainBizCn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DCD4A05-B1B2-6704-0345-7056CB08D3D5}"/>
              </a:ext>
            </a:extLst>
          </p:cNvPr>
          <p:cNvSpPr txBox="1"/>
          <p:nvPr/>
        </p:nvSpPr>
        <p:spPr>
          <a:xfrm>
            <a:off x="458117" y="3466653"/>
            <a:ext cx="2525298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신청금액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dmt_aplyAmtInfo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F33B436-336A-B501-0BE2-1B19942B1F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4111180"/>
              </p:ext>
            </p:extLst>
          </p:nvPr>
        </p:nvGraphicFramePr>
        <p:xfrm>
          <a:off x="452999" y="3698153"/>
          <a:ext cx="8994883" cy="581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40355524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aplyAmt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신청금액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지출원인금액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aplyAmt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지출원인금액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수정화면에서만 출력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027192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F6F026C-B651-7520-0A7A-01E73FC938FC}"/>
              </a:ext>
            </a:extLst>
          </p:cNvPr>
          <p:cNvSpPr txBox="1"/>
          <p:nvPr/>
        </p:nvSpPr>
        <p:spPr>
          <a:xfrm>
            <a:off x="458117" y="4326026"/>
            <a:ext cx="260384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1.4. </a:t>
            </a:r>
            <a:r>
              <a:rPr lang="ko-KR" altLang="en-US" sz="900" b="1" dirty="0">
                <a:solidFill>
                  <a:prstClr val="black"/>
                </a:solidFill>
              </a:rPr>
              <a:t>신청내역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dmt_aplyDsctnInfo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7EE4C8C-1596-E135-E8B4-EB82C0699BF4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4557526"/>
          <a:ext cx="8994883" cy="1601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40355524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prpayAplyDsctnAmtSeNm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재료비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노무비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경비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일반관리비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기타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합계 구분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N/A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금액구분명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컬럼별로 분리되어 있음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대상금액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trgtAmt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재료비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노무비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경비 일반관리비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기타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합계의 대상금액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98951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0" dirty="0">
                          <a:latin typeface="+mn-ea"/>
                          <a:ea typeface="+mn-ea"/>
                        </a:rPr>
                        <a:t>신청금액 </a:t>
                      </a:r>
                      <a:r>
                        <a:rPr lang="ko-KR" altLang="en-US" sz="800" spc="0" dirty="0" err="1">
                          <a:latin typeface="+mn-ea"/>
                          <a:ea typeface="+mn-ea"/>
                        </a:rPr>
                        <a:t>기사용</a:t>
                      </a:r>
                      <a:endParaRPr lang="ko-KR" altLang="en-US" sz="800" spc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arusAplyAmt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재료비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노무비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경비 일반관리비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기타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합계의 </a:t>
                      </a:r>
                      <a:r>
                        <a:rPr lang="ko-KR" altLang="en-US" sz="800" dirty="0" err="1">
                          <a:latin typeface="+mn-ea"/>
                        </a:rPr>
                        <a:t>기사용</a:t>
                      </a:r>
                      <a:r>
                        <a:rPr lang="ko-KR" altLang="en-US" sz="800" dirty="0">
                          <a:latin typeface="+mn-ea"/>
                        </a:rPr>
                        <a:t> 금액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35504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신청금액 사용예정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usePrnmntAplyAmt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재료비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노무비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경비 일반관리비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기타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합계의 사용예정 금액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8657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0" dirty="0">
                          <a:latin typeface="+mn-ea"/>
                          <a:ea typeface="+mn-ea"/>
                        </a:rPr>
                        <a:t>신청금액 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aplySumAmt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재료비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노무비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경비 일반관리비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기타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합계의 </a:t>
                      </a:r>
                      <a:r>
                        <a:rPr lang="ko-KR" altLang="en-US" sz="800" dirty="0" err="1">
                          <a:latin typeface="+mn-ea"/>
                        </a:rPr>
                        <a:t>기사용</a:t>
                      </a:r>
                      <a:r>
                        <a:rPr lang="ko-KR" altLang="en-US" sz="800" dirty="0">
                          <a:latin typeface="+mn-ea"/>
                        </a:rPr>
                        <a:t> 신청금액과 사용예정 신청금액의 합계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02719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0" dirty="0">
                          <a:latin typeface="+mn-ea"/>
                          <a:ea typeface="+mn-ea"/>
                        </a:rPr>
                        <a:t>신청금액의 비율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aplyAmtRt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재료비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노무비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경비 일반관리비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기타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합계의 신청금액의 비율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N/A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신청금액계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대상금액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*100(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화면에서 계산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3449522"/>
                  </a:ext>
                </a:extLst>
              </a:tr>
            </a:tbl>
          </a:graphicData>
        </a:graphic>
      </p:graphicFrame>
      <p:sp>
        <p:nvSpPr>
          <p:cNvPr id="10" name="Text Box 73">
            <a:extLst>
              <a:ext uri="{FF2B5EF4-FFF2-40B4-BE49-F238E27FC236}">
                <a16:creationId xmlns:a16="http://schemas.microsoft.com/office/drawing/2014/main" id="{5FFE7C35-2362-9481-0F6A-DA2217795C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096333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26</a:t>
            </a:fld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2414691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1.5. </a:t>
            </a:r>
            <a:r>
              <a:rPr lang="ko-KR" altLang="en-US" sz="900" b="1" dirty="0">
                <a:solidFill>
                  <a:prstClr val="black"/>
                </a:solidFill>
              </a:rPr>
              <a:t>공급자 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dmt_splrInfo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775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작성자명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wrtrNm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작성자명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직책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wrtrJbttlNm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직책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휴대폰번호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wrtrEnmtno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휴대폰번호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64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암호화휴대전화번호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DEF13B1B-9846-067B-08DD-AB98FCEB3C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3C33E4-E4DC-F17B-082F-B9C39DF76C95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(2/2)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52558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27</a:t>
            </a:fld>
            <a:endParaRPr lang="ko-KR" altLang="en-US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F0E94EC-9BAC-208C-9C16-356647B1F8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6070986"/>
              </p:ext>
            </p:extLst>
          </p:nvPr>
        </p:nvGraphicFramePr>
        <p:xfrm>
          <a:off x="453000" y="1049851"/>
          <a:ext cx="8995591" cy="825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3103963203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공통코드정보를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차수정보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계약정보 를 조회한다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인쇄 클릭 이벤트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/>
                        <a:t>scwin.btn_print_onclick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증명서 출력 팝업을 호출한다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(UI-WM-01-P30)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증명서출력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547104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CE4A288-7AB3-FB2A-21DF-A951B1303538}"/>
              </a:ext>
            </a:extLst>
          </p:cNvPr>
          <p:cNvSpPr txBox="1"/>
          <p:nvPr/>
        </p:nvSpPr>
        <p:spPr>
          <a:xfrm>
            <a:off x="458117" y="760911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sp>
        <p:nvSpPr>
          <p:cNvPr id="6" name="Text Box 73">
            <a:extLst>
              <a:ext uri="{FF2B5EF4-FFF2-40B4-BE49-F238E27FC236}">
                <a16:creationId xmlns:a16="http://schemas.microsoft.com/office/drawing/2014/main" id="{BC2CA564-7302-5E8B-9DF2-1E1715C112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9866" y="82802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443920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28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착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 smtClean="0">
                <a:latin typeface="+mn-ea"/>
              </a:rPr>
              <a:t>중도금신청서상세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>
                <a:latin typeface="+mn-ea"/>
              </a:rPr>
              <a:t>착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>
                <a:latin typeface="+mn-ea"/>
              </a:rPr>
              <a:t>중도금신청서</a:t>
            </a:r>
            <a:r>
              <a:rPr lang="ko-KR" altLang="en-US" dirty="0"/>
              <a:t> 상세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smtClean="0">
                <a:latin typeface="+mn-ea"/>
              </a:rPr>
              <a:t>착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 smtClean="0">
                <a:latin typeface="+mn-ea"/>
              </a:rPr>
              <a:t>중도금신청서상세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MUI-WM-01-M03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err="1">
                <a:latin typeface="+mn-ea"/>
              </a:rPr>
              <a:t>대금청구</a:t>
            </a:r>
            <a:r>
              <a:rPr lang="ko-KR" altLang="en-US" sz="800" dirty="0">
                <a:latin typeface="+mn-ea"/>
              </a:rPr>
              <a:t> </a:t>
            </a:r>
            <a:r>
              <a:rPr lang="ko-KR" altLang="en-US" sz="800" dirty="0" err="1">
                <a:latin typeface="+mn-ea"/>
              </a:rPr>
              <a:t>상세조회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462389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/>
              <a:t>물품구매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797454"/>
            <a:ext cx="307777" cy="39767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계약일자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발주기관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계약금액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596303" y="2782065"/>
            <a:ext cx="472886" cy="39767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제</a:t>
            </a:r>
            <a:r>
              <a:rPr lang="en-US" altLang="ko-KR" sz="600" dirty="0">
                <a:latin typeface="+mn-ea"/>
              </a:rPr>
              <a:t>8385</a:t>
            </a:r>
            <a:r>
              <a:rPr lang="ko-KR" altLang="en-US" sz="600" dirty="0">
                <a:latin typeface="+mn-ea"/>
              </a:rPr>
              <a:t>부대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11,616,000 </a:t>
            </a:r>
            <a:r>
              <a:rPr lang="ko-KR" altLang="en-US" sz="600" dirty="0">
                <a:latin typeface="+mn-ea"/>
              </a:rPr>
              <a:t>원</a:t>
            </a:r>
            <a:endParaRPr lang="en-US" altLang="ko-KR" sz="600" dirty="0">
              <a:latin typeface="+mn-ea"/>
            </a:endParaRPr>
          </a:p>
        </p:txBody>
      </p:sp>
      <p:sp>
        <p:nvSpPr>
          <p:cNvPr id="67" name="모서리가 둥근 직사각형 66"/>
          <p:cNvSpPr/>
          <p:nvPr/>
        </p:nvSpPr>
        <p:spPr>
          <a:xfrm>
            <a:off x="781461" y="227805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68" name="모서리가 둥근 직사각형 67"/>
          <p:cNvSpPr/>
          <p:nvPr/>
        </p:nvSpPr>
        <p:spPr>
          <a:xfrm>
            <a:off x="1075655" y="2278058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66319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00442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696944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3728289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810275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35884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4142235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err="1">
                <a:latin typeface="+mn-ea"/>
              </a:rPr>
              <a:t>신청정보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545" y="4142235"/>
            <a:ext cx="58899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세부 </a:t>
            </a:r>
            <a:r>
              <a:rPr lang="ko-KR" altLang="en-US" sz="700" dirty="0" err="1">
                <a:latin typeface="+mn-ea"/>
              </a:rPr>
              <a:t>신청내역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358842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4104112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150103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1857015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4" name="TextBox 20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67701" y="1640408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err="1">
                <a:latin typeface="+mn-ea"/>
              </a:rPr>
              <a:t>신청정보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22077" y="1640408"/>
            <a:ext cx="59046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세부 </a:t>
            </a:r>
            <a:r>
              <a:rPr lang="ko-KR" altLang="en-US" sz="700" dirty="0" err="1">
                <a:latin typeface="+mn-ea"/>
              </a:rPr>
              <a:t>신청내역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1857015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09" name="그룹 208"/>
          <p:cNvGrpSpPr/>
          <p:nvPr/>
        </p:nvGrpSpPr>
        <p:grpSpPr>
          <a:xfrm>
            <a:off x="6027618" y="1602285"/>
            <a:ext cx="422853" cy="187961"/>
            <a:chOff x="3641308" y="2234886"/>
            <a:chExt cx="422853" cy="187961"/>
          </a:xfrm>
        </p:grpSpPr>
        <p:sp>
          <p:nvSpPr>
            <p:cNvPr id="210" name="타원 209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1" name="그룹 210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216" name="직선 연결선 21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7" name="직선 연결선 21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2" name="타원 211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3" name="그룹 212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214" name="직선 연결선 21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직선 연결선 21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77" name="타원 276"/>
          <p:cNvSpPr/>
          <p:nvPr/>
        </p:nvSpPr>
        <p:spPr>
          <a:xfrm>
            <a:off x="6596790" y="515498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5272060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4" name="타원 283"/>
          <p:cNvSpPr/>
          <p:nvPr/>
        </p:nvSpPr>
        <p:spPr>
          <a:xfrm>
            <a:off x="6596790" y="564023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8" name="그룹 27"/>
          <p:cNvGrpSpPr/>
          <p:nvPr/>
        </p:nvGrpSpPr>
        <p:grpSpPr>
          <a:xfrm>
            <a:off x="6726257" y="5769705"/>
            <a:ext cx="124144" cy="124144"/>
            <a:chOff x="162544" y="5299917"/>
            <a:chExt cx="124144" cy="124144"/>
          </a:xfrm>
        </p:grpSpPr>
        <p:cxnSp>
          <p:nvCxnSpPr>
            <p:cNvPr id="288" name="직선 연결선 287"/>
            <p:cNvCxnSpPr/>
            <p:nvPr/>
          </p:nvCxnSpPr>
          <p:spPr>
            <a:xfrm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9" name="직선 연결선 288"/>
            <p:cNvCxnSpPr/>
            <p:nvPr/>
          </p:nvCxnSpPr>
          <p:spPr>
            <a:xfrm rot="16200000"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30551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9" name="그룹 8"/>
          <p:cNvGrpSpPr/>
          <p:nvPr/>
        </p:nvGrpSpPr>
        <p:grpSpPr>
          <a:xfrm>
            <a:off x="3796091" y="3551653"/>
            <a:ext cx="2712027" cy="830059"/>
            <a:chOff x="3796091" y="4161857"/>
            <a:chExt cx="2712027" cy="830059"/>
          </a:xfrm>
        </p:grpSpPr>
        <p:cxnSp>
          <p:nvCxnSpPr>
            <p:cNvPr id="302" name="직선 연결선 30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96091" y="4161857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03" name="TextBox 30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02153" y="4193387"/>
              <a:ext cx="84376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공급자 정보</a:t>
              </a:r>
            </a:p>
          </p:txBody>
        </p:sp>
        <p:grpSp>
          <p:nvGrpSpPr>
            <p:cNvPr id="304" name="그룹 303"/>
            <p:cNvGrpSpPr/>
            <p:nvPr/>
          </p:nvGrpSpPr>
          <p:grpSpPr>
            <a:xfrm flipV="1">
              <a:off x="6264240" y="4306718"/>
              <a:ext cx="94010" cy="47005"/>
              <a:chOff x="6812560" y="3297172"/>
              <a:chExt cx="94010" cy="47005"/>
            </a:xfrm>
          </p:grpSpPr>
          <p:cxnSp>
            <p:nvCxnSpPr>
              <p:cNvPr id="305" name="직선 연결선 30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6" name="직선 연결선 30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63885" y="4524104"/>
              <a:ext cx="49390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작성자명</a:t>
              </a:r>
              <a:r>
                <a: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직책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09" name="TextBox 30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5159018" y="4524104"/>
              <a:ext cx="49390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휴대폰번호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11" name="모서리가 둥근 직사각형 310"/>
            <p:cNvSpPr/>
            <p:nvPr/>
          </p:nvSpPr>
          <p:spPr>
            <a:xfrm>
              <a:off x="3831550" y="4647106"/>
              <a:ext cx="2652743" cy="344810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2" name="TextBox 31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63885" y="4765650"/>
              <a:ext cx="49390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홍길동 대리</a:t>
              </a:r>
              <a:endPara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14" name="TextBox 31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5159018" y="4765650"/>
              <a:ext cx="64751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010-1234-5678</a:t>
              </a:r>
            </a:p>
          </p:txBody>
        </p:sp>
      </p:grpSp>
      <p:sp>
        <p:nvSpPr>
          <p:cNvPr id="337" name="모서리가 둥근 직사각형 336"/>
          <p:cNvSpPr/>
          <p:nvPr/>
        </p:nvSpPr>
        <p:spPr>
          <a:xfrm>
            <a:off x="781461" y="1944348"/>
            <a:ext cx="243478" cy="119400"/>
          </a:xfrm>
          <a:prstGeom prst="roundRect">
            <a:avLst>
              <a:gd name="adj" fmla="val 23409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>
                <a:solidFill>
                  <a:srgbClr val="FF0000"/>
                </a:solidFill>
              </a:rPr>
              <a:t>중요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33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1082843" y="1950187"/>
            <a:ext cx="220200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>
                <a:solidFill>
                  <a:prstClr val="black"/>
                </a:solidFill>
              </a:rPr>
              <a:t>대금 신청</a:t>
            </a:r>
            <a:r>
              <a:rPr lang="en-US" altLang="ko-KR" sz="700" dirty="0">
                <a:solidFill>
                  <a:prstClr val="black"/>
                </a:solidFill>
              </a:rPr>
              <a:t>, </a:t>
            </a:r>
            <a:r>
              <a:rPr lang="ko-KR" altLang="en-US" sz="700" dirty="0">
                <a:solidFill>
                  <a:prstClr val="black"/>
                </a:solidFill>
              </a:rPr>
              <a:t>청구는 </a:t>
            </a:r>
            <a:r>
              <a:rPr lang="en-US" altLang="ko-KR" sz="700" dirty="0">
                <a:solidFill>
                  <a:prstClr val="black"/>
                </a:solidFill>
              </a:rPr>
              <a:t>PC </a:t>
            </a:r>
            <a:r>
              <a:rPr lang="ko-KR" altLang="en-US" sz="700" dirty="0">
                <a:solidFill>
                  <a:prstClr val="black"/>
                </a:solidFill>
              </a:rPr>
              <a:t>버전에서 가능합니다</a:t>
            </a:r>
            <a:r>
              <a:rPr lang="en-US" altLang="ko-KR" sz="700" dirty="0">
                <a:solidFill>
                  <a:prstClr val="black"/>
                </a:solidFill>
              </a:rPr>
              <a:t>.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cxnSp>
        <p:nvCxnSpPr>
          <p:cNvPr id="340" name="직선 연결선 33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5091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6" name="그룹 5"/>
          <p:cNvGrpSpPr/>
          <p:nvPr/>
        </p:nvGrpSpPr>
        <p:grpSpPr>
          <a:xfrm>
            <a:off x="3836701" y="1930187"/>
            <a:ext cx="2630093" cy="1551225"/>
            <a:chOff x="3836701" y="2575831"/>
            <a:chExt cx="2630093" cy="1551225"/>
          </a:xfrm>
        </p:grpSpPr>
        <p:sp>
          <p:nvSpPr>
            <p:cNvPr id="252" name="TextBox 25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7672" y="2575831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계약내용</a:t>
              </a:r>
            </a:p>
          </p:txBody>
        </p:sp>
        <p:sp>
          <p:nvSpPr>
            <p:cNvPr id="253" name="직사각형 252"/>
            <p:cNvSpPr/>
            <p:nvPr/>
          </p:nvSpPr>
          <p:spPr>
            <a:xfrm>
              <a:off x="3838794" y="2827415"/>
              <a:ext cx="792000" cy="129964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55" name="직선 연결선 2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6701" y="282741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5858" y="2827416"/>
              <a:ext cx="670770" cy="126188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600" dirty="0">
                  <a:latin typeface="+mn-ea"/>
                </a:rPr>
                <a:t>계약금액</a:t>
              </a:r>
              <a:r>
                <a:rPr lang="en-US" altLang="ko-KR" sz="600" dirty="0">
                  <a:latin typeface="+mn-ea"/>
                </a:rPr>
                <a:t>(</a:t>
              </a:r>
              <a:r>
                <a:rPr lang="ko-KR" altLang="en-US" sz="600" dirty="0" err="1">
                  <a:latin typeface="+mn-ea"/>
                </a:rPr>
                <a:t>대상금액</a:t>
              </a:r>
              <a:r>
                <a:rPr lang="en-US" altLang="ko-KR" sz="600" dirty="0">
                  <a:latin typeface="+mn-ea"/>
                </a:rPr>
                <a:t>)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납기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>
                  <a:latin typeface="+mn-ea"/>
                </a:rPr>
                <a:t>최종</a:t>
              </a:r>
              <a:r>
                <a:rPr lang="en-US" altLang="ko-KR" sz="700" dirty="0">
                  <a:latin typeface="+mn-ea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261" name="TextBox 2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2706" y="2827416"/>
              <a:ext cx="1775839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2025-11-23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20257135021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배추김치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2026-01-01 ~ 2026-12~31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</p:txBody>
        </p:sp>
        <p:cxnSp>
          <p:nvCxnSpPr>
            <p:cNvPr id="262" name="직선 연결선 2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0585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3" name="직선 연결선 2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2722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4" name="직선 연결선 2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4859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5" name="직선 연결선 2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6996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6" name="직선 연결선 2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9133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8" name="직선 연결선 2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12705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59" name="그룹 158"/>
            <p:cNvGrpSpPr/>
            <p:nvPr/>
          </p:nvGrpSpPr>
          <p:grpSpPr>
            <a:xfrm flipV="1">
              <a:off x="6259759" y="2635184"/>
              <a:ext cx="94010" cy="47005"/>
              <a:chOff x="6812560" y="3297172"/>
              <a:chExt cx="94010" cy="47005"/>
            </a:xfrm>
          </p:grpSpPr>
          <p:cxnSp>
            <p:nvCxnSpPr>
              <p:cNvPr id="160" name="직선 연결선 15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" name="그룹 7"/>
          <p:cNvGrpSpPr/>
          <p:nvPr/>
        </p:nvGrpSpPr>
        <p:grpSpPr>
          <a:xfrm>
            <a:off x="720490" y="4465173"/>
            <a:ext cx="2630093" cy="1600369"/>
            <a:chOff x="720490" y="4465173"/>
            <a:chExt cx="2630093" cy="1600369"/>
          </a:xfrm>
        </p:grpSpPr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4465173"/>
              <a:ext cx="84376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07" name="그룹 106"/>
            <p:cNvGrpSpPr/>
            <p:nvPr/>
          </p:nvGrpSpPr>
          <p:grpSpPr>
            <a:xfrm flipV="1">
              <a:off x="3143548" y="4578504"/>
              <a:ext cx="94010" cy="47005"/>
              <a:chOff x="6812560" y="3297172"/>
              <a:chExt cx="94010" cy="47005"/>
            </a:xfrm>
          </p:grpSpPr>
          <p:cxnSp>
            <p:nvCxnSpPr>
              <p:cNvPr id="108" name="직선 연결선 10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" name="직선 연결선 10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" name="직사각형 15"/>
            <p:cNvSpPr/>
            <p:nvPr/>
          </p:nvSpPr>
          <p:spPr>
            <a:xfrm>
              <a:off x="722583" y="4772658"/>
              <a:ext cx="792000" cy="129266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5" name="직선 연결선 10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77265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772658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차수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수신자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신청금액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신청금액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신청구분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772658"/>
              <a:ext cx="1784088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 0000 00 - 01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방위사업청</a:t>
              </a:r>
              <a:r>
                <a:rPr lang="ko-KR" altLang="en-US" sz="700" dirty="0">
                  <a:latin typeface="+mn-ea"/>
                </a:rPr>
                <a:t> 계약관리본부 재무관 귀하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2026-01-30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\ </a:t>
              </a:r>
              <a:r>
                <a:rPr lang="ko-KR" altLang="en-US" sz="700" dirty="0">
                  <a:latin typeface="+mn-ea"/>
                </a:rPr>
                <a:t>일백만 </a:t>
              </a:r>
              <a:r>
                <a:rPr lang="ko-KR" altLang="en-US" sz="700" dirty="0" smtClean="0">
                  <a:latin typeface="+mn-ea"/>
                </a:rPr>
                <a:t>원정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착수금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15" name="직선 연결선 11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0037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6" name="직선 연결선 11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2174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7" name="직선 연결선 11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43117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0" name="직선 연결선 16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6260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1" name="직선 연결선 17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8397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3" name="직선 연결선 15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60655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75" name="TextBox 174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151" name="모서리가 둥근 직사각형 150"/>
          <p:cNvSpPr/>
          <p:nvPr/>
        </p:nvSpPr>
        <p:spPr>
          <a:xfrm>
            <a:off x="1513040" y="2278058"/>
            <a:ext cx="55591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착중도금신청</a:t>
            </a:r>
            <a:endParaRPr lang="ko-KR" altLang="en-US" sz="600" dirty="0"/>
          </a:p>
        </p:txBody>
      </p:sp>
      <p:grpSp>
        <p:nvGrpSpPr>
          <p:cNvPr id="156" name="그룹 155"/>
          <p:cNvGrpSpPr/>
          <p:nvPr/>
        </p:nvGrpSpPr>
        <p:grpSpPr>
          <a:xfrm>
            <a:off x="747925" y="3401909"/>
            <a:ext cx="2599014" cy="187961"/>
            <a:chOff x="747925" y="3393200"/>
            <a:chExt cx="2599014" cy="187961"/>
          </a:xfrm>
        </p:grpSpPr>
        <p:grpSp>
          <p:nvGrpSpPr>
            <p:cNvPr id="163" name="그룹 162"/>
            <p:cNvGrpSpPr/>
            <p:nvPr/>
          </p:nvGrpSpPr>
          <p:grpSpPr>
            <a:xfrm rot="16200000">
              <a:off x="1250697" y="3463679"/>
              <a:ext cx="94010" cy="47005"/>
              <a:chOff x="6812560" y="3297172"/>
              <a:chExt cx="94010" cy="47005"/>
            </a:xfrm>
          </p:grpSpPr>
          <p:cxnSp>
            <p:nvCxnSpPr>
              <p:cNvPr id="222" name="직선 연결선 22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3" name="직선 연결선 22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604170" y="3433319"/>
              <a:ext cx="40086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계약</a:t>
              </a:r>
            </a:p>
          </p:txBody>
        </p:sp>
        <p:sp>
          <p:nvSpPr>
            <p:cNvPr id="165" name="타원 164"/>
            <p:cNvSpPr/>
            <p:nvPr/>
          </p:nvSpPr>
          <p:spPr>
            <a:xfrm>
              <a:off x="1404035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459092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3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67" name="그룹 166"/>
            <p:cNvGrpSpPr/>
            <p:nvPr/>
          </p:nvGrpSpPr>
          <p:grpSpPr>
            <a:xfrm rot="16200000">
              <a:off x="1906808" y="3463679"/>
              <a:ext cx="94010" cy="47005"/>
              <a:chOff x="6812560" y="3297172"/>
              <a:chExt cx="94010" cy="47005"/>
            </a:xfrm>
          </p:grpSpPr>
          <p:cxnSp>
            <p:nvCxnSpPr>
              <p:cNvPr id="220" name="직선 연결선 21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1" name="직선 연결선 22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68" name="그룹 167"/>
            <p:cNvGrpSpPr/>
            <p:nvPr/>
          </p:nvGrpSpPr>
          <p:grpSpPr>
            <a:xfrm rot="16200000">
              <a:off x="2562920" y="3463679"/>
              <a:ext cx="94010" cy="47005"/>
              <a:chOff x="6812560" y="3297172"/>
              <a:chExt cx="94010" cy="47005"/>
            </a:xfrm>
          </p:grpSpPr>
          <p:cxnSp>
            <p:nvCxnSpPr>
              <p:cNvPr id="218" name="직선 연결선 21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9" name="직선 연결선 21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9" name="타원 168"/>
            <p:cNvSpPr/>
            <p:nvPr/>
          </p:nvSpPr>
          <p:spPr>
            <a:xfrm>
              <a:off x="747925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2982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2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51350" y="3433319"/>
              <a:ext cx="39757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입찰</a:t>
              </a:r>
            </a:p>
          </p:txBody>
        </p:sp>
        <p:sp>
          <p:nvSpPr>
            <p:cNvPr id="174" name="타원 173"/>
            <p:cNvSpPr/>
            <p:nvPr/>
          </p:nvSpPr>
          <p:spPr>
            <a:xfrm>
              <a:off x="2058749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113806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4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263899" y="343331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이행</a:t>
              </a:r>
            </a:p>
          </p:txBody>
        </p:sp>
        <p:sp>
          <p:nvSpPr>
            <p:cNvPr id="178" name="타원 177"/>
            <p:cNvSpPr/>
            <p:nvPr/>
          </p:nvSpPr>
          <p:spPr>
            <a:xfrm>
              <a:off x="2714860" y="3393200"/>
              <a:ext cx="187961" cy="187961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769917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bg1"/>
                  </a:solidFill>
                  <a:latin typeface="+mn-ea"/>
                </a:rPr>
                <a:t>5</a:t>
              </a:r>
              <a:endParaRPr lang="ko-KR" altLang="en-US" sz="7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20010" y="343331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대금</a:t>
              </a:r>
              <a:r>
                <a:rPr lang="en-US" altLang="ko-KR" sz="700" dirty="0">
                  <a:latin typeface="+mn-ea"/>
                </a:rPr>
                <a:t>/</a:t>
              </a:r>
              <a:r>
                <a:rPr lang="ko-KR" altLang="en-US" sz="700" dirty="0">
                  <a:latin typeface="+mn-ea"/>
                </a:rPr>
                <a:t>사후</a:t>
              </a:r>
            </a:p>
          </p:txBody>
        </p:sp>
        <p:grpSp>
          <p:nvGrpSpPr>
            <p:cNvPr id="181" name="그룹 180"/>
            <p:cNvGrpSpPr/>
            <p:nvPr/>
          </p:nvGrpSpPr>
          <p:grpSpPr>
            <a:xfrm rot="5400000">
              <a:off x="3158978" y="3393200"/>
              <a:ext cx="187961" cy="187961"/>
              <a:chOff x="3876200" y="2234886"/>
              <a:chExt cx="187961" cy="187961"/>
            </a:xfrm>
          </p:grpSpPr>
          <p:sp>
            <p:nvSpPr>
              <p:cNvPr id="185" name="타원 184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87" name="그룹 186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206" name="직선 연결선 205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7" name="직선 연결선 206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82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 txBox="1">
            <a:spLocks/>
          </p:cNvSpPr>
          <p:nvPr/>
        </p:nvSpPr>
        <p:spPr>
          <a:xfrm>
            <a:off x="7068023" y="1513670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 algn="l" defTabSz="914400" rtl="0" eaLnBrk="1" latinLnBrk="1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타이틀 영역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1-1] </a:t>
            </a:r>
            <a:r>
              <a:rPr lang="ko-KR" altLang="en-US" sz="800" dirty="0" smtClean="0"/>
              <a:t>레이블이 화면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화면 넘치는 경우 드래그하여 확인 가능 </a:t>
            </a:r>
            <a:r>
              <a:rPr lang="en-US" altLang="ko-KR" sz="800" dirty="0" smtClean="0"/>
              <a:t>(</a:t>
            </a:r>
            <a:r>
              <a:rPr lang="ko-KR" altLang="en-US" sz="800" dirty="0" err="1" smtClean="0"/>
              <a:t>스와이프기능</a:t>
            </a:r>
            <a:r>
              <a:rPr lang="ko-KR" altLang="en-US" sz="800" dirty="0" smtClean="0"/>
              <a:t> 반영 필요</a:t>
            </a:r>
            <a:r>
              <a:rPr lang="en-US" altLang="ko-KR" sz="800" dirty="0" smtClean="0"/>
              <a:t>)</a:t>
            </a:r>
            <a:br>
              <a:rPr lang="en-US" altLang="ko-KR" sz="800" dirty="0" smtClean="0"/>
            </a:br>
            <a:r>
              <a:rPr lang="en-US" altLang="ko-KR" sz="800" dirty="0" smtClean="0"/>
              <a:t>1-2] </a:t>
            </a:r>
            <a:r>
              <a:rPr lang="ko-KR" altLang="en-US" sz="800" dirty="0" smtClean="0"/>
              <a:t>문서 정보 영역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판단번호</a:t>
            </a:r>
            <a:r>
              <a:rPr lang="ko-KR" altLang="en-US" sz="800" dirty="0" smtClean="0"/>
              <a:t> </a:t>
            </a:r>
            <a:r>
              <a:rPr lang="en-US" altLang="ko-KR" sz="800" dirty="0" smtClean="0"/>
              <a:t>,  </a:t>
            </a:r>
            <a:r>
              <a:rPr lang="ko-KR" altLang="en-US" sz="800" dirty="0" err="1" smtClean="0"/>
              <a:t>계약번호</a:t>
            </a:r>
            <a:r>
              <a:rPr lang="ko-KR" altLang="en-US" sz="800" dirty="0" smtClean="0"/>
              <a:t> 노출 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판단번호</a:t>
            </a:r>
            <a:r>
              <a:rPr lang="ko-KR" altLang="en-US" sz="800" dirty="0" smtClean="0"/>
              <a:t> </a:t>
            </a:r>
            <a:r>
              <a:rPr lang="ko-KR" altLang="en-US" sz="800" dirty="0" err="1" smtClean="0"/>
              <a:t>전체노출</a:t>
            </a:r>
            <a:r>
              <a:rPr lang="ko-KR" altLang="en-US" sz="800" dirty="0" smtClean="0"/>
              <a:t> </a:t>
            </a:r>
            <a:r>
              <a:rPr lang="en-US" altLang="ko-KR" sz="800" dirty="0" smtClean="0"/>
              <a:t>/ </a:t>
            </a:r>
            <a:r>
              <a:rPr lang="ko-KR" altLang="en-US" sz="800" dirty="0" err="1" smtClean="0"/>
              <a:t>계약번호</a:t>
            </a:r>
            <a:r>
              <a:rPr lang="ko-KR" altLang="en-US" sz="800" dirty="0" smtClean="0"/>
              <a:t> </a:t>
            </a:r>
            <a:r>
              <a:rPr lang="ko-KR" altLang="en-US" sz="800" dirty="0" err="1" smtClean="0"/>
              <a:t>노출시</a:t>
            </a:r>
            <a:r>
              <a:rPr lang="ko-KR" altLang="en-US" sz="800" dirty="0" smtClean="0"/>
              <a:t> 해당 라인을 넘어가면 </a:t>
            </a:r>
            <a:r>
              <a:rPr lang="en-US" altLang="ko-KR" sz="800" dirty="0" smtClean="0"/>
              <a:t>(…) </a:t>
            </a:r>
            <a:r>
              <a:rPr lang="ko-KR" altLang="en-US" sz="800" dirty="0" err="1" smtClean="0"/>
              <a:t>말줄임</a:t>
            </a:r>
            <a:r>
              <a:rPr lang="ko-KR" altLang="en-US" sz="800" dirty="0" smtClean="0"/>
              <a:t> 표시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1-3] </a:t>
            </a:r>
            <a:r>
              <a:rPr lang="ko-KR" altLang="en-US" sz="800" dirty="0" smtClean="0"/>
              <a:t>문서 제목 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제목은 </a:t>
            </a:r>
            <a:r>
              <a:rPr lang="en-US" altLang="ko-KR" sz="800" dirty="0" smtClean="0"/>
              <a:t>2</a:t>
            </a:r>
            <a:r>
              <a:rPr lang="ko-KR" altLang="en-US" sz="800" dirty="0" smtClean="0"/>
              <a:t>줄 까지 노출 이후</a:t>
            </a:r>
            <a:r>
              <a:rPr lang="en-US" altLang="ko-KR" sz="800" dirty="0" smtClean="0"/>
              <a:t>(…) </a:t>
            </a:r>
            <a:r>
              <a:rPr lang="ko-KR" altLang="en-US" sz="800" dirty="0" err="1" smtClean="0"/>
              <a:t>말줄임</a:t>
            </a:r>
            <a:r>
              <a:rPr lang="ko-KR" altLang="en-US" sz="800" dirty="0" smtClean="0"/>
              <a:t> 표시</a:t>
            </a:r>
            <a:endParaRPr lang="en-US" altLang="ko-KR" sz="8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err="1" smtClean="0"/>
              <a:t>업무도움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기본값 </a:t>
            </a:r>
            <a:r>
              <a:rPr lang="en-US" altLang="ko-KR" sz="800" dirty="0" smtClean="0"/>
              <a:t>: </a:t>
            </a:r>
            <a:r>
              <a:rPr lang="ko-KR" altLang="en-US" sz="800" dirty="0" smtClean="0"/>
              <a:t>접힘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클릭시</a:t>
            </a:r>
            <a:r>
              <a:rPr lang="ko-KR" altLang="en-US" sz="800" dirty="0" smtClean="0"/>
              <a:t> 확장하여 정보 표시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</a:t>
            </a:r>
            <a:r>
              <a:rPr lang="ko-KR" altLang="en-US" sz="800" dirty="0" err="1" smtClean="0"/>
              <a:t>업무도움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&gt; </a:t>
            </a:r>
            <a:r>
              <a:rPr lang="ko-KR" altLang="en-US" sz="800" dirty="0" smtClean="0"/>
              <a:t>내역이 있는 경우 만 표시</a:t>
            </a:r>
            <a:endParaRPr lang="en-US" altLang="ko-KR" sz="8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탭 영역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신청정보</a:t>
            </a:r>
            <a:r>
              <a:rPr lang="ko-KR" altLang="en-US" sz="800" dirty="0" smtClean="0"/>
              <a:t> </a:t>
            </a:r>
            <a:r>
              <a:rPr lang="en-US" altLang="ko-KR" sz="800" dirty="0" smtClean="0"/>
              <a:t>Tab</a:t>
            </a:r>
            <a:r>
              <a:rPr lang="ko-KR" altLang="en-US" sz="800" dirty="0" smtClean="0"/>
              <a:t>은 진입 시 고정 노출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탭 내용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ko-KR" altLang="en-US" sz="800" dirty="0" err="1" smtClean="0"/>
              <a:t>신청정보</a:t>
            </a:r>
            <a:r>
              <a:rPr lang="en-US" altLang="ko-KR" sz="800" dirty="0" smtClean="0"/>
              <a:t>, </a:t>
            </a:r>
            <a:r>
              <a:rPr lang="ko-KR" altLang="en-US" sz="800" dirty="0" smtClean="0"/>
              <a:t>세부 </a:t>
            </a:r>
            <a:r>
              <a:rPr lang="ko-KR" altLang="en-US" sz="800" dirty="0" err="1" smtClean="0"/>
              <a:t>신청내역</a:t>
            </a:r>
            <a:r>
              <a:rPr lang="en-US" altLang="ko-KR" sz="800" dirty="0" smtClean="0"/>
              <a:t>, </a:t>
            </a:r>
            <a:r>
              <a:rPr lang="ko-KR" altLang="en-US" sz="800" dirty="0" err="1" smtClean="0"/>
              <a:t>지급상태</a:t>
            </a:r>
            <a:r>
              <a:rPr lang="ko-KR" altLang="en-US" sz="800" dirty="0" smtClean="0"/>
              <a:t> 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&gt; </a:t>
            </a:r>
            <a:r>
              <a:rPr lang="ko-KR" altLang="en-US" sz="800" dirty="0" smtClean="0"/>
              <a:t>로그인 필요 서비스 안내 표시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화면을 </a:t>
            </a:r>
            <a:r>
              <a:rPr lang="ko-KR" altLang="en-US" sz="800" dirty="0" err="1" smtClean="0"/>
              <a:t>넘치는경우</a:t>
            </a:r>
            <a:r>
              <a:rPr lang="ko-KR" altLang="en-US" sz="800" dirty="0" smtClean="0"/>
              <a:t> 드래그하여 확인</a:t>
            </a:r>
            <a:r>
              <a:rPr lang="en-US" altLang="ko-KR" sz="800" dirty="0" smtClean="0"/>
              <a:t>(</a:t>
            </a:r>
            <a:r>
              <a:rPr lang="ko-KR" altLang="en-US" sz="800" dirty="0" err="1" smtClean="0"/>
              <a:t>스와이프기능</a:t>
            </a:r>
            <a:r>
              <a:rPr lang="ko-KR" altLang="en-US" sz="800" dirty="0" smtClean="0"/>
              <a:t> 반영 필요</a:t>
            </a:r>
            <a:r>
              <a:rPr lang="en-US" altLang="ko-KR" sz="800" dirty="0" smtClean="0"/>
              <a:t>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신청 정보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각 공고에 맞춰 폼 변화에 유의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상세내용에</a:t>
            </a:r>
            <a:r>
              <a:rPr lang="ko-KR" altLang="en-US" sz="800" dirty="0" smtClean="0"/>
              <a:t> 포함된 정보 표시</a:t>
            </a:r>
            <a:endParaRPr lang="en-US" altLang="ko-KR" sz="8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상단 </a:t>
            </a:r>
            <a:r>
              <a:rPr lang="ko-KR" altLang="en-US" sz="800" dirty="0" smtClean="0"/>
              <a:t>이동 </a:t>
            </a:r>
            <a:r>
              <a:rPr lang="ko-KR" altLang="en-US" sz="800" dirty="0" smtClean="0"/>
              <a:t>버튼</a:t>
            </a:r>
            <a:endParaRPr lang="en-US" altLang="ko-KR" sz="800" dirty="0"/>
          </a:p>
        </p:txBody>
      </p:sp>
      <p:sp>
        <p:nvSpPr>
          <p:cNvPr id="183" name="타원 18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715370" y="504490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sp>
        <p:nvSpPr>
          <p:cNvPr id="184" name="타원 18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688" y="204634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86" name="타원 18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72828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89" name="타원 18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10603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90" name="타원 18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49583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94" name="타원 19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96143" y="223285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1-1</a:t>
            </a:r>
            <a:endParaRPr lang="ko-KR" altLang="en-US" sz="600" b="1" dirty="0"/>
          </a:p>
        </p:txBody>
      </p:sp>
      <p:sp>
        <p:nvSpPr>
          <p:cNvPr id="195" name="타원 19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758181" y="237965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1-2</a:t>
            </a:r>
            <a:endParaRPr lang="ko-KR" altLang="en-US" sz="600" b="1" dirty="0"/>
          </a:p>
        </p:txBody>
      </p:sp>
      <p:sp>
        <p:nvSpPr>
          <p:cNvPr id="196" name="타원 19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95669" y="260009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1-3</a:t>
            </a:r>
            <a:endParaRPr lang="ko-KR" altLang="en-US" sz="600" b="1" dirty="0"/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801660" y="4142235"/>
            <a:ext cx="58899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 smtClean="0">
                <a:latin typeface="+mn-ea"/>
              </a:rPr>
              <a:t>지급상태</a:t>
            </a:r>
            <a:endParaRPr lang="ko-KR" altLang="en-US" sz="700" dirty="0">
              <a:latin typeface="+mn-ea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7067666" y="5831775"/>
            <a:ext cx="2323463" cy="1672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500" dirty="0" smtClean="0"/>
              <a:t>0703) </a:t>
            </a:r>
            <a:r>
              <a:rPr lang="ko-KR" altLang="en-US" sz="500" dirty="0" smtClean="0"/>
              <a:t>품명</a:t>
            </a:r>
            <a:r>
              <a:rPr lang="en-US" altLang="ko-KR" sz="500" dirty="0" smtClean="0"/>
              <a:t>,</a:t>
            </a:r>
            <a:r>
              <a:rPr lang="ko-KR" altLang="en-US" sz="500" dirty="0" smtClean="0"/>
              <a:t>일금 </a:t>
            </a:r>
            <a:r>
              <a:rPr lang="en-US" altLang="ko-KR" sz="500" dirty="0" smtClean="0"/>
              <a:t>,</a:t>
            </a:r>
            <a:r>
              <a:rPr lang="ko-KR" altLang="en-US" sz="500" dirty="0" smtClean="0"/>
              <a:t>구분</a:t>
            </a:r>
            <a:r>
              <a:rPr lang="en-US" altLang="ko-KR" sz="500" dirty="0" smtClean="0"/>
              <a:t>,</a:t>
            </a:r>
            <a:r>
              <a:rPr lang="ko-KR" altLang="en-US" sz="500" dirty="0">
                <a:latin typeface="+mn-ea"/>
              </a:rPr>
              <a:t> 승인된 전 차수 </a:t>
            </a:r>
            <a:r>
              <a:rPr lang="ko-KR" altLang="en-US" sz="500" dirty="0" err="1">
                <a:latin typeface="+mn-ea"/>
              </a:rPr>
              <a:t>수령금액의</a:t>
            </a:r>
            <a:r>
              <a:rPr lang="ko-KR" altLang="en-US" sz="500" dirty="0">
                <a:latin typeface="+mn-ea"/>
              </a:rPr>
              <a:t> </a:t>
            </a:r>
            <a:r>
              <a:rPr lang="ko-KR" altLang="en-US" sz="500" dirty="0" smtClean="0">
                <a:latin typeface="+mn-ea"/>
              </a:rPr>
              <a:t>합계</a:t>
            </a:r>
            <a:r>
              <a:rPr lang="en-US" altLang="ko-KR" sz="500" dirty="0" smtClean="0">
                <a:latin typeface="+mn-ea"/>
              </a:rPr>
              <a:t>,</a:t>
            </a:r>
            <a:r>
              <a:rPr lang="ko-KR" altLang="en-US" sz="500" dirty="0">
                <a:latin typeface="+mn-ea"/>
              </a:rPr>
              <a:t> </a:t>
            </a:r>
            <a:r>
              <a:rPr lang="ko-KR" altLang="en-US" sz="500" dirty="0" err="1">
                <a:latin typeface="+mn-ea"/>
              </a:rPr>
              <a:t>신청금액의</a:t>
            </a:r>
            <a:r>
              <a:rPr lang="ko-KR" altLang="en-US" sz="500" dirty="0">
                <a:latin typeface="+mn-ea"/>
              </a:rPr>
              <a:t> </a:t>
            </a:r>
            <a:r>
              <a:rPr lang="ko-KR" altLang="en-US" sz="500" dirty="0" smtClean="0">
                <a:latin typeface="+mn-ea"/>
              </a:rPr>
              <a:t>비율</a:t>
            </a:r>
            <a:r>
              <a:rPr lang="en-US" altLang="ko-KR" sz="500" dirty="0" smtClean="0"/>
              <a:t> </a:t>
            </a:r>
            <a:endParaRPr lang="ko-KR" altLang="en-US" sz="500" dirty="0"/>
          </a:p>
        </p:txBody>
      </p:sp>
      <p:sp>
        <p:nvSpPr>
          <p:cNvPr id="154" name="직사각형 153"/>
          <p:cNvSpPr/>
          <p:nvPr/>
        </p:nvSpPr>
        <p:spPr>
          <a:xfrm>
            <a:off x="7067666" y="6021206"/>
            <a:ext cx="2300641" cy="1601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500" smtClean="0"/>
              <a:t>화면수정</a:t>
            </a:r>
            <a:endParaRPr lang="ko-KR" altLang="en-US" sz="500" dirty="0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032491" y="1640408"/>
            <a:ext cx="58899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 smtClean="0">
                <a:latin typeface="+mn-ea"/>
              </a:rPr>
              <a:t>지급상태</a:t>
            </a:r>
            <a:endParaRPr lang="ko-KR" altLang="en-US" sz="7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607553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신청서 </a:t>
            </a:r>
            <a:r>
              <a:rPr lang="ko-KR" altLang="en-US" dirty="0"/>
              <a:t>차수 데이터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신청금액 데이터 영역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계약내용 데이터 영역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공급자 정보 데이터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29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신청정보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>
                <a:latin typeface="+mn-ea"/>
              </a:rPr>
              <a:t>착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>
                <a:latin typeface="+mn-ea"/>
              </a:rPr>
              <a:t>중도금신청서</a:t>
            </a:r>
            <a:r>
              <a:rPr lang="ko-KR" altLang="en-US" dirty="0"/>
              <a:t> 상세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착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>
                <a:latin typeface="+mn-ea"/>
              </a:rPr>
              <a:t>중도금신청서상세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MUI-WM-01-T03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7723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grpSp>
        <p:nvGrpSpPr>
          <p:cNvPr id="99" name="그룹 98"/>
          <p:cNvGrpSpPr/>
          <p:nvPr/>
        </p:nvGrpSpPr>
        <p:grpSpPr>
          <a:xfrm>
            <a:off x="675399" y="5300535"/>
            <a:ext cx="2712027" cy="830059"/>
            <a:chOff x="3796091" y="4161857"/>
            <a:chExt cx="2712027" cy="830059"/>
          </a:xfrm>
        </p:grpSpPr>
        <p:cxnSp>
          <p:nvCxnSpPr>
            <p:cNvPr id="100" name="직선 연결선 9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96091" y="4161857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02153" y="4193387"/>
              <a:ext cx="84376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공급자 정보</a:t>
              </a:r>
            </a:p>
          </p:txBody>
        </p:sp>
        <p:grpSp>
          <p:nvGrpSpPr>
            <p:cNvPr id="102" name="그룹 101"/>
            <p:cNvGrpSpPr/>
            <p:nvPr/>
          </p:nvGrpSpPr>
          <p:grpSpPr>
            <a:xfrm flipV="1">
              <a:off x="6264240" y="4306718"/>
              <a:ext cx="94010" cy="47005"/>
              <a:chOff x="6812560" y="3297172"/>
              <a:chExt cx="94010" cy="47005"/>
            </a:xfrm>
          </p:grpSpPr>
          <p:cxnSp>
            <p:nvCxnSpPr>
              <p:cNvPr id="108" name="직선 연결선 10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" name="직선 연결선 10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63885" y="4524104"/>
              <a:ext cx="49390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작성자명</a:t>
              </a:r>
              <a:r>
                <a: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직책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5159018" y="4524104"/>
              <a:ext cx="49390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휴대폰번호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05" name="모서리가 둥근 직사각형 104"/>
            <p:cNvSpPr/>
            <p:nvPr/>
          </p:nvSpPr>
          <p:spPr>
            <a:xfrm>
              <a:off x="3831550" y="4647106"/>
              <a:ext cx="2652743" cy="344810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63885" y="4765650"/>
              <a:ext cx="49390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홍길동 대리</a:t>
              </a:r>
              <a:endPara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5159018" y="4765650"/>
              <a:ext cx="64751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010-1234-5678</a:t>
              </a:r>
            </a:p>
          </p:txBody>
        </p:sp>
      </p:grpSp>
      <p:grpSp>
        <p:nvGrpSpPr>
          <p:cNvPr id="118" name="그룹 117"/>
          <p:cNvGrpSpPr/>
          <p:nvPr/>
        </p:nvGrpSpPr>
        <p:grpSpPr>
          <a:xfrm>
            <a:off x="716366" y="3643629"/>
            <a:ext cx="2630093" cy="1586665"/>
            <a:chOff x="3836701" y="2540391"/>
            <a:chExt cx="2630093" cy="1586665"/>
          </a:xfrm>
        </p:grpSpPr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7671" y="2540391"/>
              <a:ext cx="1391705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계약내용</a:t>
              </a:r>
            </a:p>
          </p:txBody>
        </p:sp>
        <p:sp>
          <p:nvSpPr>
            <p:cNvPr id="120" name="직사각형 119"/>
            <p:cNvSpPr/>
            <p:nvPr/>
          </p:nvSpPr>
          <p:spPr>
            <a:xfrm>
              <a:off x="3838794" y="2827415"/>
              <a:ext cx="792000" cy="129964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21" name="직선 연결선 12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6701" y="282741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5858" y="2827416"/>
              <a:ext cx="670770" cy="126188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품명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600" dirty="0">
                  <a:latin typeface="+mn-ea"/>
                </a:rPr>
                <a:t>계약금액</a:t>
              </a:r>
              <a:r>
                <a:rPr lang="en-US" altLang="ko-KR" sz="600" dirty="0">
                  <a:latin typeface="+mn-ea"/>
                </a:rPr>
                <a:t>(</a:t>
              </a:r>
              <a:r>
                <a:rPr lang="ko-KR" altLang="en-US" sz="600" dirty="0" err="1">
                  <a:latin typeface="+mn-ea"/>
                </a:rPr>
                <a:t>대상금액</a:t>
              </a:r>
              <a:r>
                <a:rPr lang="en-US" altLang="ko-KR" sz="600" dirty="0">
                  <a:latin typeface="+mn-ea"/>
                </a:rPr>
                <a:t>)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납기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>
                  <a:latin typeface="+mn-ea"/>
                </a:rPr>
                <a:t>최종</a:t>
              </a:r>
              <a:r>
                <a:rPr lang="en-US" altLang="ko-KR" sz="700" dirty="0">
                  <a:latin typeface="+mn-ea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2706" y="2827416"/>
              <a:ext cx="1775839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2025-11-23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20257135021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배추김치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2026-01-01 ~ 2026-12~31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</p:txBody>
        </p:sp>
        <p:cxnSp>
          <p:nvCxnSpPr>
            <p:cNvPr id="124" name="직선 연결선 12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0585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5" name="직선 연결선 12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2722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6" name="직선 연결선 12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4859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7" name="직선 연결선 12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6996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8" name="직선 연결선 12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9133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9" name="직선 연결선 12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12705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30" name="그룹 129"/>
            <p:cNvGrpSpPr/>
            <p:nvPr/>
          </p:nvGrpSpPr>
          <p:grpSpPr>
            <a:xfrm flipV="1">
              <a:off x="6259759" y="2635184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2" name="직선 연결선 131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33" name="그룹 132"/>
          <p:cNvGrpSpPr/>
          <p:nvPr/>
        </p:nvGrpSpPr>
        <p:grpSpPr>
          <a:xfrm>
            <a:off x="716366" y="1929246"/>
            <a:ext cx="2630093" cy="1600147"/>
            <a:chOff x="720490" y="4465173"/>
            <a:chExt cx="2630093" cy="1600147"/>
          </a:xfrm>
        </p:grpSpPr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4465173"/>
              <a:ext cx="84376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35" name="그룹 134"/>
            <p:cNvGrpSpPr/>
            <p:nvPr/>
          </p:nvGrpSpPr>
          <p:grpSpPr>
            <a:xfrm flipV="1">
              <a:off x="3143548" y="4578504"/>
              <a:ext cx="94010" cy="47005"/>
              <a:chOff x="6812560" y="3297172"/>
              <a:chExt cx="94010" cy="47005"/>
            </a:xfrm>
          </p:grpSpPr>
          <p:cxnSp>
            <p:nvCxnSpPr>
              <p:cNvPr id="147" name="직선 연결선 14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8" name="직선 연결선 14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36" name="직사각형 135"/>
            <p:cNvSpPr/>
            <p:nvPr/>
          </p:nvSpPr>
          <p:spPr>
            <a:xfrm>
              <a:off x="722583" y="4772658"/>
              <a:ext cx="792000" cy="12808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7" name="직선 연결선 13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77265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772658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차수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수신자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신청금액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신청금액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신청구분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772658"/>
              <a:ext cx="1784088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 0000 00 - 01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방위사업청</a:t>
              </a:r>
              <a:r>
                <a:rPr lang="ko-KR" altLang="en-US" sz="700" dirty="0">
                  <a:latin typeface="+mn-ea"/>
                </a:rPr>
                <a:t> 계약관리본부 재무관 귀하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2026-01-30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\ </a:t>
              </a:r>
              <a:r>
                <a:rPr lang="ko-KR" altLang="en-US" sz="700" dirty="0">
                  <a:latin typeface="+mn-ea"/>
                </a:rPr>
                <a:t>일백만 원정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41" name="직선 연결선 14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0037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2" name="직선 연결선 14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2174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43117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6260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5" name="직선 연결선 14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8397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6" name="직선 연결선 14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605347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149" name="직선 연결선 14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602871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5" name="타원 15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72036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176" name="타원 17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536663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80565" y="3361888"/>
            <a:ext cx="269304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착수금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710858" y="1501035"/>
            <a:ext cx="2712027" cy="355980"/>
            <a:chOff x="3795734" y="1501035"/>
            <a:chExt cx="2712027" cy="355980"/>
          </a:xfrm>
        </p:grpSpPr>
        <p:cxnSp>
          <p:nvCxnSpPr>
            <p:cNvPr id="56" name="직선 연결선 5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95734" y="1501035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4022" y="1857015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67701" y="1640408"/>
              <a:ext cx="3597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b="1" dirty="0" err="1">
                  <a:latin typeface="+mn-ea"/>
                </a:rPr>
                <a:t>신청정보</a:t>
              </a:r>
              <a:endParaRPr lang="ko-KR" altLang="en-US" sz="700" b="1" dirty="0">
                <a:latin typeface="+mn-ea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322077" y="1640408"/>
              <a:ext cx="590461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>
                  <a:latin typeface="+mn-ea"/>
                </a:rPr>
                <a:t>세부 </a:t>
              </a:r>
              <a:r>
                <a:rPr lang="ko-KR" altLang="en-US" sz="700" dirty="0" err="1">
                  <a:latin typeface="+mn-ea"/>
                </a:rPr>
                <a:t>신청내역</a:t>
              </a:r>
              <a:endParaRPr lang="ko-KR" altLang="en-US" sz="700" dirty="0">
                <a:latin typeface="+mn-ea"/>
              </a:endParaRPr>
            </a:p>
          </p:txBody>
        </p:sp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4022" y="1857015"/>
              <a:ext cx="435210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62" name="그룹 61"/>
            <p:cNvGrpSpPr/>
            <p:nvPr/>
          </p:nvGrpSpPr>
          <p:grpSpPr>
            <a:xfrm>
              <a:off x="6027618" y="1602285"/>
              <a:ext cx="422853" cy="187961"/>
              <a:chOff x="3641308" y="2234886"/>
              <a:chExt cx="422853" cy="187961"/>
            </a:xfrm>
          </p:grpSpPr>
          <p:sp>
            <p:nvSpPr>
              <p:cNvPr id="63" name="타원 62"/>
              <p:cNvSpPr/>
              <p:nvPr/>
            </p:nvSpPr>
            <p:spPr>
              <a:xfrm flipH="1">
                <a:off x="3641308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64" name="그룹 63"/>
              <p:cNvGrpSpPr/>
              <p:nvPr/>
            </p:nvGrpSpPr>
            <p:grpSpPr>
              <a:xfrm rot="5400000" flipH="1">
                <a:off x="3679895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69" name="직선 연결선 68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직선 연결선 69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5" name="타원 64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66" name="그룹 65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67" name="직선 연결선 66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직선 연결선 67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5032491" y="1640408"/>
              <a:ext cx="588990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 err="1" smtClean="0">
                  <a:latin typeface="+mn-ea"/>
                </a:rPr>
                <a:t>지급상태</a:t>
              </a:r>
              <a:endParaRPr lang="ko-KR" altLang="en-US" sz="700" dirty="0"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017677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신청내역</a:t>
            </a:r>
            <a:r>
              <a:rPr lang="ko-KR" altLang="en-US" dirty="0"/>
              <a:t>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30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세부신청내역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>
                <a:latin typeface="+mn-ea"/>
              </a:rPr>
              <a:t>착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>
                <a:latin typeface="+mn-ea"/>
              </a:rPr>
              <a:t>중도금신청서 상세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착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>
                <a:latin typeface="+mn-ea"/>
              </a:rPr>
              <a:t>중도금신청서상세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MUI-WM-01-T04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5" name="그룹 4"/>
          <p:cNvGrpSpPr/>
          <p:nvPr/>
        </p:nvGrpSpPr>
        <p:grpSpPr>
          <a:xfrm>
            <a:off x="803364" y="1922681"/>
            <a:ext cx="2456097" cy="181140"/>
            <a:chOff x="763157" y="1527996"/>
            <a:chExt cx="2456097" cy="18114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신청내역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2433482"/>
            <a:ext cx="2630093" cy="1077219"/>
            <a:chOff x="3865118" y="2946203"/>
            <a:chExt cx="2630093" cy="1077219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3"/>
              <a:ext cx="792000" cy="10772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대상금액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신청금액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신청금액의</a:t>
              </a:r>
              <a:r>
                <a:rPr lang="ko-KR" altLang="en-US" sz="700" dirty="0" smtClean="0">
                  <a:latin typeface="+mn-ea"/>
                </a:rPr>
                <a:t> </a:t>
              </a:r>
              <a:r>
                <a:rPr lang="ko-KR" altLang="en-US" sz="700" dirty="0">
                  <a:latin typeface="+mn-ea"/>
                </a:rPr>
                <a:t>비율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endParaRPr lang="en-US" altLang="ko-KR" sz="700" dirty="0" smtClean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00 </a:t>
              </a:r>
              <a:r>
                <a:rPr lang="en-US" altLang="ko-KR" sz="700" dirty="0">
                  <a:latin typeface="+mn-ea"/>
                </a:rPr>
                <a:t>%</a:t>
              </a: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3429288"/>
              <a:ext cx="670770" cy="32316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승인된 </a:t>
              </a:r>
              <a:r>
                <a:rPr lang="ko-KR" altLang="en-US" sz="700" dirty="0" err="1">
                  <a:latin typeface="+mn-ea"/>
                </a:rPr>
                <a:t>전차수</a:t>
              </a:r>
              <a:r>
                <a:rPr lang="ko-KR" altLang="en-US" sz="700" dirty="0">
                  <a:latin typeface="+mn-ea"/>
                </a:rPr>
                <a:t> </a:t>
              </a:r>
              <a:r>
                <a:rPr lang="ko-KR" altLang="en-US" sz="700" dirty="0" err="1">
                  <a:latin typeface="+mn-ea"/>
                </a:rPr>
                <a:t>수령금액의</a:t>
              </a:r>
              <a:endParaRPr lang="ko-KR" altLang="en-US" sz="700" dirty="0">
                <a:latin typeface="+mn-ea"/>
              </a:endParaRPr>
            </a:p>
            <a:p>
              <a:r>
                <a:rPr lang="ko-KR" altLang="en-US" sz="700" dirty="0">
                  <a:latin typeface="+mn-ea"/>
                </a:rPr>
                <a:t>합계</a:t>
              </a: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3537009"/>
              <a:ext cx="1775839" cy="10772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r"/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 smtClean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71328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3363" y="2177409"/>
            <a:ext cx="130897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- </a:t>
            </a:r>
            <a:r>
              <a:rPr lang="ko-KR" altLang="en-US" sz="700" dirty="0">
                <a:latin typeface="+mn-ea"/>
              </a:rPr>
              <a:t>재료비 </a:t>
            </a:r>
            <a:r>
              <a:rPr lang="en-US" altLang="ko-KR" sz="700" dirty="0">
                <a:latin typeface="+mn-ea"/>
              </a:rPr>
              <a:t>- </a:t>
            </a:r>
            <a:r>
              <a:rPr lang="ko-KR" altLang="en-US" sz="700" dirty="0">
                <a:latin typeface="+mn-ea"/>
              </a:rPr>
              <a:t>수입 재료비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3363" y="3807736"/>
            <a:ext cx="130897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- </a:t>
            </a:r>
            <a:r>
              <a:rPr lang="ko-KR" altLang="en-US" sz="700" dirty="0">
                <a:latin typeface="+mn-ea"/>
              </a:rPr>
              <a:t>재료비 </a:t>
            </a:r>
            <a:r>
              <a:rPr lang="en-US" altLang="ko-KR" sz="700" dirty="0">
                <a:latin typeface="+mn-ea"/>
              </a:rPr>
              <a:t>- </a:t>
            </a:r>
            <a:r>
              <a:rPr lang="ko-KR" altLang="en-US" sz="700" dirty="0">
                <a:latin typeface="+mn-ea"/>
              </a:rPr>
              <a:t>국내 재료비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3698" y="1922681"/>
            <a:ext cx="130897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- </a:t>
            </a:r>
            <a:r>
              <a:rPr lang="ko-KR" altLang="en-US" sz="700" dirty="0">
                <a:latin typeface="+mn-ea"/>
              </a:rPr>
              <a:t>재료비 </a:t>
            </a:r>
            <a:r>
              <a:rPr lang="en-US" altLang="ko-KR" sz="700" dirty="0">
                <a:latin typeface="+mn-ea"/>
              </a:rPr>
              <a:t>- </a:t>
            </a:r>
            <a:r>
              <a:rPr lang="ko-KR" altLang="en-US" sz="700" dirty="0">
                <a:latin typeface="+mn-ea"/>
              </a:rPr>
              <a:t>간접 재료비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3698" y="3363074"/>
            <a:ext cx="130897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- </a:t>
            </a:r>
            <a:r>
              <a:rPr lang="ko-KR" altLang="en-US" sz="700" dirty="0" err="1">
                <a:latin typeface="+mn-ea"/>
              </a:rPr>
              <a:t>노무비</a:t>
            </a:r>
            <a:r>
              <a:rPr lang="ko-KR" altLang="en-US" sz="700" dirty="0">
                <a:latin typeface="+mn-ea"/>
              </a:rPr>
              <a:t> </a:t>
            </a:r>
            <a:r>
              <a:rPr lang="en-US" altLang="ko-KR" sz="700" dirty="0">
                <a:latin typeface="+mn-ea"/>
              </a:rPr>
              <a:t>– </a:t>
            </a:r>
            <a:r>
              <a:rPr lang="ko-KR" altLang="en-US" sz="700" dirty="0">
                <a:latin typeface="+mn-ea"/>
              </a:rPr>
              <a:t>직접 </a:t>
            </a:r>
            <a:r>
              <a:rPr lang="ko-KR" altLang="en-US" sz="700" dirty="0" err="1">
                <a:latin typeface="+mn-ea"/>
              </a:rPr>
              <a:t>노무비</a:t>
            </a:r>
            <a:endParaRPr lang="ko-KR" altLang="en-US" sz="700" dirty="0">
              <a:latin typeface="+mn-ea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3698" y="4820381"/>
            <a:ext cx="130897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- </a:t>
            </a:r>
            <a:r>
              <a:rPr lang="ko-KR" altLang="en-US" sz="700" dirty="0" err="1">
                <a:latin typeface="+mn-ea"/>
              </a:rPr>
              <a:t>노무비</a:t>
            </a:r>
            <a:r>
              <a:rPr lang="ko-KR" altLang="en-US" sz="700" dirty="0">
                <a:latin typeface="+mn-ea"/>
              </a:rPr>
              <a:t> </a:t>
            </a:r>
            <a:r>
              <a:rPr lang="en-US" altLang="ko-KR" sz="700" dirty="0">
                <a:latin typeface="+mn-ea"/>
              </a:rPr>
              <a:t>– </a:t>
            </a:r>
            <a:r>
              <a:rPr lang="ko-KR" altLang="en-US" sz="700" dirty="0">
                <a:latin typeface="+mn-ea"/>
              </a:rPr>
              <a:t>간접 </a:t>
            </a:r>
            <a:r>
              <a:rPr lang="ko-KR" altLang="en-US" sz="700" dirty="0" err="1">
                <a:latin typeface="+mn-ea"/>
              </a:rPr>
              <a:t>노무비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05" name="그룹 104"/>
          <p:cNvGrpSpPr/>
          <p:nvPr/>
        </p:nvGrpSpPr>
        <p:grpSpPr>
          <a:xfrm>
            <a:off x="710858" y="1501035"/>
            <a:ext cx="2712027" cy="355980"/>
            <a:chOff x="3795734" y="1501035"/>
            <a:chExt cx="2712027" cy="355980"/>
          </a:xfrm>
        </p:grpSpPr>
        <p:cxnSp>
          <p:nvCxnSpPr>
            <p:cNvPr id="106" name="직선 연결선 10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95734" y="1501035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7" name="직선 연결선 10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4022" y="1857015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67701" y="1640408"/>
              <a:ext cx="3597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 err="1">
                  <a:latin typeface="+mn-ea"/>
                </a:rPr>
                <a:t>신청정보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322077" y="1640408"/>
              <a:ext cx="590461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b="1" dirty="0">
                  <a:latin typeface="+mn-ea"/>
                </a:rPr>
                <a:t>세부 </a:t>
              </a:r>
              <a:r>
                <a:rPr lang="ko-KR" altLang="en-US" sz="700" b="1" dirty="0" err="1">
                  <a:latin typeface="+mn-ea"/>
                </a:rPr>
                <a:t>신청내역</a:t>
              </a:r>
              <a:endParaRPr lang="ko-KR" altLang="en-US" sz="700" b="1" dirty="0">
                <a:latin typeface="+mn-ea"/>
              </a:endParaRPr>
            </a:p>
          </p:txBody>
        </p:sp>
        <p:cxnSp>
          <p:nvCxnSpPr>
            <p:cNvPr id="110" name="직선 연결선 10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4322077" y="1857015"/>
              <a:ext cx="590461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11" name="그룹 110"/>
            <p:cNvGrpSpPr/>
            <p:nvPr/>
          </p:nvGrpSpPr>
          <p:grpSpPr>
            <a:xfrm>
              <a:off x="6027618" y="1602285"/>
              <a:ext cx="422853" cy="187961"/>
              <a:chOff x="3641308" y="2234886"/>
              <a:chExt cx="422853" cy="187961"/>
            </a:xfrm>
          </p:grpSpPr>
          <p:sp>
            <p:nvSpPr>
              <p:cNvPr id="114" name="타원 113"/>
              <p:cNvSpPr/>
              <p:nvPr/>
            </p:nvSpPr>
            <p:spPr>
              <a:xfrm flipH="1">
                <a:off x="3641308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15" name="그룹 114"/>
              <p:cNvGrpSpPr/>
              <p:nvPr/>
            </p:nvGrpSpPr>
            <p:grpSpPr>
              <a:xfrm rot="5400000" flipH="1">
                <a:off x="3679895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120" name="직선 연결선 119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1" name="직선 연결선 120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6" name="타원 115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17" name="그룹 116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118" name="직선 연결선 117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9" name="직선 연결선 118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5032491" y="1640408"/>
              <a:ext cx="588990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 err="1" smtClean="0">
                  <a:latin typeface="+mn-ea"/>
                </a:rPr>
                <a:t>지급상태</a:t>
              </a:r>
              <a:endParaRPr lang="ko-KR" altLang="en-US" sz="700" dirty="0">
                <a:latin typeface="+mn-ea"/>
              </a:endParaRPr>
            </a:p>
          </p:txBody>
        </p:sp>
      </p:grpSp>
      <p:grpSp>
        <p:nvGrpSpPr>
          <p:cNvPr id="122" name="그룹 121"/>
          <p:cNvGrpSpPr/>
          <p:nvPr/>
        </p:nvGrpSpPr>
        <p:grpSpPr>
          <a:xfrm>
            <a:off x="3836701" y="1501035"/>
            <a:ext cx="2712027" cy="355980"/>
            <a:chOff x="3795734" y="1501035"/>
            <a:chExt cx="2712027" cy="355980"/>
          </a:xfrm>
        </p:grpSpPr>
        <p:cxnSp>
          <p:nvCxnSpPr>
            <p:cNvPr id="123" name="직선 연결선 12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95734" y="1501035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4" name="직선 연결선 12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4022" y="1857015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67701" y="1640408"/>
              <a:ext cx="3597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 err="1">
                  <a:latin typeface="+mn-ea"/>
                </a:rPr>
                <a:t>신청정보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322077" y="1640408"/>
              <a:ext cx="590461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b="1" dirty="0">
                  <a:latin typeface="+mn-ea"/>
                </a:rPr>
                <a:t>세부 </a:t>
              </a:r>
              <a:r>
                <a:rPr lang="ko-KR" altLang="en-US" sz="700" b="1" dirty="0" err="1">
                  <a:latin typeface="+mn-ea"/>
                </a:rPr>
                <a:t>신청내역</a:t>
              </a:r>
              <a:endParaRPr lang="ko-KR" altLang="en-US" sz="700" b="1" dirty="0">
                <a:latin typeface="+mn-ea"/>
              </a:endParaRPr>
            </a:p>
          </p:txBody>
        </p:sp>
        <p:cxnSp>
          <p:nvCxnSpPr>
            <p:cNvPr id="127" name="직선 연결선 12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4322077" y="1857015"/>
              <a:ext cx="590461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28" name="그룹 127"/>
            <p:cNvGrpSpPr/>
            <p:nvPr/>
          </p:nvGrpSpPr>
          <p:grpSpPr>
            <a:xfrm>
              <a:off x="6027618" y="1602285"/>
              <a:ext cx="422853" cy="187961"/>
              <a:chOff x="3641308" y="2234886"/>
              <a:chExt cx="422853" cy="187961"/>
            </a:xfrm>
          </p:grpSpPr>
          <p:sp>
            <p:nvSpPr>
              <p:cNvPr id="132" name="타원 131"/>
              <p:cNvSpPr/>
              <p:nvPr/>
            </p:nvSpPr>
            <p:spPr>
              <a:xfrm flipH="1">
                <a:off x="3641308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33" name="그룹 132"/>
              <p:cNvGrpSpPr/>
              <p:nvPr/>
            </p:nvGrpSpPr>
            <p:grpSpPr>
              <a:xfrm rot="5400000" flipH="1">
                <a:off x="3679895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140" name="직선 연결선 139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직선 연결선 142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34" name="타원 133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35" name="그룹 134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136" name="직선 연결선 135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37" name="직선 연결선 136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5032491" y="1640408"/>
              <a:ext cx="588990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 err="1" smtClean="0">
                  <a:latin typeface="+mn-ea"/>
                </a:rPr>
                <a:t>지급상태</a:t>
              </a:r>
              <a:endParaRPr lang="ko-KR" altLang="en-US" sz="700" dirty="0">
                <a:latin typeface="+mn-ea"/>
              </a:endParaRPr>
            </a:p>
          </p:txBody>
        </p:sp>
      </p:grpSp>
      <p:grpSp>
        <p:nvGrpSpPr>
          <p:cNvPr id="146" name="그룹 145"/>
          <p:cNvGrpSpPr/>
          <p:nvPr/>
        </p:nvGrpSpPr>
        <p:grpSpPr>
          <a:xfrm>
            <a:off x="716366" y="4050520"/>
            <a:ext cx="2630093" cy="1077219"/>
            <a:chOff x="3865118" y="2946203"/>
            <a:chExt cx="2630093" cy="1077219"/>
          </a:xfrm>
        </p:grpSpPr>
        <p:sp>
          <p:nvSpPr>
            <p:cNvPr id="147" name="직사각형 146"/>
            <p:cNvSpPr/>
            <p:nvPr/>
          </p:nvSpPr>
          <p:spPr>
            <a:xfrm>
              <a:off x="3867211" y="2946203"/>
              <a:ext cx="792000" cy="10772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48" name="직선 연결선 14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대상금액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신청금액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신청금액의</a:t>
              </a:r>
              <a:r>
                <a:rPr lang="ko-KR" altLang="en-US" sz="700" dirty="0" smtClean="0">
                  <a:latin typeface="+mn-ea"/>
                </a:rPr>
                <a:t> </a:t>
              </a:r>
              <a:r>
                <a:rPr lang="ko-KR" altLang="en-US" sz="700" dirty="0">
                  <a:latin typeface="+mn-ea"/>
                </a:rPr>
                <a:t>비율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endParaRPr lang="en-US" altLang="ko-KR" sz="700" dirty="0" smtClean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00 </a:t>
              </a:r>
              <a:r>
                <a:rPr lang="en-US" altLang="ko-KR" sz="700" dirty="0">
                  <a:latin typeface="+mn-ea"/>
                </a:rPr>
                <a:t>%</a:t>
              </a:r>
            </a:p>
          </p:txBody>
        </p:sp>
        <p:cxnSp>
          <p:nvCxnSpPr>
            <p:cNvPr id="151" name="직선 연결선 15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2" name="직선 연결선 15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3" name="직선 연결선 15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4" name="직선 연결선 15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3429288"/>
              <a:ext cx="670770" cy="32316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승인된 </a:t>
              </a:r>
              <a:r>
                <a:rPr lang="ko-KR" altLang="en-US" sz="700" dirty="0" err="1">
                  <a:latin typeface="+mn-ea"/>
                </a:rPr>
                <a:t>전차수</a:t>
              </a:r>
              <a:r>
                <a:rPr lang="ko-KR" altLang="en-US" sz="700" dirty="0">
                  <a:latin typeface="+mn-ea"/>
                </a:rPr>
                <a:t> </a:t>
              </a:r>
              <a:r>
                <a:rPr lang="ko-KR" altLang="en-US" sz="700" dirty="0" err="1">
                  <a:latin typeface="+mn-ea"/>
                </a:rPr>
                <a:t>수령금액의</a:t>
              </a:r>
              <a:endParaRPr lang="ko-KR" altLang="en-US" sz="700" dirty="0">
                <a:latin typeface="+mn-ea"/>
              </a:endParaRPr>
            </a:p>
            <a:p>
              <a:r>
                <a:rPr lang="ko-KR" altLang="en-US" sz="700" dirty="0">
                  <a:latin typeface="+mn-ea"/>
                </a:rPr>
                <a:t>합계</a:t>
              </a: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3537009"/>
              <a:ext cx="1775839" cy="10772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r"/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 smtClean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</p:grpSp>
      <p:grpSp>
        <p:nvGrpSpPr>
          <p:cNvPr id="158" name="그룹 157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159" name="직사각형 158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2026-08-05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168" name="직사각형 167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테이블 </a:t>
              </a:r>
              <a:r>
                <a:rPr lang="ko-KR" altLang="en-US" sz="700" dirty="0" err="1" smtClean="0"/>
                <a:t>표시내역</a:t>
              </a:r>
              <a:r>
                <a:rPr lang="ko-KR" altLang="en-US" sz="700" dirty="0" smtClean="0"/>
                <a:t> 변경</a:t>
              </a:r>
              <a:endParaRPr lang="ko-KR" altLang="en-US" sz="700" dirty="0"/>
            </a:p>
          </p:txBody>
        </p:sp>
      </p:grpSp>
      <p:grpSp>
        <p:nvGrpSpPr>
          <p:cNvPr id="169" name="그룹 168"/>
          <p:cNvGrpSpPr/>
          <p:nvPr/>
        </p:nvGrpSpPr>
        <p:grpSpPr>
          <a:xfrm>
            <a:off x="3836701" y="2154668"/>
            <a:ext cx="2630093" cy="1077219"/>
            <a:chOff x="3865118" y="2946203"/>
            <a:chExt cx="2630093" cy="1077219"/>
          </a:xfrm>
        </p:grpSpPr>
        <p:sp>
          <p:nvSpPr>
            <p:cNvPr id="170" name="직사각형 169"/>
            <p:cNvSpPr/>
            <p:nvPr/>
          </p:nvSpPr>
          <p:spPr>
            <a:xfrm>
              <a:off x="3867211" y="2946203"/>
              <a:ext cx="792000" cy="10772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71" name="직선 연결선 17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대상금액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신청금액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신청금액의</a:t>
              </a:r>
              <a:r>
                <a:rPr lang="ko-KR" altLang="en-US" sz="700" dirty="0" smtClean="0">
                  <a:latin typeface="+mn-ea"/>
                </a:rPr>
                <a:t> </a:t>
              </a:r>
              <a:r>
                <a:rPr lang="ko-KR" altLang="en-US" sz="700" dirty="0">
                  <a:latin typeface="+mn-ea"/>
                </a:rPr>
                <a:t>비율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endParaRPr lang="en-US" altLang="ko-KR" sz="700" dirty="0" smtClean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00 </a:t>
              </a:r>
              <a:r>
                <a:rPr lang="en-US" altLang="ko-KR" sz="700" dirty="0">
                  <a:latin typeface="+mn-ea"/>
                </a:rPr>
                <a:t>%</a:t>
              </a:r>
            </a:p>
          </p:txBody>
        </p:sp>
        <p:cxnSp>
          <p:nvCxnSpPr>
            <p:cNvPr id="174" name="직선 연결선 17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5" name="직선 연결선 17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6" name="직선 연결선 17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7" name="직선 연결선 17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3429288"/>
              <a:ext cx="670770" cy="32316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승인된 </a:t>
              </a:r>
              <a:r>
                <a:rPr lang="ko-KR" altLang="en-US" sz="700" dirty="0" err="1">
                  <a:latin typeface="+mn-ea"/>
                </a:rPr>
                <a:t>전차수</a:t>
              </a:r>
              <a:r>
                <a:rPr lang="ko-KR" altLang="en-US" sz="700" dirty="0">
                  <a:latin typeface="+mn-ea"/>
                </a:rPr>
                <a:t> </a:t>
              </a:r>
              <a:r>
                <a:rPr lang="ko-KR" altLang="en-US" sz="700" dirty="0" err="1">
                  <a:latin typeface="+mn-ea"/>
                </a:rPr>
                <a:t>수령금액의</a:t>
              </a:r>
              <a:endParaRPr lang="ko-KR" altLang="en-US" sz="700" dirty="0">
                <a:latin typeface="+mn-ea"/>
              </a:endParaRPr>
            </a:p>
            <a:p>
              <a:r>
                <a:rPr lang="ko-KR" altLang="en-US" sz="700" dirty="0">
                  <a:latin typeface="+mn-ea"/>
                </a:rPr>
                <a:t>합계</a:t>
              </a: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3537009"/>
              <a:ext cx="1775839" cy="10772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r"/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 smtClean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</p:grpSp>
      <p:grpSp>
        <p:nvGrpSpPr>
          <p:cNvPr id="180" name="그룹 179"/>
          <p:cNvGrpSpPr/>
          <p:nvPr/>
        </p:nvGrpSpPr>
        <p:grpSpPr>
          <a:xfrm>
            <a:off x="3836701" y="3629732"/>
            <a:ext cx="2630093" cy="1077219"/>
            <a:chOff x="3865118" y="2946203"/>
            <a:chExt cx="2630093" cy="1077219"/>
          </a:xfrm>
        </p:grpSpPr>
        <p:sp>
          <p:nvSpPr>
            <p:cNvPr id="181" name="직사각형 180"/>
            <p:cNvSpPr/>
            <p:nvPr/>
          </p:nvSpPr>
          <p:spPr>
            <a:xfrm>
              <a:off x="3867211" y="2946203"/>
              <a:ext cx="792000" cy="10772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82" name="직선 연결선 18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대상금액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신청금액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신청금액의</a:t>
              </a:r>
              <a:r>
                <a:rPr lang="ko-KR" altLang="en-US" sz="700" dirty="0" smtClean="0">
                  <a:latin typeface="+mn-ea"/>
                </a:rPr>
                <a:t> </a:t>
              </a:r>
              <a:r>
                <a:rPr lang="ko-KR" altLang="en-US" sz="700" dirty="0">
                  <a:latin typeface="+mn-ea"/>
                </a:rPr>
                <a:t>비율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endParaRPr lang="en-US" altLang="ko-KR" sz="700" dirty="0" smtClean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00 </a:t>
              </a:r>
              <a:r>
                <a:rPr lang="en-US" altLang="ko-KR" sz="700" dirty="0">
                  <a:latin typeface="+mn-ea"/>
                </a:rPr>
                <a:t>%</a:t>
              </a:r>
            </a:p>
          </p:txBody>
        </p:sp>
        <p:cxnSp>
          <p:nvCxnSpPr>
            <p:cNvPr id="185" name="직선 연결선 18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86" name="직선 연결선 18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87" name="직선 연결선 18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88" name="직선 연결선 18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3429288"/>
              <a:ext cx="670770" cy="32316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승인된 </a:t>
              </a:r>
              <a:r>
                <a:rPr lang="ko-KR" altLang="en-US" sz="700" dirty="0" err="1">
                  <a:latin typeface="+mn-ea"/>
                </a:rPr>
                <a:t>전차수</a:t>
              </a:r>
              <a:r>
                <a:rPr lang="ko-KR" altLang="en-US" sz="700" dirty="0">
                  <a:latin typeface="+mn-ea"/>
                </a:rPr>
                <a:t> </a:t>
              </a:r>
              <a:r>
                <a:rPr lang="ko-KR" altLang="en-US" sz="700" dirty="0" err="1">
                  <a:latin typeface="+mn-ea"/>
                </a:rPr>
                <a:t>수령금액의</a:t>
              </a:r>
              <a:endParaRPr lang="ko-KR" altLang="en-US" sz="700" dirty="0">
                <a:latin typeface="+mn-ea"/>
              </a:endParaRPr>
            </a:p>
            <a:p>
              <a:r>
                <a:rPr lang="ko-KR" altLang="en-US" sz="700" dirty="0">
                  <a:latin typeface="+mn-ea"/>
                </a:rPr>
                <a:t>합계</a:t>
              </a:r>
            </a:p>
          </p:txBody>
        </p:sp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3537009"/>
              <a:ext cx="1775839" cy="10772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r"/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 smtClean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</p:grpSp>
      <p:grpSp>
        <p:nvGrpSpPr>
          <p:cNvPr id="191" name="그룹 190"/>
          <p:cNvGrpSpPr/>
          <p:nvPr/>
        </p:nvGrpSpPr>
        <p:grpSpPr>
          <a:xfrm>
            <a:off x="3836701" y="5092939"/>
            <a:ext cx="2630093" cy="1077219"/>
            <a:chOff x="3865118" y="2946203"/>
            <a:chExt cx="2630093" cy="1077219"/>
          </a:xfrm>
        </p:grpSpPr>
        <p:sp>
          <p:nvSpPr>
            <p:cNvPr id="192" name="직사각형 191"/>
            <p:cNvSpPr/>
            <p:nvPr/>
          </p:nvSpPr>
          <p:spPr>
            <a:xfrm>
              <a:off x="3867211" y="2946203"/>
              <a:ext cx="792000" cy="10772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93" name="직선 연결선 19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대상금액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신청금액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신청금액의</a:t>
              </a:r>
              <a:r>
                <a:rPr lang="ko-KR" altLang="en-US" sz="700" dirty="0" smtClean="0">
                  <a:latin typeface="+mn-ea"/>
                </a:rPr>
                <a:t> </a:t>
              </a:r>
              <a:r>
                <a:rPr lang="ko-KR" altLang="en-US" sz="700" dirty="0">
                  <a:latin typeface="+mn-ea"/>
                </a:rPr>
                <a:t>비율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endParaRPr lang="en-US" altLang="ko-KR" sz="700" dirty="0" smtClean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00 </a:t>
              </a:r>
              <a:r>
                <a:rPr lang="en-US" altLang="ko-KR" sz="700" dirty="0">
                  <a:latin typeface="+mn-ea"/>
                </a:rPr>
                <a:t>%</a:t>
              </a:r>
            </a:p>
          </p:txBody>
        </p:sp>
        <p:cxnSp>
          <p:nvCxnSpPr>
            <p:cNvPr id="196" name="직선 연결선 19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7" name="직선 연결선 19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8" name="직선 연결선 19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9" name="직선 연결선 19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3429288"/>
              <a:ext cx="670770" cy="32316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승인된 </a:t>
              </a:r>
              <a:r>
                <a:rPr lang="ko-KR" altLang="en-US" sz="700" dirty="0" err="1">
                  <a:latin typeface="+mn-ea"/>
                </a:rPr>
                <a:t>전차수</a:t>
              </a:r>
              <a:r>
                <a:rPr lang="ko-KR" altLang="en-US" sz="700" dirty="0">
                  <a:latin typeface="+mn-ea"/>
                </a:rPr>
                <a:t> </a:t>
              </a:r>
              <a:r>
                <a:rPr lang="ko-KR" altLang="en-US" sz="700" dirty="0" err="1">
                  <a:latin typeface="+mn-ea"/>
                </a:rPr>
                <a:t>수령금액의</a:t>
              </a:r>
              <a:endParaRPr lang="ko-KR" altLang="en-US" sz="700" dirty="0">
                <a:latin typeface="+mn-ea"/>
              </a:endParaRPr>
            </a:p>
            <a:p>
              <a:r>
                <a:rPr lang="ko-KR" altLang="en-US" sz="700" dirty="0">
                  <a:latin typeface="+mn-ea"/>
                </a:rPr>
                <a:t>합계</a:t>
              </a:r>
            </a:p>
          </p:txBody>
        </p:sp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3537009"/>
              <a:ext cx="1775839" cy="10772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r"/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 smtClean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128526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신청내역</a:t>
            </a:r>
            <a:r>
              <a:rPr lang="ko-KR" altLang="en-US" dirty="0"/>
              <a:t>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31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세부신청내역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>
                <a:latin typeface="+mn-ea"/>
              </a:rPr>
              <a:t>착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>
                <a:latin typeface="+mn-ea"/>
              </a:rPr>
              <a:t>중도금신청서 상세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착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>
                <a:latin typeface="+mn-ea"/>
              </a:rPr>
              <a:t>중도금신청서상세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MUI-WM-01-T04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3698" y="1850022"/>
            <a:ext cx="130897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- </a:t>
            </a:r>
            <a:r>
              <a:rPr lang="ko-KR" altLang="en-US" sz="700" dirty="0">
                <a:latin typeface="+mn-ea"/>
              </a:rPr>
              <a:t>기타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3698" y="3350536"/>
            <a:ext cx="130897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- </a:t>
            </a:r>
            <a:r>
              <a:rPr lang="ko-KR" altLang="en-US" sz="700" dirty="0">
                <a:latin typeface="+mn-ea"/>
              </a:rPr>
              <a:t>합계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3363" y="1850022"/>
            <a:ext cx="130897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- </a:t>
            </a:r>
            <a:r>
              <a:rPr lang="ko-KR" altLang="en-US" sz="700" dirty="0">
                <a:latin typeface="+mn-ea"/>
              </a:rPr>
              <a:t>경비 </a:t>
            </a:r>
            <a:r>
              <a:rPr lang="en-US" altLang="ko-KR" sz="700" dirty="0">
                <a:latin typeface="+mn-ea"/>
              </a:rPr>
              <a:t>- </a:t>
            </a:r>
            <a:r>
              <a:rPr lang="ko-KR" altLang="en-US" sz="700" dirty="0">
                <a:latin typeface="+mn-ea"/>
              </a:rPr>
              <a:t>직접 경비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3363" y="3326380"/>
            <a:ext cx="1308971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- </a:t>
            </a:r>
            <a:r>
              <a:rPr lang="ko-KR" altLang="en-US" sz="700" dirty="0">
                <a:latin typeface="+mn-ea"/>
              </a:rPr>
              <a:t>경비 </a:t>
            </a:r>
            <a:r>
              <a:rPr lang="en-US" altLang="ko-KR" sz="700" dirty="0">
                <a:latin typeface="+mn-ea"/>
              </a:rPr>
              <a:t>- </a:t>
            </a:r>
            <a:r>
              <a:rPr lang="ko-KR" altLang="en-US" sz="700" dirty="0">
                <a:latin typeface="+mn-ea"/>
              </a:rPr>
              <a:t>간접 경비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3363" y="4782364"/>
            <a:ext cx="1308971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- </a:t>
            </a:r>
            <a:r>
              <a:rPr lang="ko-KR" altLang="en-US" sz="700" dirty="0">
                <a:latin typeface="+mn-ea"/>
              </a:rPr>
              <a:t>일반 관리비</a:t>
            </a:r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grpSp>
        <p:nvGrpSpPr>
          <p:cNvPr id="92" name="그룹 91"/>
          <p:cNvGrpSpPr/>
          <p:nvPr/>
        </p:nvGrpSpPr>
        <p:grpSpPr>
          <a:xfrm>
            <a:off x="710858" y="1501035"/>
            <a:ext cx="2712027" cy="355980"/>
            <a:chOff x="3795734" y="1501035"/>
            <a:chExt cx="2712027" cy="355980"/>
          </a:xfrm>
        </p:grpSpPr>
        <p:cxnSp>
          <p:nvCxnSpPr>
            <p:cNvPr id="93" name="직선 연결선 9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95734" y="1501035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4" name="직선 연결선 9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4022" y="1857015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67701" y="1640408"/>
              <a:ext cx="3597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 err="1">
                  <a:latin typeface="+mn-ea"/>
                </a:rPr>
                <a:t>신청정보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322077" y="1640408"/>
              <a:ext cx="590461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b="1" dirty="0">
                  <a:latin typeface="+mn-ea"/>
                </a:rPr>
                <a:t>세부 </a:t>
              </a:r>
              <a:r>
                <a:rPr lang="ko-KR" altLang="en-US" sz="700" b="1" dirty="0" err="1">
                  <a:latin typeface="+mn-ea"/>
                </a:rPr>
                <a:t>신청내역</a:t>
              </a:r>
              <a:endParaRPr lang="ko-KR" altLang="en-US" sz="700" b="1" dirty="0">
                <a:latin typeface="+mn-ea"/>
              </a:endParaRPr>
            </a:p>
          </p:txBody>
        </p:sp>
        <p:cxnSp>
          <p:nvCxnSpPr>
            <p:cNvPr id="97" name="직선 연결선 9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4322077" y="1857015"/>
              <a:ext cx="590461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98" name="그룹 97"/>
            <p:cNvGrpSpPr/>
            <p:nvPr/>
          </p:nvGrpSpPr>
          <p:grpSpPr>
            <a:xfrm>
              <a:off x="6027618" y="1602285"/>
              <a:ext cx="422853" cy="187961"/>
              <a:chOff x="3641308" y="2234886"/>
              <a:chExt cx="422853" cy="187961"/>
            </a:xfrm>
          </p:grpSpPr>
          <p:sp>
            <p:nvSpPr>
              <p:cNvPr id="100" name="타원 99"/>
              <p:cNvSpPr/>
              <p:nvPr/>
            </p:nvSpPr>
            <p:spPr>
              <a:xfrm flipH="1">
                <a:off x="3641308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01" name="그룹 100"/>
              <p:cNvGrpSpPr/>
              <p:nvPr/>
            </p:nvGrpSpPr>
            <p:grpSpPr>
              <a:xfrm rot="5400000" flipH="1">
                <a:off x="3679895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129" name="직선 연결선 128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31" name="직선 연결선 130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2" name="타원 101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03" name="그룹 102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104" name="직선 연결선 103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3" name="직선 연결선 112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5032491" y="1640408"/>
              <a:ext cx="588990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 err="1" smtClean="0">
                  <a:latin typeface="+mn-ea"/>
                </a:rPr>
                <a:t>지급상태</a:t>
              </a:r>
              <a:endParaRPr lang="ko-KR" altLang="en-US" sz="700" dirty="0">
                <a:latin typeface="+mn-ea"/>
              </a:endParaRPr>
            </a:p>
          </p:txBody>
        </p:sp>
      </p:grpSp>
      <p:grpSp>
        <p:nvGrpSpPr>
          <p:cNvPr id="138" name="그룹 137"/>
          <p:cNvGrpSpPr/>
          <p:nvPr/>
        </p:nvGrpSpPr>
        <p:grpSpPr>
          <a:xfrm>
            <a:off x="3836701" y="1501035"/>
            <a:ext cx="2712027" cy="355980"/>
            <a:chOff x="3795734" y="1501035"/>
            <a:chExt cx="2712027" cy="355980"/>
          </a:xfrm>
        </p:grpSpPr>
        <p:cxnSp>
          <p:nvCxnSpPr>
            <p:cNvPr id="141" name="직선 연결선 14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95734" y="1501035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2" name="직선 연결선 14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4022" y="1857015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67701" y="1640408"/>
              <a:ext cx="3597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 err="1">
                  <a:latin typeface="+mn-ea"/>
                </a:rPr>
                <a:t>신청정보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322077" y="1640408"/>
              <a:ext cx="590461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b="1" dirty="0">
                  <a:latin typeface="+mn-ea"/>
                </a:rPr>
                <a:t>세부 </a:t>
              </a:r>
              <a:r>
                <a:rPr lang="ko-KR" altLang="en-US" sz="700" b="1" dirty="0" err="1">
                  <a:latin typeface="+mn-ea"/>
                </a:rPr>
                <a:t>신청내역</a:t>
              </a:r>
              <a:endParaRPr lang="ko-KR" altLang="en-US" sz="700" b="1" dirty="0">
                <a:latin typeface="+mn-ea"/>
              </a:endParaRPr>
            </a:p>
          </p:txBody>
        </p:sp>
        <p:cxnSp>
          <p:nvCxnSpPr>
            <p:cNvPr id="153" name="직선 연결선 15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4322077" y="1857015"/>
              <a:ext cx="590461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54" name="그룹 153"/>
            <p:cNvGrpSpPr/>
            <p:nvPr/>
          </p:nvGrpSpPr>
          <p:grpSpPr>
            <a:xfrm>
              <a:off x="6027618" y="1602285"/>
              <a:ext cx="422853" cy="187961"/>
              <a:chOff x="3641308" y="2234886"/>
              <a:chExt cx="422853" cy="187961"/>
            </a:xfrm>
          </p:grpSpPr>
          <p:sp>
            <p:nvSpPr>
              <p:cNvPr id="156" name="타원 155"/>
              <p:cNvSpPr/>
              <p:nvPr/>
            </p:nvSpPr>
            <p:spPr>
              <a:xfrm flipH="1">
                <a:off x="3641308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57" name="그룹 156"/>
              <p:cNvGrpSpPr/>
              <p:nvPr/>
            </p:nvGrpSpPr>
            <p:grpSpPr>
              <a:xfrm rot="5400000" flipH="1">
                <a:off x="3679895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162" name="직선 연결선 161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63" name="직선 연결선 162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58" name="타원 157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59" name="그룹 158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160" name="직선 연결선 159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61" name="직선 연결선 160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5032491" y="1640408"/>
              <a:ext cx="588990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 err="1" smtClean="0">
                  <a:latin typeface="+mn-ea"/>
                </a:rPr>
                <a:t>지급상태</a:t>
              </a:r>
              <a:endParaRPr lang="ko-KR" altLang="en-US" sz="700" dirty="0">
                <a:latin typeface="+mn-ea"/>
              </a:endParaRPr>
            </a:p>
          </p:txBody>
        </p:sp>
      </p:grpSp>
      <p:grpSp>
        <p:nvGrpSpPr>
          <p:cNvPr id="164" name="그룹 163"/>
          <p:cNvGrpSpPr/>
          <p:nvPr/>
        </p:nvGrpSpPr>
        <p:grpSpPr>
          <a:xfrm>
            <a:off x="716366" y="2114185"/>
            <a:ext cx="2630093" cy="1077219"/>
            <a:chOff x="3865118" y="2946203"/>
            <a:chExt cx="2630093" cy="1077219"/>
          </a:xfrm>
        </p:grpSpPr>
        <p:sp>
          <p:nvSpPr>
            <p:cNvPr id="165" name="직사각형 164"/>
            <p:cNvSpPr/>
            <p:nvPr/>
          </p:nvSpPr>
          <p:spPr>
            <a:xfrm>
              <a:off x="3867211" y="2946203"/>
              <a:ext cx="792000" cy="10772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대상금액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신청금액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신청금액의</a:t>
              </a:r>
              <a:r>
                <a:rPr lang="ko-KR" altLang="en-US" sz="700" dirty="0" smtClean="0">
                  <a:latin typeface="+mn-ea"/>
                </a:rPr>
                <a:t> </a:t>
              </a:r>
              <a:r>
                <a:rPr lang="ko-KR" altLang="en-US" sz="700" dirty="0">
                  <a:latin typeface="+mn-ea"/>
                </a:rPr>
                <a:t>비율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endParaRPr lang="en-US" altLang="ko-KR" sz="700" dirty="0" smtClean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00 </a:t>
              </a:r>
              <a:r>
                <a:rPr lang="en-US" altLang="ko-KR" sz="700" dirty="0">
                  <a:latin typeface="+mn-ea"/>
                </a:rPr>
                <a:t>%</a:t>
              </a:r>
            </a:p>
          </p:txBody>
        </p:sp>
        <p:cxnSp>
          <p:nvCxnSpPr>
            <p:cNvPr id="169" name="직선 연결선 16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0" name="직선 연결선 16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1" name="직선 연결선 17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2" name="직선 연결선 17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3429288"/>
              <a:ext cx="670770" cy="32316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승인된 </a:t>
              </a:r>
              <a:r>
                <a:rPr lang="ko-KR" altLang="en-US" sz="700" dirty="0" err="1">
                  <a:latin typeface="+mn-ea"/>
                </a:rPr>
                <a:t>전차수</a:t>
              </a:r>
              <a:r>
                <a:rPr lang="ko-KR" altLang="en-US" sz="700" dirty="0">
                  <a:latin typeface="+mn-ea"/>
                </a:rPr>
                <a:t> </a:t>
              </a:r>
              <a:r>
                <a:rPr lang="ko-KR" altLang="en-US" sz="700" dirty="0" err="1">
                  <a:latin typeface="+mn-ea"/>
                </a:rPr>
                <a:t>수령금액의</a:t>
              </a:r>
              <a:endParaRPr lang="ko-KR" altLang="en-US" sz="700" dirty="0">
                <a:latin typeface="+mn-ea"/>
              </a:endParaRPr>
            </a:p>
            <a:p>
              <a:r>
                <a:rPr lang="ko-KR" altLang="en-US" sz="700" dirty="0">
                  <a:latin typeface="+mn-ea"/>
                </a:rPr>
                <a:t>합계</a:t>
              </a:r>
            </a:p>
          </p:txBody>
        </p: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3537009"/>
              <a:ext cx="1775839" cy="10772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r"/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 smtClean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</p:grpSp>
      <p:grpSp>
        <p:nvGrpSpPr>
          <p:cNvPr id="175" name="그룹 174"/>
          <p:cNvGrpSpPr/>
          <p:nvPr/>
        </p:nvGrpSpPr>
        <p:grpSpPr>
          <a:xfrm>
            <a:off x="716366" y="3607773"/>
            <a:ext cx="2630093" cy="1077219"/>
            <a:chOff x="3865118" y="2946203"/>
            <a:chExt cx="2630093" cy="1077219"/>
          </a:xfrm>
        </p:grpSpPr>
        <p:sp>
          <p:nvSpPr>
            <p:cNvPr id="176" name="직사각형 175"/>
            <p:cNvSpPr/>
            <p:nvPr/>
          </p:nvSpPr>
          <p:spPr>
            <a:xfrm>
              <a:off x="3867211" y="2946203"/>
              <a:ext cx="792000" cy="10772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77" name="직선 연결선 17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대상금액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신청금액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신청금액의</a:t>
              </a:r>
              <a:r>
                <a:rPr lang="ko-KR" altLang="en-US" sz="700" dirty="0" smtClean="0">
                  <a:latin typeface="+mn-ea"/>
                </a:rPr>
                <a:t> </a:t>
              </a:r>
              <a:r>
                <a:rPr lang="ko-KR" altLang="en-US" sz="700" dirty="0">
                  <a:latin typeface="+mn-ea"/>
                </a:rPr>
                <a:t>비율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endParaRPr lang="en-US" altLang="ko-KR" sz="700" dirty="0" smtClean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00 </a:t>
              </a:r>
              <a:r>
                <a:rPr lang="en-US" altLang="ko-KR" sz="700" dirty="0">
                  <a:latin typeface="+mn-ea"/>
                </a:rPr>
                <a:t>%</a:t>
              </a:r>
            </a:p>
          </p:txBody>
        </p:sp>
        <p:cxnSp>
          <p:nvCxnSpPr>
            <p:cNvPr id="180" name="직선 연결선 17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81" name="직선 연결선 18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82" name="직선 연결선 18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83" name="직선 연결선 18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3429288"/>
              <a:ext cx="670770" cy="32316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승인된 </a:t>
              </a:r>
              <a:r>
                <a:rPr lang="ko-KR" altLang="en-US" sz="700" dirty="0" err="1">
                  <a:latin typeface="+mn-ea"/>
                </a:rPr>
                <a:t>전차수</a:t>
              </a:r>
              <a:r>
                <a:rPr lang="ko-KR" altLang="en-US" sz="700" dirty="0">
                  <a:latin typeface="+mn-ea"/>
                </a:rPr>
                <a:t> </a:t>
              </a:r>
              <a:r>
                <a:rPr lang="ko-KR" altLang="en-US" sz="700" dirty="0" err="1">
                  <a:latin typeface="+mn-ea"/>
                </a:rPr>
                <a:t>수령금액의</a:t>
              </a:r>
              <a:endParaRPr lang="ko-KR" altLang="en-US" sz="700" dirty="0">
                <a:latin typeface="+mn-ea"/>
              </a:endParaRPr>
            </a:p>
            <a:p>
              <a:r>
                <a:rPr lang="ko-KR" altLang="en-US" sz="700" dirty="0">
                  <a:latin typeface="+mn-ea"/>
                </a:rPr>
                <a:t>합계</a:t>
              </a:r>
            </a:p>
          </p:txBody>
        </p: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3537009"/>
              <a:ext cx="1775839" cy="10772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r"/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 smtClean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</p:grpSp>
      <p:grpSp>
        <p:nvGrpSpPr>
          <p:cNvPr id="186" name="그룹 185"/>
          <p:cNvGrpSpPr/>
          <p:nvPr/>
        </p:nvGrpSpPr>
        <p:grpSpPr>
          <a:xfrm>
            <a:off x="716366" y="5039032"/>
            <a:ext cx="2630093" cy="1077219"/>
            <a:chOff x="3865118" y="2946203"/>
            <a:chExt cx="2630093" cy="1077219"/>
          </a:xfrm>
        </p:grpSpPr>
        <p:sp>
          <p:nvSpPr>
            <p:cNvPr id="187" name="직사각형 186"/>
            <p:cNvSpPr/>
            <p:nvPr/>
          </p:nvSpPr>
          <p:spPr>
            <a:xfrm>
              <a:off x="3867211" y="2946203"/>
              <a:ext cx="792000" cy="10772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88" name="직선 연결선 18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대상금액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신청금액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신청금액의</a:t>
              </a:r>
              <a:r>
                <a:rPr lang="ko-KR" altLang="en-US" sz="700" dirty="0" smtClean="0">
                  <a:latin typeface="+mn-ea"/>
                </a:rPr>
                <a:t> </a:t>
              </a:r>
              <a:r>
                <a:rPr lang="ko-KR" altLang="en-US" sz="700" dirty="0">
                  <a:latin typeface="+mn-ea"/>
                </a:rPr>
                <a:t>비율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endParaRPr lang="en-US" altLang="ko-KR" sz="700" dirty="0" smtClean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00 </a:t>
              </a:r>
              <a:r>
                <a:rPr lang="en-US" altLang="ko-KR" sz="700" dirty="0">
                  <a:latin typeface="+mn-ea"/>
                </a:rPr>
                <a:t>%</a:t>
              </a:r>
            </a:p>
          </p:txBody>
        </p:sp>
        <p:cxnSp>
          <p:nvCxnSpPr>
            <p:cNvPr id="191" name="직선 연결선 19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2" name="직선 연결선 19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3" name="직선 연결선 19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4" name="직선 연결선 19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3429288"/>
              <a:ext cx="670770" cy="32316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승인된 </a:t>
              </a:r>
              <a:r>
                <a:rPr lang="ko-KR" altLang="en-US" sz="700" dirty="0" err="1">
                  <a:latin typeface="+mn-ea"/>
                </a:rPr>
                <a:t>전차수</a:t>
              </a:r>
              <a:r>
                <a:rPr lang="ko-KR" altLang="en-US" sz="700" dirty="0">
                  <a:latin typeface="+mn-ea"/>
                </a:rPr>
                <a:t> </a:t>
              </a:r>
              <a:r>
                <a:rPr lang="ko-KR" altLang="en-US" sz="700" dirty="0" err="1">
                  <a:latin typeface="+mn-ea"/>
                </a:rPr>
                <a:t>수령금액의</a:t>
              </a:r>
              <a:endParaRPr lang="ko-KR" altLang="en-US" sz="700" dirty="0">
                <a:latin typeface="+mn-ea"/>
              </a:endParaRPr>
            </a:p>
            <a:p>
              <a:r>
                <a:rPr lang="ko-KR" altLang="en-US" sz="700" dirty="0">
                  <a:latin typeface="+mn-ea"/>
                </a:rPr>
                <a:t>합계</a:t>
              </a:r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3537009"/>
              <a:ext cx="1775839" cy="10772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r"/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 smtClean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</p:grpSp>
      <p:grpSp>
        <p:nvGrpSpPr>
          <p:cNvPr id="197" name="그룹 196"/>
          <p:cNvGrpSpPr/>
          <p:nvPr/>
        </p:nvGrpSpPr>
        <p:grpSpPr>
          <a:xfrm>
            <a:off x="3832537" y="2114185"/>
            <a:ext cx="2630093" cy="1077219"/>
            <a:chOff x="3865118" y="2946203"/>
            <a:chExt cx="2630093" cy="1077219"/>
          </a:xfrm>
        </p:grpSpPr>
        <p:sp>
          <p:nvSpPr>
            <p:cNvPr id="198" name="직사각형 197"/>
            <p:cNvSpPr/>
            <p:nvPr/>
          </p:nvSpPr>
          <p:spPr>
            <a:xfrm>
              <a:off x="3867211" y="2946203"/>
              <a:ext cx="792000" cy="10772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99" name="직선 연결선 19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대상금액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신청금액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신청금액의</a:t>
              </a:r>
              <a:r>
                <a:rPr lang="ko-KR" altLang="en-US" sz="700" dirty="0" smtClean="0">
                  <a:latin typeface="+mn-ea"/>
                </a:rPr>
                <a:t> </a:t>
              </a:r>
              <a:r>
                <a:rPr lang="ko-KR" altLang="en-US" sz="700" dirty="0">
                  <a:latin typeface="+mn-ea"/>
                </a:rPr>
                <a:t>비율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endParaRPr lang="en-US" altLang="ko-KR" sz="700" dirty="0" smtClean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00 </a:t>
              </a:r>
              <a:r>
                <a:rPr lang="en-US" altLang="ko-KR" sz="700" dirty="0">
                  <a:latin typeface="+mn-ea"/>
                </a:rPr>
                <a:t>%</a:t>
              </a:r>
            </a:p>
          </p:txBody>
        </p:sp>
        <p:cxnSp>
          <p:nvCxnSpPr>
            <p:cNvPr id="202" name="직선 연결선 20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3" name="직선 연결선 20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4" name="직선 연결선 20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5" name="직선 연결선 20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3429288"/>
              <a:ext cx="670770" cy="32316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승인된 </a:t>
              </a:r>
              <a:r>
                <a:rPr lang="ko-KR" altLang="en-US" sz="700" dirty="0" err="1">
                  <a:latin typeface="+mn-ea"/>
                </a:rPr>
                <a:t>전차수</a:t>
              </a:r>
              <a:r>
                <a:rPr lang="ko-KR" altLang="en-US" sz="700" dirty="0">
                  <a:latin typeface="+mn-ea"/>
                </a:rPr>
                <a:t> </a:t>
              </a:r>
              <a:r>
                <a:rPr lang="ko-KR" altLang="en-US" sz="700" dirty="0" err="1">
                  <a:latin typeface="+mn-ea"/>
                </a:rPr>
                <a:t>수령금액의</a:t>
              </a:r>
              <a:endParaRPr lang="ko-KR" altLang="en-US" sz="700" dirty="0">
                <a:latin typeface="+mn-ea"/>
              </a:endParaRPr>
            </a:p>
            <a:p>
              <a:r>
                <a:rPr lang="ko-KR" altLang="en-US" sz="700" dirty="0">
                  <a:latin typeface="+mn-ea"/>
                </a:rPr>
                <a:t>합계</a:t>
              </a:r>
            </a:p>
          </p:txBody>
        </p: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3537009"/>
              <a:ext cx="1775839" cy="10772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r"/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 smtClean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</p:grpSp>
      <p:grpSp>
        <p:nvGrpSpPr>
          <p:cNvPr id="208" name="그룹 207"/>
          <p:cNvGrpSpPr/>
          <p:nvPr/>
        </p:nvGrpSpPr>
        <p:grpSpPr>
          <a:xfrm>
            <a:off x="3832537" y="3607773"/>
            <a:ext cx="2630093" cy="1077219"/>
            <a:chOff x="3865118" y="2946203"/>
            <a:chExt cx="2630093" cy="1077219"/>
          </a:xfrm>
        </p:grpSpPr>
        <p:sp>
          <p:nvSpPr>
            <p:cNvPr id="209" name="직사각형 208"/>
            <p:cNvSpPr/>
            <p:nvPr/>
          </p:nvSpPr>
          <p:spPr>
            <a:xfrm>
              <a:off x="3867211" y="2946203"/>
              <a:ext cx="792000" cy="10772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10" name="직선 연결선 20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대상금액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신청금액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신청금액의</a:t>
              </a:r>
              <a:r>
                <a:rPr lang="ko-KR" altLang="en-US" sz="700" dirty="0" smtClean="0">
                  <a:latin typeface="+mn-ea"/>
                </a:rPr>
                <a:t> </a:t>
              </a:r>
              <a:r>
                <a:rPr lang="ko-KR" altLang="en-US" sz="700" dirty="0">
                  <a:latin typeface="+mn-ea"/>
                </a:rPr>
                <a:t>비율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212" name="TextBox 21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endParaRPr lang="en-US" altLang="ko-KR" sz="700" dirty="0" smtClean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00 </a:t>
              </a:r>
              <a:r>
                <a:rPr lang="en-US" altLang="ko-KR" sz="700" dirty="0">
                  <a:latin typeface="+mn-ea"/>
                </a:rPr>
                <a:t>%</a:t>
              </a:r>
            </a:p>
          </p:txBody>
        </p:sp>
        <p:cxnSp>
          <p:nvCxnSpPr>
            <p:cNvPr id="213" name="직선 연결선 21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4" name="직선 연결선 21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5" name="직선 연결선 21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6" name="직선 연결선 21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17" name="TextBox 21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3429288"/>
              <a:ext cx="670770" cy="32316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승인된 </a:t>
              </a:r>
              <a:r>
                <a:rPr lang="ko-KR" altLang="en-US" sz="700" dirty="0" err="1">
                  <a:latin typeface="+mn-ea"/>
                </a:rPr>
                <a:t>전차수</a:t>
              </a:r>
              <a:r>
                <a:rPr lang="ko-KR" altLang="en-US" sz="700" dirty="0">
                  <a:latin typeface="+mn-ea"/>
                </a:rPr>
                <a:t> </a:t>
              </a:r>
              <a:r>
                <a:rPr lang="ko-KR" altLang="en-US" sz="700" dirty="0" err="1">
                  <a:latin typeface="+mn-ea"/>
                </a:rPr>
                <a:t>수령금액의</a:t>
              </a:r>
              <a:endParaRPr lang="ko-KR" altLang="en-US" sz="700" dirty="0">
                <a:latin typeface="+mn-ea"/>
              </a:endParaRPr>
            </a:p>
            <a:p>
              <a:r>
                <a:rPr lang="ko-KR" altLang="en-US" sz="700" dirty="0">
                  <a:latin typeface="+mn-ea"/>
                </a:rPr>
                <a:t>합계</a:t>
              </a:r>
            </a:p>
          </p:txBody>
        </p:sp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3537009"/>
              <a:ext cx="1775839" cy="10772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r"/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 smtClean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</p:grpSp>
      <p:grpSp>
        <p:nvGrpSpPr>
          <p:cNvPr id="219" name="그룹 218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220" name="직사각형 219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2026-08-05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221" name="직사각형 220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테이블 </a:t>
              </a:r>
              <a:r>
                <a:rPr lang="ko-KR" altLang="en-US" sz="700" dirty="0" err="1" smtClean="0"/>
                <a:t>표시내역</a:t>
              </a:r>
              <a:r>
                <a:rPr lang="ko-KR" altLang="en-US" sz="700" dirty="0" smtClean="0"/>
                <a:t> 변경</a:t>
              </a:r>
              <a:endParaRPr lang="ko-KR" altLang="en-US" sz="700" dirty="0"/>
            </a:p>
          </p:txBody>
        </p:sp>
      </p:grpSp>
    </p:spTree>
    <p:extLst>
      <p:ext uri="{BB962C8B-B14F-4D97-AF65-F5344CB8AC3E}">
        <p14:creationId xmlns:p14="http://schemas.microsoft.com/office/powerpoint/2010/main" val="35366658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32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(1/2)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3358859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착</a:t>
            </a:r>
            <a:r>
              <a:rPr lang="ko-KR" altLang="en-US" sz="9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〮</a:t>
            </a:r>
            <a:r>
              <a:rPr lang="ko-KR" altLang="en-US" sz="900" b="1" dirty="0">
                <a:solidFill>
                  <a:prstClr val="black"/>
                </a:solidFill>
              </a:rPr>
              <a:t> 중도금신청서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dmt_dpsmnItrpyApfrInfo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775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차수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ctrtCycl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</a:t>
                      </a:r>
                      <a:r>
                        <a:rPr lang="en-US" altLang="ko-KR" sz="800" dirty="0">
                          <a:latin typeface="+mn-ea"/>
                        </a:rPr>
                        <a:t>-</a:t>
                      </a:r>
                      <a:r>
                        <a:rPr lang="ko-KR" altLang="en-US" sz="800" dirty="0" err="1">
                          <a:latin typeface="+mn-ea"/>
                        </a:rPr>
                        <a:t>신청차수</a:t>
                      </a:r>
                      <a:r>
                        <a:rPr lang="ko-KR" altLang="en-US" sz="800" dirty="0">
                          <a:latin typeface="+mn-ea"/>
                        </a:rPr>
                        <a:t>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</a:rPr>
                        <a:t>계약번호</a:t>
                      </a:r>
                      <a:r>
                        <a:rPr lang="en-US" altLang="ko-KR" sz="800" dirty="0">
                          <a:latin typeface="+mn-ea"/>
                        </a:rPr>
                        <a:t>-</a:t>
                      </a:r>
                      <a:r>
                        <a:rPr lang="ko-KR" altLang="en-US" sz="800" dirty="0" err="1">
                          <a:latin typeface="+mn-ea"/>
                        </a:rPr>
                        <a:t>신청차수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수신자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rcptnOgnzCd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수신자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:RIC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38051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dmndDt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신청일자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887566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F784F8A-DE0A-31A1-3FBE-B085A42597A0}"/>
              </a:ext>
            </a:extLst>
          </p:cNvPr>
          <p:cNvSpPr txBox="1"/>
          <p:nvPr/>
        </p:nvSpPr>
        <p:spPr>
          <a:xfrm>
            <a:off x="458117" y="1914110"/>
            <a:ext cx="239705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계약내용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dmt_ctrtCnInfo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88BDE79-BF23-DB8C-B477-712120D11F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1487162"/>
              </p:ext>
            </p:extLst>
          </p:nvPr>
        </p:nvGraphicFramePr>
        <p:xfrm>
          <a:off x="452999" y="2125313"/>
          <a:ext cx="8994883" cy="18672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계약일자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38051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u="none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품명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itemNm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품명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50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88756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계약금액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40069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dudtYmd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납기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 ~ </a:t>
                      </a: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납기일을 최대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최소로 시작일과 종료일을 표기함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52269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mainBizCn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2428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착수금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fravItrpySecd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착수금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착수금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2: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착</a:t>
                      </a:r>
                      <a:r>
                        <a:rPr lang="en-US" altLang="ko-KR" sz="800" dirty="0">
                          <a:latin typeface="맑은 고딕" panose="020B0503020000020004" pitchFamily="50" charset="-127"/>
                          <a:ea typeface="+mn-ea"/>
                        </a:rPr>
                        <a:t>·</a:t>
                      </a:r>
                      <a:r>
                        <a:rPr lang="ko-KR" altLang="en-US" sz="800" dirty="0">
                          <a:latin typeface="맑은 고딕" panose="020B0503020000020004" pitchFamily="50" charset="-127"/>
                          <a:ea typeface="+mn-ea"/>
                        </a:rPr>
                        <a:t>중도금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46311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착</a:t>
                      </a:r>
                      <a:r>
                        <a:rPr lang="en-US" altLang="ko-KR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중도금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fravItrpySecd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착</a:t>
                      </a:r>
                      <a:r>
                        <a:rPr lang="en-US" altLang="ko-KR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중도금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착수금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2: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착</a:t>
                      </a:r>
                      <a:r>
                        <a:rPr lang="en-US" altLang="ko-KR" sz="800" dirty="0">
                          <a:latin typeface="맑은 고딕" panose="020B0503020000020004" pitchFamily="50" charset="-127"/>
                          <a:ea typeface="+mn-ea"/>
                        </a:rPr>
                        <a:t>·</a:t>
                      </a:r>
                      <a:r>
                        <a:rPr lang="ko-KR" altLang="en-US" sz="800" dirty="0">
                          <a:latin typeface="맑은 고딕" panose="020B0503020000020004" pitchFamily="50" charset="-127"/>
                          <a:ea typeface="+mn-ea"/>
                        </a:rPr>
                        <a:t>중도금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204670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B8630A2-8BAD-BA52-B8EB-F2B7E828C720}"/>
              </a:ext>
            </a:extLst>
          </p:cNvPr>
          <p:cNvSpPr txBox="1"/>
          <p:nvPr/>
        </p:nvSpPr>
        <p:spPr>
          <a:xfrm>
            <a:off x="458117" y="4055031"/>
            <a:ext cx="2525298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신청금액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dmt_aplyAmtInfo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29879A10-7D9E-200F-57E7-3CC23071AF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3692718"/>
              </p:ext>
            </p:extLst>
          </p:nvPr>
        </p:nvGraphicFramePr>
        <p:xfrm>
          <a:off x="452999" y="4266234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일금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aplyAmt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신청금액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7ED3BEC8-5614-CD32-7841-0B599058EF8D}"/>
              </a:ext>
            </a:extLst>
          </p:cNvPr>
          <p:cNvSpPr txBox="1"/>
          <p:nvPr/>
        </p:nvSpPr>
        <p:spPr>
          <a:xfrm>
            <a:off x="458117" y="4687734"/>
            <a:ext cx="260384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1.4. </a:t>
            </a:r>
            <a:r>
              <a:rPr lang="ko-KR" altLang="en-US" sz="900" b="1" dirty="0">
                <a:solidFill>
                  <a:prstClr val="black"/>
                </a:solidFill>
              </a:rPr>
              <a:t>신청내역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dmt_aplyDsctnInfo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3971E247-38D3-E4B4-4CAC-4149A98E15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1188985"/>
              </p:ext>
            </p:extLst>
          </p:nvPr>
        </p:nvGraphicFramePr>
        <p:xfrm>
          <a:off x="452999" y="4898937"/>
          <a:ext cx="8994883" cy="1529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dpsmnItrpyAplyDsctnSeNm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재료비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노무비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경비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일반 관리비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기타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합계 구분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N/A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합계는 자동계산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컬럼별로 분리되어 있음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대상금액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trgtAmt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재료비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노무비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경비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일반 관리비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기타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합계 항목 별 대상금액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55251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신청금액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aplyAmt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재료비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노무비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경비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일반 관리비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기타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합계 항목 별 신청금액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38051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승인된 전 차수 수령금액의 합계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aplyStotAmt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재료비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노무비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경비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일반 관리비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기타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합계 항목 별 승인된 전 차수 수령금액의 합계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신청금액 합산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88756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신청금액의 비율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aplyAmtRt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재료비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노무비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경비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일반 관리비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기타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합계 항목 별 신청금액의 비율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N/A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대상금액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)*100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851853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4A07E09A-342C-A174-B633-4277DA610E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003058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33</a:t>
            </a:fld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240186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1.5. </a:t>
            </a:r>
            <a:r>
              <a:rPr lang="ko-KR" altLang="en-US" sz="900" b="1" dirty="0">
                <a:solidFill>
                  <a:prstClr val="black"/>
                </a:solidFill>
              </a:rPr>
              <a:t>공급자 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dmt_splrInfo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775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작성자명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wrtrNm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</a:t>
                      </a:r>
                      <a:r>
                        <a:rPr lang="en-US" altLang="ko-KR" sz="800" dirty="0">
                          <a:latin typeface="+mn-ea"/>
                        </a:rPr>
                        <a:t>-</a:t>
                      </a:r>
                      <a:r>
                        <a:rPr lang="ko-KR" altLang="en-US" sz="800" dirty="0" err="1">
                          <a:latin typeface="+mn-ea"/>
                        </a:rPr>
                        <a:t>신청차수</a:t>
                      </a:r>
                      <a:r>
                        <a:rPr lang="ko-KR" altLang="en-US" sz="800" dirty="0">
                          <a:latin typeface="+mn-ea"/>
                        </a:rPr>
                        <a:t>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직책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wrtrJbttlNm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수신자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01888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휴대폰번호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wrtrEnmtno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신청일자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64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암호화휴대전화번호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4269020"/>
                  </a:ext>
                </a:extLst>
              </a:tr>
            </a:tbl>
          </a:graphicData>
        </a:graphic>
      </p:graphicFrame>
      <p:sp>
        <p:nvSpPr>
          <p:cNvPr id="4" name="Text Box 73">
            <a:extLst>
              <a:ext uri="{FF2B5EF4-FFF2-40B4-BE49-F238E27FC236}">
                <a16:creationId xmlns:a16="http://schemas.microsoft.com/office/drawing/2014/main" id="{C2247987-57BA-439D-E6D0-F1A9DB86CA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ED5F5B-3B3B-60FA-DE22-5A8F752BB4BD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(2/2)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18509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34</a:t>
            </a:fld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35E7B1B2-38C6-7614-0180-1BCA2E21FC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0824838"/>
              </p:ext>
            </p:extLst>
          </p:nvPr>
        </p:nvGraphicFramePr>
        <p:xfrm>
          <a:off x="453000" y="1049844"/>
          <a:ext cx="8995591" cy="825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3103963203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공통코드정보를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차수정보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계약정보 를 조회한다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인쇄 클릭 이벤트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scwin.btn_print_onclick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증명서 출력 팝업 화면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이 호출된다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(UI-WM-01-P30)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증명서출력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763917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BDED4E1-CEE0-2778-ED59-1E6C078C7501}"/>
              </a:ext>
            </a:extLst>
          </p:cNvPr>
          <p:cNvSpPr txBox="1"/>
          <p:nvPr/>
        </p:nvSpPr>
        <p:spPr>
          <a:xfrm>
            <a:off x="458117" y="760911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sp>
        <p:nvSpPr>
          <p:cNvPr id="8" name="Text Box 73">
            <a:extLst>
              <a:ext uri="{FF2B5EF4-FFF2-40B4-BE49-F238E27FC236}">
                <a16:creationId xmlns:a16="http://schemas.microsoft.com/office/drawing/2014/main" id="{DACD6C03-FC7A-E226-2943-55ABE7FC8D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9866" y="82802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26438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선금신청서상세</a:t>
            </a:r>
            <a:r>
              <a:rPr lang="en-US" altLang="ko-KR" dirty="0" smtClean="0"/>
              <a:t>, </a:t>
            </a:r>
            <a:r>
              <a:rPr lang="ko-KR" altLang="en-US" dirty="0" smtClean="0"/>
              <a:t>착</a:t>
            </a:r>
            <a:r>
              <a:rPr lang="en-US" altLang="ko-KR" dirty="0" smtClean="0"/>
              <a:t>,</a:t>
            </a:r>
            <a:r>
              <a:rPr lang="ko-KR" altLang="en-US" dirty="0" smtClean="0"/>
              <a:t>중도금신청서상세</a:t>
            </a:r>
            <a:r>
              <a:rPr lang="en-US" altLang="ko-KR" dirty="0" smtClean="0"/>
              <a:t>, </a:t>
            </a:r>
            <a:r>
              <a:rPr lang="ko-KR" altLang="en-US" dirty="0" smtClean="0"/>
              <a:t>사후정산청구상세 각 화면에서 보여지는 </a:t>
            </a:r>
            <a:r>
              <a:rPr lang="ko-KR" altLang="en-US" dirty="0" err="1" smtClean="0"/>
              <a:t>지급상태</a:t>
            </a:r>
            <a:r>
              <a:rPr lang="ko-KR" altLang="en-US" dirty="0" smtClean="0"/>
              <a:t> 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35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 smtClean="0">
                <a:latin typeface="+mn-ea"/>
              </a:rPr>
              <a:t>지급상태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smtClean="0">
                <a:latin typeface="+mn-ea"/>
              </a:rPr>
              <a:t>선금</a:t>
            </a:r>
            <a:r>
              <a:rPr lang="en-US" altLang="ko-KR" dirty="0" smtClean="0">
                <a:latin typeface="+mn-ea"/>
              </a:rPr>
              <a:t>, </a:t>
            </a:r>
            <a:r>
              <a:rPr lang="ko-KR" altLang="en-US" dirty="0" smtClean="0">
                <a:latin typeface="+mn-ea"/>
              </a:rPr>
              <a:t>착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 smtClean="0">
                <a:latin typeface="+mn-ea"/>
              </a:rPr>
              <a:t>중도금</a:t>
            </a:r>
            <a:r>
              <a:rPr lang="en-US" altLang="ko-KR" dirty="0" smtClean="0">
                <a:latin typeface="+mn-ea"/>
              </a:rPr>
              <a:t>, </a:t>
            </a:r>
            <a:r>
              <a:rPr lang="ko-KR" altLang="en-US" dirty="0" smtClean="0">
                <a:latin typeface="+mn-ea"/>
              </a:rPr>
              <a:t>사후정산신청서 상세 중 </a:t>
            </a:r>
            <a:r>
              <a:rPr lang="ko-KR" altLang="en-US" dirty="0" err="1">
                <a:latin typeface="+mn-ea"/>
              </a:rPr>
              <a:t>지급상태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en-US" dirty="0" smtClean="0"/>
              <a:t>탭 화면 </a:t>
            </a:r>
            <a:endParaRPr lang="ko-KR" altLang="en-US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착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>
                <a:latin typeface="+mn-ea"/>
              </a:rPr>
              <a:t>중도금신청서상세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MUI-WM-01-T23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105" name="그룹 104"/>
          <p:cNvGrpSpPr/>
          <p:nvPr/>
        </p:nvGrpSpPr>
        <p:grpSpPr>
          <a:xfrm>
            <a:off x="716366" y="1527996"/>
            <a:ext cx="2630093" cy="1342001"/>
            <a:chOff x="3795734" y="3441403"/>
            <a:chExt cx="2630093" cy="1342001"/>
          </a:xfrm>
        </p:grpSpPr>
        <p:grpSp>
          <p:nvGrpSpPr>
            <p:cNvPr id="106" name="그룹 105"/>
            <p:cNvGrpSpPr/>
            <p:nvPr/>
          </p:nvGrpSpPr>
          <p:grpSpPr>
            <a:xfrm>
              <a:off x="3795734" y="3697477"/>
              <a:ext cx="2630093" cy="1085927"/>
              <a:chOff x="3865118" y="2946204"/>
              <a:chExt cx="2630093" cy="1085927"/>
            </a:xfrm>
          </p:grpSpPr>
          <p:sp>
            <p:nvSpPr>
              <p:cNvPr id="108" name="직사각형 107"/>
              <p:cNvSpPr/>
              <p:nvPr/>
            </p:nvSpPr>
            <p:spPr>
              <a:xfrm>
                <a:off x="3867211" y="2946205"/>
                <a:ext cx="792000" cy="108592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09" name="직선 연결선 10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07721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 smtClean="0">
                    <a:latin typeface="+mn-ea"/>
                  </a:rPr>
                  <a:t>신청년도</a:t>
                </a:r>
                <a:endParaRPr lang="en-US" altLang="ko-KR" sz="700" dirty="0" smtClean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 smtClean="0">
                    <a:latin typeface="+mn-ea"/>
                  </a:rPr>
                  <a:t>계약번호</a:t>
                </a:r>
                <a:endParaRPr lang="en-US" altLang="ko-KR" sz="700" dirty="0" smtClean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 smtClean="0">
                    <a:latin typeface="+mn-ea"/>
                  </a:rPr>
                  <a:t>신청차수</a:t>
                </a:r>
                <a:endParaRPr lang="en-US" altLang="ko-KR" sz="700" dirty="0" smtClean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smtClean="0">
                    <a:latin typeface="+mn-ea"/>
                  </a:rPr>
                  <a:t>신청금액 </a:t>
                </a:r>
                <a:endParaRPr lang="en-US" altLang="ko-KR" sz="700" dirty="0" smtClean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smtClean="0">
                    <a:latin typeface="+mn-ea"/>
                  </a:rPr>
                  <a:t>진행상태</a:t>
                </a:r>
                <a:endParaRPr lang="en-US" altLang="ko-KR" sz="700" dirty="0" smtClean="0">
                  <a:latin typeface="+mn-ea"/>
                </a:endParaRPr>
              </a:p>
            </p:txBody>
          </p:sp>
          <p:cxnSp>
            <p:nvCxnSpPr>
              <p:cNvPr id="112" name="직선 연결선 11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4" name="직선 연결선 11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5" name="직선 연결선 11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6" name="직선 연결선 11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89335" y="2946204"/>
                <a:ext cx="1644143" cy="107721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2025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 smtClean="0">
                    <a:latin typeface="+mn-ea"/>
                  </a:rPr>
                  <a:t>20250000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 smtClean="0">
                    <a:latin typeface="+mn-ea"/>
                  </a:rPr>
                  <a:t>01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10,000,000 </a:t>
                </a:r>
                <a:r>
                  <a:rPr lang="ko-KR" altLang="en-US" sz="700" dirty="0" smtClean="0">
                    <a:latin typeface="+mn-ea"/>
                  </a:rPr>
                  <a:t>원</a:t>
                </a:r>
                <a:endParaRPr lang="en-US" altLang="ko-KR" sz="700" dirty="0" smtClean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smtClean="0">
                    <a:latin typeface="+mn-ea"/>
                  </a:rPr>
                  <a:t>진행중</a:t>
                </a:r>
                <a:endParaRPr lang="en-US" altLang="ko-KR" sz="700" dirty="0" smtClean="0">
                  <a:latin typeface="+mn-ea"/>
                </a:endParaRPr>
              </a:p>
            </p:txBody>
          </p:sp>
          <p:cxnSp>
            <p:nvCxnSpPr>
              <p:cNvPr id="25" name="직선 연결선 2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3213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지급상태</a:t>
              </a:r>
              <a:endParaRPr lang="ko-KR" altLang="en-US" sz="700" dirty="0">
                <a:latin typeface="+mn-ea"/>
              </a:endParaRPr>
            </a:p>
          </p:txBody>
        </p: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24" name="직사각형 23"/>
          <p:cNvSpPr/>
          <p:nvPr/>
        </p:nvSpPr>
        <p:spPr>
          <a:xfrm>
            <a:off x="7100725" y="6130834"/>
            <a:ext cx="2302845" cy="14837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500" smtClean="0"/>
              <a:t>화면수정</a:t>
            </a:r>
            <a:endParaRPr lang="ko-KR" altLang="en-US" sz="500" dirty="0"/>
          </a:p>
        </p:txBody>
      </p:sp>
    </p:spTree>
    <p:extLst>
      <p:ext uri="{BB962C8B-B14F-4D97-AF65-F5344CB8AC3E}">
        <p14:creationId xmlns:p14="http://schemas.microsoft.com/office/powerpoint/2010/main" val="28322082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36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1E579C-7AF3-7BFE-7013-093144AFB794}"/>
              </a:ext>
            </a:extLst>
          </p:cNvPr>
          <p:cNvSpPr txBox="1"/>
          <p:nvPr/>
        </p:nvSpPr>
        <p:spPr>
          <a:xfrm>
            <a:off x="458117" y="803113"/>
            <a:ext cx="2432323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진행상태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dlt_prgrsSttsList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76A37DB3-05EE-95CD-48CB-E4E9ABDEE5BE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1163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신청년도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rqstYr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신청년도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4773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신청차수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ctrtCycl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신청차수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giveClmAmt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expndStcd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진행상태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EPDS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0006116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6509AC63-573C-E312-A1CF-7408DD54EF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912177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37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smtClean="0">
                <a:latin typeface="+mn-ea"/>
              </a:rPr>
              <a:t>대금청구상세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 smtClean="0">
                <a:latin typeface="+mn-ea"/>
              </a:rPr>
              <a:t>대금청구</a:t>
            </a:r>
            <a:r>
              <a:rPr lang="ko-KR" altLang="en-US" dirty="0" smtClean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MUI-WM-01-M05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err="1">
                <a:latin typeface="+mn-ea"/>
              </a:rPr>
              <a:t>대금청구</a:t>
            </a:r>
            <a:r>
              <a:rPr lang="ko-KR" altLang="en-US" sz="800" dirty="0">
                <a:latin typeface="+mn-ea"/>
              </a:rPr>
              <a:t> </a:t>
            </a:r>
            <a:r>
              <a:rPr lang="ko-KR" altLang="en-US" sz="800" dirty="0" err="1">
                <a:latin typeface="+mn-ea"/>
              </a:rPr>
              <a:t>상세조회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462389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/>
              <a:t>물품구매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797454"/>
            <a:ext cx="307777" cy="39767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계약일자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발주기관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계약금액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596303" y="2782065"/>
            <a:ext cx="472886" cy="39767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제</a:t>
            </a:r>
            <a:r>
              <a:rPr lang="en-US" altLang="ko-KR" sz="600" dirty="0">
                <a:latin typeface="+mn-ea"/>
              </a:rPr>
              <a:t>8385</a:t>
            </a:r>
            <a:r>
              <a:rPr lang="ko-KR" altLang="en-US" sz="600" dirty="0">
                <a:latin typeface="+mn-ea"/>
              </a:rPr>
              <a:t>부대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11,616,000 </a:t>
            </a:r>
            <a:r>
              <a:rPr lang="ko-KR" altLang="en-US" sz="600" dirty="0">
                <a:latin typeface="+mn-ea"/>
              </a:rPr>
              <a:t>원</a:t>
            </a:r>
            <a:endParaRPr lang="en-US" altLang="ko-KR" sz="600" dirty="0">
              <a:latin typeface="+mn-ea"/>
            </a:endParaRPr>
          </a:p>
        </p:txBody>
      </p:sp>
      <p:sp>
        <p:nvSpPr>
          <p:cNvPr id="67" name="모서리가 둥근 직사각형 66"/>
          <p:cNvSpPr/>
          <p:nvPr/>
        </p:nvSpPr>
        <p:spPr>
          <a:xfrm>
            <a:off x="781461" y="227805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68" name="모서리가 둥근 직사각형 67"/>
          <p:cNvSpPr/>
          <p:nvPr/>
        </p:nvSpPr>
        <p:spPr>
          <a:xfrm>
            <a:off x="1075655" y="2278058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66319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00442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696944"/>
            <a:ext cx="4522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공지사항</a:t>
            </a:r>
          </a:p>
        </p:txBody>
      </p:sp>
      <p:sp>
        <p:nvSpPr>
          <p:cNvPr id="129" name="타원 128"/>
          <p:cNvSpPr/>
          <p:nvPr/>
        </p:nvSpPr>
        <p:spPr>
          <a:xfrm>
            <a:off x="783686" y="3728289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810275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35884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4142235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err="1">
                <a:latin typeface="+mn-ea"/>
              </a:rPr>
              <a:t>계약정보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168391" y="4142235"/>
            <a:ext cx="50057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공급자 정보</a:t>
            </a: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358842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3150467" y="3992719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150168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185766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4" name="TextBox 20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67701" y="1641060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err="1">
                <a:latin typeface="+mn-ea"/>
              </a:rPr>
              <a:t>계약정보</a:t>
            </a:r>
            <a:endParaRPr lang="ko-KR" altLang="en-US" sz="700" b="1" dirty="0">
              <a:latin typeface="+mn-ea"/>
            </a:endParaRPr>
          </a:p>
        </p:txBody>
      </p: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1857667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09" name="그룹 208"/>
          <p:cNvGrpSpPr/>
          <p:nvPr/>
        </p:nvGrpSpPr>
        <p:grpSpPr>
          <a:xfrm>
            <a:off x="6084908" y="1526557"/>
            <a:ext cx="422853" cy="187961"/>
            <a:chOff x="3641308" y="2234886"/>
            <a:chExt cx="422853" cy="187961"/>
          </a:xfrm>
        </p:grpSpPr>
        <p:sp>
          <p:nvSpPr>
            <p:cNvPr id="210" name="타원 209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1" name="그룹 210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216" name="직선 연결선 21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7" name="직선 연결선 21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2" name="타원 211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3" name="그룹 212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214" name="직선 연결선 21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직선 연결선 21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77" name="타원 276"/>
          <p:cNvSpPr/>
          <p:nvPr/>
        </p:nvSpPr>
        <p:spPr>
          <a:xfrm>
            <a:off x="6596790" y="515498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5272060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4" name="타원 283"/>
          <p:cNvSpPr/>
          <p:nvPr/>
        </p:nvSpPr>
        <p:spPr>
          <a:xfrm>
            <a:off x="6596790" y="564023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8" name="그룹 27"/>
          <p:cNvGrpSpPr/>
          <p:nvPr/>
        </p:nvGrpSpPr>
        <p:grpSpPr>
          <a:xfrm>
            <a:off x="6726257" y="5769705"/>
            <a:ext cx="124144" cy="124144"/>
            <a:chOff x="162544" y="5299917"/>
            <a:chExt cx="124144" cy="124144"/>
          </a:xfrm>
        </p:grpSpPr>
        <p:cxnSp>
          <p:nvCxnSpPr>
            <p:cNvPr id="288" name="직선 연결선 287"/>
            <p:cNvCxnSpPr/>
            <p:nvPr/>
          </p:nvCxnSpPr>
          <p:spPr>
            <a:xfrm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9" name="직선 연결선 288"/>
            <p:cNvCxnSpPr/>
            <p:nvPr/>
          </p:nvCxnSpPr>
          <p:spPr>
            <a:xfrm rot="16200000"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30551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7" name="모서리가 둥근 직사각형 336"/>
          <p:cNvSpPr/>
          <p:nvPr/>
        </p:nvSpPr>
        <p:spPr>
          <a:xfrm>
            <a:off x="781461" y="1944348"/>
            <a:ext cx="243478" cy="119400"/>
          </a:xfrm>
          <a:prstGeom prst="roundRect">
            <a:avLst>
              <a:gd name="adj" fmla="val 23409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>
                <a:solidFill>
                  <a:srgbClr val="FF0000"/>
                </a:solidFill>
              </a:rPr>
              <a:t>중요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33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1082843" y="1950187"/>
            <a:ext cx="220200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>
                <a:solidFill>
                  <a:prstClr val="black"/>
                </a:solidFill>
              </a:rPr>
              <a:t>대금 신청</a:t>
            </a:r>
            <a:r>
              <a:rPr lang="en-US" altLang="ko-KR" sz="700" dirty="0">
                <a:solidFill>
                  <a:prstClr val="black"/>
                </a:solidFill>
              </a:rPr>
              <a:t>, </a:t>
            </a:r>
            <a:r>
              <a:rPr lang="ko-KR" altLang="en-US" sz="700" dirty="0">
                <a:solidFill>
                  <a:prstClr val="black"/>
                </a:solidFill>
              </a:rPr>
              <a:t>청구는 </a:t>
            </a:r>
            <a:r>
              <a:rPr lang="en-US" altLang="ko-KR" sz="700" dirty="0">
                <a:solidFill>
                  <a:prstClr val="black"/>
                </a:solidFill>
              </a:rPr>
              <a:t>PC </a:t>
            </a:r>
            <a:r>
              <a:rPr lang="ko-KR" altLang="en-US" sz="700" dirty="0">
                <a:solidFill>
                  <a:prstClr val="black"/>
                </a:solidFill>
              </a:rPr>
              <a:t>버전에서 가능합니다</a:t>
            </a:r>
            <a:r>
              <a:rPr lang="en-US" altLang="ko-KR" sz="700" dirty="0">
                <a:solidFill>
                  <a:prstClr val="black"/>
                </a:solidFill>
              </a:rPr>
              <a:t>.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cxnSp>
        <p:nvCxnSpPr>
          <p:cNvPr id="340" name="직선 연결선 33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5091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6" name="그룹 5"/>
          <p:cNvGrpSpPr/>
          <p:nvPr/>
        </p:nvGrpSpPr>
        <p:grpSpPr>
          <a:xfrm>
            <a:off x="3836701" y="1930839"/>
            <a:ext cx="2630093" cy="1975134"/>
            <a:chOff x="3836701" y="2575831"/>
            <a:chExt cx="2630093" cy="1975134"/>
          </a:xfrm>
        </p:grpSpPr>
        <p:sp>
          <p:nvSpPr>
            <p:cNvPr id="252" name="TextBox 25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7672" y="2575831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대금신청대상</a:t>
              </a:r>
            </a:p>
          </p:txBody>
        </p:sp>
        <p:sp>
          <p:nvSpPr>
            <p:cNvPr id="253" name="직사각형 252"/>
            <p:cNvSpPr/>
            <p:nvPr/>
          </p:nvSpPr>
          <p:spPr>
            <a:xfrm>
              <a:off x="3838794" y="2827415"/>
              <a:ext cx="792000" cy="170046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55" name="직선 연결선 2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6701" y="282741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5858" y="2827416"/>
              <a:ext cx="670770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통지번호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조서발행번호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합격일자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납품일자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예산구분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감액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지체상금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261" name="TextBox 2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2706" y="2827416"/>
              <a:ext cx="1775839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20257135021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00 00 0000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2026-01-01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2026-12~31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262" name="직선 연결선 2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0585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3" name="직선 연결선 2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2722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4" name="직선 연결선 2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4859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5" name="직선 연결선 2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6996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6" name="직선 연결선 2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9133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8" name="직선 연결선 2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12705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59" name="그룹 158"/>
            <p:cNvGrpSpPr/>
            <p:nvPr/>
          </p:nvGrpSpPr>
          <p:grpSpPr>
            <a:xfrm flipV="1">
              <a:off x="6259759" y="2635184"/>
              <a:ext cx="94010" cy="47005"/>
              <a:chOff x="6812560" y="3297172"/>
              <a:chExt cx="94010" cy="47005"/>
            </a:xfrm>
          </p:grpSpPr>
          <p:cxnSp>
            <p:nvCxnSpPr>
              <p:cNvPr id="160" name="직선 연결선 15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72" name="직선 연결선 17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31417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3" name="직선 연결선 17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52787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8" name="그룹 7"/>
          <p:cNvGrpSpPr/>
          <p:nvPr/>
        </p:nvGrpSpPr>
        <p:grpSpPr>
          <a:xfrm>
            <a:off x="720490" y="4465173"/>
            <a:ext cx="2630093" cy="1169259"/>
            <a:chOff x="720490" y="4465173"/>
            <a:chExt cx="2630093" cy="1169259"/>
          </a:xfrm>
        </p:grpSpPr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4465173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07" name="그룹 106"/>
            <p:cNvGrpSpPr/>
            <p:nvPr/>
          </p:nvGrpSpPr>
          <p:grpSpPr>
            <a:xfrm flipV="1">
              <a:off x="3143548" y="4578504"/>
              <a:ext cx="94010" cy="47005"/>
              <a:chOff x="6812560" y="3297172"/>
              <a:chExt cx="94010" cy="47005"/>
            </a:xfrm>
          </p:grpSpPr>
          <p:cxnSp>
            <p:nvCxnSpPr>
              <p:cNvPr id="108" name="직선 연결선 10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" name="직선 연결선 10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" name="직사각형 15"/>
            <p:cNvSpPr/>
            <p:nvPr/>
          </p:nvSpPr>
          <p:spPr>
            <a:xfrm>
              <a:off x="722583" y="4772658"/>
              <a:ext cx="792000" cy="85340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5" name="직선 연결선 10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77265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772658"/>
              <a:ext cx="670770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청구번호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772658"/>
              <a:ext cx="1784088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 0000 00 - 01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배추김치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2026-01-30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0000 0000</a:t>
              </a:r>
            </a:p>
          </p:txBody>
        </p:sp>
        <p:cxnSp>
          <p:nvCxnSpPr>
            <p:cNvPr id="115" name="직선 연결선 11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0037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6" name="직선 연결선 11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2174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7" name="직선 연결선 11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43117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0" name="직선 연결선 16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6260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75" name="TextBox 174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156" name="모서리가 둥근 직사각형 155"/>
          <p:cNvSpPr/>
          <p:nvPr/>
        </p:nvSpPr>
        <p:spPr>
          <a:xfrm>
            <a:off x="1522790" y="2278058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endParaRPr lang="ko-KR" altLang="en-US" sz="600" dirty="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730313" y="4142235"/>
            <a:ext cx="57536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대금신청</a:t>
            </a:r>
            <a:r>
              <a:rPr lang="ko-KR" altLang="en-US" sz="700" dirty="0">
                <a:latin typeface="+mn-ea"/>
              </a:rPr>
              <a:t> 금액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367029" y="4142235"/>
            <a:ext cx="4544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세금계산서</a:t>
            </a:r>
          </a:p>
        </p:txBody>
      </p:sp>
      <p:grpSp>
        <p:nvGrpSpPr>
          <p:cNvPr id="174" name="그룹 173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5113316" y="5274274"/>
            <a:ext cx="76863" cy="292489"/>
            <a:chOff x="3750067" y="4683795"/>
            <a:chExt cx="76863" cy="292489"/>
          </a:xfrm>
        </p:grpSpPr>
        <p:sp>
          <p:nvSpPr>
            <p:cNvPr id="176" name="타원 175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77" name="타원 176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78" name="타원 177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148" name="그룹 147"/>
          <p:cNvGrpSpPr/>
          <p:nvPr/>
        </p:nvGrpSpPr>
        <p:grpSpPr>
          <a:xfrm>
            <a:off x="747925" y="3401909"/>
            <a:ext cx="2599014" cy="187961"/>
            <a:chOff x="747925" y="3393200"/>
            <a:chExt cx="2599014" cy="187961"/>
          </a:xfrm>
        </p:grpSpPr>
        <p:grpSp>
          <p:nvGrpSpPr>
            <p:cNvPr id="149" name="그룹 148"/>
            <p:cNvGrpSpPr/>
            <p:nvPr/>
          </p:nvGrpSpPr>
          <p:grpSpPr>
            <a:xfrm rot="16200000">
              <a:off x="1250697" y="3463679"/>
              <a:ext cx="94010" cy="47005"/>
              <a:chOff x="6812560" y="3297172"/>
              <a:chExt cx="94010" cy="47005"/>
            </a:xfrm>
          </p:grpSpPr>
          <p:cxnSp>
            <p:nvCxnSpPr>
              <p:cNvPr id="222" name="직선 연결선 22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3" name="직선 연결선 22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604170" y="3433319"/>
              <a:ext cx="40086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계약</a:t>
              </a:r>
            </a:p>
          </p:txBody>
        </p:sp>
        <p:sp>
          <p:nvSpPr>
            <p:cNvPr id="151" name="타원 150"/>
            <p:cNvSpPr/>
            <p:nvPr/>
          </p:nvSpPr>
          <p:spPr>
            <a:xfrm>
              <a:off x="1404035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459092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3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53" name="그룹 152"/>
            <p:cNvGrpSpPr/>
            <p:nvPr/>
          </p:nvGrpSpPr>
          <p:grpSpPr>
            <a:xfrm rot="16200000">
              <a:off x="1906808" y="3463679"/>
              <a:ext cx="94010" cy="47005"/>
              <a:chOff x="6812560" y="3297172"/>
              <a:chExt cx="94010" cy="47005"/>
            </a:xfrm>
          </p:grpSpPr>
          <p:cxnSp>
            <p:nvCxnSpPr>
              <p:cNvPr id="220" name="직선 연결선 21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1" name="직선 연결선 22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54" name="그룹 153"/>
            <p:cNvGrpSpPr/>
            <p:nvPr/>
          </p:nvGrpSpPr>
          <p:grpSpPr>
            <a:xfrm rot="16200000">
              <a:off x="2562920" y="3463679"/>
              <a:ext cx="94010" cy="47005"/>
              <a:chOff x="6812560" y="3297172"/>
              <a:chExt cx="94010" cy="47005"/>
            </a:xfrm>
          </p:grpSpPr>
          <p:cxnSp>
            <p:nvCxnSpPr>
              <p:cNvPr id="218" name="직선 연결선 21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9" name="직선 연결선 21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55" name="타원 154"/>
            <p:cNvSpPr/>
            <p:nvPr/>
          </p:nvSpPr>
          <p:spPr>
            <a:xfrm>
              <a:off x="747925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2982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2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51350" y="3433319"/>
              <a:ext cx="39757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입찰</a:t>
              </a:r>
            </a:p>
          </p:txBody>
        </p:sp>
        <p:sp>
          <p:nvSpPr>
            <p:cNvPr id="162" name="타원 161"/>
            <p:cNvSpPr/>
            <p:nvPr/>
          </p:nvSpPr>
          <p:spPr>
            <a:xfrm>
              <a:off x="2058749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113806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4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263899" y="343331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이행</a:t>
              </a:r>
            </a:p>
          </p:txBody>
        </p:sp>
        <p:sp>
          <p:nvSpPr>
            <p:cNvPr id="179" name="타원 178"/>
            <p:cNvSpPr/>
            <p:nvPr/>
          </p:nvSpPr>
          <p:spPr>
            <a:xfrm>
              <a:off x="2714860" y="3393200"/>
              <a:ext cx="187961" cy="187961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769917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bg1"/>
                  </a:solidFill>
                  <a:latin typeface="+mn-ea"/>
                </a:rPr>
                <a:t>5</a:t>
              </a:r>
              <a:endParaRPr lang="ko-KR" altLang="en-US" sz="7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20010" y="343331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대금</a:t>
              </a:r>
              <a:r>
                <a:rPr lang="en-US" altLang="ko-KR" sz="700" dirty="0">
                  <a:latin typeface="+mn-ea"/>
                </a:rPr>
                <a:t>/</a:t>
              </a:r>
              <a:r>
                <a:rPr lang="ko-KR" altLang="en-US" sz="700" dirty="0">
                  <a:latin typeface="+mn-ea"/>
                </a:rPr>
                <a:t>사후</a:t>
              </a:r>
            </a:p>
          </p:txBody>
        </p:sp>
        <p:grpSp>
          <p:nvGrpSpPr>
            <p:cNvPr id="185" name="그룹 184"/>
            <p:cNvGrpSpPr/>
            <p:nvPr/>
          </p:nvGrpSpPr>
          <p:grpSpPr>
            <a:xfrm rot="5400000">
              <a:off x="3158978" y="3393200"/>
              <a:ext cx="187961" cy="187961"/>
              <a:chOff x="3876200" y="2234886"/>
              <a:chExt cx="187961" cy="187961"/>
            </a:xfrm>
          </p:grpSpPr>
          <p:sp>
            <p:nvSpPr>
              <p:cNvPr id="187" name="타원 186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05" name="그룹 204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206" name="직선 연결선 205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7" name="직선 연결선 206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82" name="TextBox 18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882824" y="4142235"/>
            <a:ext cx="4544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smtClean="0">
                <a:latin typeface="+mn-ea"/>
              </a:rPr>
              <a:t>진행상태</a:t>
            </a:r>
            <a:endParaRPr lang="ko-KR" altLang="en-US" sz="700" dirty="0">
              <a:latin typeface="+mn-ea"/>
            </a:endParaRPr>
          </a:p>
        </p:txBody>
      </p:sp>
      <p:sp>
        <p:nvSpPr>
          <p:cNvPr id="183" name="타원 18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715370" y="504490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sp>
        <p:nvSpPr>
          <p:cNvPr id="184" name="타원 18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688" y="204634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86" name="타원 18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72828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89" name="타원 18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10603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90" name="타원 18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49583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94" name="타원 19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96143" y="223285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1-1</a:t>
            </a:r>
            <a:endParaRPr lang="ko-KR" altLang="en-US" sz="600" b="1" dirty="0"/>
          </a:p>
        </p:txBody>
      </p:sp>
      <p:sp>
        <p:nvSpPr>
          <p:cNvPr id="195" name="타원 19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758181" y="237965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1-2</a:t>
            </a:r>
            <a:endParaRPr lang="ko-KR" altLang="en-US" sz="600" b="1" dirty="0"/>
          </a:p>
        </p:txBody>
      </p:sp>
      <p:sp>
        <p:nvSpPr>
          <p:cNvPr id="196" name="타원 19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95669" y="260009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1-3</a:t>
            </a:r>
            <a:endParaRPr lang="ko-KR" altLang="en-US" sz="600" b="1" dirty="0"/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294737" y="1648387"/>
            <a:ext cx="50057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공급자 정보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856659" y="1648387"/>
            <a:ext cx="57536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err="1">
                <a:latin typeface="+mn-ea"/>
              </a:rPr>
              <a:t>대금신청</a:t>
            </a:r>
            <a:r>
              <a:rPr lang="ko-KR" altLang="en-US" sz="700" dirty="0">
                <a:latin typeface="+mn-ea"/>
              </a:rPr>
              <a:t> 금액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493375" y="1648387"/>
            <a:ext cx="4544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세금계산서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6009170" y="1648387"/>
            <a:ext cx="4544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smtClean="0">
                <a:latin typeface="+mn-ea"/>
              </a:rPr>
              <a:t>진행상태</a:t>
            </a:r>
            <a:endParaRPr lang="ko-KR" altLang="en-US" sz="700" dirty="0">
              <a:latin typeface="+mn-ea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sz="800" dirty="0"/>
              <a:t>타이틀 영역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1-1] </a:t>
            </a:r>
            <a:r>
              <a:rPr lang="ko-KR" altLang="en-US" sz="800" dirty="0"/>
              <a:t>레이블이 화면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화면 넘치는 경우 드래그하여 확인 가능 </a:t>
            </a:r>
            <a:r>
              <a:rPr lang="en-US" altLang="ko-KR" sz="800" dirty="0"/>
              <a:t>(</a:t>
            </a:r>
            <a:r>
              <a:rPr lang="ko-KR" altLang="en-US" sz="800" dirty="0" err="1"/>
              <a:t>스와이프기능</a:t>
            </a:r>
            <a:r>
              <a:rPr lang="ko-KR" altLang="en-US" sz="800" dirty="0"/>
              <a:t> 반영 필요</a:t>
            </a:r>
            <a:r>
              <a:rPr lang="en-US" altLang="ko-KR" sz="800" dirty="0"/>
              <a:t>)</a:t>
            </a:r>
            <a:br>
              <a:rPr lang="en-US" altLang="ko-KR" sz="800" dirty="0"/>
            </a:br>
            <a:r>
              <a:rPr lang="en-US" altLang="ko-KR" sz="800" dirty="0"/>
              <a:t>1-2] </a:t>
            </a:r>
            <a:r>
              <a:rPr lang="ko-KR" altLang="en-US" sz="800" dirty="0"/>
              <a:t>문서 정보 영역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err="1"/>
              <a:t>판단번호</a:t>
            </a:r>
            <a:r>
              <a:rPr lang="ko-KR" altLang="en-US" sz="800" dirty="0"/>
              <a:t> </a:t>
            </a:r>
            <a:r>
              <a:rPr lang="en-US" altLang="ko-KR" sz="800" dirty="0"/>
              <a:t>,  </a:t>
            </a:r>
            <a:r>
              <a:rPr lang="ko-KR" altLang="en-US" sz="800" dirty="0" err="1"/>
              <a:t>계약번호</a:t>
            </a:r>
            <a:r>
              <a:rPr lang="ko-KR" altLang="en-US" sz="800" dirty="0"/>
              <a:t> 노출 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err="1"/>
              <a:t>판단번호</a:t>
            </a:r>
            <a:r>
              <a:rPr lang="ko-KR" altLang="en-US" sz="800" dirty="0"/>
              <a:t> </a:t>
            </a:r>
            <a:r>
              <a:rPr lang="ko-KR" altLang="en-US" sz="800" dirty="0" err="1"/>
              <a:t>전체노출</a:t>
            </a:r>
            <a:r>
              <a:rPr lang="ko-KR" altLang="en-US" sz="800" dirty="0"/>
              <a:t> </a:t>
            </a:r>
            <a:r>
              <a:rPr lang="en-US" altLang="ko-KR" sz="800" dirty="0"/>
              <a:t>/ </a:t>
            </a:r>
            <a:r>
              <a:rPr lang="ko-KR" altLang="en-US" sz="800" dirty="0" err="1"/>
              <a:t>계약번호</a:t>
            </a:r>
            <a:r>
              <a:rPr lang="ko-KR" altLang="en-US" sz="800" dirty="0"/>
              <a:t> </a:t>
            </a:r>
            <a:r>
              <a:rPr lang="ko-KR" altLang="en-US" sz="800" dirty="0" err="1"/>
              <a:t>노출시</a:t>
            </a:r>
            <a:r>
              <a:rPr lang="ko-KR" altLang="en-US" sz="800" dirty="0"/>
              <a:t> 해당 라인을 넘어가면 </a:t>
            </a:r>
            <a:r>
              <a:rPr lang="en-US" altLang="ko-KR" sz="800" dirty="0"/>
              <a:t>(…) </a:t>
            </a:r>
            <a:r>
              <a:rPr lang="ko-KR" altLang="en-US" sz="800" dirty="0" err="1"/>
              <a:t>말줄임</a:t>
            </a:r>
            <a:r>
              <a:rPr lang="ko-KR" altLang="en-US" sz="800" dirty="0"/>
              <a:t> 표시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1-3] </a:t>
            </a:r>
            <a:r>
              <a:rPr lang="ko-KR" altLang="en-US" sz="800" dirty="0"/>
              <a:t>문서 제목 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제목은 </a:t>
            </a:r>
            <a:r>
              <a:rPr lang="en-US" altLang="ko-KR" sz="800" dirty="0"/>
              <a:t>2</a:t>
            </a:r>
            <a:r>
              <a:rPr lang="ko-KR" altLang="en-US" sz="800" dirty="0"/>
              <a:t>줄 까지 노출 이후</a:t>
            </a:r>
            <a:r>
              <a:rPr lang="en-US" altLang="ko-KR" sz="800" dirty="0"/>
              <a:t>(…) </a:t>
            </a:r>
            <a:r>
              <a:rPr lang="ko-KR" altLang="en-US" sz="800" dirty="0" err="1"/>
              <a:t>말줄임</a:t>
            </a:r>
            <a:r>
              <a:rPr lang="ko-KR" altLang="en-US" sz="800" dirty="0"/>
              <a:t> 표시</a:t>
            </a:r>
            <a:endParaRPr lang="en-US" altLang="ko-KR" sz="8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err="1"/>
              <a:t>업무도움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기본값 </a:t>
            </a:r>
            <a:r>
              <a:rPr lang="en-US" altLang="ko-KR" sz="800" dirty="0"/>
              <a:t>: </a:t>
            </a:r>
            <a:r>
              <a:rPr lang="ko-KR" altLang="en-US" sz="800" dirty="0"/>
              <a:t>접힘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err="1"/>
              <a:t>클릭시</a:t>
            </a:r>
            <a:r>
              <a:rPr lang="ko-KR" altLang="en-US" sz="800" dirty="0"/>
              <a:t> 확장하여 정보 표시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</a:t>
            </a:r>
            <a:r>
              <a:rPr lang="ko-KR" altLang="en-US" sz="800" dirty="0" err="1"/>
              <a:t>업무도움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&gt; </a:t>
            </a:r>
            <a:r>
              <a:rPr lang="ko-KR" altLang="en-US" sz="800" dirty="0"/>
              <a:t>내역이 있는 경우 만 표시</a:t>
            </a:r>
            <a:endParaRPr lang="en-US" altLang="ko-KR" sz="8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/>
              <a:t>탭 영역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err="1"/>
              <a:t>신청정보</a:t>
            </a:r>
            <a:r>
              <a:rPr lang="ko-KR" altLang="en-US" sz="800" dirty="0"/>
              <a:t> </a:t>
            </a:r>
            <a:r>
              <a:rPr lang="en-US" altLang="ko-KR" sz="800" dirty="0"/>
              <a:t>Tab</a:t>
            </a:r>
            <a:r>
              <a:rPr lang="ko-KR" altLang="en-US" sz="800" dirty="0"/>
              <a:t>은 진입 시 고정 노출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탭 내용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ko-KR" altLang="en-US" sz="800" dirty="0" err="1" smtClean="0"/>
              <a:t>계약정보</a:t>
            </a:r>
            <a:r>
              <a:rPr lang="en-US" altLang="ko-KR" sz="800" dirty="0" smtClean="0"/>
              <a:t>, </a:t>
            </a:r>
            <a:r>
              <a:rPr lang="ko-KR" altLang="en-US" sz="800" dirty="0" err="1" smtClean="0"/>
              <a:t>공급자정보</a:t>
            </a:r>
            <a:r>
              <a:rPr lang="en-US" altLang="ko-KR" sz="800" dirty="0" smtClean="0"/>
              <a:t>,</a:t>
            </a:r>
            <a:r>
              <a:rPr lang="ko-KR" altLang="en-US" sz="800" dirty="0" smtClean="0"/>
              <a:t>대금신청금액</a:t>
            </a:r>
            <a:r>
              <a:rPr lang="en-US" altLang="ko-KR" sz="800" dirty="0" smtClean="0"/>
              <a:t>, </a:t>
            </a:r>
            <a:r>
              <a:rPr lang="ko-KR" altLang="en-US" sz="800" dirty="0" smtClean="0"/>
              <a:t>세금계산서</a:t>
            </a:r>
            <a:r>
              <a:rPr lang="en-US" altLang="ko-KR" sz="800" dirty="0" smtClean="0"/>
              <a:t>, </a:t>
            </a:r>
            <a:r>
              <a:rPr lang="ko-KR" altLang="en-US" sz="800" dirty="0" smtClean="0"/>
              <a:t>진행상태  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&gt; </a:t>
            </a:r>
            <a:r>
              <a:rPr lang="ko-KR" altLang="en-US" sz="800" dirty="0"/>
              <a:t>로그인 필요 서비스 안내 표시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화면을 </a:t>
            </a:r>
            <a:r>
              <a:rPr lang="ko-KR" altLang="en-US" sz="800" dirty="0" err="1"/>
              <a:t>넘치는경우</a:t>
            </a:r>
            <a:r>
              <a:rPr lang="ko-KR" altLang="en-US" sz="800" dirty="0"/>
              <a:t> 드래그하여 확인</a:t>
            </a:r>
            <a:r>
              <a:rPr lang="en-US" altLang="ko-KR" sz="800" dirty="0"/>
              <a:t>(</a:t>
            </a:r>
            <a:r>
              <a:rPr lang="ko-KR" altLang="en-US" sz="800" dirty="0" err="1"/>
              <a:t>스와이프기능</a:t>
            </a:r>
            <a:r>
              <a:rPr lang="ko-KR" altLang="en-US" sz="800" dirty="0"/>
              <a:t> 반영 필요</a:t>
            </a:r>
            <a:r>
              <a:rPr lang="en-US" altLang="ko-KR" sz="800" dirty="0" smtClean="0"/>
              <a:t>)</a:t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세금계산서인 경우</a:t>
            </a:r>
            <a:r>
              <a:rPr lang="en-US" altLang="ko-KR" sz="800" dirty="0" smtClean="0"/>
              <a:t>, </a:t>
            </a:r>
            <a:r>
              <a:rPr lang="ko-KR" altLang="en-US" sz="800" dirty="0" smtClean="0"/>
              <a:t>화면에서 </a:t>
            </a:r>
            <a:r>
              <a:rPr lang="en-US" altLang="ko-KR" sz="800" dirty="0" smtClean="0"/>
              <a:t>“</a:t>
            </a:r>
            <a:r>
              <a:rPr lang="ko-KR" altLang="en-US" sz="800" dirty="0" smtClean="0"/>
              <a:t>세금계산서번호 선택 을 체크한 경우 노출</a:t>
            </a:r>
            <a:r>
              <a:rPr lang="en-US" altLang="ko-KR" sz="800" dirty="0" smtClean="0"/>
              <a:t>＂</a:t>
            </a:r>
            <a:endParaRPr lang="en-US" altLang="ko-KR" sz="8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/>
              <a:t>신청 정보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각 공고에 맞춰 폼 변화에 유의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err="1"/>
              <a:t>상세내용에</a:t>
            </a:r>
            <a:r>
              <a:rPr lang="ko-KR" altLang="en-US" sz="800" dirty="0"/>
              <a:t> 포함된 정보 표시</a:t>
            </a:r>
            <a:endParaRPr lang="en-US" altLang="ko-KR" sz="8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상단 </a:t>
            </a:r>
            <a:r>
              <a:rPr lang="ko-KR" altLang="en-US" sz="800" dirty="0"/>
              <a:t>이동 </a:t>
            </a:r>
            <a:r>
              <a:rPr lang="ko-KR" altLang="en-US" sz="800" dirty="0" smtClean="0"/>
              <a:t>버튼</a:t>
            </a:r>
            <a:endParaRPr lang="ko-KR" altLang="en-US" sz="800" dirty="0"/>
          </a:p>
        </p:txBody>
      </p:sp>
      <p:sp>
        <p:nvSpPr>
          <p:cNvPr id="167" name="직사각형 166"/>
          <p:cNvSpPr/>
          <p:nvPr/>
        </p:nvSpPr>
        <p:spPr>
          <a:xfrm>
            <a:off x="7103286" y="6104709"/>
            <a:ext cx="2275404" cy="15681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500" smtClean="0"/>
              <a:t>화면수정</a:t>
            </a:r>
            <a:endParaRPr lang="ko-KR" altLang="en-US" sz="500" dirty="0"/>
          </a:p>
        </p:txBody>
      </p:sp>
    </p:spTree>
    <p:extLst>
      <p:ext uri="{BB962C8B-B14F-4D97-AF65-F5344CB8AC3E}">
        <p14:creationId xmlns:p14="http://schemas.microsoft.com/office/powerpoint/2010/main" val="34528050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계약정보</a:t>
            </a:r>
            <a:r>
              <a:rPr lang="ko-KR" altLang="en-US" dirty="0"/>
              <a:t> 데이터 영역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대금신청대상목록 데이터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38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 smtClean="0">
                <a:latin typeface="+mn-ea"/>
              </a:rPr>
              <a:t>계약정보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MUI-WM-01-T05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7723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grpSp>
        <p:nvGrpSpPr>
          <p:cNvPr id="133" name="그룹 132"/>
          <p:cNvGrpSpPr/>
          <p:nvPr/>
        </p:nvGrpSpPr>
        <p:grpSpPr>
          <a:xfrm>
            <a:off x="716366" y="1929246"/>
            <a:ext cx="2630093" cy="1160890"/>
            <a:chOff x="720490" y="4465173"/>
            <a:chExt cx="2630093" cy="1160890"/>
          </a:xfrm>
        </p:grpSpPr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4465173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35" name="그룹 134"/>
            <p:cNvGrpSpPr/>
            <p:nvPr/>
          </p:nvGrpSpPr>
          <p:grpSpPr>
            <a:xfrm flipV="1">
              <a:off x="3143548" y="4578504"/>
              <a:ext cx="94010" cy="47005"/>
              <a:chOff x="6812560" y="3297172"/>
              <a:chExt cx="94010" cy="47005"/>
            </a:xfrm>
          </p:grpSpPr>
          <p:cxnSp>
            <p:nvCxnSpPr>
              <p:cNvPr id="147" name="직선 연결선 14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8" name="직선 연결선 14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36" name="직사각형 135"/>
            <p:cNvSpPr/>
            <p:nvPr/>
          </p:nvSpPr>
          <p:spPr>
            <a:xfrm>
              <a:off x="722583" y="4772659"/>
              <a:ext cx="792000" cy="85340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7" name="직선 연결선 13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77265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772658"/>
              <a:ext cx="670770" cy="82747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청구번호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772658"/>
              <a:ext cx="1784088" cy="82747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 0000 00 - 01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배추김치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2026-01-30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0000 0000</a:t>
              </a:r>
            </a:p>
          </p:txBody>
        </p:sp>
        <p:cxnSp>
          <p:nvCxnSpPr>
            <p:cNvPr id="141" name="직선 연결선 14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0037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2" name="직선 연결선 14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2174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43117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6260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149" name="직선 연결선 14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13808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60" name="그룹 59"/>
          <p:cNvGrpSpPr/>
          <p:nvPr/>
        </p:nvGrpSpPr>
        <p:grpSpPr>
          <a:xfrm>
            <a:off x="716366" y="3217433"/>
            <a:ext cx="2630093" cy="1975134"/>
            <a:chOff x="3836701" y="2575831"/>
            <a:chExt cx="2630093" cy="1975134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7672" y="2575831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대금신청대상</a:t>
              </a:r>
            </a:p>
          </p:txBody>
        </p:sp>
        <p:sp>
          <p:nvSpPr>
            <p:cNvPr id="62" name="직사각형 61"/>
            <p:cNvSpPr/>
            <p:nvPr/>
          </p:nvSpPr>
          <p:spPr>
            <a:xfrm>
              <a:off x="3838794" y="2827415"/>
              <a:ext cx="792000" cy="170046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6701" y="282741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5858" y="2827416"/>
              <a:ext cx="670770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통지번호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조서발행번호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합격일자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납품일자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예산구분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감액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지체상금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2706" y="2827416"/>
              <a:ext cx="1775839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20257135021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00 00 0000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2026-01-01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2026-12~31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66" name="직선 연결선 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0585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2722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4859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9" name="직선 연결선 6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6996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0" name="직선 연결선 6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9133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1" name="직선 연결선 7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12705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72" name="그룹 71"/>
            <p:cNvGrpSpPr/>
            <p:nvPr/>
          </p:nvGrpSpPr>
          <p:grpSpPr>
            <a:xfrm flipV="1">
              <a:off x="6259759" y="2635184"/>
              <a:ext cx="94010" cy="47005"/>
              <a:chOff x="6812560" y="3297172"/>
              <a:chExt cx="94010" cy="47005"/>
            </a:xfrm>
          </p:grpSpPr>
          <p:cxnSp>
            <p:nvCxnSpPr>
              <p:cNvPr id="75" name="직선 연결선 7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직선 연결선 7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73" name="직선 연결선 7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31417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4" name="직선 연결선 7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52787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55" name="타원 15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27380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778029"/>
            <a:ext cx="76863" cy="292489"/>
            <a:chOff x="3750067" y="4683795"/>
            <a:chExt cx="76863" cy="292489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675399" y="1501687"/>
            <a:ext cx="2712027" cy="355980"/>
            <a:chOff x="3795734" y="1501687"/>
            <a:chExt cx="2712027" cy="355980"/>
          </a:xfrm>
        </p:grpSpPr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95734" y="1501687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8" name="직선 연결선 4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4022" y="1857667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67701" y="1641060"/>
              <a:ext cx="3597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b="1" dirty="0" err="1">
                  <a:latin typeface="+mn-ea"/>
                </a:rPr>
                <a:t>계약정보</a:t>
              </a:r>
              <a:endParaRPr lang="ko-KR" altLang="en-US" sz="700" b="1" dirty="0">
                <a:latin typeface="+mn-ea"/>
              </a:endParaRPr>
            </a:p>
          </p:txBody>
        </p:sp>
        <p:cxnSp>
          <p:nvCxnSpPr>
            <p:cNvPr id="50" name="직선 연결선 4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4022" y="1857667"/>
              <a:ext cx="435210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294737" y="1648387"/>
              <a:ext cx="50057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>
                  <a:latin typeface="+mn-ea"/>
                </a:rPr>
                <a:t>공급자 정보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856659" y="1648387"/>
              <a:ext cx="57536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err="1">
                  <a:latin typeface="+mn-ea"/>
                </a:rPr>
                <a:t>대금신청</a:t>
              </a:r>
              <a:r>
                <a:rPr lang="ko-KR" altLang="en-US" sz="700" dirty="0">
                  <a:latin typeface="+mn-ea"/>
                </a:rPr>
                <a:t> 금액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5493375" y="1648387"/>
              <a:ext cx="4544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>
                  <a:latin typeface="+mn-ea"/>
                </a:rPr>
                <a:t>세금계산서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6009170" y="1648387"/>
              <a:ext cx="4544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 smtClean="0">
                  <a:latin typeface="+mn-ea"/>
                </a:rPr>
                <a:t>진행상태</a:t>
              </a:r>
              <a:endParaRPr lang="ko-KR" altLang="en-US" sz="700" dirty="0"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0252425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공급자정보</a:t>
            </a:r>
            <a:r>
              <a:rPr lang="ko-KR" altLang="en-US" dirty="0"/>
              <a:t>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39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 상세 </a:t>
            </a:r>
            <a:r>
              <a:rPr lang="en-US" altLang="ko-KR" dirty="0">
                <a:latin typeface="+mn-ea"/>
              </a:rPr>
              <a:t>– </a:t>
            </a:r>
            <a:r>
              <a:rPr lang="ko-KR" altLang="en-US" dirty="0">
                <a:latin typeface="+mn-ea"/>
              </a:rPr>
              <a:t>공급자 정보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MUI-WM-01-T06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4" y="1527996"/>
            <a:ext cx="2456097" cy="181140"/>
            <a:chOff x="763157" y="1527996"/>
            <a:chExt cx="2456097" cy="18114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공급자 정보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1820148"/>
            <a:ext cx="2630093" cy="1292663"/>
            <a:chOff x="3865118" y="2946203"/>
            <a:chExt cx="2630093" cy="1292663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3"/>
              <a:ext cx="792000" cy="128939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상호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 err="1">
                  <a:latin typeface="+mn-ea"/>
                </a:rPr>
                <a:t>업체명</a:t>
              </a:r>
              <a:r>
                <a:rPr lang="en-US" altLang="ko-KR" sz="700" dirty="0">
                  <a:latin typeface="+mn-ea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대표명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청구인성명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연락처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SMS</a:t>
              </a:r>
              <a:r>
                <a:rPr lang="ko-KR" altLang="en-US" sz="700" dirty="0" err="1">
                  <a:latin typeface="+mn-ea"/>
                </a:rPr>
                <a:t>수신번호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주소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010-1234-5678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010-1234-5678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서울특별시 종로구</a:t>
              </a:r>
              <a:r>
                <a:rPr lang="en-US" altLang="ko-KR" sz="700" dirty="0">
                  <a:latin typeface="+mn-ea"/>
                </a:rPr>
                <a:t>…</a:t>
              </a: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3363" y="3179706"/>
            <a:ext cx="2456098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atin typeface="+mn-ea"/>
              </a:rPr>
              <a:t>* SMS</a:t>
            </a:r>
            <a:r>
              <a:rPr lang="ko-KR" altLang="en-US" sz="700" dirty="0" err="1">
                <a:latin typeface="+mn-ea"/>
              </a:rPr>
              <a:t>수신번호는</a:t>
            </a:r>
            <a:r>
              <a:rPr lang="ko-KR" altLang="en-US" sz="700" dirty="0">
                <a:latin typeface="+mn-ea"/>
              </a:rPr>
              <a:t> </a:t>
            </a:r>
            <a:r>
              <a:rPr lang="en-US" altLang="ko-KR" sz="700" dirty="0">
                <a:latin typeface="+mn-ea"/>
              </a:rPr>
              <a:t>[SMS</a:t>
            </a:r>
            <a:r>
              <a:rPr lang="ko-KR" altLang="en-US" sz="700" dirty="0" err="1">
                <a:latin typeface="+mn-ea"/>
              </a:rPr>
              <a:t>서비스신청</a:t>
            </a:r>
            <a:r>
              <a:rPr lang="en-US" altLang="ko-KR" sz="700" dirty="0">
                <a:latin typeface="+mn-ea"/>
              </a:rPr>
              <a:t>] </a:t>
            </a:r>
            <a:r>
              <a:rPr lang="ko-KR" altLang="en-US" sz="700" dirty="0">
                <a:latin typeface="+mn-ea"/>
              </a:rPr>
              <a:t>시 등록된 번호가 자동으로 입력됩니다</a:t>
            </a:r>
            <a:r>
              <a:rPr lang="en-US" altLang="ko-KR" sz="700" dirty="0">
                <a:latin typeface="+mn-ea"/>
              </a:rPr>
              <a:t>.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51012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32478625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en-US" altLang="ko-KR" dirty="0" smtClean="0"/>
              <a:t>PC</a:t>
            </a:r>
            <a:r>
              <a:rPr lang="ko-KR" altLang="en-US" dirty="0" smtClean="0"/>
              <a:t>에서</a:t>
            </a:r>
            <a:r>
              <a:rPr lang="en-US" altLang="ko-KR" dirty="0"/>
              <a:t> </a:t>
            </a:r>
            <a:r>
              <a:rPr lang="ko-KR" altLang="en-US" dirty="0" err="1" smtClean="0"/>
              <a:t>대금청구</a:t>
            </a:r>
            <a:r>
              <a:rPr lang="ko-KR" altLang="en-US" dirty="0" smtClean="0"/>
              <a:t> 신청서 작성시</a:t>
            </a:r>
            <a:r>
              <a:rPr lang="en-US" altLang="ko-KR" dirty="0" smtClean="0"/>
              <a:t>, </a:t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합격을 선택한 경우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합격일자</a:t>
            </a:r>
            <a:r>
              <a:rPr lang="ko-KR" altLang="en-US" dirty="0" smtClean="0"/>
              <a:t> 노출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en-US" altLang="ko-KR" dirty="0"/>
              <a:t>PC</a:t>
            </a:r>
            <a:r>
              <a:rPr lang="ko-KR" altLang="en-US" dirty="0"/>
              <a:t>에서</a:t>
            </a:r>
            <a:r>
              <a:rPr lang="en-US" altLang="ko-KR" dirty="0"/>
              <a:t> </a:t>
            </a:r>
            <a:r>
              <a:rPr lang="ko-KR" altLang="en-US" dirty="0" err="1"/>
              <a:t>대금청구</a:t>
            </a:r>
            <a:r>
              <a:rPr lang="ko-KR" altLang="en-US" dirty="0"/>
              <a:t> 신청서 작성시</a:t>
            </a:r>
            <a:r>
              <a:rPr lang="en-US" altLang="ko-KR" dirty="0"/>
              <a:t>, </a:t>
            </a:r>
            <a:r>
              <a:rPr lang="ko-KR" altLang="en-US" dirty="0" err="1" smtClean="0"/>
              <a:t>납품일자를</a:t>
            </a:r>
            <a:r>
              <a:rPr lang="ko-KR" altLang="en-US" dirty="0" smtClean="0"/>
              <a:t> 선택한 경우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납품일자</a:t>
            </a:r>
            <a:r>
              <a:rPr lang="ko-KR" altLang="en-US" dirty="0" smtClean="0"/>
              <a:t> 노출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en-US" altLang="ko-KR" dirty="0"/>
              <a:t>PC</a:t>
            </a:r>
            <a:r>
              <a:rPr lang="ko-KR" altLang="en-US" dirty="0"/>
              <a:t>에서</a:t>
            </a:r>
            <a:r>
              <a:rPr lang="en-US" altLang="ko-KR" dirty="0"/>
              <a:t> </a:t>
            </a:r>
            <a:r>
              <a:rPr lang="ko-KR" altLang="en-US" dirty="0" err="1"/>
              <a:t>대금청구</a:t>
            </a:r>
            <a:r>
              <a:rPr lang="ko-KR" altLang="en-US" dirty="0"/>
              <a:t> 신청서 작성시</a:t>
            </a:r>
            <a:r>
              <a:rPr lang="en-US" altLang="ko-KR" dirty="0" smtClean="0"/>
              <a:t>, </a:t>
            </a:r>
            <a:r>
              <a:rPr lang="ko-KR" altLang="en-US" dirty="0" smtClean="0"/>
              <a:t>세액 여부 있음을 선택한 경우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있음 노출 및 세액 항목 노출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납품청구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신청서상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세액여부</a:t>
            </a:r>
            <a:r>
              <a:rPr lang="ko-KR" altLang="en-US" dirty="0" smtClean="0"/>
              <a:t> 없음 을 선택한 경우 노출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-4-1] </a:t>
            </a:r>
            <a:r>
              <a:rPr lang="ko-KR" altLang="en-US" dirty="0" err="1" smtClean="0"/>
              <a:t>세액여부가</a:t>
            </a:r>
            <a:r>
              <a:rPr lang="ko-KR" altLang="en-US" dirty="0" smtClean="0"/>
              <a:t> 없음인 경우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세액항목</a:t>
            </a:r>
            <a:r>
              <a:rPr lang="ko-KR" altLang="en-US" dirty="0" smtClean="0"/>
              <a:t> </a:t>
            </a:r>
            <a:r>
              <a:rPr lang="en-US" altLang="ko-KR" dirty="0" smtClean="0"/>
              <a:t>“-”</a:t>
            </a:r>
            <a:r>
              <a:rPr lang="ko-KR" altLang="en-US" dirty="0" smtClean="0"/>
              <a:t>로 표기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/>
            </a:r>
            <a:br>
              <a:rPr lang="en-US" altLang="ko-KR" dirty="0" smtClean="0"/>
            </a:b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40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Autofit/>
          </a:bodyPr>
          <a:lstStyle/>
          <a:p>
            <a:r>
              <a:rPr lang="ko-KR" altLang="en-US" dirty="0" smtClean="0">
                <a:latin typeface="+mn-ea"/>
              </a:rPr>
              <a:t>대금신청금액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MUI-WM-01-T07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4" y="1527996"/>
            <a:ext cx="2456097" cy="181140"/>
            <a:chOff x="763157" y="1527996"/>
            <a:chExt cx="2456097" cy="18114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대금신청</a:t>
              </a:r>
              <a:r>
                <a:rPr lang="ko-KR" altLang="en-US" sz="700" dirty="0">
                  <a:latin typeface="+mn-ea"/>
                </a:rPr>
                <a:t> 금액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1820148"/>
            <a:ext cx="2630093" cy="2804005"/>
            <a:chOff x="3865118" y="2946203"/>
            <a:chExt cx="2630093" cy="2804005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3"/>
              <a:ext cx="792000" cy="280400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4" y="2946204"/>
              <a:ext cx="715881" cy="280076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합격일자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세액여부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납품금액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공제금액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공제내역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청구금액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면제원제출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보증보험증권제출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280076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있음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7448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68818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90189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10535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31906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53276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74161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55235" y="1808160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466910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77757" y="1878063"/>
            <a:ext cx="471283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00" dirty="0" smtClean="0">
                <a:latin typeface="+mn-ea"/>
              </a:rPr>
              <a:t>2026-01-30</a:t>
            </a:r>
            <a:endParaRPr lang="ko-KR" altLang="en-US" sz="700" dirty="0">
              <a:latin typeface="+mn-ea"/>
            </a:endParaRPr>
          </a:p>
        </p:txBody>
      </p:sp>
      <p:sp>
        <p:nvSpPr>
          <p:cNvPr id="47" name="타원 46"/>
          <p:cNvSpPr/>
          <p:nvPr/>
        </p:nvSpPr>
        <p:spPr>
          <a:xfrm flipH="1">
            <a:off x="1348969" y="2105697"/>
            <a:ext cx="108000" cy="108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?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630801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0" name="그룹 49"/>
          <p:cNvGrpSpPr/>
          <p:nvPr/>
        </p:nvGrpSpPr>
        <p:grpSpPr>
          <a:xfrm>
            <a:off x="3758766" y="1527996"/>
            <a:ext cx="2456097" cy="181140"/>
            <a:chOff x="763157" y="1527996"/>
            <a:chExt cx="2456097" cy="181140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대금신청</a:t>
              </a:r>
              <a:r>
                <a:rPr lang="ko-KR" altLang="en-US" sz="700" dirty="0">
                  <a:latin typeface="+mn-ea"/>
                </a:rPr>
                <a:t> 금액</a:t>
              </a:r>
            </a:p>
          </p:txBody>
        </p:sp>
        <p:grpSp>
          <p:nvGrpSpPr>
            <p:cNvPr id="53" name="그룹 52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54" name="직선 연결선 5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5" name="직선 연결선 5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6" name="그룹 55"/>
          <p:cNvGrpSpPr/>
          <p:nvPr/>
        </p:nvGrpSpPr>
        <p:grpSpPr>
          <a:xfrm>
            <a:off x="3671768" y="1820148"/>
            <a:ext cx="2630093" cy="2804005"/>
            <a:chOff x="3865118" y="2946203"/>
            <a:chExt cx="2630093" cy="2804005"/>
          </a:xfrm>
        </p:grpSpPr>
        <p:sp>
          <p:nvSpPr>
            <p:cNvPr id="57" name="직사각형 56"/>
            <p:cNvSpPr/>
            <p:nvPr/>
          </p:nvSpPr>
          <p:spPr>
            <a:xfrm>
              <a:off x="3867211" y="2946203"/>
              <a:ext cx="792000" cy="280400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4" y="2946204"/>
              <a:ext cx="715881" cy="280076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납품일자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세액여부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납품금액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공제금액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공제내역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청구금액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면제원제출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보증보험증권제출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280076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없음 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- 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-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</p:txBody>
        </p:sp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2" name="직선 연결선 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4" name="직선 연결선 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5" name="직선 연결선 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7448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9" name="직선 연결선 6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68818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0" name="직선 연결선 6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90189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1" name="직선 연결선 7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10535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2" name="직선 연결선 7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31906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3" name="직선 연결선 7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53276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4" name="직선 연결선 7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74161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630801" y="466910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533159" y="1878063"/>
            <a:ext cx="471283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00" dirty="0" smtClean="0">
                <a:latin typeface="+mn-ea"/>
              </a:rPr>
              <a:t>2026-02-10</a:t>
            </a:r>
            <a:endParaRPr lang="ko-KR" altLang="en-US" sz="700" dirty="0">
              <a:latin typeface="+mn-ea"/>
            </a:endParaRPr>
          </a:p>
        </p:txBody>
      </p:sp>
      <p:sp>
        <p:nvSpPr>
          <p:cNvPr id="78" name="타원 77"/>
          <p:cNvSpPr/>
          <p:nvPr/>
        </p:nvSpPr>
        <p:spPr>
          <a:xfrm flipH="1">
            <a:off x="4304371" y="2105697"/>
            <a:ext cx="108000" cy="108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?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80" name="직사각형 79"/>
          <p:cNvSpPr/>
          <p:nvPr/>
        </p:nvSpPr>
        <p:spPr>
          <a:xfrm>
            <a:off x="3652932" y="2688661"/>
            <a:ext cx="2689896" cy="205119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직사각형 80"/>
          <p:cNvSpPr/>
          <p:nvPr/>
        </p:nvSpPr>
        <p:spPr>
          <a:xfrm>
            <a:off x="3652932" y="3357843"/>
            <a:ext cx="2689896" cy="205119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타원 8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10637" y="1837096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90" name="타원 8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55235" y="2068819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91" name="타원 9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10637" y="2078933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92" name="타원 9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11708" y="2612173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4-1</a:t>
            </a:r>
            <a:endParaRPr lang="ko-KR" altLang="en-US" sz="500" b="1" dirty="0"/>
          </a:p>
        </p:txBody>
      </p:sp>
      <p:sp>
        <p:nvSpPr>
          <p:cNvPr id="75" name="직사각형 74"/>
          <p:cNvSpPr/>
          <p:nvPr/>
        </p:nvSpPr>
        <p:spPr>
          <a:xfrm>
            <a:off x="7103286" y="6139543"/>
            <a:ext cx="2287843" cy="1219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500" smtClean="0"/>
              <a:t>화면수정</a:t>
            </a:r>
            <a:endParaRPr lang="ko-KR" altLang="en-US" sz="500" dirty="0"/>
          </a:p>
        </p:txBody>
      </p:sp>
    </p:spTree>
    <p:extLst>
      <p:ext uri="{BB962C8B-B14F-4D97-AF65-F5344CB8AC3E}">
        <p14:creationId xmlns:p14="http://schemas.microsoft.com/office/powerpoint/2010/main" val="51723367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Arial" panose="020B0604020202020204" pitchFamily="34" charset="0"/>
              <a:buAutoNum type="arabicPeriod"/>
            </a:pPr>
            <a:r>
              <a:rPr lang="en-US" altLang="ko-KR" dirty="0" smtClean="0">
                <a:latin typeface="+mn-ea"/>
              </a:rPr>
              <a:t>PC</a:t>
            </a:r>
            <a:r>
              <a:rPr lang="ko-KR" altLang="en-US" dirty="0" smtClean="0">
                <a:latin typeface="+mn-ea"/>
              </a:rPr>
              <a:t>에서 사후정산청구서 작성시</a:t>
            </a:r>
            <a:r>
              <a:rPr lang="en-US" altLang="ko-KR" dirty="0" smtClean="0">
                <a:latin typeface="+mn-ea"/>
              </a:rPr>
              <a:t>(UI-WM-01-M47), </a:t>
            </a:r>
            <a:r>
              <a:rPr lang="ko-KR" altLang="en-US" dirty="0" smtClean="0">
                <a:latin typeface="+mn-ea"/>
              </a:rPr>
              <a:t>세금계산서</a:t>
            </a:r>
            <a:r>
              <a:rPr lang="en-US" altLang="ko-KR" dirty="0">
                <a:latin typeface="+mn-ea"/>
              </a:rPr>
              <a:t> </a:t>
            </a:r>
            <a:r>
              <a:rPr lang="en-US" altLang="ko-KR" dirty="0" smtClean="0">
                <a:latin typeface="+mn-ea"/>
              </a:rPr>
              <a:t>“</a:t>
            </a:r>
            <a:r>
              <a:rPr lang="ko-KR" altLang="en-US" dirty="0" smtClean="0">
                <a:latin typeface="+mn-ea"/>
              </a:rPr>
              <a:t>선택</a:t>
            </a:r>
            <a:r>
              <a:rPr lang="en-US" altLang="ko-KR" dirty="0" smtClean="0">
                <a:latin typeface="+mn-ea"/>
              </a:rPr>
              <a:t>” </a:t>
            </a:r>
            <a:r>
              <a:rPr lang="ko-KR" altLang="en-US" dirty="0" smtClean="0">
                <a:latin typeface="+mn-ea"/>
              </a:rPr>
              <a:t>을 선택한 경우 노출 되는 항목</a:t>
            </a:r>
            <a:endParaRPr lang="en-US" altLang="ko-KR" dirty="0" smtClean="0">
              <a:latin typeface="+mn-ea"/>
            </a:endParaRPr>
          </a:p>
          <a:p>
            <a:pPr marL="228600" indent="-228600">
              <a:buAutoNum type="arabicPeriod"/>
            </a:pPr>
            <a:endParaRPr lang="en-US" altLang="ko-KR" dirty="0">
              <a:latin typeface="+mn-ea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41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lIns="72000" tIns="36000" rIns="72000" bIns="36000">
            <a:noAutofit/>
          </a:bodyPr>
          <a:lstStyle/>
          <a:p>
            <a:r>
              <a:rPr lang="ko-KR" altLang="en-US" dirty="0">
                <a:latin typeface="+mn-ea"/>
              </a:rPr>
              <a:t>세금계산서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</a:t>
            </a:r>
            <a:r>
              <a:rPr lang="ko-KR" altLang="en-US" dirty="0" smtClean="0"/>
              <a:t>진행상태 </a:t>
            </a:r>
            <a:endParaRPr lang="ko-KR" altLang="en-US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smtClean="0">
                <a:latin typeface="+mn-ea"/>
              </a:rPr>
              <a:t>대금청구상세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MUI-WM-01-T08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4" y="1527996"/>
            <a:ext cx="2456097" cy="181140"/>
            <a:chOff x="763157" y="1527996"/>
            <a:chExt cx="2456097" cy="18114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세금계산서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1820148"/>
            <a:ext cx="2630093" cy="235931"/>
            <a:chOff x="3865118" y="2946203"/>
            <a:chExt cx="2630093" cy="235931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3"/>
              <a:ext cx="792000" cy="23593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4" y="2946204"/>
              <a:ext cx="715881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세금계산서번호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7303" y="2946204"/>
              <a:ext cx="1769659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1234-5678-9012</a:t>
              </a:r>
              <a:endParaRPr lang="ko-KR" altLang="en-US" sz="700" dirty="0">
                <a:latin typeface="+mn-ea"/>
              </a:endParaRPr>
            </a:p>
          </p:txBody>
        </p: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6160" y="1581676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570656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9" name="그룹 48"/>
          <p:cNvGrpSpPr/>
          <p:nvPr/>
        </p:nvGrpSpPr>
        <p:grpSpPr>
          <a:xfrm>
            <a:off x="716366" y="2363885"/>
            <a:ext cx="2630093" cy="1292663"/>
            <a:chOff x="3865118" y="2946203"/>
            <a:chExt cx="2630093" cy="1292663"/>
          </a:xfrm>
        </p:grpSpPr>
        <p:sp>
          <p:nvSpPr>
            <p:cNvPr id="50" name="직사각형 49"/>
            <p:cNvSpPr/>
            <p:nvPr/>
          </p:nvSpPr>
          <p:spPr>
            <a:xfrm>
              <a:off x="3867211" y="2946203"/>
              <a:ext cx="792000" cy="12926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4" y="2946204"/>
              <a:ext cx="715881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월일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품목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02-03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55" name="직선 연결선 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6" name="직선 연결선 5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3364" y="2090538"/>
            <a:ext cx="84376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품목 정보</a:t>
            </a:r>
          </a:p>
        </p:txBody>
      </p:sp>
      <p:grpSp>
        <p:nvGrpSpPr>
          <p:cNvPr id="71" name="그룹 70"/>
          <p:cNvGrpSpPr/>
          <p:nvPr/>
        </p:nvGrpSpPr>
        <p:grpSpPr>
          <a:xfrm>
            <a:off x="716366" y="3764258"/>
            <a:ext cx="2630093" cy="1292663"/>
            <a:chOff x="3865118" y="2946203"/>
            <a:chExt cx="2630093" cy="1292663"/>
          </a:xfrm>
        </p:grpSpPr>
        <p:sp>
          <p:nvSpPr>
            <p:cNvPr id="72" name="직사각형 71"/>
            <p:cNvSpPr/>
            <p:nvPr/>
          </p:nvSpPr>
          <p:spPr>
            <a:xfrm>
              <a:off x="3867211" y="2946203"/>
              <a:ext cx="792000" cy="12926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3" name="직선 연결선 7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4" y="2946204"/>
              <a:ext cx="715881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월일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품목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02-03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7" name="직선 연결선 7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9" name="직선 연결선 7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0" name="직선 연결선 7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253901"/>
            <a:ext cx="76863" cy="292489"/>
            <a:chOff x="3750067" y="4683795"/>
            <a:chExt cx="76863" cy="292489"/>
          </a:xfrm>
        </p:grpSpPr>
        <p:sp>
          <p:nvSpPr>
            <p:cNvPr id="83" name="타원 82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85" name="타원 84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sp>
        <p:nvSpPr>
          <p:cNvPr id="63" name="직사각형 62"/>
          <p:cNvSpPr/>
          <p:nvPr/>
        </p:nvSpPr>
        <p:spPr>
          <a:xfrm>
            <a:off x="7103286" y="6036456"/>
            <a:ext cx="2275404" cy="1958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500" smtClean="0"/>
              <a:t>화면수정</a:t>
            </a:r>
            <a:endParaRPr lang="ko-KR" altLang="en-US" sz="500" dirty="0"/>
          </a:p>
        </p:txBody>
      </p:sp>
    </p:spTree>
    <p:extLst>
      <p:ext uri="{BB962C8B-B14F-4D97-AF65-F5344CB8AC3E}">
        <p14:creationId xmlns:p14="http://schemas.microsoft.com/office/powerpoint/2010/main" val="345748948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42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(1/2)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225278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dmt_ctrtInfo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969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</a:rPr>
                        <a:t>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계약명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</a:rPr>
                        <a:t>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59971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일자구분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regDt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일자구분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</a:rPr>
                        <a:t>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89816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birqNo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청구번호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</a:rPr>
                        <a:t>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0731292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B6FF90CD-D44A-772D-5AAF-1061FC3E2661}"/>
              </a:ext>
            </a:extLst>
          </p:cNvPr>
          <p:cNvSpPr txBox="1"/>
          <p:nvPr/>
        </p:nvSpPr>
        <p:spPr>
          <a:xfrm>
            <a:off x="458117" y="2086851"/>
            <a:ext cx="316169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대금신청대상목록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dlt_pymtAplyTrgtList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D5D6353D-3F6D-611B-EA75-CF444460DF17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2298054"/>
          <a:ext cx="8994883" cy="1745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통지번호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avtsmtNo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통지번호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조서발행번호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dlvdocNo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조서발행번호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9498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합격일자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srngYmd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합격일자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8323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dlvgdsYmd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납품일자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9767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bgtSecd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예산구분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:KB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79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9902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감액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ctbkAmt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감액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887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지체상금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lqdmg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지체상금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7244463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530B8E2E-00BE-BADA-87DB-E8B83D44B4A0}"/>
              </a:ext>
            </a:extLst>
          </p:cNvPr>
          <p:cNvSpPr txBox="1"/>
          <p:nvPr/>
        </p:nvSpPr>
        <p:spPr>
          <a:xfrm>
            <a:off x="458117" y="4168979"/>
            <a:ext cx="237461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공급자정보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dmt_splrInfo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BC36CD16-3261-893C-33B1-952BDA63F539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4380182"/>
          <a:ext cx="8994883" cy="1357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bzentyNm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상호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대표명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rprsvNm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대표명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9498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청구인성명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clmtNm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청구인성명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8323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연락처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clmtTelno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연락처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9767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SMS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enmtno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SMS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64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암호화휴대전화번호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6273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주소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bzentyAddr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주소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9019130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554A4C22-E49D-27FC-D9FD-E7A0C6EBBB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7580166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43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33490B-4478-F735-A295-62F7CD63369D}"/>
              </a:ext>
            </a:extLst>
          </p:cNvPr>
          <p:cNvSpPr txBox="1"/>
          <p:nvPr/>
        </p:nvSpPr>
        <p:spPr>
          <a:xfrm>
            <a:off x="458117" y="803113"/>
            <a:ext cx="3039862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1.4. </a:t>
            </a:r>
            <a:r>
              <a:rPr lang="ko-KR" altLang="en-US" sz="900" b="1" dirty="0">
                <a:solidFill>
                  <a:prstClr val="black"/>
                </a:solidFill>
              </a:rPr>
              <a:t>대금신청금액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dmt_pymtAplyAmtInfo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E5540156-D732-C40F-C9B7-89B56D016403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2836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일자구분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ymdSeCd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일자구분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I :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합격월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D :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납품월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vatSecd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세액여부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A 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있음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B 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없음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12454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62916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dlvgdsSplyEqvl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6502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dlvgdsTxamt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71064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공제금액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ddcAmt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공제금액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44754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ddcSplyEqvl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8305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ddcTxamt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0339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공제내역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ddcDsctnNm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공제내역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4180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clmAmt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62779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면제원제출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exmptnSbmsnYn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면제원제출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5329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보증보험증권제출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grnteInsrncScrtSbmsnYn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보증보험증권제출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1535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rmrkCn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4000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4824845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421C4003-76ED-06D6-7598-4607A5689329}"/>
              </a:ext>
            </a:extLst>
          </p:cNvPr>
          <p:cNvSpPr txBox="1"/>
          <p:nvPr/>
        </p:nvSpPr>
        <p:spPr>
          <a:xfrm>
            <a:off x="458117" y="3959606"/>
            <a:ext cx="232171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1.5. </a:t>
            </a:r>
            <a:r>
              <a:rPr lang="ko-KR" altLang="en-US" sz="900" b="1" dirty="0">
                <a:solidFill>
                  <a:prstClr val="black"/>
                </a:solidFill>
              </a:rPr>
              <a:t>세금계산서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dlt_txBllList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F6E19429-B9EE-3086-F85C-8D422E1AAC5F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4170809"/>
          <a:ext cx="8994883" cy="1551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세금계산서번호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txivChcYn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세금계산서번호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 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선택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N :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선택안함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월일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bllPblcnYmd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월일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0339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itemNm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4180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dlvgdsQty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62779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ctrtUntprc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단가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5329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splyEqvl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1535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txamt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4824845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D4697EFF-DC34-4A4E-4B12-F5CFDC19D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E5E047-FC26-7018-1149-CADBEEF4059D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(2/2)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799380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44</a:t>
            </a:fld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C69890D6-BEE5-DDAF-C6C1-19EF9FF5AD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881853"/>
              </p:ext>
            </p:extLst>
          </p:nvPr>
        </p:nvGraphicFramePr>
        <p:xfrm>
          <a:off x="453000" y="1068365"/>
          <a:ext cx="8995591" cy="509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3103963203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공통코드정보를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계약 정보를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조회한다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65C7748-B9E7-B5A0-7232-092364D0174A}"/>
              </a:ext>
            </a:extLst>
          </p:cNvPr>
          <p:cNvSpPr txBox="1"/>
          <p:nvPr/>
        </p:nvSpPr>
        <p:spPr>
          <a:xfrm>
            <a:off x="458117" y="760911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sp>
        <p:nvSpPr>
          <p:cNvPr id="8" name="Text Box 73">
            <a:extLst>
              <a:ext uri="{FF2B5EF4-FFF2-40B4-BE49-F238E27FC236}">
                <a16:creationId xmlns:a16="http://schemas.microsoft.com/office/drawing/2014/main" id="{A611DD90-B471-FCCC-FD98-DC05C3AF34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9866" y="82802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2859587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45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smtClean="0">
                <a:latin typeface="+mn-ea"/>
              </a:rPr>
              <a:t>대금청구상세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MUI-WM-01-M06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err="1">
                <a:latin typeface="+mn-ea"/>
              </a:rPr>
              <a:t>대금청구</a:t>
            </a:r>
            <a:r>
              <a:rPr lang="ko-KR" altLang="en-US" sz="800" dirty="0">
                <a:latin typeface="+mn-ea"/>
              </a:rPr>
              <a:t> </a:t>
            </a:r>
            <a:r>
              <a:rPr lang="ko-KR" altLang="en-US" sz="800" dirty="0" err="1">
                <a:latin typeface="+mn-ea"/>
              </a:rPr>
              <a:t>상세조회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462389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/>
              <a:t>물품구매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797454"/>
            <a:ext cx="307777" cy="39767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계약일자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발주기관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계약금액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596303" y="2782065"/>
            <a:ext cx="472886" cy="39767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제</a:t>
            </a:r>
            <a:r>
              <a:rPr lang="en-US" altLang="ko-KR" sz="600" dirty="0">
                <a:latin typeface="+mn-ea"/>
              </a:rPr>
              <a:t>8385</a:t>
            </a:r>
            <a:r>
              <a:rPr lang="ko-KR" altLang="en-US" sz="600" dirty="0">
                <a:latin typeface="+mn-ea"/>
              </a:rPr>
              <a:t>부대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11,616,000 </a:t>
            </a:r>
            <a:r>
              <a:rPr lang="ko-KR" altLang="en-US" sz="600" dirty="0">
                <a:latin typeface="+mn-ea"/>
              </a:rPr>
              <a:t>원</a:t>
            </a:r>
            <a:endParaRPr lang="en-US" altLang="ko-KR" sz="600" dirty="0">
              <a:latin typeface="+mn-ea"/>
            </a:endParaRPr>
          </a:p>
        </p:txBody>
      </p:sp>
      <p:sp>
        <p:nvSpPr>
          <p:cNvPr id="67" name="모서리가 둥근 직사각형 66"/>
          <p:cNvSpPr/>
          <p:nvPr/>
        </p:nvSpPr>
        <p:spPr>
          <a:xfrm>
            <a:off x="781461" y="227805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68" name="모서리가 둥근 직사각형 67"/>
          <p:cNvSpPr/>
          <p:nvPr/>
        </p:nvSpPr>
        <p:spPr>
          <a:xfrm>
            <a:off x="1075655" y="2278058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66319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00442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696944"/>
            <a:ext cx="4522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공지사항</a:t>
            </a:r>
          </a:p>
        </p:txBody>
      </p:sp>
      <p:sp>
        <p:nvSpPr>
          <p:cNvPr id="129" name="타원 128"/>
          <p:cNvSpPr/>
          <p:nvPr/>
        </p:nvSpPr>
        <p:spPr>
          <a:xfrm>
            <a:off x="783686" y="3728289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810275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35884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358842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149612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1852104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1852104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7" name="타원 276"/>
          <p:cNvSpPr/>
          <p:nvPr/>
        </p:nvSpPr>
        <p:spPr>
          <a:xfrm>
            <a:off x="6596790" y="515498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5272060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30551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7" name="모서리가 둥근 직사각형 336"/>
          <p:cNvSpPr/>
          <p:nvPr/>
        </p:nvSpPr>
        <p:spPr>
          <a:xfrm>
            <a:off x="781461" y="1944348"/>
            <a:ext cx="243478" cy="119400"/>
          </a:xfrm>
          <a:prstGeom prst="roundRect">
            <a:avLst>
              <a:gd name="adj" fmla="val 23409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>
                <a:solidFill>
                  <a:srgbClr val="FF0000"/>
                </a:solidFill>
              </a:rPr>
              <a:t>중요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33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1082843" y="1950187"/>
            <a:ext cx="220200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>
                <a:solidFill>
                  <a:prstClr val="black"/>
                </a:solidFill>
              </a:rPr>
              <a:t>대금 신청</a:t>
            </a:r>
            <a:r>
              <a:rPr lang="en-US" altLang="ko-KR" sz="700" dirty="0">
                <a:solidFill>
                  <a:prstClr val="black"/>
                </a:solidFill>
              </a:rPr>
              <a:t>, </a:t>
            </a:r>
            <a:r>
              <a:rPr lang="ko-KR" altLang="en-US" sz="700" dirty="0">
                <a:solidFill>
                  <a:prstClr val="black"/>
                </a:solidFill>
              </a:rPr>
              <a:t>청구는 </a:t>
            </a:r>
            <a:r>
              <a:rPr lang="en-US" altLang="ko-KR" sz="700" dirty="0">
                <a:solidFill>
                  <a:prstClr val="black"/>
                </a:solidFill>
              </a:rPr>
              <a:t>PC </a:t>
            </a:r>
            <a:r>
              <a:rPr lang="ko-KR" altLang="en-US" sz="700" dirty="0">
                <a:solidFill>
                  <a:prstClr val="black"/>
                </a:solidFill>
              </a:rPr>
              <a:t>버전에서 가능합니다</a:t>
            </a:r>
            <a:r>
              <a:rPr lang="en-US" altLang="ko-KR" sz="700" dirty="0">
                <a:solidFill>
                  <a:prstClr val="black"/>
                </a:solidFill>
              </a:rPr>
              <a:t>.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cxnSp>
        <p:nvCxnSpPr>
          <p:cNvPr id="340" name="직선 연결선 33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5091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6" name="그룹 5"/>
          <p:cNvGrpSpPr/>
          <p:nvPr/>
        </p:nvGrpSpPr>
        <p:grpSpPr>
          <a:xfrm>
            <a:off x="3836701" y="1925276"/>
            <a:ext cx="2630093" cy="1975134"/>
            <a:chOff x="3836701" y="2575831"/>
            <a:chExt cx="2630093" cy="1975134"/>
          </a:xfrm>
        </p:grpSpPr>
        <p:sp>
          <p:nvSpPr>
            <p:cNvPr id="252" name="TextBox 25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7672" y="2575831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대금신청대상</a:t>
              </a:r>
            </a:p>
          </p:txBody>
        </p:sp>
        <p:sp>
          <p:nvSpPr>
            <p:cNvPr id="253" name="직사각형 252"/>
            <p:cNvSpPr/>
            <p:nvPr/>
          </p:nvSpPr>
          <p:spPr>
            <a:xfrm>
              <a:off x="3838794" y="2827415"/>
              <a:ext cx="792000" cy="170046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55" name="직선 연결선 2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6701" y="282741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5858" y="2827416"/>
              <a:ext cx="670770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통지번호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조서발행번호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합격일자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납품일자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예산구분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>
                  <a:latin typeface="+mn-ea"/>
                </a:rPr>
                <a:t>납품</a:t>
              </a:r>
              <a:r>
                <a:rPr lang="en-US" altLang="ko-KR" sz="700" dirty="0">
                  <a:latin typeface="+mn-ea"/>
                </a:rPr>
                <a:t>)</a:t>
              </a:r>
              <a:r>
                <a:rPr lang="ko-KR" altLang="en-US" sz="700" dirty="0">
                  <a:latin typeface="+mn-ea"/>
                </a:rPr>
                <a:t>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감액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지체상금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261" name="TextBox 2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2706" y="2827416"/>
              <a:ext cx="1775839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20257135021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00 00 0000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2026-01-01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2026-12~31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262" name="직선 연결선 2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0585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3" name="직선 연결선 2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2722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4" name="직선 연결선 2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4859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5" name="직선 연결선 2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6996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6" name="직선 연결선 2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9133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8" name="직선 연결선 2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12705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59" name="그룹 158"/>
            <p:cNvGrpSpPr/>
            <p:nvPr/>
          </p:nvGrpSpPr>
          <p:grpSpPr>
            <a:xfrm flipV="1">
              <a:off x="6259759" y="2635184"/>
              <a:ext cx="94010" cy="47005"/>
              <a:chOff x="6812560" y="3297172"/>
              <a:chExt cx="94010" cy="47005"/>
            </a:xfrm>
          </p:grpSpPr>
          <p:cxnSp>
            <p:nvCxnSpPr>
              <p:cNvPr id="160" name="직선 연결선 15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72" name="직선 연결선 17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31417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3" name="직선 연결선 17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52787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8" name="그룹 7"/>
          <p:cNvGrpSpPr/>
          <p:nvPr/>
        </p:nvGrpSpPr>
        <p:grpSpPr>
          <a:xfrm>
            <a:off x="720490" y="4465173"/>
            <a:ext cx="2630093" cy="1384703"/>
            <a:chOff x="720490" y="4465173"/>
            <a:chExt cx="2630093" cy="1384703"/>
          </a:xfrm>
        </p:grpSpPr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4465173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07" name="그룹 106"/>
            <p:cNvGrpSpPr/>
            <p:nvPr/>
          </p:nvGrpSpPr>
          <p:grpSpPr>
            <a:xfrm flipV="1">
              <a:off x="3143548" y="4578504"/>
              <a:ext cx="94010" cy="47005"/>
              <a:chOff x="6812560" y="3297172"/>
              <a:chExt cx="94010" cy="47005"/>
            </a:xfrm>
          </p:grpSpPr>
          <p:cxnSp>
            <p:nvCxnSpPr>
              <p:cNvPr id="108" name="직선 연결선 10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" name="직선 연결선 10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" name="직사각형 15"/>
            <p:cNvSpPr/>
            <p:nvPr/>
          </p:nvSpPr>
          <p:spPr>
            <a:xfrm>
              <a:off x="722583" y="4772658"/>
              <a:ext cx="792000" cy="107721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5" name="직선 연결선 10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77265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772658"/>
              <a:ext cx="670770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대금신청번호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772658"/>
              <a:ext cx="1784088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 0000 00 - 01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배추김치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2026-01-30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0000 0000</a:t>
              </a:r>
            </a:p>
          </p:txBody>
        </p:sp>
        <p:cxnSp>
          <p:nvCxnSpPr>
            <p:cNvPr id="115" name="직선 연결선 11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0037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6" name="직선 연결선 11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2174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7" name="직선 연결선 11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43117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0" name="직선 연결선 16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6260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8" name="직선 연결선 14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84081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75" name="TextBox 174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156" name="모서리가 둥근 직사각형 155"/>
          <p:cNvSpPr/>
          <p:nvPr/>
        </p:nvSpPr>
        <p:spPr>
          <a:xfrm>
            <a:off x="1522790" y="2278058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endParaRPr lang="ko-KR" altLang="en-US" sz="600" dirty="0"/>
          </a:p>
        </p:txBody>
      </p:sp>
      <p:grpSp>
        <p:nvGrpSpPr>
          <p:cNvPr id="5" name="그룹 4"/>
          <p:cNvGrpSpPr/>
          <p:nvPr/>
        </p:nvGrpSpPr>
        <p:grpSpPr>
          <a:xfrm>
            <a:off x="764169" y="4142235"/>
            <a:ext cx="2210710" cy="107722"/>
            <a:chOff x="764169" y="4142235"/>
            <a:chExt cx="2210710" cy="107722"/>
          </a:xfrm>
        </p:grpSpPr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4169" y="4142235"/>
              <a:ext cx="3597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b="1" dirty="0" err="1">
                  <a:latin typeface="+mn-ea"/>
                </a:rPr>
                <a:t>계약정보</a:t>
              </a:r>
              <a:endParaRPr lang="ko-KR" altLang="en-US" sz="700" b="1" dirty="0">
                <a:latin typeface="+mn-ea"/>
              </a:endParaRP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179988" y="4142235"/>
              <a:ext cx="7432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>
                  <a:latin typeface="+mn-ea"/>
                </a:rPr>
                <a:t>대금신청업체 정보</a:t>
              </a:r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979307" y="4142235"/>
              <a:ext cx="57536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err="1">
                  <a:latin typeface="+mn-ea"/>
                </a:rPr>
                <a:t>대금신청</a:t>
              </a:r>
              <a:r>
                <a:rPr lang="ko-KR" altLang="en-US" sz="700" dirty="0">
                  <a:latin typeface="+mn-ea"/>
                </a:rPr>
                <a:t> 금액</a:t>
              </a:r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610711" y="4142235"/>
              <a:ext cx="36416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>
                  <a:latin typeface="+mn-ea"/>
                </a:rPr>
                <a:t>첨부파일</a:t>
              </a:r>
            </a:p>
          </p:txBody>
        </p:sp>
      </p:grpSp>
      <p:grpSp>
        <p:nvGrpSpPr>
          <p:cNvPr id="174" name="그룹 173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5113316" y="5274274"/>
            <a:ext cx="76863" cy="292489"/>
            <a:chOff x="3750067" y="4683795"/>
            <a:chExt cx="76863" cy="292489"/>
          </a:xfrm>
        </p:grpSpPr>
        <p:sp>
          <p:nvSpPr>
            <p:cNvPr id="176" name="타원 175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77" name="타원 176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78" name="타원 177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150" name="그룹 149"/>
          <p:cNvGrpSpPr/>
          <p:nvPr/>
        </p:nvGrpSpPr>
        <p:grpSpPr>
          <a:xfrm>
            <a:off x="3869962" y="1636283"/>
            <a:ext cx="2210710" cy="107722"/>
            <a:chOff x="764169" y="4142235"/>
            <a:chExt cx="2210710" cy="107722"/>
          </a:xfrm>
        </p:grpSpPr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4169" y="4142235"/>
              <a:ext cx="3597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b="1" dirty="0" err="1">
                  <a:latin typeface="+mn-ea"/>
                </a:rPr>
                <a:t>계약정보</a:t>
              </a:r>
              <a:endParaRPr lang="ko-KR" altLang="en-US" sz="700" b="1" dirty="0">
                <a:latin typeface="+mn-ea"/>
              </a:endParaRP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179988" y="4142235"/>
              <a:ext cx="7432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>
                  <a:latin typeface="+mn-ea"/>
                </a:rPr>
                <a:t>대금신청업체 정보</a:t>
              </a: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979307" y="4142235"/>
              <a:ext cx="57536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err="1">
                  <a:latin typeface="+mn-ea"/>
                </a:rPr>
                <a:t>대금신청</a:t>
              </a:r>
              <a:r>
                <a:rPr lang="ko-KR" altLang="en-US" sz="700" dirty="0">
                  <a:latin typeface="+mn-ea"/>
                </a:rPr>
                <a:t> 금액</a:t>
              </a: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610711" y="4142235"/>
              <a:ext cx="36416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>
                  <a:latin typeface="+mn-ea"/>
                </a:rPr>
                <a:t>첨부파일</a:t>
              </a:r>
            </a:p>
          </p:txBody>
        </p:sp>
      </p:grpSp>
      <p:grpSp>
        <p:nvGrpSpPr>
          <p:cNvPr id="209" name="그룹 208"/>
          <p:cNvGrpSpPr/>
          <p:nvPr/>
        </p:nvGrpSpPr>
        <p:grpSpPr>
          <a:xfrm>
            <a:off x="6027618" y="1597374"/>
            <a:ext cx="422853" cy="187961"/>
            <a:chOff x="3641308" y="2234886"/>
            <a:chExt cx="422853" cy="187961"/>
          </a:xfrm>
        </p:grpSpPr>
        <p:sp>
          <p:nvSpPr>
            <p:cNvPr id="210" name="타원 209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1" name="그룹 210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216" name="직선 연결선 21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7" name="직선 연결선 21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2" name="타원 211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3" name="그룹 212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214" name="직선 연결선 21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직선 연결선 21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" name="그룹 6"/>
          <p:cNvGrpSpPr/>
          <p:nvPr/>
        </p:nvGrpSpPr>
        <p:grpSpPr>
          <a:xfrm>
            <a:off x="2924086" y="4104112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55" name="그룹 154"/>
          <p:cNvGrpSpPr/>
          <p:nvPr/>
        </p:nvGrpSpPr>
        <p:grpSpPr>
          <a:xfrm>
            <a:off x="747925" y="3401909"/>
            <a:ext cx="2599014" cy="187961"/>
            <a:chOff x="747925" y="3393200"/>
            <a:chExt cx="2599014" cy="187961"/>
          </a:xfrm>
        </p:grpSpPr>
        <p:grpSp>
          <p:nvGrpSpPr>
            <p:cNvPr id="157" name="그룹 156"/>
            <p:cNvGrpSpPr/>
            <p:nvPr/>
          </p:nvGrpSpPr>
          <p:grpSpPr>
            <a:xfrm rot="16200000">
              <a:off x="1250697" y="3463679"/>
              <a:ext cx="94010" cy="47005"/>
              <a:chOff x="6812560" y="3297172"/>
              <a:chExt cx="94010" cy="47005"/>
            </a:xfrm>
          </p:grpSpPr>
          <p:cxnSp>
            <p:nvCxnSpPr>
              <p:cNvPr id="225" name="직선 연결선 22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6" name="직선 연결선 22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604170" y="3433319"/>
              <a:ext cx="40086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계약</a:t>
              </a:r>
            </a:p>
          </p:txBody>
        </p:sp>
        <p:sp>
          <p:nvSpPr>
            <p:cNvPr id="162" name="타원 161"/>
            <p:cNvSpPr/>
            <p:nvPr/>
          </p:nvSpPr>
          <p:spPr>
            <a:xfrm>
              <a:off x="1404035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459092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3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67" name="그룹 166"/>
            <p:cNvGrpSpPr/>
            <p:nvPr/>
          </p:nvGrpSpPr>
          <p:grpSpPr>
            <a:xfrm rot="16200000">
              <a:off x="1906808" y="3463679"/>
              <a:ext cx="94010" cy="47005"/>
              <a:chOff x="6812560" y="3297172"/>
              <a:chExt cx="94010" cy="47005"/>
            </a:xfrm>
          </p:grpSpPr>
          <p:cxnSp>
            <p:nvCxnSpPr>
              <p:cNvPr id="223" name="직선 연결선 222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4" name="직선 연결선 223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68" name="그룹 167"/>
            <p:cNvGrpSpPr/>
            <p:nvPr/>
          </p:nvGrpSpPr>
          <p:grpSpPr>
            <a:xfrm rot="16200000">
              <a:off x="2562920" y="3463679"/>
              <a:ext cx="94010" cy="47005"/>
              <a:chOff x="6812560" y="3297172"/>
              <a:chExt cx="94010" cy="47005"/>
            </a:xfrm>
          </p:grpSpPr>
          <p:cxnSp>
            <p:nvCxnSpPr>
              <p:cNvPr id="221" name="직선 연결선 22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2" name="직선 연결선 221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9" name="타원 168"/>
            <p:cNvSpPr/>
            <p:nvPr/>
          </p:nvSpPr>
          <p:spPr>
            <a:xfrm>
              <a:off x="747925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2982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2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51350" y="3433319"/>
              <a:ext cx="39757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입찰</a:t>
              </a:r>
            </a:p>
          </p:txBody>
        </p:sp>
        <p:sp>
          <p:nvSpPr>
            <p:cNvPr id="180" name="타원 179"/>
            <p:cNvSpPr/>
            <p:nvPr/>
          </p:nvSpPr>
          <p:spPr>
            <a:xfrm>
              <a:off x="2058749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113806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4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263899" y="343331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이행</a:t>
              </a:r>
            </a:p>
          </p:txBody>
        </p:sp>
        <p:sp>
          <p:nvSpPr>
            <p:cNvPr id="187" name="타원 186"/>
            <p:cNvSpPr/>
            <p:nvPr/>
          </p:nvSpPr>
          <p:spPr>
            <a:xfrm>
              <a:off x="2714860" y="3393200"/>
              <a:ext cx="187961" cy="187961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769917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bg1"/>
                  </a:solidFill>
                  <a:latin typeface="+mn-ea"/>
                </a:rPr>
                <a:t>5</a:t>
              </a:r>
              <a:endParaRPr lang="ko-KR" altLang="en-US" sz="7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20010" y="343331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대금</a:t>
              </a:r>
              <a:r>
                <a:rPr lang="en-US" altLang="ko-KR" sz="700" dirty="0">
                  <a:latin typeface="+mn-ea"/>
                </a:rPr>
                <a:t>/</a:t>
              </a:r>
              <a:r>
                <a:rPr lang="ko-KR" altLang="en-US" sz="700" dirty="0">
                  <a:latin typeface="+mn-ea"/>
                </a:rPr>
                <a:t>사후</a:t>
              </a:r>
            </a:p>
          </p:txBody>
        </p:sp>
        <p:grpSp>
          <p:nvGrpSpPr>
            <p:cNvPr id="206" name="그룹 205"/>
            <p:cNvGrpSpPr/>
            <p:nvPr/>
          </p:nvGrpSpPr>
          <p:grpSpPr>
            <a:xfrm rot="5400000">
              <a:off x="3158978" y="3393200"/>
              <a:ext cx="187961" cy="187961"/>
              <a:chOff x="3876200" y="2234886"/>
              <a:chExt cx="187961" cy="187961"/>
            </a:xfrm>
          </p:grpSpPr>
          <p:sp>
            <p:nvSpPr>
              <p:cNvPr id="207" name="타원 206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18" name="그룹 217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219" name="직선 연결선 218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직선 연결선 219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83" name="타원 18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867770" y="519730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sp>
        <p:nvSpPr>
          <p:cNvPr id="184" name="타원 18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14618" y="220237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86" name="타원 18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12057" y="388431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89" name="타원 18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12057" y="426206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90" name="타원 18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12057" y="465186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94" name="타원 19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37073" y="238888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1-1</a:t>
            </a:r>
            <a:endParaRPr lang="ko-KR" altLang="en-US" sz="600" b="1" dirty="0"/>
          </a:p>
        </p:txBody>
      </p:sp>
      <p:sp>
        <p:nvSpPr>
          <p:cNvPr id="195" name="타원 19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799111" y="253568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1-2</a:t>
            </a:r>
            <a:endParaRPr lang="ko-KR" altLang="en-US" sz="600" b="1" dirty="0"/>
          </a:p>
        </p:txBody>
      </p:sp>
      <p:sp>
        <p:nvSpPr>
          <p:cNvPr id="196" name="타원 19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36599" y="275612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1-3</a:t>
            </a:r>
            <a:endParaRPr lang="ko-KR" altLang="en-US" sz="600" b="1" dirty="0"/>
          </a:p>
        </p:txBody>
      </p:sp>
      <p:sp>
        <p:nvSpPr>
          <p:cNvPr id="197" name="텍스트 개체 틀 2"/>
          <p:cNvSpPr txBox="1">
            <a:spLocks/>
          </p:cNvSpPr>
          <p:nvPr/>
        </p:nvSpPr>
        <p:spPr>
          <a:xfrm>
            <a:off x="7068896" y="1475995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 algn="l" defTabSz="914400" rtl="0" eaLnBrk="1" latinLnBrk="1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타이틀 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1-1] </a:t>
            </a:r>
            <a:r>
              <a:rPr lang="ko-KR" altLang="en-US" dirty="0" smtClean="0"/>
              <a:t>레이블이 화면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화면 넘치는 경우 드래그하여 확인 가능 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스와이프기능</a:t>
            </a:r>
            <a:r>
              <a:rPr lang="ko-KR" altLang="en-US" dirty="0" smtClean="0"/>
              <a:t> 반영 필요</a:t>
            </a:r>
            <a:r>
              <a:rPr lang="en-US" altLang="ko-KR" dirty="0" smtClean="0"/>
              <a:t>)</a:t>
            </a:r>
            <a:br>
              <a:rPr lang="en-US" altLang="ko-KR" dirty="0" smtClean="0"/>
            </a:br>
            <a:r>
              <a:rPr lang="en-US" altLang="ko-KR" dirty="0" smtClean="0"/>
              <a:t>1-2] </a:t>
            </a:r>
            <a:r>
              <a:rPr lang="ko-KR" altLang="en-US" dirty="0" smtClean="0"/>
              <a:t>문서 정보 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판단번호</a:t>
            </a:r>
            <a:r>
              <a:rPr lang="ko-KR" altLang="en-US" dirty="0" smtClean="0"/>
              <a:t> </a:t>
            </a:r>
            <a:r>
              <a:rPr lang="en-US" altLang="ko-KR" dirty="0" smtClean="0"/>
              <a:t>,  </a:t>
            </a:r>
            <a:r>
              <a:rPr lang="ko-KR" altLang="en-US" dirty="0" err="1" smtClean="0"/>
              <a:t>계약번호</a:t>
            </a:r>
            <a:r>
              <a:rPr lang="ko-KR" altLang="en-US" dirty="0" smtClean="0"/>
              <a:t> 노출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판단번호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전체노출</a:t>
            </a:r>
            <a:r>
              <a:rPr lang="ko-KR" altLang="en-US" dirty="0" smtClean="0"/>
              <a:t> </a:t>
            </a:r>
            <a:r>
              <a:rPr lang="en-US" altLang="ko-KR" dirty="0" smtClean="0"/>
              <a:t>/ </a:t>
            </a:r>
            <a:r>
              <a:rPr lang="ko-KR" altLang="en-US" dirty="0" err="1" smtClean="0"/>
              <a:t>계약번호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노출시</a:t>
            </a:r>
            <a:r>
              <a:rPr lang="ko-KR" altLang="en-US" dirty="0" smtClean="0"/>
              <a:t> 해당 라인을 넘어가면 </a:t>
            </a:r>
            <a:r>
              <a:rPr lang="en-US" altLang="ko-KR" dirty="0" smtClean="0"/>
              <a:t>(…) </a:t>
            </a:r>
            <a:r>
              <a:rPr lang="ko-KR" altLang="en-US" dirty="0" err="1" smtClean="0"/>
              <a:t>말줄임</a:t>
            </a:r>
            <a:r>
              <a:rPr lang="ko-KR" altLang="en-US" dirty="0" smtClean="0"/>
              <a:t>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1-3] </a:t>
            </a:r>
            <a:r>
              <a:rPr lang="ko-KR" altLang="en-US" dirty="0" smtClean="0"/>
              <a:t>문서 제목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제목은 </a:t>
            </a:r>
            <a:r>
              <a:rPr lang="en-US" altLang="ko-KR" dirty="0" smtClean="0"/>
              <a:t>2</a:t>
            </a:r>
            <a:r>
              <a:rPr lang="ko-KR" altLang="en-US" dirty="0" smtClean="0"/>
              <a:t>줄 까지 노출 이후</a:t>
            </a:r>
            <a:r>
              <a:rPr lang="en-US" altLang="ko-KR" dirty="0" smtClean="0"/>
              <a:t>(…) </a:t>
            </a:r>
            <a:r>
              <a:rPr lang="ko-KR" altLang="en-US" dirty="0" err="1" smtClean="0"/>
              <a:t>말줄임</a:t>
            </a:r>
            <a:r>
              <a:rPr lang="ko-KR" altLang="en-US" dirty="0" smtClean="0"/>
              <a:t>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업무도움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기본값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접힘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클릭시</a:t>
            </a:r>
            <a:r>
              <a:rPr lang="ko-KR" altLang="en-US" dirty="0" smtClean="0"/>
              <a:t> 확장하여 정보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</a:t>
            </a:r>
            <a:r>
              <a:rPr lang="ko-KR" altLang="en-US" dirty="0" err="1" smtClean="0"/>
              <a:t>업무도움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&gt; </a:t>
            </a:r>
            <a:r>
              <a:rPr lang="ko-KR" altLang="en-US" dirty="0" smtClean="0"/>
              <a:t>내역이 있는 경우 만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탭 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신청정보</a:t>
            </a:r>
            <a:r>
              <a:rPr lang="ko-KR" altLang="en-US" dirty="0" smtClean="0"/>
              <a:t> </a:t>
            </a:r>
            <a:r>
              <a:rPr lang="en-US" altLang="ko-KR" dirty="0" smtClean="0"/>
              <a:t>Tab</a:t>
            </a:r>
            <a:r>
              <a:rPr lang="ko-KR" altLang="en-US" dirty="0" smtClean="0"/>
              <a:t>은 진입 시 고정 노출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탭 내용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err="1" smtClean="0"/>
              <a:t>계약정보</a:t>
            </a:r>
            <a:r>
              <a:rPr lang="en-US" altLang="ko-KR" dirty="0" smtClean="0"/>
              <a:t>, </a:t>
            </a:r>
            <a:r>
              <a:rPr lang="ko-KR" altLang="en-US" dirty="0" smtClean="0"/>
              <a:t>대금신청업체정보</a:t>
            </a:r>
            <a:r>
              <a:rPr lang="en-US" altLang="ko-KR" dirty="0" smtClean="0"/>
              <a:t>, </a:t>
            </a:r>
            <a:r>
              <a:rPr lang="ko-KR" altLang="en-US" dirty="0" smtClean="0"/>
              <a:t>대금신청금액</a:t>
            </a:r>
            <a:r>
              <a:rPr lang="en-US" altLang="ko-KR" dirty="0" smtClean="0"/>
              <a:t>, </a:t>
            </a:r>
            <a:r>
              <a:rPr lang="ko-KR" altLang="en-US" dirty="0" smtClean="0"/>
              <a:t>첨부파일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&gt; </a:t>
            </a:r>
            <a:r>
              <a:rPr lang="ko-KR" altLang="en-US" dirty="0" smtClean="0"/>
              <a:t>로그인 필요 서비스 안내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화면을 </a:t>
            </a:r>
            <a:r>
              <a:rPr lang="ko-KR" altLang="en-US" dirty="0" err="1" smtClean="0"/>
              <a:t>넘치는경우</a:t>
            </a:r>
            <a:r>
              <a:rPr lang="ko-KR" altLang="en-US" dirty="0" smtClean="0"/>
              <a:t> 드래그하여 확인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스와이프기능</a:t>
            </a:r>
            <a:r>
              <a:rPr lang="ko-KR" altLang="en-US" dirty="0" smtClean="0"/>
              <a:t> 반영 필요</a:t>
            </a:r>
            <a:r>
              <a:rPr lang="en-US" altLang="ko-KR" dirty="0" smtClean="0"/>
              <a:t>)</a:t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세금계산서인 경우</a:t>
            </a:r>
            <a:r>
              <a:rPr lang="en-US" altLang="ko-KR" dirty="0" smtClean="0"/>
              <a:t>, </a:t>
            </a:r>
            <a:r>
              <a:rPr lang="ko-KR" altLang="en-US" dirty="0" smtClean="0"/>
              <a:t>화면에서 </a:t>
            </a:r>
            <a:r>
              <a:rPr lang="en-US" altLang="ko-KR" dirty="0" smtClean="0"/>
              <a:t>“</a:t>
            </a:r>
            <a:r>
              <a:rPr lang="ko-KR" altLang="en-US" dirty="0" smtClean="0"/>
              <a:t>세금계산서번호 선택 을 체크한 경우 노출</a:t>
            </a:r>
            <a:r>
              <a:rPr lang="en-US" altLang="ko-KR" dirty="0" smtClean="0"/>
              <a:t>＂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계약정보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각 공고에 맞춰 폼 변화에 유의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상세내용에</a:t>
            </a:r>
            <a:r>
              <a:rPr lang="ko-KR" altLang="en-US" dirty="0" smtClean="0"/>
              <a:t> 포함된 정보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상단 </a:t>
            </a:r>
            <a:r>
              <a:rPr lang="ko-KR" altLang="en-US" dirty="0" smtClean="0"/>
              <a:t>이동 버튼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현 상세내용 탭에서는 </a:t>
            </a:r>
            <a:r>
              <a:rPr lang="en-US" altLang="ko-KR" dirty="0" smtClean="0"/>
              <a:t>(+)</a:t>
            </a:r>
            <a:r>
              <a:rPr lang="ko-KR" altLang="en-US" dirty="0" smtClean="0"/>
              <a:t>더하기 버튼 없음</a:t>
            </a:r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3191287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계약정보</a:t>
            </a:r>
            <a:r>
              <a:rPr lang="ko-KR" altLang="en-US" dirty="0"/>
              <a:t> 데이터 영역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대금신청대상목록 데이터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46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 smtClean="0">
                <a:latin typeface="+mn-ea"/>
              </a:rPr>
              <a:t>계약정보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MUI-WM-01-T09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00336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grpSp>
        <p:nvGrpSpPr>
          <p:cNvPr id="133" name="그룹 132"/>
          <p:cNvGrpSpPr/>
          <p:nvPr/>
        </p:nvGrpSpPr>
        <p:grpSpPr>
          <a:xfrm>
            <a:off x="716366" y="1955371"/>
            <a:ext cx="2630093" cy="1358943"/>
            <a:chOff x="720490" y="4465173"/>
            <a:chExt cx="2630093" cy="1358943"/>
          </a:xfrm>
        </p:grpSpPr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4465173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35" name="그룹 134"/>
            <p:cNvGrpSpPr/>
            <p:nvPr/>
          </p:nvGrpSpPr>
          <p:grpSpPr>
            <a:xfrm flipV="1">
              <a:off x="3143548" y="4578504"/>
              <a:ext cx="94010" cy="47005"/>
              <a:chOff x="6812560" y="3297172"/>
              <a:chExt cx="94010" cy="47005"/>
            </a:xfrm>
          </p:grpSpPr>
          <p:cxnSp>
            <p:nvCxnSpPr>
              <p:cNvPr id="147" name="직선 연결선 14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8" name="직선 연결선 14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36" name="직사각형 135"/>
            <p:cNvSpPr/>
            <p:nvPr/>
          </p:nvSpPr>
          <p:spPr>
            <a:xfrm>
              <a:off x="722583" y="4772658"/>
              <a:ext cx="792000" cy="10429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7" name="직선 연결선 13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77265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772658"/>
              <a:ext cx="670770" cy="104291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대금신청번호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772658"/>
              <a:ext cx="1784088" cy="104291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 0000 00 - 01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배추김치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2026-01-30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0000 0000</a:t>
              </a:r>
            </a:p>
          </p:txBody>
        </p:sp>
        <p:cxnSp>
          <p:nvCxnSpPr>
            <p:cNvPr id="141" name="직선 연결선 14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0037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2" name="직선 연결선 14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2174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43117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6260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8241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149" name="직선 연결선 14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39402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60" name="그룹 59"/>
          <p:cNvGrpSpPr/>
          <p:nvPr/>
        </p:nvGrpSpPr>
        <p:grpSpPr>
          <a:xfrm>
            <a:off x="710959" y="3473371"/>
            <a:ext cx="2630093" cy="1975134"/>
            <a:chOff x="3836701" y="2575831"/>
            <a:chExt cx="2630093" cy="1975134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7672" y="2575831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대금신청대상</a:t>
              </a:r>
            </a:p>
          </p:txBody>
        </p:sp>
        <p:sp>
          <p:nvSpPr>
            <p:cNvPr id="62" name="직사각형 61"/>
            <p:cNvSpPr/>
            <p:nvPr/>
          </p:nvSpPr>
          <p:spPr>
            <a:xfrm>
              <a:off x="3838794" y="2827415"/>
              <a:ext cx="792000" cy="170046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6701" y="282741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5858" y="2827416"/>
              <a:ext cx="670770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통지번호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조서발행번호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합격일자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납품일자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예산구분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감액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지체상금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2706" y="2827416"/>
              <a:ext cx="1775839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20257135021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00 00 0000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2026-01-01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2026-12~31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66" name="직선 연결선 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0585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2722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4859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9" name="직선 연결선 6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6996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0" name="직선 연결선 6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9133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1" name="직선 연결선 7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12705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72" name="그룹 71"/>
            <p:cNvGrpSpPr/>
            <p:nvPr/>
          </p:nvGrpSpPr>
          <p:grpSpPr>
            <a:xfrm flipV="1">
              <a:off x="6259759" y="2635184"/>
              <a:ext cx="94010" cy="47005"/>
              <a:chOff x="6812560" y="3297172"/>
              <a:chExt cx="94010" cy="47005"/>
            </a:xfrm>
          </p:grpSpPr>
          <p:cxnSp>
            <p:nvCxnSpPr>
              <p:cNvPr id="75" name="직선 연결선 7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직선 연결선 7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73" name="직선 연결선 7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31417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4" name="직선 연결선 7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52787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55" name="타원 15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52973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804154"/>
            <a:ext cx="76863" cy="292489"/>
            <a:chOff x="3750067" y="4683795"/>
            <a:chExt cx="76863" cy="292489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48" name="그룹 47"/>
          <p:cNvGrpSpPr/>
          <p:nvPr/>
        </p:nvGrpSpPr>
        <p:grpSpPr>
          <a:xfrm>
            <a:off x="678142" y="1496124"/>
            <a:ext cx="2712027" cy="355980"/>
            <a:chOff x="3820614" y="1496124"/>
            <a:chExt cx="2712027" cy="355980"/>
          </a:xfrm>
        </p:grpSpPr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0614" y="1496124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0" name="직선 연결선 4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8902" y="18521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8902" y="1852104"/>
              <a:ext cx="435210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53" name="그룹 52"/>
            <p:cNvGrpSpPr/>
            <p:nvPr/>
          </p:nvGrpSpPr>
          <p:grpSpPr>
            <a:xfrm>
              <a:off x="3894842" y="1636283"/>
              <a:ext cx="2210710" cy="107722"/>
              <a:chOff x="764169" y="4142235"/>
              <a:chExt cx="2210710" cy="107722"/>
            </a:xfrm>
          </p:grpSpPr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764169" y="4142235"/>
                <a:ext cx="359782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b="1" dirty="0" err="1">
                    <a:latin typeface="+mn-ea"/>
                  </a:rPr>
                  <a:t>계약정보</a:t>
                </a:r>
                <a:endParaRPr lang="ko-KR" altLang="en-US" sz="700" b="1" dirty="0">
                  <a:latin typeface="+mn-ea"/>
                </a:endParaRPr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1179988" y="4142235"/>
                <a:ext cx="743282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</a:rPr>
                  <a:t>대금신청업체 정보</a:t>
                </a:r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1979307" y="4142235"/>
                <a:ext cx="575368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 err="1">
                    <a:latin typeface="+mn-ea"/>
                  </a:rPr>
                  <a:t>대금신청</a:t>
                </a:r>
                <a:r>
                  <a:rPr lang="ko-KR" altLang="en-US" sz="700" dirty="0">
                    <a:latin typeface="+mn-ea"/>
                  </a:rPr>
                  <a:t> 금액</a:t>
                </a:r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610711" y="4142235"/>
                <a:ext cx="364168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</a:rPr>
                  <a:t>첨부파일</a:t>
                </a:r>
              </a:p>
            </p:txBody>
          </p:sp>
        </p:grpSp>
        <p:grpSp>
          <p:nvGrpSpPr>
            <p:cNvPr id="54" name="그룹 53"/>
            <p:cNvGrpSpPr/>
            <p:nvPr/>
          </p:nvGrpSpPr>
          <p:grpSpPr>
            <a:xfrm>
              <a:off x="6052498" y="1597374"/>
              <a:ext cx="422853" cy="187961"/>
              <a:chOff x="3641308" y="2234886"/>
              <a:chExt cx="422853" cy="187961"/>
            </a:xfrm>
          </p:grpSpPr>
          <p:sp>
            <p:nvSpPr>
              <p:cNvPr id="55" name="타원 54"/>
              <p:cNvSpPr/>
              <p:nvPr/>
            </p:nvSpPr>
            <p:spPr>
              <a:xfrm flipH="1">
                <a:off x="3641308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56" name="그룹 55"/>
              <p:cNvGrpSpPr/>
              <p:nvPr/>
            </p:nvGrpSpPr>
            <p:grpSpPr>
              <a:xfrm rot="5400000" flipH="1">
                <a:off x="3679895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82" name="직선 연결선 81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직선 연결선 82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7" name="타원 56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58" name="그룹 57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59" name="직선 연결선 58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직선 연결선 80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333306241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공급자정보</a:t>
            </a:r>
            <a:r>
              <a:rPr lang="ko-KR" altLang="en-US" dirty="0"/>
              <a:t>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47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Autofit/>
          </a:bodyPr>
          <a:lstStyle/>
          <a:p>
            <a:r>
              <a:rPr lang="ko-KR" altLang="en-US" dirty="0" err="1" smtClean="0">
                <a:latin typeface="+mn-ea"/>
              </a:rPr>
              <a:t>공급자정보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MUI-WM-01-T10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4" y="1937299"/>
            <a:ext cx="2456097" cy="215444"/>
            <a:chOff x="763157" y="1527996"/>
            <a:chExt cx="2456097" cy="215444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대금신청업체 정보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2229452"/>
            <a:ext cx="2630093" cy="1077218"/>
            <a:chOff x="3865118" y="2946204"/>
            <a:chExt cx="2630093" cy="1077218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4"/>
              <a:ext cx="792000" cy="10737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상호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 err="1">
                  <a:latin typeface="+mn-ea"/>
                </a:rPr>
                <a:t>업체명</a:t>
              </a:r>
              <a:r>
                <a:rPr lang="en-US" altLang="ko-KR" sz="700" dirty="0">
                  <a:latin typeface="+mn-ea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대표명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청구인성명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연락처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주소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010-1234-5678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서울특별시 종로구</a:t>
              </a:r>
              <a:r>
                <a:rPr lang="en-US" altLang="ko-KR" sz="700" dirty="0">
                  <a:latin typeface="+mn-ea"/>
                </a:rPr>
                <a:t>…</a:t>
              </a: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85946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40076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7" name="그룹 26"/>
          <p:cNvGrpSpPr/>
          <p:nvPr/>
        </p:nvGrpSpPr>
        <p:grpSpPr>
          <a:xfrm>
            <a:off x="678142" y="1496124"/>
            <a:ext cx="2712027" cy="355980"/>
            <a:chOff x="3820614" y="1496124"/>
            <a:chExt cx="2712027" cy="355980"/>
          </a:xfrm>
        </p:grpSpPr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0614" y="1496124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8902" y="18521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4297584" y="1852104"/>
              <a:ext cx="756359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31" name="그룹 30"/>
            <p:cNvGrpSpPr/>
            <p:nvPr/>
          </p:nvGrpSpPr>
          <p:grpSpPr>
            <a:xfrm>
              <a:off x="3894842" y="1636283"/>
              <a:ext cx="2210710" cy="107722"/>
              <a:chOff x="764169" y="4142235"/>
              <a:chExt cx="2210710" cy="107722"/>
            </a:xfrm>
          </p:grpSpPr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764169" y="4142235"/>
                <a:ext cx="359782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 err="1">
                    <a:latin typeface="+mn-ea"/>
                  </a:rPr>
                  <a:t>계약정보</a:t>
                </a:r>
                <a:endParaRPr lang="ko-KR" altLang="en-US" sz="700" dirty="0">
                  <a:latin typeface="+mn-ea"/>
                </a:endParaRP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1179988" y="4142235"/>
                <a:ext cx="743282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b="1" dirty="0">
                    <a:latin typeface="+mn-ea"/>
                  </a:rPr>
                  <a:t>대금신청업체 정보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1979307" y="4142235"/>
                <a:ext cx="575368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 err="1">
                    <a:latin typeface="+mn-ea"/>
                  </a:rPr>
                  <a:t>대금신청</a:t>
                </a:r>
                <a:r>
                  <a:rPr lang="ko-KR" altLang="en-US" sz="700" dirty="0">
                    <a:latin typeface="+mn-ea"/>
                  </a:rPr>
                  <a:t> 금액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610711" y="4142235"/>
                <a:ext cx="364168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</a:rPr>
                  <a:t>첨부파일</a:t>
                </a:r>
              </a:p>
            </p:txBody>
          </p:sp>
        </p:grpSp>
        <p:grpSp>
          <p:nvGrpSpPr>
            <p:cNvPr id="32" name="그룹 31"/>
            <p:cNvGrpSpPr/>
            <p:nvPr/>
          </p:nvGrpSpPr>
          <p:grpSpPr>
            <a:xfrm>
              <a:off x="6052498" y="1597374"/>
              <a:ext cx="422853" cy="187961"/>
              <a:chOff x="3641308" y="2234886"/>
              <a:chExt cx="422853" cy="187961"/>
            </a:xfrm>
          </p:grpSpPr>
          <p:sp>
            <p:nvSpPr>
              <p:cNvPr id="33" name="타원 32"/>
              <p:cNvSpPr/>
              <p:nvPr/>
            </p:nvSpPr>
            <p:spPr>
              <a:xfrm flipH="1">
                <a:off x="3641308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34" name="그룹 33"/>
              <p:cNvGrpSpPr/>
              <p:nvPr/>
            </p:nvGrpSpPr>
            <p:grpSpPr>
              <a:xfrm rot="5400000" flipH="1">
                <a:off x="3679895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39" name="직선 연결선 38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직선 연결선 39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5" name="타원 34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36" name="그룹 35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37" name="직선 연결선 36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직선 연결선 37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214580879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대금신청</a:t>
            </a:r>
            <a:r>
              <a:rPr lang="ko-KR" altLang="en-US" dirty="0"/>
              <a:t> 금액 데이터 </a:t>
            </a:r>
            <a:r>
              <a:rPr lang="ko-KR" altLang="en-US" dirty="0" smtClean="0"/>
              <a:t>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- 1-1] </a:t>
            </a:r>
            <a:r>
              <a:rPr lang="ko-KR" altLang="en-US" dirty="0" smtClean="0"/>
              <a:t>대금 </a:t>
            </a:r>
            <a:r>
              <a:rPr lang="ko-KR" altLang="en-US" dirty="0" err="1" smtClean="0"/>
              <a:t>신청시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지급구분별</a:t>
            </a:r>
            <a:r>
              <a:rPr lang="ko-KR" altLang="en-US" dirty="0" smtClean="0"/>
              <a:t> 항목 확인 필요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 smtClean="0"/>
              <a:t>- 1-2] </a:t>
            </a:r>
            <a:r>
              <a:rPr lang="ko-KR" altLang="en-US" dirty="0" err="1" smtClean="0"/>
              <a:t>세액여부별</a:t>
            </a:r>
            <a:r>
              <a:rPr lang="ko-KR" altLang="en-US" dirty="0" smtClean="0"/>
              <a:t> 항목 확인 필요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ko-KR" altLang="en-US" dirty="0" smtClean="0"/>
              <a:t>세액 여부</a:t>
            </a:r>
            <a:r>
              <a:rPr lang="en-US" altLang="ko-KR" dirty="0" smtClean="0"/>
              <a:t>) </a:t>
            </a:r>
            <a:r>
              <a:rPr lang="ko-KR" altLang="en-US" dirty="0" smtClean="0"/>
              <a:t>과세</a:t>
            </a:r>
            <a:r>
              <a:rPr lang="en-US" altLang="ko-KR" dirty="0" smtClean="0"/>
              <a:t>, </a:t>
            </a:r>
            <a:r>
              <a:rPr lang="ko-KR" altLang="en-US" dirty="0" smtClean="0"/>
              <a:t>면세</a:t>
            </a:r>
            <a:r>
              <a:rPr lang="en-US" altLang="ko-KR" dirty="0" smtClean="0"/>
              <a:t>, </a:t>
            </a:r>
            <a:r>
              <a:rPr lang="ko-KR" altLang="en-US" dirty="0" smtClean="0"/>
              <a:t>영세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 smtClean="0"/>
              <a:t>- 1-3] </a:t>
            </a:r>
            <a:r>
              <a:rPr lang="ko-KR" altLang="en-US" dirty="0" err="1" smtClean="0"/>
              <a:t>신고구분</a:t>
            </a:r>
            <a:r>
              <a:rPr lang="en-US" altLang="ko-KR" dirty="0"/>
              <a:t>: </a:t>
            </a:r>
            <a:r>
              <a:rPr lang="ko-KR" altLang="en-US" dirty="0"/>
              <a:t>확정</a:t>
            </a:r>
            <a:r>
              <a:rPr lang="en-US" altLang="ko-KR" dirty="0"/>
              <a:t>, </a:t>
            </a:r>
            <a:r>
              <a:rPr lang="ko-KR" altLang="en-US" dirty="0" smtClean="0"/>
              <a:t>예정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48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Autofit/>
          </a:bodyPr>
          <a:lstStyle/>
          <a:p>
            <a:r>
              <a:rPr lang="ko-KR" altLang="en-US" dirty="0">
                <a:latin typeface="+mn-ea"/>
              </a:rPr>
              <a:t>대금신청금액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MUI-WM-01-T11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4" y="1926559"/>
            <a:ext cx="2456097" cy="181140"/>
            <a:chOff x="763157" y="1527996"/>
            <a:chExt cx="2456097" cy="18114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대금신청</a:t>
              </a:r>
              <a:r>
                <a:rPr lang="ko-KR" altLang="en-US" sz="700" dirty="0">
                  <a:latin typeface="+mn-ea"/>
                </a:rPr>
                <a:t> 금액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2218712"/>
            <a:ext cx="2630093" cy="2586565"/>
            <a:chOff x="3865118" y="2946204"/>
            <a:chExt cx="2630093" cy="2586565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4"/>
              <a:ext cx="792000" cy="25853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4" y="2946204"/>
              <a:ext cx="715881" cy="25853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지급구분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세액여부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납품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>
                  <a:latin typeface="+mn-ea"/>
                </a:rPr>
                <a:t>선급</a:t>
              </a:r>
              <a:r>
                <a:rPr lang="en-US" altLang="ko-KR" sz="700" dirty="0">
                  <a:latin typeface="+mn-ea"/>
                </a:rPr>
                <a:t>)</a:t>
              </a:r>
              <a:r>
                <a:rPr lang="ko-KR" altLang="en-US" sz="700" dirty="0">
                  <a:latin typeface="+mn-ea"/>
                </a:rPr>
                <a:t>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공제금액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공제내역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실지급금액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신고구분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25853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선금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7448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68818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90189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10535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31906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53276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6160" y="1980239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506766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2" name="그룹 41"/>
          <p:cNvGrpSpPr/>
          <p:nvPr/>
        </p:nvGrpSpPr>
        <p:grpSpPr>
          <a:xfrm>
            <a:off x="1562371" y="2501943"/>
            <a:ext cx="580039" cy="107722"/>
            <a:chOff x="1746956" y="5895087"/>
            <a:chExt cx="580039" cy="107722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746956" y="5895087"/>
              <a:ext cx="179536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과세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326930" y="5895087"/>
              <a:ext cx="65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endParaRPr lang="ko-KR" altLang="en-US" sz="700" dirty="0">
                <a:latin typeface="+mn-ea"/>
              </a:endParaRPr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46326" y="4436791"/>
            <a:ext cx="179536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확정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8" name="그룹 47"/>
          <p:cNvGrpSpPr/>
          <p:nvPr/>
        </p:nvGrpSpPr>
        <p:grpSpPr>
          <a:xfrm>
            <a:off x="3923699" y="1926559"/>
            <a:ext cx="2456097" cy="181140"/>
            <a:chOff x="763157" y="1527996"/>
            <a:chExt cx="2456097" cy="181140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대금신청</a:t>
              </a:r>
              <a:r>
                <a:rPr lang="ko-KR" altLang="en-US" sz="700" dirty="0">
                  <a:latin typeface="+mn-ea"/>
                </a:rPr>
                <a:t> 금액</a:t>
              </a:r>
            </a:p>
          </p:txBody>
        </p:sp>
        <p:grpSp>
          <p:nvGrpSpPr>
            <p:cNvPr id="58" name="그룹 57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59" name="직선 연결선 5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" name="직선 연결선 5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1" name="그룹 60"/>
          <p:cNvGrpSpPr/>
          <p:nvPr/>
        </p:nvGrpSpPr>
        <p:grpSpPr>
          <a:xfrm>
            <a:off x="3836701" y="2218712"/>
            <a:ext cx="2630093" cy="2586565"/>
            <a:chOff x="3865118" y="2946204"/>
            <a:chExt cx="2630093" cy="2586565"/>
          </a:xfrm>
        </p:grpSpPr>
        <p:sp>
          <p:nvSpPr>
            <p:cNvPr id="62" name="직사각형 61"/>
            <p:cNvSpPr/>
            <p:nvPr/>
          </p:nvSpPr>
          <p:spPr>
            <a:xfrm>
              <a:off x="3867211" y="2946204"/>
              <a:ext cx="792000" cy="25853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4" y="2946204"/>
              <a:ext cx="715881" cy="25853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지급구분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세액여부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납품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>
                  <a:latin typeface="+mn-ea"/>
                </a:rPr>
                <a:t>선급</a:t>
              </a:r>
              <a:r>
                <a:rPr lang="en-US" altLang="ko-KR" sz="700" dirty="0">
                  <a:latin typeface="+mn-ea"/>
                </a:rPr>
                <a:t>)</a:t>
              </a:r>
              <a:r>
                <a:rPr lang="ko-KR" altLang="en-US" sz="700" dirty="0">
                  <a:latin typeface="+mn-ea"/>
                </a:rPr>
                <a:t>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공제금액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공제내역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실지급금액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신고구분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25853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선금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</p:txBody>
        </p:sp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9" name="직선 연결선 6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0" name="직선 연결선 6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1" name="직선 연결선 7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2" name="직선 연결선 7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3" name="직선 연결선 7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7448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4" name="직선 연결선 7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68818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5" name="직선 연결선 7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90189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10535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7" name="직선 연결선 7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31906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53276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506766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87755" y="2501943"/>
            <a:ext cx="179536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면세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82706" y="4436791"/>
            <a:ext cx="179536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확정</a:t>
            </a:r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384262" y="2203041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1-1</a:t>
            </a:r>
            <a:endParaRPr lang="ko-KR" altLang="en-US" sz="500" b="1" dirty="0"/>
          </a:p>
        </p:txBody>
      </p:sp>
      <p:sp>
        <p:nvSpPr>
          <p:cNvPr id="84" name="타원 8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386222" y="2478802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1-2</a:t>
            </a:r>
            <a:endParaRPr lang="ko-KR" altLang="en-US" sz="500" b="1" dirty="0"/>
          </a:p>
        </p:txBody>
      </p:sp>
      <p:sp>
        <p:nvSpPr>
          <p:cNvPr id="93" name="타원 9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384262" y="4417169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1-3</a:t>
            </a:r>
            <a:endParaRPr lang="ko-KR" altLang="en-US" sz="500" b="1" dirty="0"/>
          </a:p>
        </p:txBody>
      </p:sp>
      <p:sp>
        <p:nvSpPr>
          <p:cNvPr id="94" name="직사각형 93"/>
          <p:cNvSpPr/>
          <p:nvPr/>
        </p:nvSpPr>
        <p:spPr>
          <a:xfrm>
            <a:off x="7103286" y="6036456"/>
            <a:ext cx="2275404" cy="14501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500" smtClean="0"/>
              <a:t>화면수정</a:t>
            </a:r>
            <a:endParaRPr lang="ko-KR" altLang="en-US" sz="500" dirty="0"/>
          </a:p>
        </p:txBody>
      </p:sp>
      <p:grpSp>
        <p:nvGrpSpPr>
          <p:cNvPr id="3" name="그룹 2"/>
          <p:cNvGrpSpPr/>
          <p:nvPr/>
        </p:nvGrpSpPr>
        <p:grpSpPr>
          <a:xfrm>
            <a:off x="3820614" y="1496124"/>
            <a:ext cx="2712027" cy="355980"/>
            <a:chOff x="3820614" y="1496124"/>
            <a:chExt cx="2712027" cy="355980"/>
          </a:xfrm>
        </p:grpSpPr>
        <p:cxnSp>
          <p:nvCxnSpPr>
            <p:cNvPr id="79" name="직선 연결선 7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0614" y="1496124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8902" y="18521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3" name="직선 연결선 8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5057280" y="1852104"/>
              <a:ext cx="628068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86" name="그룹 85"/>
            <p:cNvGrpSpPr/>
            <p:nvPr/>
          </p:nvGrpSpPr>
          <p:grpSpPr>
            <a:xfrm>
              <a:off x="3894842" y="1636283"/>
              <a:ext cx="2210710" cy="107722"/>
              <a:chOff x="764169" y="4142235"/>
              <a:chExt cx="2210710" cy="107722"/>
            </a:xfrm>
          </p:grpSpPr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764169" y="4142235"/>
                <a:ext cx="359782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 err="1">
                    <a:latin typeface="+mn-ea"/>
                  </a:rPr>
                  <a:t>계약정보</a:t>
                </a:r>
                <a:endParaRPr lang="ko-KR" altLang="en-US" sz="700" dirty="0">
                  <a:latin typeface="+mn-ea"/>
                </a:endParaRPr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1179988" y="4142235"/>
                <a:ext cx="743282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</a:rPr>
                  <a:t>대금신청업체 정보</a:t>
                </a:r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1979307" y="4142235"/>
                <a:ext cx="575368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b="1" dirty="0" err="1">
                    <a:latin typeface="+mn-ea"/>
                  </a:rPr>
                  <a:t>대금신청</a:t>
                </a:r>
                <a:r>
                  <a:rPr lang="ko-KR" altLang="en-US" sz="700" b="1" dirty="0">
                    <a:latin typeface="+mn-ea"/>
                  </a:rPr>
                  <a:t> 금액</a:t>
                </a:r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610711" y="4142235"/>
                <a:ext cx="364168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</a:rPr>
                  <a:t>첨부파일</a:t>
                </a:r>
              </a:p>
            </p:txBody>
          </p:sp>
        </p:grpSp>
        <p:grpSp>
          <p:nvGrpSpPr>
            <p:cNvPr id="92" name="그룹 91"/>
            <p:cNvGrpSpPr/>
            <p:nvPr/>
          </p:nvGrpSpPr>
          <p:grpSpPr>
            <a:xfrm>
              <a:off x="6052498" y="1597374"/>
              <a:ext cx="422853" cy="187961"/>
              <a:chOff x="3641308" y="2234886"/>
              <a:chExt cx="422853" cy="187961"/>
            </a:xfrm>
          </p:grpSpPr>
          <p:sp>
            <p:nvSpPr>
              <p:cNvPr id="95" name="타원 94"/>
              <p:cNvSpPr/>
              <p:nvPr/>
            </p:nvSpPr>
            <p:spPr>
              <a:xfrm flipH="1">
                <a:off x="3641308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96" name="그룹 95"/>
              <p:cNvGrpSpPr/>
              <p:nvPr/>
            </p:nvGrpSpPr>
            <p:grpSpPr>
              <a:xfrm rot="5400000" flipH="1">
                <a:off x="3679895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101" name="직선 연결선 100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2" name="직선 연결선 101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7" name="타원 96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98" name="그룹 97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99" name="직선 연결선 98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직선 연결선 99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04" name="그룹 103"/>
          <p:cNvGrpSpPr/>
          <p:nvPr/>
        </p:nvGrpSpPr>
        <p:grpSpPr>
          <a:xfrm>
            <a:off x="678142" y="1496124"/>
            <a:ext cx="2712027" cy="355980"/>
            <a:chOff x="3820614" y="1496124"/>
            <a:chExt cx="2712027" cy="355980"/>
          </a:xfrm>
        </p:grpSpPr>
        <p:cxnSp>
          <p:nvCxnSpPr>
            <p:cNvPr id="106" name="직선 연결선 10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0614" y="1496124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7" name="직선 연결선 10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8902" y="18521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8" name="직선 연결선 10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5059176" y="1852104"/>
              <a:ext cx="673499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09" name="그룹 108"/>
            <p:cNvGrpSpPr/>
            <p:nvPr/>
          </p:nvGrpSpPr>
          <p:grpSpPr>
            <a:xfrm>
              <a:off x="3894842" y="1636283"/>
              <a:ext cx="2210710" cy="107722"/>
              <a:chOff x="764169" y="4142235"/>
              <a:chExt cx="2210710" cy="107722"/>
            </a:xfrm>
          </p:grpSpPr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764169" y="4142235"/>
                <a:ext cx="359782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 err="1">
                    <a:latin typeface="+mn-ea"/>
                  </a:rPr>
                  <a:t>계약정보</a:t>
                </a:r>
                <a:endParaRPr lang="ko-KR" altLang="en-US" sz="700" dirty="0">
                  <a:latin typeface="+mn-ea"/>
                </a:endParaRPr>
              </a:p>
            </p:txBody>
          </p: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1179988" y="4142235"/>
                <a:ext cx="743282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</a:rPr>
                  <a:t>대금신청업체 정보</a:t>
                </a:r>
              </a:p>
            </p:txBody>
          </p:sp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1979307" y="4142235"/>
                <a:ext cx="575368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b="1" dirty="0" err="1">
                    <a:latin typeface="+mn-ea"/>
                  </a:rPr>
                  <a:t>대금신청</a:t>
                </a:r>
                <a:r>
                  <a:rPr lang="ko-KR" altLang="en-US" sz="700" b="1" dirty="0">
                    <a:latin typeface="+mn-ea"/>
                  </a:rPr>
                  <a:t> 금액</a:t>
                </a:r>
              </a:p>
            </p:txBody>
          </p:sp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610711" y="4142235"/>
                <a:ext cx="364168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</a:rPr>
                  <a:t>첨부파일</a:t>
                </a:r>
              </a:p>
            </p:txBody>
          </p:sp>
        </p:grpSp>
        <p:grpSp>
          <p:nvGrpSpPr>
            <p:cNvPr id="110" name="그룹 109"/>
            <p:cNvGrpSpPr/>
            <p:nvPr/>
          </p:nvGrpSpPr>
          <p:grpSpPr>
            <a:xfrm>
              <a:off x="6052498" y="1597374"/>
              <a:ext cx="422853" cy="187961"/>
              <a:chOff x="3641308" y="2234886"/>
              <a:chExt cx="422853" cy="187961"/>
            </a:xfrm>
          </p:grpSpPr>
          <p:sp>
            <p:nvSpPr>
              <p:cNvPr id="111" name="타원 110"/>
              <p:cNvSpPr/>
              <p:nvPr/>
            </p:nvSpPr>
            <p:spPr>
              <a:xfrm flipH="1">
                <a:off x="3641308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12" name="그룹 111"/>
              <p:cNvGrpSpPr/>
              <p:nvPr/>
            </p:nvGrpSpPr>
            <p:grpSpPr>
              <a:xfrm rot="5400000" flipH="1">
                <a:off x="3679895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118" name="직선 연결선 117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9" name="직선 연결선 118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4" name="타원 113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15" name="그룹 114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116" name="직선 연결선 115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7" name="직선 연결선 116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58661405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대금신청</a:t>
            </a:r>
            <a:r>
              <a:rPr lang="ko-KR" altLang="en-US" dirty="0"/>
              <a:t> 금액 데이터 </a:t>
            </a:r>
            <a:r>
              <a:rPr lang="ko-KR" altLang="en-US" dirty="0" smtClean="0"/>
              <a:t>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- 1-1] </a:t>
            </a:r>
            <a:r>
              <a:rPr lang="ko-KR" altLang="en-US" dirty="0" err="1"/>
              <a:t>세액여부별</a:t>
            </a:r>
            <a:r>
              <a:rPr lang="ko-KR" altLang="en-US" dirty="0"/>
              <a:t> 항목 확인 필요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세액 여부</a:t>
            </a:r>
            <a:r>
              <a:rPr lang="en-US" altLang="ko-KR" dirty="0"/>
              <a:t>) </a:t>
            </a:r>
            <a:r>
              <a:rPr lang="ko-KR" altLang="en-US" dirty="0"/>
              <a:t>과세</a:t>
            </a:r>
            <a:r>
              <a:rPr lang="en-US" altLang="ko-KR" dirty="0"/>
              <a:t>, </a:t>
            </a:r>
            <a:r>
              <a:rPr lang="ko-KR" altLang="en-US" dirty="0"/>
              <a:t>면세</a:t>
            </a:r>
            <a:r>
              <a:rPr lang="en-US" altLang="ko-KR" dirty="0"/>
              <a:t>, </a:t>
            </a:r>
            <a:r>
              <a:rPr lang="ko-KR" altLang="en-US" dirty="0"/>
              <a:t>영세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en-US" altLang="ko-KR" dirty="0" smtClean="0"/>
              <a:t>1-2] </a:t>
            </a:r>
            <a:r>
              <a:rPr lang="ko-KR" altLang="en-US" dirty="0" err="1"/>
              <a:t>신고구분</a:t>
            </a:r>
            <a:r>
              <a:rPr lang="en-US" altLang="ko-KR" dirty="0"/>
              <a:t>: </a:t>
            </a:r>
            <a:r>
              <a:rPr lang="ko-KR" altLang="en-US" dirty="0"/>
              <a:t>확정</a:t>
            </a:r>
            <a:r>
              <a:rPr lang="en-US" altLang="ko-KR" dirty="0"/>
              <a:t>, </a:t>
            </a:r>
            <a:r>
              <a:rPr lang="ko-KR" altLang="en-US" dirty="0"/>
              <a:t>예정</a:t>
            </a:r>
            <a:r>
              <a:rPr lang="en-US" altLang="ko-KR" dirty="0"/>
              <a:t/>
            </a:r>
            <a:br>
              <a:rPr lang="en-US" altLang="ko-KR" dirty="0"/>
            </a:br>
            <a:endParaRPr lang="en-US" altLang="ko-KR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Autofit/>
          </a:bodyPr>
          <a:lstStyle/>
          <a:p>
            <a:r>
              <a:rPr lang="ko-KR" altLang="en-US" dirty="0" smtClean="0">
                <a:latin typeface="+mn-ea"/>
              </a:rPr>
              <a:t>대금신청금액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MUI-WM-01-T11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4" y="1947607"/>
            <a:ext cx="2456097" cy="181140"/>
            <a:chOff x="763157" y="1527996"/>
            <a:chExt cx="2456097" cy="18114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대금신청</a:t>
              </a:r>
              <a:r>
                <a:rPr lang="ko-KR" altLang="en-US" sz="700" dirty="0">
                  <a:latin typeface="+mn-ea"/>
                </a:rPr>
                <a:t> 금액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2239760"/>
            <a:ext cx="2630093" cy="2586565"/>
            <a:chOff x="3865118" y="2946204"/>
            <a:chExt cx="2630093" cy="2586565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4"/>
              <a:ext cx="792000" cy="25853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4" y="2946204"/>
              <a:ext cx="715881" cy="25853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지급구분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세액여부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납품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>
                  <a:latin typeface="+mn-ea"/>
                </a:rPr>
                <a:t>선급</a:t>
              </a:r>
              <a:r>
                <a:rPr lang="en-US" altLang="ko-KR" sz="700" dirty="0">
                  <a:latin typeface="+mn-ea"/>
                </a:rPr>
                <a:t>)</a:t>
              </a:r>
              <a:r>
                <a:rPr lang="ko-KR" altLang="en-US" sz="700" dirty="0">
                  <a:latin typeface="+mn-ea"/>
                </a:rPr>
                <a:t>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공제금액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공제내역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실지급금액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신고구분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25853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선금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 smtClean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7448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68818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90189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10535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31906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53276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6160" y="2001287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508871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2" name="그룹 41"/>
          <p:cNvGrpSpPr/>
          <p:nvPr/>
        </p:nvGrpSpPr>
        <p:grpSpPr>
          <a:xfrm>
            <a:off x="1562371" y="2522991"/>
            <a:ext cx="580039" cy="107722"/>
            <a:chOff x="1746956" y="5895087"/>
            <a:chExt cx="580039" cy="107722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746956" y="5895087"/>
              <a:ext cx="179536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 dirty="0" smtClean="0">
                  <a:latin typeface="+mn-ea"/>
                </a:rPr>
                <a:t>영세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326930" y="5895087"/>
              <a:ext cx="65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endParaRPr lang="ko-KR" altLang="en-US" sz="700" dirty="0">
                <a:latin typeface="+mn-ea"/>
              </a:endParaRPr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50814" y="4457839"/>
            <a:ext cx="179536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예정</a:t>
            </a:r>
          </a:p>
        </p:txBody>
      </p:sp>
      <p:sp>
        <p:nvSpPr>
          <p:cNvPr id="93" name="타원 9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379823" y="2470727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1-1</a:t>
            </a:r>
            <a:endParaRPr lang="ko-KR" altLang="en-US" sz="500" b="1" dirty="0"/>
          </a:p>
        </p:txBody>
      </p:sp>
      <p:sp>
        <p:nvSpPr>
          <p:cNvPr id="94" name="타원 9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379823" y="4382365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1-2</a:t>
            </a:r>
            <a:endParaRPr lang="ko-KR" altLang="en-US" sz="500" b="1" dirty="0"/>
          </a:p>
        </p:txBody>
      </p:sp>
      <p:sp>
        <p:nvSpPr>
          <p:cNvPr id="40" name="직사각형 39"/>
          <p:cNvSpPr/>
          <p:nvPr/>
        </p:nvSpPr>
        <p:spPr>
          <a:xfrm>
            <a:off x="7103286" y="6036456"/>
            <a:ext cx="2275404" cy="14501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500" smtClean="0"/>
              <a:t>화면수정</a:t>
            </a:r>
            <a:endParaRPr lang="ko-KR" altLang="en-US" sz="500" dirty="0"/>
          </a:p>
        </p:txBody>
      </p:sp>
      <p:grpSp>
        <p:nvGrpSpPr>
          <p:cNvPr id="41" name="그룹 40"/>
          <p:cNvGrpSpPr/>
          <p:nvPr/>
        </p:nvGrpSpPr>
        <p:grpSpPr>
          <a:xfrm>
            <a:off x="678142" y="1496124"/>
            <a:ext cx="2712027" cy="355980"/>
            <a:chOff x="3820614" y="1496124"/>
            <a:chExt cx="2712027" cy="355980"/>
          </a:xfrm>
        </p:grpSpPr>
        <p:cxnSp>
          <p:nvCxnSpPr>
            <p:cNvPr id="43" name="직선 연결선 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0614" y="1496124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8902" y="18521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5059176" y="1852104"/>
              <a:ext cx="673499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48" name="그룹 47"/>
            <p:cNvGrpSpPr/>
            <p:nvPr/>
          </p:nvGrpSpPr>
          <p:grpSpPr>
            <a:xfrm>
              <a:off x="3894842" y="1636283"/>
              <a:ext cx="2210710" cy="107722"/>
              <a:chOff x="764169" y="4142235"/>
              <a:chExt cx="2210710" cy="107722"/>
            </a:xfrm>
          </p:grpSpPr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764169" y="4142235"/>
                <a:ext cx="359782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 err="1">
                    <a:latin typeface="+mn-ea"/>
                  </a:rPr>
                  <a:t>계약정보</a:t>
                </a:r>
                <a:endParaRPr lang="ko-KR" altLang="en-US" sz="700" dirty="0">
                  <a:latin typeface="+mn-ea"/>
                </a:endParaRP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1179988" y="4142235"/>
                <a:ext cx="743282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</a:rPr>
                  <a:t>대금신청업체 정보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1979307" y="4142235"/>
                <a:ext cx="575368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b="1" dirty="0" err="1">
                    <a:latin typeface="+mn-ea"/>
                  </a:rPr>
                  <a:t>대금신청</a:t>
                </a:r>
                <a:r>
                  <a:rPr lang="ko-KR" altLang="en-US" sz="700" b="1" dirty="0">
                    <a:latin typeface="+mn-ea"/>
                  </a:rPr>
                  <a:t> 금액</a:t>
                </a: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610711" y="4142235"/>
                <a:ext cx="364168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</a:rPr>
                  <a:t>첨부파일</a:t>
                </a:r>
              </a:p>
            </p:txBody>
          </p:sp>
        </p:grpSp>
        <p:grpSp>
          <p:nvGrpSpPr>
            <p:cNvPr id="49" name="그룹 48"/>
            <p:cNvGrpSpPr/>
            <p:nvPr/>
          </p:nvGrpSpPr>
          <p:grpSpPr>
            <a:xfrm>
              <a:off x="6052498" y="1597374"/>
              <a:ext cx="422853" cy="187961"/>
              <a:chOff x="3641308" y="2234886"/>
              <a:chExt cx="422853" cy="187961"/>
            </a:xfrm>
          </p:grpSpPr>
          <p:sp>
            <p:nvSpPr>
              <p:cNvPr id="50" name="타원 49"/>
              <p:cNvSpPr/>
              <p:nvPr/>
            </p:nvSpPr>
            <p:spPr>
              <a:xfrm flipH="1">
                <a:off x="3641308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52" name="그룹 51"/>
              <p:cNvGrpSpPr/>
              <p:nvPr/>
            </p:nvGrpSpPr>
            <p:grpSpPr>
              <a:xfrm rot="5400000" flipH="1">
                <a:off x="3679895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58" name="직선 연결선 57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직선 연결선 58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3" name="타원 52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54" name="그룹 53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55" name="직선 연결선 54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직선 연결선 56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309936994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sz="700" dirty="0"/>
              <a:t>계약에 등록된 </a:t>
            </a:r>
            <a:r>
              <a:rPr lang="ko-KR" altLang="en-US" sz="700" dirty="0" err="1"/>
              <a:t>계약관</a:t>
            </a:r>
            <a:r>
              <a:rPr lang="ko-KR" altLang="en-US" sz="700" dirty="0"/>
              <a:t> 첨부서류 </a:t>
            </a:r>
            <a:r>
              <a:rPr lang="ko-KR" altLang="en-US" sz="700" dirty="0" err="1"/>
              <a:t>목록조회</a:t>
            </a:r>
            <a:r>
              <a:rPr lang="en-US" altLang="ko-KR" sz="700" dirty="0"/>
              <a:t/>
            </a:r>
            <a:br>
              <a:rPr lang="en-US" altLang="ko-KR" sz="700" dirty="0"/>
            </a:br>
            <a:r>
              <a:rPr lang="en-US" altLang="ko-KR" sz="700" dirty="0"/>
              <a:t>default) </a:t>
            </a:r>
            <a:br>
              <a:rPr lang="en-US" altLang="ko-KR" sz="700" dirty="0"/>
            </a:br>
            <a:r>
              <a:rPr lang="en-US" altLang="ko-KR" sz="700" dirty="0"/>
              <a:t>- </a:t>
            </a:r>
            <a:r>
              <a:rPr lang="ko-KR" altLang="en-US" sz="700" dirty="0"/>
              <a:t>아코디언 전체 펼침 </a:t>
            </a:r>
            <a:r>
              <a:rPr lang="en-US" altLang="ko-KR" sz="700" dirty="0"/>
              <a:t/>
            </a:r>
            <a:br>
              <a:rPr lang="en-US" altLang="ko-KR" sz="700" dirty="0"/>
            </a:br>
            <a:r>
              <a:rPr lang="en-US" altLang="ko-KR" sz="700" dirty="0"/>
              <a:t>- </a:t>
            </a:r>
            <a:r>
              <a:rPr lang="ko-KR" altLang="en-US" sz="700" dirty="0"/>
              <a:t>업로드 기능 </a:t>
            </a:r>
            <a:r>
              <a:rPr lang="ko-KR" altLang="en-US" sz="700" dirty="0" err="1"/>
              <a:t>미지원</a:t>
            </a:r>
            <a:r>
              <a:rPr lang="ko-KR" altLang="en-US" sz="700" dirty="0"/>
              <a:t> </a:t>
            </a:r>
            <a:r>
              <a:rPr lang="en-US" altLang="ko-KR" sz="700" dirty="0"/>
              <a:t/>
            </a:r>
            <a:br>
              <a:rPr lang="en-US" altLang="ko-KR" sz="700" dirty="0"/>
            </a:br>
            <a:r>
              <a:rPr lang="en-US" altLang="ko-KR" sz="700" dirty="0"/>
              <a:t>- </a:t>
            </a:r>
            <a:r>
              <a:rPr lang="ko-KR" altLang="en-US" sz="700" dirty="0" err="1" smtClean="0"/>
              <a:t>대금청구</a:t>
            </a:r>
            <a:r>
              <a:rPr lang="ko-KR" altLang="en-US" sz="700" dirty="0" smtClean="0"/>
              <a:t> </a:t>
            </a:r>
            <a:r>
              <a:rPr lang="ko-KR" altLang="en-US" sz="700" dirty="0"/>
              <a:t>첨부서류에 첨부된 파일이 있는 경우에만 목록 노출</a:t>
            </a:r>
            <a:endParaRPr lang="en-US" altLang="ko-KR" sz="7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700" dirty="0" smtClean="0"/>
              <a:t>파일 </a:t>
            </a:r>
            <a:r>
              <a:rPr lang="ko-KR" altLang="en-US" sz="700" dirty="0"/>
              <a:t>목록 </a:t>
            </a:r>
            <a:r>
              <a:rPr lang="en-US" altLang="ko-KR" sz="700" dirty="0"/>
              <a:t/>
            </a:r>
            <a:br>
              <a:rPr lang="en-US" altLang="ko-KR" sz="700" dirty="0"/>
            </a:br>
            <a:r>
              <a:rPr lang="en-US" altLang="ko-KR" sz="700" dirty="0"/>
              <a:t>- </a:t>
            </a:r>
            <a:r>
              <a:rPr lang="ko-KR" altLang="en-US" sz="700" dirty="0"/>
              <a:t>정렬</a:t>
            </a:r>
            <a:r>
              <a:rPr lang="en-US" altLang="ko-KR" sz="700" dirty="0"/>
              <a:t> : </a:t>
            </a:r>
            <a:r>
              <a:rPr lang="ko-KR" altLang="en-US" sz="700" dirty="0"/>
              <a:t>파일 업로드 시점의 </a:t>
            </a:r>
            <a:r>
              <a:rPr lang="ko-KR" altLang="en-US" sz="700" dirty="0" err="1"/>
              <a:t>등록일시</a:t>
            </a:r>
            <a:r>
              <a:rPr lang="ko-KR" altLang="en-US" sz="700" dirty="0"/>
              <a:t> 내림차순 </a:t>
            </a:r>
            <a:r>
              <a:rPr lang="en-US" altLang="ko-KR" sz="700" dirty="0"/>
              <a:t/>
            </a:r>
            <a:br>
              <a:rPr lang="en-US" altLang="ko-KR" sz="700" dirty="0"/>
            </a:br>
            <a:r>
              <a:rPr lang="en-US" altLang="ko-KR" sz="700" dirty="0"/>
              <a:t>- </a:t>
            </a:r>
            <a:r>
              <a:rPr lang="ko-KR" altLang="en-US" sz="700" dirty="0" err="1"/>
              <a:t>계약서류명</a:t>
            </a:r>
            <a:r>
              <a:rPr lang="en-US" altLang="ko-KR" sz="700" dirty="0"/>
              <a:t>, </a:t>
            </a:r>
            <a:r>
              <a:rPr lang="ko-KR" altLang="en-US" sz="700" dirty="0" err="1"/>
              <a:t>첨부파일명</a:t>
            </a:r>
            <a:r>
              <a:rPr lang="en-US" altLang="ko-KR" sz="700" dirty="0"/>
              <a:t>, </a:t>
            </a:r>
            <a:r>
              <a:rPr lang="ko-KR" altLang="en-US" sz="700" dirty="0"/>
              <a:t>파일 크기 표시</a:t>
            </a:r>
            <a:r>
              <a:rPr lang="en-US" altLang="ko-KR" sz="700" dirty="0"/>
              <a:t/>
            </a:r>
            <a:br>
              <a:rPr lang="en-US" altLang="ko-KR" sz="700" dirty="0"/>
            </a:br>
            <a:r>
              <a:rPr lang="en-US" altLang="ko-KR" sz="700" dirty="0"/>
              <a:t>- </a:t>
            </a:r>
            <a:r>
              <a:rPr lang="ko-KR" altLang="en-US" sz="700" dirty="0"/>
              <a:t>파일 크기 정보가 없거나</a:t>
            </a:r>
            <a:r>
              <a:rPr lang="en-US" altLang="ko-KR" sz="700" dirty="0"/>
              <a:t>, </a:t>
            </a:r>
            <a:r>
              <a:rPr lang="ko-KR" altLang="en-US" sz="700" dirty="0"/>
              <a:t>첨부서류 파일명이 없는 경우 </a:t>
            </a:r>
            <a:r>
              <a:rPr lang="en-US" altLang="ko-KR" sz="700" dirty="0"/>
              <a:t>“-” </a:t>
            </a:r>
            <a:r>
              <a:rPr lang="ko-KR" altLang="en-US" sz="700" dirty="0"/>
              <a:t>표시</a:t>
            </a:r>
            <a:r>
              <a:rPr lang="en-US" altLang="ko-KR" sz="700" dirty="0"/>
              <a:t/>
            </a:r>
            <a:br>
              <a:rPr lang="en-US" altLang="ko-KR" sz="700" dirty="0"/>
            </a:br>
            <a:r>
              <a:rPr lang="en-US" altLang="ko-KR" sz="700" dirty="0"/>
              <a:t>- </a:t>
            </a:r>
            <a:r>
              <a:rPr lang="ko-KR" altLang="en-US" sz="700" dirty="0"/>
              <a:t>파일명이 긴 경우 </a:t>
            </a:r>
            <a:r>
              <a:rPr lang="ko-KR" altLang="en-US" sz="700" dirty="0" err="1"/>
              <a:t>말줄임</a:t>
            </a:r>
            <a:r>
              <a:rPr lang="ko-KR" altLang="en-US" sz="700" dirty="0"/>
              <a:t> 표시</a:t>
            </a:r>
            <a:endParaRPr lang="en-US" altLang="ko-KR" sz="7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700" dirty="0"/>
              <a:t>다운로드 아이콘 노출</a:t>
            </a:r>
            <a:r>
              <a:rPr lang="en-US" altLang="ko-KR" sz="700" dirty="0"/>
              <a:t/>
            </a:r>
            <a:br>
              <a:rPr lang="en-US" altLang="ko-KR" sz="700" dirty="0"/>
            </a:br>
            <a:r>
              <a:rPr lang="en-US" altLang="ko-KR" sz="700" dirty="0"/>
              <a:t>- </a:t>
            </a:r>
            <a:r>
              <a:rPr lang="ko-KR" altLang="en-US" sz="700" dirty="0"/>
              <a:t>다운로드 </a:t>
            </a:r>
            <a:r>
              <a:rPr lang="ko-KR" altLang="en-US" sz="700" dirty="0" err="1"/>
              <a:t>클릭시</a:t>
            </a:r>
            <a:r>
              <a:rPr lang="en-US" altLang="ko-KR" sz="700" dirty="0"/>
              <a:t>, </a:t>
            </a:r>
            <a:r>
              <a:rPr lang="ko-KR" altLang="en-US" sz="700" dirty="0"/>
              <a:t>즉시 다운로드 실행</a:t>
            </a:r>
            <a:r>
              <a:rPr lang="en-US" altLang="ko-KR" sz="700" dirty="0"/>
              <a:t/>
            </a:r>
            <a:br>
              <a:rPr lang="en-US" altLang="ko-KR" sz="700" dirty="0"/>
            </a:br>
            <a:r>
              <a:rPr lang="en-US" altLang="ko-KR" sz="700" dirty="0"/>
              <a:t>- </a:t>
            </a:r>
            <a:r>
              <a:rPr lang="ko-KR" altLang="en-US" sz="700" dirty="0"/>
              <a:t>파일 다운로드 </a:t>
            </a:r>
            <a:r>
              <a:rPr lang="ko-KR" altLang="en-US" sz="700" dirty="0" err="1"/>
              <a:t>실패시</a:t>
            </a:r>
            <a:r>
              <a:rPr lang="ko-KR" altLang="en-US" sz="700" dirty="0"/>
              <a:t> </a:t>
            </a:r>
            <a:r>
              <a:rPr lang="en-US" altLang="ko-KR" sz="700" dirty="0"/>
              <a:t>, “</a:t>
            </a:r>
            <a:r>
              <a:rPr lang="ko-KR" altLang="en-US" sz="700" dirty="0"/>
              <a:t>다운로드에 실패했습니다</a:t>
            </a:r>
            <a:r>
              <a:rPr lang="en-US" altLang="ko-KR" sz="700" dirty="0"/>
              <a:t>”</a:t>
            </a:r>
            <a:r>
              <a:rPr lang="ko-KR" altLang="en-US" sz="700" dirty="0"/>
              <a:t> 토스트 노출</a:t>
            </a:r>
            <a:r>
              <a:rPr lang="en-US" altLang="ko-KR" sz="700" dirty="0"/>
              <a:t/>
            </a:r>
            <a:br>
              <a:rPr lang="en-US" altLang="ko-KR" sz="700" dirty="0"/>
            </a:br>
            <a:r>
              <a:rPr lang="en-US" altLang="ko-KR" sz="700" dirty="0"/>
              <a:t>- </a:t>
            </a:r>
            <a:r>
              <a:rPr lang="ko-KR" altLang="en-US" sz="700" dirty="0"/>
              <a:t>다운로드 </a:t>
            </a:r>
            <a:r>
              <a:rPr lang="ko-KR" altLang="en-US" sz="700" dirty="0" err="1"/>
              <a:t>성공시</a:t>
            </a:r>
            <a:r>
              <a:rPr lang="ko-KR" altLang="en-US" sz="700" dirty="0"/>
              <a:t> </a:t>
            </a:r>
            <a:r>
              <a:rPr lang="en-US" altLang="ko-KR" sz="700" dirty="0"/>
              <a:t>“</a:t>
            </a:r>
            <a:r>
              <a:rPr lang="ko-KR" altLang="en-US" sz="700" dirty="0"/>
              <a:t>다운로드에 성공했습니다</a:t>
            </a:r>
            <a:r>
              <a:rPr lang="en-US" altLang="ko-KR" sz="700" dirty="0"/>
              <a:t>“ </a:t>
            </a:r>
            <a:r>
              <a:rPr lang="ko-KR" altLang="en-US" sz="700" dirty="0"/>
              <a:t>노출</a:t>
            </a:r>
            <a:endParaRPr lang="en-US" altLang="ko-KR" sz="7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50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Autofit/>
          </a:bodyPr>
          <a:lstStyle/>
          <a:p>
            <a:r>
              <a:rPr lang="ko-KR" altLang="en-US" dirty="0" smtClean="0">
                <a:latin typeface="+mn-ea"/>
              </a:rPr>
              <a:t>첨부파일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smtClean="0">
                <a:latin typeface="+mn-ea"/>
              </a:rPr>
              <a:t>대금청구상세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MUI-WM-01-T12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4" y="1912129"/>
            <a:ext cx="2456097" cy="181140"/>
            <a:chOff x="763157" y="1527996"/>
            <a:chExt cx="2456097" cy="18114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첨부파일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6160" y="1965809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675400" y="2175397"/>
            <a:ext cx="2712026" cy="1339020"/>
            <a:chOff x="4063785" y="1972404"/>
            <a:chExt cx="2712026" cy="1339020"/>
          </a:xfrm>
        </p:grpSpPr>
        <p:grpSp>
          <p:nvGrpSpPr>
            <p:cNvPr id="50" name="그룹 49"/>
            <p:cNvGrpSpPr/>
            <p:nvPr/>
          </p:nvGrpSpPr>
          <p:grpSpPr>
            <a:xfrm>
              <a:off x="4063785" y="1972404"/>
              <a:ext cx="2712026" cy="1339020"/>
              <a:chOff x="3795735" y="3141693"/>
              <a:chExt cx="2712026" cy="1339020"/>
            </a:xfrm>
          </p:grpSpPr>
          <p:sp>
            <p:nvSpPr>
              <p:cNvPr id="54" name="모서리가 둥근 직사각형 53"/>
              <p:cNvSpPr/>
              <p:nvPr/>
            </p:nvSpPr>
            <p:spPr>
              <a:xfrm>
                <a:off x="3831550" y="3276811"/>
                <a:ext cx="2652743" cy="364486"/>
              </a:xfrm>
              <a:prstGeom prst="roundRect">
                <a:avLst>
                  <a:gd name="adj" fmla="val 9062"/>
                </a:avLst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208115" y="3351332"/>
                <a:ext cx="1682738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ko-KR" altLang="en-US" sz="7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물품제조구매계약서</a:t>
                </a:r>
                <a:endParaRPr lang="en-US" altLang="ko-KR" sz="7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  <a:p>
                <a:r>
                  <a:rPr lang="ko-KR" altLang="en-US" sz="70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첨부파일명</a:t>
                </a:r>
                <a:r>
                  <a:rPr lang="en-US" altLang="ko-KR" sz="7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.</a:t>
                </a:r>
                <a:r>
                  <a:rPr lang="en-US" altLang="ko-KR" sz="70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hwp</a:t>
                </a:r>
                <a:endPara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09746" y="3405193"/>
                <a:ext cx="247786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ko-KR" sz="7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1</a:t>
                </a:r>
                <a:endPara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57" name="타원 56"/>
              <p:cNvSpPr/>
              <p:nvPr/>
            </p:nvSpPr>
            <p:spPr>
              <a:xfrm>
                <a:off x="6240167" y="3387054"/>
                <a:ext cx="144000" cy="144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8" name="모서리가 둥근 직사각형 57"/>
              <p:cNvSpPr/>
              <p:nvPr/>
            </p:nvSpPr>
            <p:spPr>
              <a:xfrm>
                <a:off x="3831550" y="3683497"/>
                <a:ext cx="2652743" cy="364486"/>
              </a:xfrm>
              <a:prstGeom prst="roundRect">
                <a:avLst>
                  <a:gd name="adj" fmla="val 9062"/>
                </a:avLst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208115" y="3758018"/>
                <a:ext cx="141278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ko-KR" altLang="en-US" sz="70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계약명세서</a:t>
                </a:r>
                <a:endParaRPr lang="en-US" altLang="ko-KR" sz="7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  <a:p>
                <a:r>
                  <a:rPr lang="ko-KR" altLang="en-US" sz="70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첨부파일명이너무길면어떻게</a:t>
                </a:r>
                <a:r>
                  <a:rPr lang="ko-KR" altLang="en-US" sz="7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 노출</a:t>
                </a:r>
                <a:r>
                  <a:rPr lang="en-US" altLang="ko-KR" sz="7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... </a:t>
                </a:r>
                <a:endPara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09746" y="3811879"/>
                <a:ext cx="247786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ko-KR" sz="7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2</a:t>
                </a:r>
                <a:endPara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61" name="타원 60"/>
              <p:cNvSpPr/>
              <p:nvPr/>
            </p:nvSpPr>
            <p:spPr>
              <a:xfrm>
                <a:off x="6240167" y="3793740"/>
                <a:ext cx="144000" cy="144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62" name="직선 연결선 6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795735" y="4480713"/>
                <a:ext cx="2712026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332218" y="3141693"/>
                <a:ext cx="474348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ko-KR" altLang="en-US" sz="6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첨부파일명</a:t>
                </a:r>
                <a:endPara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6101185" y="3141693"/>
                <a:ext cx="324968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6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다운로드</a:t>
                </a:r>
                <a:endPara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838314" y="3141693"/>
                <a:ext cx="390650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6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번호</a:t>
                </a:r>
                <a:endPara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</p:grpSp>
        <p:sp>
          <p:nvSpPr>
            <p:cNvPr id="75" name="직사각형 74"/>
            <p:cNvSpPr/>
            <p:nvPr/>
          </p:nvSpPr>
          <p:spPr>
            <a:xfrm>
              <a:off x="5968922" y="2605294"/>
              <a:ext cx="546945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[</a:t>
              </a:r>
              <a:r>
                <a:rPr lang="ko-KR" altLang="en-US" sz="6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파일크기</a:t>
              </a:r>
              <a:r>
                <a:rPr lang="en-US" altLang="ko-KR" sz="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]</a:t>
              </a:r>
            </a:p>
          </p:txBody>
        </p:sp>
        <p:sp>
          <p:nvSpPr>
            <p:cNvPr id="76" name="직사각형 75"/>
            <p:cNvSpPr/>
            <p:nvPr/>
          </p:nvSpPr>
          <p:spPr>
            <a:xfrm>
              <a:off x="5965336" y="2159928"/>
              <a:ext cx="546945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[</a:t>
              </a:r>
              <a:r>
                <a:rPr lang="ko-KR" altLang="en-US" sz="6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파일크기</a:t>
              </a:r>
              <a:r>
                <a:rPr lang="en-US" altLang="ko-KR" sz="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]</a:t>
              </a:r>
            </a:p>
          </p:txBody>
        </p:sp>
      </p:grpSp>
      <p:sp>
        <p:nvSpPr>
          <p:cNvPr id="78" name="타원 7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06853" y="2315384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173895" y="2948165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80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1125536" y="5933555"/>
            <a:ext cx="1890323" cy="186790"/>
          </a:xfrm>
          <a:prstGeom prst="roundRect">
            <a:avLst>
              <a:gd name="adj" fmla="val 50000"/>
            </a:avLst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kern="0" dirty="0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다운로드에 실패했습니다</a:t>
            </a:r>
            <a:r>
              <a:rPr kumimoji="1" lang="en-US" altLang="ko-KR" sz="700" kern="0" dirty="0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.</a:t>
            </a:r>
            <a:endParaRPr kumimoji="1" lang="en-US" sz="7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sp>
        <p:nvSpPr>
          <p:cNvPr id="81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1108628" y="5726035"/>
            <a:ext cx="1890323" cy="186790"/>
          </a:xfrm>
          <a:prstGeom prst="roundRect">
            <a:avLst>
              <a:gd name="adj" fmla="val 50000"/>
            </a:avLst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kern="0" dirty="0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다운로드에 성공했습니다</a:t>
            </a:r>
            <a:r>
              <a:rPr kumimoji="1" lang="en-US" altLang="ko-KR" sz="700" kern="0" dirty="0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.</a:t>
            </a:r>
            <a:endParaRPr kumimoji="1" lang="en-US" sz="7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053116" y="5837125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grpSp>
        <p:nvGrpSpPr>
          <p:cNvPr id="37" name="그룹 36"/>
          <p:cNvGrpSpPr/>
          <p:nvPr/>
        </p:nvGrpSpPr>
        <p:grpSpPr>
          <a:xfrm>
            <a:off x="678142" y="1496124"/>
            <a:ext cx="2712027" cy="355980"/>
            <a:chOff x="3820614" y="1496124"/>
            <a:chExt cx="2712027" cy="355980"/>
          </a:xfrm>
        </p:grpSpPr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0614" y="1496124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8902" y="18521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5723121" y="1852104"/>
              <a:ext cx="435210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41" name="그룹 40"/>
            <p:cNvGrpSpPr/>
            <p:nvPr/>
          </p:nvGrpSpPr>
          <p:grpSpPr>
            <a:xfrm>
              <a:off x="3894842" y="1636283"/>
              <a:ext cx="2210710" cy="107722"/>
              <a:chOff x="764169" y="4142235"/>
              <a:chExt cx="2210710" cy="107722"/>
            </a:xfrm>
          </p:grpSpPr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764169" y="4142235"/>
                <a:ext cx="359782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 err="1">
                    <a:latin typeface="+mn-ea"/>
                  </a:rPr>
                  <a:t>계약정보</a:t>
                </a:r>
                <a:endParaRPr lang="ko-KR" altLang="en-US" sz="700" dirty="0">
                  <a:latin typeface="+mn-ea"/>
                </a:endParaRP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1179988" y="4142235"/>
                <a:ext cx="743282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</a:rPr>
                  <a:t>대금신청업체 정보</a:t>
                </a: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1979307" y="4142235"/>
                <a:ext cx="575368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 err="1">
                    <a:latin typeface="+mn-ea"/>
                  </a:rPr>
                  <a:t>대금신청</a:t>
                </a:r>
                <a:r>
                  <a:rPr lang="ko-KR" altLang="en-US" sz="700" dirty="0">
                    <a:latin typeface="+mn-ea"/>
                  </a:rPr>
                  <a:t> 금액</a:t>
                </a: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610711" y="4142235"/>
                <a:ext cx="364168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b="1" dirty="0">
                    <a:latin typeface="+mn-ea"/>
                  </a:rPr>
                  <a:t>첨부파일</a:t>
                </a:r>
              </a:p>
            </p:txBody>
          </p:sp>
        </p:grpSp>
        <p:grpSp>
          <p:nvGrpSpPr>
            <p:cNvPr id="42" name="그룹 41"/>
            <p:cNvGrpSpPr/>
            <p:nvPr/>
          </p:nvGrpSpPr>
          <p:grpSpPr>
            <a:xfrm>
              <a:off x="6052498" y="1597374"/>
              <a:ext cx="422853" cy="187961"/>
              <a:chOff x="3641308" y="2234886"/>
              <a:chExt cx="422853" cy="187961"/>
            </a:xfrm>
          </p:grpSpPr>
          <p:sp>
            <p:nvSpPr>
              <p:cNvPr id="43" name="타원 42"/>
              <p:cNvSpPr/>
              <p:nvPr/>
            </p:nvSpPr>
            <p:spPr>
              <a:xfrm flipH="1">
                <a:off x="3641308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44" name="그룹 43"/>
              <p:cNvGrpSpPr/>
              <p:nvPr/>
            </p:nvGrpSpPr>
            <p:grpSpPr>
              <a:xfrm rot="5400000" flipH="1">
                <a:off x="3679895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49" name="직선 연결선 48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직선 연결선 51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5" name="타원 44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46" name="그룹 45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47" name="직선 연결선 46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직선 연결선 47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48632165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51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(1/2)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225278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dmt_ctrtInfo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1163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</a:rPr>
                        <a:t>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17478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aplyYmd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신청일자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98314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계약금액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244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대금신청번호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birqNo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대금신청번호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8707300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B6FF90CD-D44A-772D-5AAF-1061FC3E2661}"/>
              </a:ext>
            </a:extLst>
          </p:cNvPr>
          <p:cNvSpPr txBox="1"/>
          <p:nvPr/>
        </p:nvSpPr>
        <p:spPr>
          <a:xfrm>
            <a:off x="458117" y="2374242"/>
            <a:ext cx="316169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대금신청대상목록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dlt_pymtAplyTrgtList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D5D6353D-3F6D-611B-EA75-CF444460DF17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2585445"/>
          <a:ext cx="8994883" cy="18672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통지번호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avtsmtNo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일자구분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조서발행번호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recrdPblcnNo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세액여부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9498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합격일자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rcpmDt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8323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dlvgdsYmd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9767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bgtCd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UZ03</a:t>
                      </a:r>
                    </a:p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전년국채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본조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당년국체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79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9902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감액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ctbkAmt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887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지체상금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lqdmg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7244463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530B8E2E-00BE-BADA-87DB-E8B83D44B4A0}"/>
              </a:ext>
            </a:extLst>
          </p:cNvPr>
          <p:cNvSpPr txBox="1"/>
          <p:nvPr/>
        </p:nvSpPr>
        <p:spPr>
          <a:xfrm>
            <a:off x="458117" y="4608773"/>
            <a:ext cx="341015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대금신청업체정보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dmt_pymtAplyBzentyInfo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BC36CD16-3261-893C-33B1-952BDA63F539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4819976"/>
          <a:ext cx="8994883" cy="1163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bzentyNm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상호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대표명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rprsvNm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대표명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9498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청구인성명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clmtNm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청구인성명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8323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연락처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clmtTelno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연락처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9767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주소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bzentyAddr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주소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120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9019130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4D6CFD2F-4DC0-741E-BC14-138D4D7E43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2324629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52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33490B-4478-F735-A295-62F7CD63369D}"/>
              </a:ext>
            </a:extLst>
          </p:cNvPr>
          <p:cNvSpPr txBox="1"/>
          <p:nvPr/>
        </p:nvSpPr>
        <p:spPr>
          <a:xfrm>
            <a:off x="458117" y="803113"/>
            <a:ext cx="3039862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1.4. </a:t>
            </a:r>
            <a:r>
              <a:rPr lang="ko-KR" altLang="en-US" sz="900" b="1" dirty="0">
                <a:solidFill>
                  <a:prstClr val="black"/>
                </a:solidFill>
              </a:rPr>
              <a:t>대금신청금액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dmt_pymtAplyAmtInfo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E5540156-D732-C40F-C9B7-89B56D016403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25209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지급구분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giveSecd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지급구분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EPNC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vatSecd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세액여부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VATA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12454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62916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splyEqvl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6502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vatAmt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71064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공제금액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ddcAmt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공제금액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44754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ddcAmt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8305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txamtDdcAmt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0339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공제내역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ddcDsctnNm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공제내역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4180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실지급금액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giveClmAmt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실지급금액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62779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신고부분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cfmtnYn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신고부분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 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확정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2 :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미확정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5329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birqRmrkCn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4824845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421C4003-76ED-06D6-7598-4607A5689329}"/>
              </a:ext>
            </a:extLst>
          </p:cNvPr>
          <p:cNvSpPr txBox="1"/>
          <p:nvPr/>
        </p:nvSpPr>
        <p:spPr>
          <a:xfrm>
            <a:off x="458117" y="3641739"/>
            <a:ext cx="222072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1.5. </a:t>
            </a:r>
            <a:r>
              <a:rPr lang="ko-KR" altLang="en-US" sz="900" b="1" dirty="0">
                <a:solidFill>
                  <a:prstClr val="black"/>
                </a:solidFill>
              </a:rPr>
              <a:t>첨부서류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dlt_adocList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F6E19429-B9EE-3086-F85C-8D422E1AAC5F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3852942"/>
          <a:ext cx="8994883" cy="775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첨부서류명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docNm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첨부서류명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fileNm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0339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파일크기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fileSize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파일크기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103447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C55AFAB6-A1E3-0681-D91C-DD3EB4FE06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050219-680A-6FD4-592F-C671CBA010BC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(2/2)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6540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53</a:t>
            </a:fld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C69890D6-BEE5-DDAF-C6C1-19EF9FF5AD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0247406"/>
              </p:ext>
            </p:extLst>
          </p:nvPr>
        </p:nvGraphicFramePr>
        <p:xfrm>
          <a:off x="453000" y="1050944"/>
          <a:ext cx="8995591" cy="825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3103963203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공통코드정보를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계약 정보를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조회한다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인쇄 클릭 이벤트</a:t>
                      </a:r>
                      <a:endParaRPr lang="en-US" altLang="ko-KR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scwin.btn_print_onclick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대금청구서를 출력한다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(UI-WM-01-R31)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대금청구신청서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(UI-WM-01-R32)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대금청구신청서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242596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D6F3B62-1B8D-DA6D-119E-CFA240CD0032}"/>
              </a:ext>
            </a:extLst>
          </p:cNvPr>
          <p:cNvSpPr txBox="1"/>
          <p:nvPr/>
        </p:nvSpPr>
        <p:spPr>
          <a:xfrm>
            <a:off x="458117" y="760911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sp>
        <p:nvSpPr>
          <p:cNvPr id="5" name="Text Box 73">
            <a:extLst>
              <a:ext uri="{FF2B5EF4-FFF2-40B4-BE49-F238E27FC236}">
                <a16:creationId xmlns:a16="http://schemas.microsoft.com/office/drawing/2014/main" id="{7D6E6027-667C-05A1-A04E-9C98E44C99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9866" y="82802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218751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54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smtClean="0">
                <a:latin typeface="+mn-ea"/>
              </a:rPr>
              <a:t>대금청구상세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공사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공사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공사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MUI-WM-01-M07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err="1">
                <a:latin typeface="+mn-ea"/>
              </a:rPr>
              <a:t>대금청구</a:t>
            </a:r>
            <a:r>
              <a:rPr lang="ko-KR" altLang="en-US" sz="800" dirty="0">
                <a:latin typeface="+mn-ea"/>
              </a:rPr>
              <a:t> </a:t>
            </a:r>
            <a:r>
              <a:rPr lang="ko-KR" altLang="en-US" sz="800" dirty="0" err="1">
                <a:latin typeface="+mn-ea"/>
              </a:rPr>
              <a:t>상세조회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462389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en-US" altLang="ko-KR" sz="900" b="1" dirty="0"/>
              <a:t>000000 </a:t>
            </a:r>
            <a:r>
              <a:rPr lang="ko-KR" altLang="en-US" sz="900" b="1" dirty="0"/>
              <a:t>공사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797454"/>
            <a:ext cx="307777" cy="39767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계약일자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발주기관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계약금액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596303" y="2782065"/>
            <a:ext cx="472886" cy="39767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제</a:t>
            </a:r>
            <a:r>
              <a:rPr lang="en-US" altLang="ko-KR" sz="600" dirty="0">
                <a:latin typeface="+mn-ea"/>
              </a:rPr>
              <a:t>8385</a:t>
            </a:r>
            <a:r>
              <a:rPr lang="ko-KR" altLang="en-US" sz="600" dirty="0">
                <a:latin typeface="+mn-ea"/>
              </a:rPr>
              <a:t>부대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11,616,000 </a:t>
            </a:r>
            <a:r>
              <a:rPr lang="ko-KR" altLang="en-US" sz="600" dirty="0">
                <a:latin typeface="+mn-ea"/>
              </a:rPr>
              <a:t>원</a:t>
            </a:r>
            <a:endParaRPr lang="en-US" altLang="ko-KR" sz="600" dirty="0">
              <a:latin typeface="+mn-ea"/>
            </a:endParaRPr>
          </a:p>
        </p:txBody>
      </p:sp>
      <p:sp>
        <p:nvSpPr>
          <p:cNvPr id="67" name="모서리가 둥근 직사각형 66"/>
          <p:cNvSpPr/>
          <p:nvPr/>
        </p:nvSpPr>
        <p:spPr>
          <a:xfrm>
            <a:off x="781461" y="227805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공사</a:t>
            </a:r>
          </a:p>
        </p:txBody>
      </p:sp>
      <p:sp>
        <p:nvSpPr>
          <p:cNvPr id="68" name="모서리가 둥근 직사각형 67"/>
          <p:cNvSpPr/>
          <p:nvPr/>
        </p:nvSpPr>
        <p:spPr>
          <a:xfrm>
            <a:off x="1075655" y="2278058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66319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00442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696944"/>
            <a:ext cx="4522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공지사항</a:t>
            </a:r>
          </a:p>
        </p:txBody>
      </p:sp>
      <p:sp>
        <p:nvSpPr>
          <p:cNvPr id="129" name="타원 128"/>
          <p:cNvSpPr/>
          <p:nvPr/>
        </p:nvSpPr>
        <p:spPr>
          <a:xfrm>
            <a:off x="783686" y="3728289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810275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35884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358842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1501568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185754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1857548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7" name="타원 276"/>
          <p:cNvSpPr/>
          <p:nvPr/>
        </p:nvSpPr>
        <p:spPr>
          <a:xfrm>
            <a:off x="6596790" y="515498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5272060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30551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7" name="모서리가 둥근 직사각형 336"/>
          <p:cNvSpPr/>
          <p:nvPr/>
        </p:nvSpPr>
        <p:spPr>
          <a:xfrm>
            <a:off x="781461" y="1944348"/>
            <a:ext cx="243478" cy="119400"/>
          </a:xfrm>
          <a:prstGeom prst="roundRect">
            <a:avLst>
              <a:gd name="adj" fmla="val 23409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>
                <a:solidFill>
                  <a:srgbClr val="FF0000"/>
                </a:solidFill>
              </a:rPr>
              <a:t>중요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33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1082843" y="1950187"/>
            <a:ext cx="220200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>
                <a:solidFill>
                  <a:prstClr val="black"/>
                </a:solidFill>
              </a:rPr>
              <a:t>대금 신청</a:t>
            </a:r>
            <a:r>
              <a:rPr lang="en-US" altLang="ko-KR" sz="700" dirty="0">
                <a:solidFill>
                  <a:prstClr val="black"/>
                </a:solidFill>
              </a:rPr>
              <a:t>, </a:t>
            </a:r>
            <a:r>
              <a:rPr lang="ko-KR" altLang="en-US" sz="700" dirty="0">
                <a:solidFill>
                  <a:prstClr val="black"/>
                </a:solidFill>
              </a:rPr>
              <a:t>청구는 </a:t>
            </a:r>
            <a:r>
              <a:rPr lang="en-US" altLang="ko-KR" sz="700" dirty="0">
                <a:solidFill>
                  <a:prstClr val="black"/>
                </a:solidFill>
              </a:rPr>
              <a:t>PC </a:t>
            </a:r>
            <a:r>
              <a:rPr lang="ko-KR" altLang="en-US" sz="700" dirty="0">
                <a:solidFill>
                  <a:prstClr val="black"/>
                </a:solidFill>
              </a:rPr>
              <a:t>버전에서 가능합니다</a:t>
            </a:r>
            <a:r>
              <a:rPr lang="en-US" altLang="ko-KR" sz="700" dirty="0">
                <a:solidFill>
                  <a:prstClr val="black"/>
                </a:solidFill>
              </a:rPr>
              <a:t>.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cxnSp>
        <p:nvCxnSpPr>
          <p:cNvPr id="340" name="직선 연결선 33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5091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52" name="TextBox 25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7672" y="1930720"/>
            <a:ext cx="84376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비고</a:t>
            </a:r>
          </a:p>
        </p:txBody>
      </p:sp>
      <p:grpSp>
        <p:nvGrpSpPr>
          <p:cNvPr id="159" name="그룹 158"/>
          <p:cNvGrpSpPr/>
          <p:nvPr/>
        </p:nvGrpSpPr>
        <p:grpSpPr>
          <a:xfrm flipV="1">
            <a:off x="6259759" y="1990073"/>
            <a:ext cx="94010" cy="47005"/>
            <a:chOff x="6812560" y="3297172"/>
            <a:chExt cx="94010" cy="47005"/>
          </a:xfrm>
        </p:grpSpPr>
        <p:cxnSp>
          <p:nvCxnSpPr>
            <p:cNvPr id="160" name="직선 연결선 159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1" name="직선 연결선 160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" name="그룹 7"/>
          <p:cNvGrpSpPr/>
          <p:nvPr/>
        </p:nvGrpSpPr>
        <p:grpSpPr>
          <a:xfrm>
            <a:off x="720490" y="4465173"/>
            <a:ext cx="2630093" cy="1815590"/>
            <a:chOff x="720490" y="4465173"/>
            <a:chExt cx="2630093" cy="1815590"/>
          </a:xfrm>
        </p:grpSpPr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4465173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07" name="그룹 106"/>
            <p:cNvGrpSpPr/>
            <p:nvPr/>
          </p:nvGrpSpPr>
          <p:grpSpPr>
            <a:xfrm flipV="1">
              <a:off x="3143548" y="4578504"/>
              <a:ext cx="94010" cy="47005"/>
              <a:chOff x="6812560" y="3297172"/>
              <a:chExt cx="94010" cy="47005"/>
            </a:xfrm>
          </p:grpSpPr>
          <p:cxnSp>
            <p:nvCxnSpPr>
              <p:cNvPr id="108" name="직선 연결선 10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" name="직선 연결선 10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" name="직사각형 15"/>
            <p:cNvSpPr/>
            <p:nvPr/>
          </p:nvSpPr>
          <p:spPr>
            <a:xfrm>
              <a:off x="722583" y="4772657"/>
              <a:ext cx="792000" cy="145964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5" name="직선 연결선 10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77265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772658"/>
              <a:ext cx="670770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계약명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공사기간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업체명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>
                  <a:latin typeface="+mn-ea"/>
                </a:rPr>
                <a:t>대표</a:t>
              </a:r>
              <a:r>
                <a:rPr lang="en-US" altLang="ko-KR" sz="700" dirty="0">
                  <a:latin typeface="+mn-ea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검사일자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지급구분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계약금액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>
                  <a:latin typeface="+mn-ea"/>
                </a:rPr>
                <a:t>원</a:t>
              </a:r>
              <a:r>
                <a:rPr lang="en-US" altLang="ko-KR" sz="700" dirty="0">
                  <a:latin typeface="+mn-ea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기성금액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>
                  <a:latin typeface="+mn-ea"/>
                </a:rPr>
                <a:t>원</a:t>
              </a:r>
              <a:r>
                <a:rPr lang="en-US" altLang="ko-KR" sz="700" dirty="0">
                  <a:latin typeface="+mn-ea"/>
                </a:rPr>
                <a:t>)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772658"/>
              <a:ext cx="1784088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000000 </a:t>
              </a:r>
              <a:r>
                <a:rPr lang="ko-KR" altLang="en-US" sz="700" dirty="0">
                  <a:latin typeface="+mn-ea"/>
                </a:rPr>
                <a:t>공사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2026-01-30 ~ 2026-12-30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2026-01-30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15" name="직선 연결선 11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0037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6" name="직선 연결선 11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2174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7" name="직선 연결선 11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43117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0" name="직선 연결선 16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6260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8" name="직선 연결선 14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84081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606048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75" name="TextBox 174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156" name="모서리가 둥근 직사각형 155"/>
          <p:cNvSpPr/>
          <p:nvPr/>
        </p:nvSpPr>
        <p:spPr>
          <a:xfrm>
            <a:off x="1522790" y="2278058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endParaRPr lang="ko-KR" altLang="en-US" sz="600" dirty="0"/>
          </a:p>
        </p:txBody>
      </p:sp>
      <p:grpSp>
        <p:nvGrpSpPr>
          <p:cNvPr id="5" name="그룹 4"/>
          <p:cNvGrpSpPr/>
          <p:nvPr/>
        </p:nvGrpSpPr>
        <p:grpSpPr>
          <a:xfrm>
            <a:off x="764169" y="4142235"/>
            <a:ext cx="1636582" cy="107722"/>
            <a:chOff x="764169" y="4142235"/>
            <a:chExt cx="1636582" cy="107722"/>
          </a:xfrm>
        </p:grpSpPr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4169" y="4142235"/>
              <a:ext cx="3597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b="1" dirty="0" err="1">
                  <a:latin typeface="+mn-ea"/>
                </a:rPr>
                <a:t>계약정보</a:t>
              </a:r>
              <a:endParaRPr lang="ko-KR" altLang="en-US" sz="700" b="1" dirty="0">
                <a:latin typeface="+mn-ea"/>
              </a:endParaRP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302043" y="4142235"/>
              <a:ext cx="5564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>
                  <a:latin typeface="+mn-ea"/>
                </a:rPr>
                <a:t>대가지급업체</a:t>
              </a:r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036583" y="4142235"/>
              <a:ext cx="36416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>
                  <a:latin typeface="+mn-ea"/>
                </a:rPr>
                <a:t>첨부파일</a:t>
              </a:r>
            </a:p>
          </p:txBody>
        </p:sp>
      </p:grpSp>
      <p:grpSp>
        <p:nvGrpSpPr>
          <p:cNvPr id="174" name="그룹 173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5113316" y="4664603"/>
            <a:ext cx="76863" cy="292489"/>
            <a:chOff x="3750067" y="4683795"/>
            <a:chExt cx="76863" cy="292489"/>
          </a:xfrm>
        </p:grpSpPr>
        <p:sp>
          <p:nvSpPr>
            <p:cNvPr id="176" name="타원 175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77" name="타원 176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78" name="타원 177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209" name="그룹 208"/>
          <p:cNvGrpSpPr/>
          <p:nvPr/>
        </p:nvGrpSpPr>
        <p:grpSpPr>
          <a:xfrm>
            <a:off x="6027618" y="1602818"/>
            <a:ext cx="422853" cy="187961"/>
            <a:chOff x="3641308" y="2234886"/>
            <a:chExt cx="422853" cy="187961"/>
          </a:xfrm>
        </p:grpSpPr>
        <p:sp>
          <p:nvSpPr>
            <p:cNvPr id="210" name="타원 209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1" name="그룹 210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216" name="직선 연결선 21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7" name="직선 연결선 21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2" name="타원 211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3" name="그룹 212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214" name="직선 연결선 21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직선 연결선 21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" name="그룹 6"/>
          <p:cNvGrpSpPr/>
          <p:nvPr/>
        </p:nvGrpSpPr>
        <p:grpSpPr>
          <a:xfrm>
            <a:off x="2924086" y="4104112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55" name="그룹 154"/>
          <p:cNvGrpSpPr/>
          <p:nvPr/>
        </p:nvGrpSpPr>
        <p:grpSpPr>
          <a:xfrm>
            <a:off x="3869962" y="1642048"/>
            <a:ext cx="1636582" cy="107722"/>
            <a:chOff x="764169" y="4142235"/>
            <a:chExt cx="1636582" cy="107722"/>
          </a:xfrm>
        </p:grpSpPr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4169" y="4142235"/>
              <a:ext cx="3597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b="1" dirty="0" err="1">
                  <a:latin typeface="+mn-ea"/>
                </a:rPr>
                <a:t>계약정보</a:t>
              </a:r>
              <a:endParaRPr lang="ko-KR" altLang="en-US" sz="700" b="1" dirty="0">
                <a:latin typeface="+mn-ea"/>
              </a:endParaRP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302043" y="4142235"/>
              <a:ext cx="5564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>
                  <a:latin typeface="+mn-ea"/>
                </a:rPr>
                <a:t>대가지급업체</a:t>
              </a:r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036583" y="4142235"/>
              <a:ext cx="36416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>
                  <a:latin typeface="+mn-ea"/>
                </a:rPr>
                <a:t>첨부파일</a:t>
              </a:r>
            </a:p>
          </p:txBody>
        </p:sp>
      </p:grpSp>
      <p:grpSp>
        <p:nvGrpSpPr>
          <p:cNvPr id="9" name="그룹 8"/>
          <p:cNvGrpSpPr/>
          <p:nvPr/>
        </p:nvGrpSpPr>
        <p:grpSpPr>
          <a:xfrm>
            <a:off x="3795734" y="2193662"/>
            <a:ext cx="2712027" cy="1870733"/>
            <a:chOff x="3783912" y="2803333"/>
            <a:chExt cx="2712027" cy="1870733"/>
          </a:xfrm>
        </p:grpSpPr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83912" y="4674066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8844" y="2803333"/>
              <a:ext cx="2532688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1. </a:t>
              </a:r>
              <a:r>
                <a:rPr lang="ko-KR" altLang="en-US" sz="700" dirty="0" err="1">
                  <a:latin typeface="+mn-ea"/>
                </a:rPr>
                <a:t>변경내역</a:t>
              </a:r>
              <a:r>
                <a:rPr lang="ko-KR" altLang="en-US" sz="700" dirty="0">
                  <a:latin typeface="+mn-ea"/>
                </a:rPr>
                <a:t> 표시</a:t>
              </a:r>
            </a:p>
          </p:txBody>
        </p:sp>
      </p:grpSp>
      <p:grpSp>
        <p:nvGrpSpPr>
          <p:cNvPr id="140" name="그룹 139"/>
          <p:cNvGrpSpPr/>
          <p:nvPr/>
        </p:nvGrpSpPr>
        <p:grpSpPr>
          <a:xfrm>
            <a:off x="747925" y="3401909"/>
            <a:ext cx="2599014" cy="187961"/>
            <a:chOff x="747925" y="3393200"/>
            <a:chExt cx="2599014" cy="187961"/>
          </a:xfrm>
        </p:grpSpPr>
        <p:grpSp>
          <p:nvGrpSpPr>
            <p:cNvPr id="141" name="그룹 140"/>
            <p:cNvGrpSpPr/>
            <p:nvPr/>
          </p:nvGrpSpPr>
          <p:grpSpPr>
            <a:xfrm rot="16200000">
              <a:off x="1250697" y="3463679"/>
              <a:ext cx="94010" cy="47005"/>
              <a:chOff x="6812560" y="3297172"/>
              <a:chExt cx="94010" cy="47005"/>
            </a:xfrm>
          </p:grpSpPr>
          <p:cxnSp>
            <p:nvCxnSpPr>
              <p:cNvPr id="205" name="직선 연결선 20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6" name="직선 연결선 20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604170" y="3433319"/>
              <a:ext cx="40086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계약</a:t>
              </a:r>
            </a:p>
          </p:txBody>
        </p:sp>
        <p:sp>
          <p:nvSpPr>
            <p:cNvPr id="143" name="타원 142"/>
            <p:cNvSpPr/>
            <p:nvPr/>
          </p:nvSpPr>
          <p:spPr>
            <a:xfrm>
              <a:off x="1404035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459092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3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45" name="그룹 144"/>
            <p:cNvGrpSpPr/>
            <p:nvPr/>
          </p:nvGrpSpPr>
          <p:grpSpPr>
            <a:xfrm rot="16200000">
              <a:off x="1906808" y="3463679"/>
              <a:ext cx="94010" cy="47005"/>
              <a:chOff x="6812560" y="3297172"/>
              <a:chExt cx="94010" cy="47005"/>
            </a:xfrm>
          </p:grpSpPr>
          <p:cxnSp>
            <p:nvCxnSpPr>
              <p:cNvPr id="187" name="직선 연결선 18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4" name="직선 연결선 203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46" name="그룹 145"/>
            <p:cNvGrpSpPr/>
            <p:nvPr/>
          </p:nvGrpSpPr>
          <p:grpSpPr>
            <a:xfrm rot="16200000">
              <a:off x="2562920" y="3463679"/>
              <a:ext cx="94010" cy="47005"/>
              <a:chOff x="6812560" y="3297172"/>
              <a:chExt cx="94010" cy="47005"/>
            </a:xfrm>
          </p:grpSpPr>
          <p:cxnSp>
            <p:nvCxnSpPr>
              <p:cNvPr id="181" name="직선 연결선 18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5" name="직선 연결선 18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47" name="타원 146"/>
            <p:cNvSpPr/>
            <p:nvPr/>
          </p:nvSpPr>
          <p:spPr>
            <a:xfrm>
              <a:off x="747925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2982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2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51350" y="3433319"/>
              <a:ext cx="39757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입찰</a:t>
              </a:r>
            </a:p>
          </p:txBody>
        </p:sp>
        <p:sp>
          <p:nvSpPr>
            <p:cNvPr id="151" name="타원 150"/>
            <p:cNvSpPr/>
            <p:nvPr/>
          </p:nvSpPr>
          <p:spPr>
            <a:xfrm>
              <a:off x="2058749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113806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4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263899" y="343331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이행</a:t>
              </a:r>
            </a:p>
          </p:txBody>
        </p:sp>
        <p:sp>
          <p:nvSpPr>
            <p:cNvPr id="154" name="타원 153"/>
            <p:cNvSpPr/>
            <p:nvPr/>
          </p:nvSpPr>
          <p:spPr>
            <a:xfrm>
              <a:off x="2714860" y="3393200"/>
              <a:ext cx="187961" cy="187961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769917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bg1"/>
                  </a:solidFill>
                  <a:latin typeface="+mn-ea"/>
                </a:rPr>
                <a:t>5</a:t>
              </a:r>
              <a:endParaRPr lang="ko-KR" altLang="en-US" sz="7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20010" y="343331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대금</a:t>
              </a:r>
              <a:r>
                <a:rPr lang="en-US" altLang="ko-KR" sz="700" dirty="0">
                  <a:latin typeface="+mn-ea"/>
                </a:rPr>
                <a:t>/</a:t>
              </a:r>
              <a:r>
                <a:rPr lang="ko-KR" altLang="en-US" sz="700" dirty="0">
                  <a:latin typeface="+mn-ea"/>
                </a:rPr>
                <a:t>사후</a:t>
              </a:r>
            </a:p>
          </p:txBody>
        </p:sp>
        <p:grpSp>
          <p:nvGrpSpPr>
            <p:cNvPr id="171" name="그룹 170"/>
            <p:cNvGrpSpPr/>
            <p:nvPr/>
          </p:nvGrpSpPr>
          <p:grpSpPr>
            <a:xfrm rot="5400000">
              <a:off x="3158978" y="3393200"/>
              <a:ext cx="187961" cy="187961"/>
              <a:chOff x="3876200" y="2234886"/>
              <a:chExt cx="187961" cy="187961"/>
            </a:xfrm>
          </p:grpSpPr>
          <p:sp>
            <p:nvSpPr>
              <p:cNvPr id="172" name="타원 171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73" name="그룹 172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179" name="직선 연결선 178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80" name="직선 연결선 179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83" name="타원 18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867770" y="519730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sp>
        <p:nvSpPr>
          <p:cNvPr id="184" name="타원 18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14618" y="220237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86" name="타원 18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12057" y="388431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89" name="타원 18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12057" y="426206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90" name="타원 18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12057" y="465186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94" name="타원 19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37073" y="238888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1-1</a:t>
            </a:r>
            <a:endParaRPr lang="ko-KR" altLang="en-US" sz="600" b="1" dirty="0"/>
          </a:p>
        </p:txBody>
      </p:sp>
      <p:sp>
        <p:nvSpPr>
          <p:cNvPr id="195" name="타원 19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799111" y="253568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1-2</a:t>
            </a:r>
            <a:endParaRPr lang="ko-KR" altLang="en-US" sz="600" b="1" dirty="0"/>
          </a:p>
        </p:txBody>
      </p:sp>
      <p:sp>
        <p:nvSpPr>
          <p:cNvPr id="196" name="타원 19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36599" y="275612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1-3</a:t>
            </a:r>
            <a:endParaRPr lang="ko-KR" altLang="en-US" sz="600" b="1" dirty="0"/>
          </a:p>
        </p:txBody>
      </p:sp>
      <p:sp>
        <p:nvSpPr>
          <p:cNvPr id="3" name="직사각형 2"/>
          <p:cNvSpPr/>
          <p:nvPr/>
        </p:nvSpPr>
        <p:spPr>
          <a:xfrm>
            <a:off x="7079729" y="5991496"/>
            <a:ext cx="2378480" cy="198937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ctr"/>
            <a:r>
              <a:rPr lang="en-US" altLang="ko-KR" sz="500" b="1" dirty="0" smtClean="0">
                <a:solidFill>
                  <a:schemeClr val="bg1"/>
                </a:solidFill>
              </a:rPr>
              <a:t>0706) </a:t>
            </a:r>
            <a:r>
              <a:rPr lang="ko-KR" altLang="ko-KR" sz="500" b="1" dirty="0" err="1" smtClean="0">
                <a:solidFill>
                  <a:schemeClr val="bg1"/>
                </a:solidFill>
              </a:rPr>
              <a:t>지급구분</a:t>
            </a:r>
            <a:r>
              <a:rPr lang="en-US" altLang="ko-KR" sz="500" b="1" dirty="0" smtClean="0">
                <a:solidFill>
                  <a:schemeClr val="bg1"/>
                </a:solidFill>
              </a:rPr>
              <a:t>, </a:t>
            </a:r>
            <a:r>
              <a:rPr lang="ko-KR" altLang="ko-KR" sz="500" b="1" dirty="0" smtClean="0">
                <a:solidFill>
                  <a:schemeClr val="bg1"/>
                </a:solidFill>
              </a:rPr>
              <a:t>신청금액</a:t>
            </a:r>
            <a:r>
              <a:rPr lang="en-US" altLang="ko-KR" sz="500" b="1" dirty="0" smtClean="0">
                <a:solidFill>
                  <a:schemeClr val="bg1"/>
                </a:solidFill>
              </a:rPr>
              <a:t> </a:t>
            </a:r>
            <a:r>
              <a:rPr lang="ko-KR" altLang="en-US" sz="500" b="1" dirty="0" smtClean="0">
                <a:solidFill>
                  <a:schemeClr val="bg1"/>
                </a:solidFill>
              </a:rPr>
              <a:t>누락</a:t>
            </a:r>
            <a:endParaRPr lang="ko-KR" altLang="ko-KR" sz="500" dirty="0">
              <a:solidFill>
                <a:schemeClr val="bg1"/>
              </a:solidFill>
            </a:endParaRPr>
          </a:p>
        </p:txBody>
      </p:sp>
      <p:sp>
        <p:nvSpPr>
          <p:cNvPr id="198" name="텍스트 개체 틀 2"/>
          <p:cNvSpPr txBox="1">
            <a:spLocks/>
          </p:cNvSpPr>
          <p:nvPr/>
        </p:nvSpPr>
        <p:spPr>
          <a:xfrm>
            <a:off x="7068896" y="1475995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 algn="l" defTabSz="914400" rtl="0" eaLnBrk="1" latinLnBrk="1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타이틀 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1-1] </a:t>
            </a:r>
            <a:r>
              <a:rPr lang="ko-KR" altLang="en-US" dirty="0" smtClean="0"/>
              <a:t>레이블이 화면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화면 넘치는 경우 드래그하여 확인 가능 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스와이프기능</a:t>
            </a:r>
            <a:r>
              <a:rPr lang="ko-KR" altLang="en-US" dirty="0" smtClean="0"/>
              <a:t> 반영 필요</a:t>
            </a:r>
            <a:r>
              <a:rPr lang="en-US" altLang="ko-KR" dirty="0" smtClean="0"/>
              <a:t>)</a:t>
            </a:r>
            <a:br>
              <a:rPr lang="en-US" altLang="ko-KR" dirty="0" smtClean="0"/>
            </a:br>
            <a:r>
              <a:rPr lang="en-US" altLang="ko-KR" dirty="0" smtClean="0"/>
              <a:t>1-2] </a:t>
            </a:r>
            <a:r>
              <a:rPr lang="ko-KR" altLang="en-US" dirty="0" smtClean="0"/>
              <a:t>문서 정보 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판단번호</a:t>
            </a:r>
            <a:r>
              <a:rPr lang="ko-KR" altLang="en-US" dirty="0" smtClean="0"/>
              <a:t> </a:t>
            </a:r>
            <a:r>
              <a:rPr lang="en-US" altLang="ko-KR" dirty="0" smtClean="0"/>
              <a:t>,  </a:t>
            </a:r>
            <a:r>
              <a:rPr lang="ko-KR" altLang="en-US" dirty="0" err="1" smtClean="0"/>
              <a:t>계약번호</a:t>
            </a:r>
            <a:r>
              <a:rPr lang="ko-KR" altLang="en-US" dirty="0" smtClean="0"/>
              <a:t> 노출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판단번호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전체노출</a:t>
            </a:r>
            <a:r>
              <a:rPr lang="ko-KR" altLang="en-US" dirty="0" smtClean="0"/>
              <a:t> </a:t>
            </a:r>
            <a:r>
              <a:rPr lang="en-US" altLang="ko-KR" dirty="0" smtClean="0"/>
              <a:t>/ </a:t>
            </a:r>
            <a:r>
              <a:rPr lang="ko-KR" altLang="en-US" dirty="0" err="1" smtClean="0"/>
              <a:t>계약번호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노출시</a:t>
            </a:r>
            <a:r>
              <a:rPr lang="ko-KR" altLang="en-US" dirty="0" smtClean="0"/>
              <a:t> 해당 라인을 넘어가면 </a:t>
            </a:r>
            <a:r>
              <a:rPr lang="en-US" altLang="ko-KR" dirty="0" smtClean="0"/>
              <a:t>(…) </a:t>
            </a:r>
            <a:r>
              <a:rPr lang="ko-KR" altLang="en-US" dirty="0" err="1" smtClean="0"/>
              <a:t>말줄임</a:t>
            </a:r>
            <a:r>
              <a:rPr lang="ko-KR" altLang="en-US" dirty="0" smtClean="0"/>
              <a:t>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1-3] </a:t>
            </a:r>
            <a:r>
              <a:rPr lang="ko-KR" altLang="en-US" dirty="0" smtClean="0"/>
              <a:t>문서 제목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제목은 </a:t>
            </a:r>
            <a:r>
              <a:rPr lang="en-US" altLang="ko-KR" dirty="0" smtClean="0"/>
              <a:t>2</a:t>
            </a:r>
            <a:r>
              <a:rPr lang="ko-KR" altLang="en-US" dirty="0" smtClean="0"/>
              <a:t>줄 까지 노출 이후</a:t>
            </a:r>
            <a:r>
              <a:rPr lang="en-US" altLang="ko-KR" dirty="0" smtClean="0"/>
              <a:t>(…) </a:t>
            </a:r>
            <a:r>
              <a:rPr lang="ko-KR" altLang="en-US" dirty="0" err="1" smtClean="0"/>
              <a:t>말줄임</a:t>
            </a:r>
            <a:r>
              <a:rPr lang="ko-KR" altLang="en-US" dirty="0" smtClean="0"/>
              <a:t>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업무도움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기본값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접힘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클릭시</a:t>
            </a:r>
            <a:r>
              <a:rPr lang="ko-KR" altLang="en-US" dirty="0" smtClean="0"/>
              <a:t> 확장하여 정보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</a:t>
            </a:r>
            <a:r>
              <a:rPr lang="ko-KR" altLang="en-US" dirty="0" err="1" smtClean="0"/>
              <a:t>업무도움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&gt; </a:t>
            </a:r>
            <a:r>
              <a:rPr lang="ko-KR" altLang="en-US" dirty="0" smtClean="0"/>
              <a:t>내역이 있는 경우 만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탭 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신청정보</a:t>
            </a:r>
            <a:r>
              <a:rPr lang="ko-KR" altLang="en-US" dirty="0" smtClean="0"/>
              <a:t> </a:t>
            </a:r>
            <a:r>
              <a:rPr lang="en-US" altLang="ko-KR" dirty="0" smtClean="0"/>
              <a:t>Tab</a:t>
            </a:r>
            <a:r>
              <a:rPr lang="ko-KR" altLang="en-US" dirty="0" smtClean="0"/>
              <a:t>은 진입 시 고정 노출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탭 내용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err="1" smtClean="0"/>
              <a:t>계약정보</a:t>
            </a:r>
            <a:r>
              <a:rPr lang="en-US" altLang="ko-KR" dirty="0" smtClean="0"/>
              <a:t>, </a:t>
            </a:r>
            <a:r>
              <a:rPr lang="ko-KR" altLang="en-US" dirty="0" smtClean="0"/>
              <a:t>대가지금업체</a:t>
            </a:r>
            <a:r>
              <a:rPr lang="en-US" altLang="ko-KR" dirty="0" smtClean="0"/>
              <a:t>,</a:t>
            </a:r>
            <a:r>
              <a:rPr lang="ko-KR" altLang="en-US" dirty="0" smtClean="0"/>
              <a:t>첨부파일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&gt; </a:t>
            </a:r>
            <a:r>
              <a:rPr lang="ko-KR" altLang="en-US" dirty="0" smtClean="0"/>
              <a:t>로그인 필요 서비스 안내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화면을 </a:t>
            </a:r>
            <a:r>
              <a:rPr lang="ko-KR" altLang="en-US" dirty="0" err="1" smtClean="0"/>
              <a:t>넘치는경우</a:t>
            </a:r>
            <a:r>
              <a:rPr lang="ko-KR" altLang="en-US" dirty="0" smtClean="0"/>
              <a:t> 드래그하여 확인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스와이프기능</a:t>
            </a:r>
            <a:r>
              <a:rPr lang="ko-KR" altLang="en-US" dirty="0" smtClean="0"/>
              <a:t> 반영 필요</a:t>
            </a:r>
            <a:r>
              <a:rPr lang="en-US" altLang="ko-KR" dirty="0" smtClean="0"/>
              <a:t>)</a:t>
            </a:r>
            <a:br>
              <a:rPr lang="en-US" altLang="ko-KR" dirty="0" smtClean="0"/>
            </a:br>
            <a:r>
              <a:rPr lang="ko-KR" altLang="en-US" dirty="0" err="1" smtClean="0"/>
              <a:t>계약정보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각 공고에 맞춰 폼 변화에 유의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상세내용에</a:t>
            </a:r>
            <a:r>
              <a:rPr lang="ko-KR" altLang="en-US" dirty="0" smtClean="0"/>
              <a:t> 포함된 정보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상단 </a:t>
            </a:r>
            <a:r>
              <a:rPr lang="ko-KR" altLang="en-US" dirty="0" smtClean="0"/>
              <a:t>이동 </a:t>
            </a:r>
            <a:r>
              <a:rPr lang="ko-KR" altLang="en-US" dirty="0" smtClean="0"/>
              <a:t>버튼</a:t>
            </a:r>
            <a:endParaRPr lang="en-US" altLang="ko-KR" dirty="0" smtClean="0"/>
          </a:p>
          <a:p>
            <a:endParaRPr lang="ko-KR" altLang="en-US" dirty="0"/>
          </a:p>
        </p:txBody>
      </p:sp>
      <p:grpSp>
        <p:nvGrpSpPr>
          <p:cNvPr id="133" name="그룹 132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134" name="직사각형 133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2026-08-05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135" name="직사각형 134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테이블 </a:t>
              </a:r>
              <a:r>
                <a:rPr lang="ko-KR" altLang="en-US" sz="700" dirty="0" err="1" smtClean="0"/>
                <a:t>표시내역</a:t>
              </a:r>
              <a:r>
                <a:rPr lang="ko-KR" altLang="en-US" sz="700" dirty="0" smtClean="0"/>
                <a:t> 변경</a:t>
              </a:r>
              <a:r>
                <a:rPr lang="en-US" altLang="ko-KR" sz="700" dirty="0" smtClean="0"/>
                <a:t/>
              </a:r>
              <a:br>
                <a:rPr lang="en-US" altLang="ko-KR" sz="700" dirty="0" smtClean="0"/>
              </a:br>
              <a:r>
                <a:rPr lang="ko-KR" altLang="en-US" sz="700" dirty="0" err="1" smtClean="0"/>
                <a:t>계약번호</a:t>
              </a:r>
              <a:r>
                <a:rPr lang="ko-KR" altLang="en-US" sz="700" dirty="0" smtClean="0"/>
                <a:t> </a:t>
              </a:r>
              <a:r>
                <a:rPr lang="en-US" altLang="ko-KR" sz="700" dirty="0" smtClean="0">
                  <a:sym typeface="Wingdings" panose="05000000000000000000" pitchFamily="2" charset="2"/>
                </a:rPr>
                <a:t> </a:t>
              </a:r>
              <a:r>
                <a:rPr lang="ko-KR" altLang="en-US" sz="700" dirty="0" err="1" smtClean="0">
                  <a:sym typeface="Wingdings" panose="05000000000000000000" pitchFamily="2" charset="2"/>
                </a:rPr>
                <a:t>계약명</a:t>
              </a:r>
              <a:endParaRPr lang="ko-KR" altLang="en-US" sz="7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4873997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계약정보</a:t>
            </a:r>
            <a:r>
              <a:rPr lang="ko-KR" altLang="en-US" dirty="0"/>
              <a:t> 데이터 영역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비고 데이터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55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 smtClean="0">
                <a:latin typeface="+mn-ea"/>
              </a:rPr>
              <a:t>계약정보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공사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공사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MUI-WM-01-T13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9579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grpSp>
        <p:nvGrpSpPr>
          <p:cNvPr id="133" name="그룹 132"/>
          <p:cNvGrpSpPr/>
          <p:nvPr/>
        </p:nvGrpSpPr>
        <p:grpSpPr>
          <a:xfrm>
            <a:off x="716366" y="1947801"/>
            <a:ext cx="2630093" cy="2031034"/>
            <a:chOff x="720490" y="4465173"/>
            <a:chExt cx="2630093" cy="2031034"/>
          </a:xfrm>
        </p:grpSpPr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4465173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35" name="그룹 134"/>
            <p:cNvGrpSpPr/>
            <p:nvPr/>
          </p:nvGrpSpPr>
          <p:grpSpPr>
            <a:xfrm flipV="1">
              <a:off x="3143548" y="4578504"/>
              <a:ext cx="94010" cy="47005"/>
              <a:chOff x="6812560" y="3297172"/>
              <a:chExt cx="94010" cy="47005"/>
            </a:xfrm>
          </p:grpSpPr>
          <p:cxnSp>
            <p:nvCxnSpPr>
              <p:cNvPr id="147" name="직선 연결선 14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8" name="직선 연결선 14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36" name="직사각형 135"/>
            <p:cNvSpPr/>
            <p:nvPr/>
          </p:nvSpPr>
          <p:spPr>
            <a:xfrm>
              <a:off x="722583" y="4772658"/>
              <a:ext cx="792000" cy="16974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7" name="직선 연결선 13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77265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772658"/>
              <a:ext cx="670770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공사기간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업체명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>
                  <a:latin typeface="+mn-ea"/>
                </a:rPr>
                <a:t>대표</a:t>
              </a:r>
              <a:r>
                <a:rPr lang="en-US" altLang="ko-KR" sz="700" dirty="0">
                  <a:latin typeface="+mn-ea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검사일자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지급구분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계약금액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>
                  <a:latin typeface="+mn-ea"/>
                </a:rPr>
                <a:t>원</a:t>
              </a:r>
              <a:r>
                <a:rPr lang="en-US" altLang="ko-KR" sz="700" dirty="0">
                  <a:latin typeface="+mn-ea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기성금액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>
                  <a:latin typeface="+mn-ea"/>
                </a:rPr>
                <a:t>원</a:t>
              </a:r>
              <a:r>
                <a:rPr lang="en-US" altLang="ko-KR" sz="700" dirty="0">
                  <a:latin typeface="+mn-ea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신청금액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>
                  <a:latin typeface="+mn-ea"/>
                </a:rPr>
                <a:t>원</a:t>
              </a:r>
              <a:r>
                <a:rPr lang="en-US" altLang="ko-KR" sz="700" dirty="0">
                  <a:latin typeface="+mn-ea"/>
                </a:rPr>
                <a:t>)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772658"/>
              <a:ext cx="1784088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 0000 00 - 01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2026-01-30 ~ 2026-12-30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2026-01-30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41" name="직선 연결선 14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0037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2" name="직선 연결선 14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2174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43117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6260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8241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8" name="직선 연결선 4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604603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627201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0" name="직선 연결선 4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647007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149" name="직선 연결선 14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405825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5" name="타원 15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24272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9336" y="4105459"/>
            <a:ext cx="84376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비고</a:t>
            </a:r>
          </a:p>
        </p:txBody>
      </p:sp>
      <p:grpSp>
        <p:nvGrpSpPr>
          <p:cNvPr id="53" name="그룹 52"/>
          <p:cNvGrpSpPr/>
          <p:nvPr/>
        </p:nvGrpSpPr>
        <p:grpSpPr>
          <a:xfrm flipV="1">
            <a:off x="3151423" y="4164812"/>
            <a:ext cx="94010" cy="47005"/>
            <a:chOff x="6812560" y="3297172"/>
            <a:chExt cx="94010" cy="47005"/>
          </a:xfrm>
        </p:grpSpPr>
        <p:cxnSp>
          <p:nvCxnSpPr>
            <p:cNvPr id="54" name="직선 연결선 53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직선 연결선 54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6" name="그룹 55"/>
          <p:cNvGrpSpPr/>
          <p:nvPr/>
        </p:nvGrpSpPr>
        <p:grpSpPr>
          <a:xfrm>
            <a:off x="687398" y="4368401"/>
            <a:ext cx="2712027" cy="1444013"/>
            <a:chOff x="3783912" y="2803333"/>
            <a:chExt cx="2712027" cy="1444013"/>
          </a:xfrm>
        </p:grpSpPr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83912" y="4247346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8844" y="2803333"/>
              <a:ext cx="2532688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1. </a:t>
              </a:r>
              <a:r>
                <a:rPr lang="ko-KR" altLang="en-US" sz="700" dirty="0" err="1">
                  <a:latin typeface="+mn-ea"/>
                </a:rPr>
                <a:t>변경내역</a:t>
              </a:r>
              <a:r>
                <a:rPr lang="ko-KR" altLang="en-US" sz="700" dirty="0">
                  <a:latin typeface="+mn-ea"/>
                </a:rPr>
                <a:t> 표시</a:t>
              </a:r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720490" y="1497658"/>
            <a:ext cx="2626449" cy="354413"/>
            <a:chOff x="720490" y="4004429"/>
            <a:chExt cx="2626449" cy="354413"/>
          </a:xfrm>
        </p:grpSpPr>
        <p:cxnSp>
          <p:nvCxnSpPr>
            <p:cNvPr id="37" name="직선 연결선 3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004429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358842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358842"/>
              <a:ext cx="435210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40" name="그룹 39"/>
            <p:cNvGrpSpPr/>
            <p:nvPr/>
          </p:nvGrpSpPr>
          <p:grpSpPr>
            <a:xfrm>
              <a:off x="764169" y="4142235"/>
              <a:ext cx="1636582" cy="107722"/>
              <a:chOff x="764169" y="4142235"/>
              <a:chExt cx="1636582" cy="107722"/>
            </a:xfrm>
          </p:grpSpPr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764169" y="4142235"/>
                <a:ext cx="359782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b="1" dirty="0" err="1">
                    <a:latin typeface="+mn-ea"/>
                  </a:rPr>
                  <a:t>계약정보</a:t>
                </a:r>
                <a:endParaRPr lang="ko-KR" altLang="en-US" sz="700" b="1" dirty="0">
                  <a:latin typeface="+mn-ea"/>
                </a:endParaRP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1302043" y="4142235"/>
                <a:ext cx="556447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</a:rPr>
                  <a:t>대가지급업체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036583" y="4142235"/>
                <a:ext cx="364168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</a:rPr>
                  <a:t>첨부파일</a:t>
                </a:r>
              </a:p>
            </p:txBody>
          </p:sp>
        </p:grpSp>
        <p:grpSp>
          <p:nvGrpSpPr>
            <p:cNvPr id="44" name="그룹 43"/>
            <p:cNvGrpSpPr/>
            <p:nvPr/>
          </p:nvGrpSpPr>
          <p:grpSpPr>
            <a:xfrm>
              <a:off x="2924086" y="4104112"/>
              <a:ext cx="422853" cy="187961"/>
              <a:chOff x="3641308" y="2234886"/>
              <a:chExt cx="422853" cy="187961"/>
            </a:xfrm>
          </p:grpSpPr>
          <p:sp>
            <p:nvSpPr>
              <p:cNvPr id="45" name="타원 44"/>
              <p:cNvSpPr/>
              <p:nvPr/>
            </p:nvSpPr>
            <p:spPr>
              <a:xfrm flipH="1">
                <a:off x="3641308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46" name="그룹 45"/>
              <p:cNvGrpSpPr/>
              <p:nvPr/>
            </p:nvGrpSpPr>
            <p:grpSpPr>
              <a:xfrm rot="5400000" flipH="1">
                <a:off x="3679895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63" name="직선 연결선 62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직선 연결선 63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9" name="타원 58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60" name="그룹 59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61" name="직선 연결선 60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직선 연결선 61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267413259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대가지급업체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56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Autofit/>
          </a:bodyPr>
          <a:lstStyle/>
          <a:p>
            <a:r>
              <a:rPr lang="ko-KR" altLang="en-US" dirty="0" smtClean="0">
                <a:latin typeface="+mn-ea"/>
              </a:rPr>
              <a:t>대가지급업체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공사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공사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MUI-WM-01-T14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4" y="1954718"/>
            <a:ext cx="2456097" cy="181140"/>
            <a:chOff x="763157" y="1527996"/>
            <a:chExt cx="2456097" cy="18114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대가지급업체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2246871"/>
            <a:ext cx="2630093" cy="1508105"/>
            <a:chOff x="3865118" y="2946204"/>
            <a:chExt cx="2630093" cy="1508105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4"/>
              <a:ext cx="792000" cy="150168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업체유형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업체명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신청금액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>
                  <a:latin typeface="+mn-ea"/>
                </a:rPr>
                <a:t>원</a:t>
              </a:r>
              <a:r>
                <a:rPr lang="en-US" altLang="ko-KR" sz="700" dirty="0">
                  <a:latin typeface="+mn-ea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은행명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계좌번호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계좌실명번호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예금주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농협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1100-12345-02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11000-11200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739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5109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003365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507281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4238576"/>
            <a:ext cx="76863" cy="292489"/>
            <a:chOff x="3750067" y="4683795"/>
            <a:chExt cx="76863" cy="292489"/>
          </a:xfrm>
        </p:grpSpPr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33" name="그룹 32"/>
          <p:cNvGrpSpPr/>
          <p:nvPr/>
        </p:nvGrpSpPr>
        <p:grpSpPr>
          <a:xfrm>
            <a:off x="720490" y="1497658"/>
            <a:ext cx="2626449" cy="354413"/>
            <a:chOff x="720490" y="4004429"/>
            <a:chExt cx="2626449" cy="354413"/>
          </a:xfrm>
        </p:grpSpPr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004429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358842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1258688" y="4358842"/>
              <a:ext cx="599802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37" name="그룹 36"/>
            <p:cNvGrpSpPr/>
            <p:nvPr/>
          </p:nvGrpSpPr>
          <p:grpSpPr>
            <a:xfrm>
              <a:off x="764169" y="4142235"/>
              <a:ext cx="1636582" cy="107722"/>
              <a:chOff x="764169" y="4142235"/>
              <a:chExt cx="1636582" cy="107722"/>
            </a:xfrm>
          </p:grpSpPr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764169" y="4142235"/>
                <a:ext cx="359782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 err="1">
                    <a:latin typeface="+mn-ea"/>
                  </a:rPr>
                  <a:t>계약정보</a:t>
                </a:r>
                <a:endParaRPr lang="ko-KR" altLang="en-US" sz="700" dirty="0">
                  <a:latin typeface="+mn-ea"/>
                </a:endParaRP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1302043" y="4142235"/>
                <a:ext cx="556447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b="1" dirty="0">
                    <a:latin typeface="+mn-ea"/>
                  </a:rPr>
                  <a:t>대가지급업체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036583" y="4142235"/>
                <a:ext cx="364168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</a:rPr>
                  <a:t>첨부파일</a:t>
                </a:r>
              </a:p>
            </p:txBody>
          </p:sp>
        </p:grpSp>
        <p:grpSp>
          <p:nvGrpSpPr>
            <p:cNvPr id="38" name="그룹 37"/>
            <p:cNvGrpSpPr/>
            <p:nvPr/>
          </p:nvGrpSpPr>
          <p:grpSpPr>
            <a:xfrm>
              <a:off x="2924086" y="4104112"/>
              <a:ext cx="422853" cy="187961"/>
              <a:chOff x="3641308" y="2234886"/>
              <a:chExt cx="422853" cy="187961"/>
            </a:xfrm>
          </p:grpSpPr>
          <p:sp>
            <p:nvSpPr>
              <p:cNvPr id="39" name="타원 38"/>
              <p:cNvSpPr/>
              <p:nvPr/>
            </p:nvSpPr>
            <p:spPr>
              <a:xfrm flipH="1">
                <a:off x="3641308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40" name="그룹 39"/>
              <p:cNvGrpSpPr/>
              <p:nvPr/>
            </p:nvGrpSpPr>
            <p:grpSpPr>
              <a:xfrm rot="5400000" flipH="1">
                <a:off x="3679895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45" name="직선 연결선 44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직선 연결선 45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1" name="타원 40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42" name="그룹 41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43" name="직선 연결선 42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직선 연결선 43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359697033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57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Autofit/>
          </a:bodyPr>
          <a:lstStyle/>
          <a:p>
            <a:r>
              <a:rPr lang="ko-KR" altLang="en-US" dirty="0" smtClean="0">
                <a:latin typeface="+mn-ea"/>
              </a:rPr>
              <a:t>첨부파일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공사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smtClean="0">
                <a:latin typeface="+mn-ea"/>
              </a:rPr>
              <a:t>대금청구상세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공사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MUI-WM-01-T15</a:t>
            </a:r>
            <a:endParaRPr lang="ko-KR" altLang="en-US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8613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2" name="그룹 31"/>
          <p:cNvGrpSpPr/>
          <p:nvPr/>
        </p:nvGrpSpPr>
        <p:grpSpPr>
          <a:xfrm>
            <a:off x="806578" y="1979819"/>
            <a:ext cx="2456097" cy="181140"/>
            <a:chOff x="763157" y="1527996"/>
            <a:chExt cx="2456097" cy="181140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첨부파일</a:t>
              </a:r>
            </a:p>
          </p:txBody>
        </p:sp>
        <p:grpSp>
          <p:nvGrpSpPr>
            <p:cNvPr id="34" name="그룹 33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35" name="직선 연결선 3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6" name="직선 연결선 3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37" name="타원 3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9374" y="2033499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grpSp>
        <p:nvGrpSpPr>
          <p:cNvPr id="38" name="그룹 37"/>
          <p:cNvGrpSpPr/>
          <p:nvPr/>
        </p:nvGrpSpPr>
        <p:grpSpPr>
          <a:xfrm>
            <a:off x="678614" y="2243087"/>
            <a:ext cx="2712026" cy="1339020"/>
            <a:chOff x="4063785" y="1972404"/>
            <a:chExt cx="2712026" cy="1339020"/>
          </a:xfrm>
        </p:grpSpPr>
        <p:grpSp>
          <p:nvGrpSpPr>
            <p:cNvPr id="39" name="그룹 38"/>
            <p:cNvGrpSpPr/>
            <p:nvPr/>
          </p:nvGrpSpPr>
          <p:grpSpPr>
            <a:xfrm>
              <a:off x="4063785" y="1972404"/>
              <a:ext cx="2712026" cy="1339020"/>
              <a:chOff x="3795735" y="3141693"/>
              <a:chExt cx="2712026" cy="1339020"/>
            </a:xfrm>
          </p:grpSpPr>
          <p:sp>
            <p:nvSpPr>
              <p:cNvPr id="42" name="모서리가 둥근 직사각형 41"/>
              <p:cNvSpPr/>
              <p:nvPr/>
            </p:nvSpPr>
            <p:spPr>
              <a:xfrm>
                <a:off x="3831550" y="3276811"/>
                <a:ext cx="2652743" cy="364486"/>
              </a:xfrm>
              <a:prstGeom prst="roundRect">
                <a:avLst>
                  <a:gd name="adj" fmla="val 9062"/>
                </a:avLst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208115" y="3412605"/>
                <a:ext cx="1682738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ko-KR" altLang="en-US" sz="7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첨부파일명</a:t>
                </a:r>
                <a:r>
                  <a:rPr lang="en-US" altLang="ko-KR" sz="7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.</a:t>
                </a:r>
                <a:r>
                  <a:rPr lang="en-US" altLang="ko-KR" sz="7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hwp</a:t>
                </a:r>
                <a:endPara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09746" y="3405193"/>
                <a:ext cx="247786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ko-KR" sz="7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1</a:t>
                </a:r>
                <a:endPara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5" name="타원 44"/>
              <p:cNvSpPr/>
              <p:nvPr/>
            </p:nvSpPr>
            <p:spPr>
              <a:xfrm>
                <a:off x="6240167" y="3387054"/>
                <a:ext cx="144000" cy="144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6" name="모서리가 둥근 직사각형 45"/>
              <p:cNvSpPr/>
              <p:nvPr/>
            </p:nvSpPr>
            <p:spPr>
              <a:xfrm>
                <a:off x="3831550" y="3683497"/>
                <a:ext cx="2652743" cy="364486"/>
              </a:xfrm>
              <a:prstGeom prst="roundRect">
                <a:avLst>
                  <a:gd name="adj" fmla="val 9062"/>
                </a:avLst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208115" y="3819291"/>
                <a:ext cx="1412785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ko-KR" altLang="en-US" sz="7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첨부파일명</a:t>
                </a:r>
                <a:r>
                  <a:rPr lang="en-US" altLang="ko-KR" sz="7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.</a:t>
                </a:r>
                <a:r>
                  <a:rPr lang="en-US" altLang="ko-KR" sz="7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hwp</a:t>
                </a:r>
                <a:endPara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09746" y="3811879"/>
                <a:ext cx="247786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ko-KR" sz="7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2</a:t>
                </a:r>
                <a:endPara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9" name="타원 48"/>
              <p:cNvSpPr/>
              <p:nvPr/>
            </p:nvSpPr>
            <p:spPr>
              <a:xfrm>
                <a:off x="6240167" y="3793740"/>
                <a:ext cx="144000" cy="144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50" name="직선 연결선 4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795735" y="4480713"/>
                <a:ext cx="2712026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332218" y="3141693"/>
                <a:ext cx="474348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ko-KR" altLang="en-US" sz="6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첨부파일명</a:t>
                </a:r>
                <a:endPara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6101185" y="3141693"/>
                <a:ext cx="324968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6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다운로드</a:t>
                </a:r>
                <a:endPara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838314" y="3141693"/>
                <a:ext cx="390650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6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항목번호</a:t>
                </a:r>
                <a:endPara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</p:grpSp>
        <p:sp>
          <p:nvSpPr>
            <p:cNvPr id="40" name="직사각형 39"/>
            <p:cNvSpPr/>
            <p:nvPr/>
          </p:nvSpPr>
          <p:spPr>
            <a:xfrm>
              <a:off x="5968922" y="2605294"/>
              <a:ext cx="546945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[</a:t>
              </a:r>
              <a:r>
                <a:rPr lang="ko-KR" altLang="en-US" sz="6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파일크기</a:t>
              </a:r>
              <a:r>
                <a:rPr lang="en-US" altLang="ko-KR" sz="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]</a:t>
              </a:r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5965336" y="2159928"/>
              <a:ext cx="546945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[</a:t>
              </a:r>
              <a:r>
                <a:rPr lang="ko-KR" altLang="en-US" sz="6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파일크기</a:t>
              </a:r>
              <a:r>
                <a:rPr lang="en-US" altLang="ko-KR" sz="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]</a:t>
              </a:r>
            </a:p>
          </p:txBody>
        </p:sp>
      </p:grpSp>
      <p:sp>
        <p:nvSpPr>
          <p:cNvPr id="55" name="타원 5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10067" y="2383074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177109" y="3015855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57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1128750" y="5933555"/>
            <a:ext cx="1890323" cy="186790"/>
          </a:xfrm>
          <a:prstGeom prst="roundRect">
            <a:avLst>
              <a:gd name="adj" fmla="val 50000"/>
            </a:avLst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kern="0" dirty="0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다운로드에 실패했습니다</a:t>
            </a:r>
            <a:r>
              <a:rPr kumimoji="1" lang="en-US" altLang="ko-KR" sz="700" kern="0" dirty="0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.</a:t>
            </a:r>
            <a:endParaRPr kumimoji="1" lang="en-US" sz="7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sp>
        <p:nvSpPr>
          <p:cNvPr id="58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1111842" y="5726035"/>
            <a:ext cx="1890323" cy="186790"/>
          </a:xfrm>
          <a:prstGeom prst="roundRect">
            <a:avLst>
              <a:gd name="adj" fmla="val 50000"/>
            </a:avLst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kern="0" dirty="0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다운로드에 성공했습니다</a:t>
            </a:r>
            <a:r>
              <a:rPr kumimoji="1" lang="en-US" altLang="ko-KR" sz="700" kern="0" dirty="0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.</a:t>
            </a:r>
            <a:endParaRPr kumimoji="1" lang="en-US" sz="7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056330" y="5837125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62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sz="800" dirty="0"/>
              <a:t>계약에 등록된 </a:t>
            </a:r>
            <a:r>
              <a:rPr lang="ko-KR" altLang="en-US" sz="800" dirty="0" err="1"/>
              <a:t>계약관</a:t>
            </a:r>
            <a:r>
              <a:rPr lang="ko-KR" altLang="en-US" sz="800" dirty="0"/>
              <a:t> 첨부서류 </a:t>
            </a:r>
            <a:r>
              <a:rPr lang="ko-KR" altLang="en-US" sz="800" dirty="0" err="1"/>
              <a:t>목록조회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default) </a:t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아코디언 전체 펼침 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업로드 기능 </a:t>
            </a:r>
            <a:r>
              <a:rPr lang="ko-KR" altLang="en-US" sz="800" dirty="0" err="1"/>
              <a:t>미지원</a:t>
            </a:r>
            <a:r>
              <a:rPr lang="ko-KR" altLang="en-US" sz="800" dirty="0"/>
              <a:t> 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err="1" smtClean="0"/>
              <a:t>대금청구</a:t>
            </a:r>
            <a:r>
              <a:rPr lang="ko-KR" altLang="en-US" sz="800" dirty="0" smtClean="0"/>
              <a:t> </a:t>
            </a:r>
            <a:r>
              <a:rPr lang="ko-KR" altLang="en-US" sz="800" dirty="0"/>
              <a:t>첨부서류에 첨부된 파일이 있는 경우에만 목록 노출</a:t>
            </a:r>
            <a:endParaRPr lang="en-US" altLang="ko-KR" sz="8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파일 </a:t>
            </a:r>
            <a:r>
              <a:rPr lang="ko-KR" altLang="en-US" sz="800" dirty="0"/>
              <a:t>목록 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정렬</a:t>
            </a:r>
            <a:r>
              <a:rPr lang="en-US" altLang="ko-KR" sz="800" dirty="0"/>
              <a:t> : </a:t>
            </a:r>
            <a:r>
              <a:rPr lang="ko-KR" altLang="en-US" sz="800" dirty="0"/>
              <a:t>파일 업로드 시점의 </a:t>
            </a:r>
            <a:r>
              <a:rPr lang="ko-KR" altLang="en-US" sz="800" dirty="0" err="1"/>
              <a:t>등록일시</a:t>
            </a:r>
            <a:r>
              <a:rPr lang="ko-KR" altLang="en-US" sz="800" dirty="0"/>
              <a:t> 내림차순 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err="1"/>
              <a:t>계약서류명</a:t>
            </a:r>
            <a:r>
              <a:rPr lang="en-US" altLang="ko-KR" sz="800" dirty="0"/>
              <a:t>, </a:t>
            </a:r>
            <a:r>
              <a:rPr lang="ko-KR" altLang="en-US" sz="800" dirty="0" err="1"/>
              <a:t>첨부파일명</a:t>
            </a:r>
            <a:r>
              <a:rPr lang="en-US" altLang="ko-KR" sz="800" dirty="0"/>
              <a:t>, </a:t>
            </a:r>
            <a:r>
              <a:rPr lang="ko-KR" altLang="en-US" sz="800" dirty="0"/>
              <a:t>파일 크기 표시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파일 크기 정보가 없거나</a:t>
            </a:r>
            <a:r>
              <a:rPr lang="en-US" altLang="ko-KR" sz="800" dirty="0"/>
              <a:t>, </a:t>
            </a:r>
            <a:r>
              <a:rPr lang="ko-KR" altLang="en-US" sz="800" dirty="0"/>
              <a:t>첨부서류 파일명이 없는 경우 </a:t>
            </a:r>
            <a:r>
              <a:rPr lang="en-US" altLang="ko-KR" sz="800" dirty="0"/>
              <a:t>“-” </a:t>
            </a:r>
            <a:r>
              <a:rPr lang="ko-KR" altLang="en-US" sz="800" dirty="0"/>
              <a:t>표시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파일명이 긴 경우 </a:t>
            </a:r>
            <a:r>
              <a:rPr lang="ko-KR" altLang="en-US" sz="800" dirty="0" err="1"/>
              <a:t>말줄임</a:t>
            </a:r>
            <a:r>
              <a:rPr lang="ko-KR" altLang="en-US" sz="800" dirty="0"/>
              <a:t> 표시</a:t>
            </a:r>
            <a:endParaRPr lang="en-US" altLang="ko-KR" sz="8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/>
              <a:t>다운로드 아이콘 노출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다운로드 </a:t>
            </a:r>
            <a:r>
              <a:rPr lang="ko-KR" altLang="en-US" sz="800" dirty="0" err="1"/>
              <a:t>클릭시</a:t>
            </a:r>
            <a:r>
              <a:rPr lang="en-US" altLang="ko-KR" sz="800" dirty="0"/>
              <a:t>, </a:t>
            </a:r>
            <a:r>
              <a:rPr lang="ko-KR" altLang="en-US" sz="800" dirty="0"/>
              <a:t>즉시 다운로드 실행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파일 다운로드 </a:t>
            </a:r>
            <a:r>
              <a:rPr lang="ko-KR" altLang="en-US" sz="800" dirty="0" err="1"/>
              <a:t>실패시</a:t>
            </a:r>
            <a:r>
              <a:rPr lang="ko-KR" altLang="en-US" sz="800" dirty="0"/>
              <a:t> </a:t>
            </a:r>
            <a:r>
              <a:rPr lang="en-US" altLang="ko-KR" sz="800" dirty="0"/>
              <a:t>, </a:t>
            </a:r>
            <a:r>
              <a:rPr lang="en-US" altLang="ko-KR" sz="800" dirty="0" smtClean="0"/>
              <a:t>“</a:t>
            </a:r>
            <a:r>
              <a:rPr lang="ko-KR" altLang="en-US" sz="800" dirty="0" smtClean="0"/>
              <a:t>다운로드에 실패했습니다</a:t>
            </a:r>
            <a:r>
              <a:rPr lang="en-US" altLang="ko-KR" sz="800" dirty="0" smtClean="0"/>
              <a:t>”</a:t>
            </a:r>
            <a:r>
              <a:rPr lang="ko-KR" altLang="en-US" sz="800" dirty="0" smtClean="0"/>
              <a:t> </a:t>
            </a:r>
            <a:r>
              <a:rPr lang="ko-KR" altLang="en-US" sz="800" dirty="0"/>
              <a:t>토스트 </a:t>
            </a:r>
            <a:r>
              <a:rPr lang="ko-KR" altLang="en-US" sz="800" dirty="0" smtClean="0"/>
              <a:t>노출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다운로드 </a:t>
            </a:r>
            <a:r>
              <a:rPr lang="ko-KR" altLang="en-US" sz="800" dirty="0" err="1" smtClean="0"/>
              <a:t>성공시</a:t>
            </a:r>
            <a:r>
              <a:rPr lang="ko-KR" altLang="en-US" sz="800" dirty="0" smtClean="0"/>
              <a:t> </a:t>
            </a:r>
            <a:r>
              <a:rPr lang="en-US" altLang="ko-KR" sz="800" dirty="0" smtClean="0"/>
              <a:t>“</a:t>
            </a:r>
            <a:r>
              <a:rPr lang="ko-KR" altLang="en-US" sz="800" dirty="0" smtClean="0"/>
              <a:t>다운로드에 성공했습니다</a:t>
            </a:r>
            <a:r>
              <a:rPr lang="en-US" altLang="ko-KR" sz="800" dirty="0" smtClean="0"/>
              <a:t>“ </a:t>
            </a:r>
            <a:r>
              <a:rPr lang="ko-KR" altLang="en-US" sz="800" dirty="0" smtClean="0"/>
              <a:t>노출</a:t>
            </a:r>
            <a:endParaRPr lang="en-US" altLang="ko-KR" sz="800" dirty="0"/>
          </a:p>
        </p:txBody>
      </p:sp>
      <p:grpSp>
        <p:nvGrpSpPr>
          <p:cNvPr id="51" name="그룹 50"/>
          <p:cNvGrpSpPr/>
          <p:nvPr/>
        </p:nvGrpSpPr>
        <p:grpSpPr>
          <a:xfrm>
            <a:off x="720490" y="1497658"/>
            <a:ext cx="2626449" cy="354413"/>
            <a:chOff x="720490" y="4004429"/>
            <a:chExt cx="2626449" cy="354413"/>
          </a:xfrm>
        </p:grpSpPr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004429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358842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1983832" y="4358842"/>
              <a:ext cx="435210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64" name="그룹 63"/>
            <p:cNvGrpSpPr/>
            <p:nvPr/>
          </p:nvGrpSpPr>
          <p:grpSpPr>
            <a:xfrm>
              <a:off x="764169" y="4142235"/>
              <a:ext cx="1636582" cy="107722"/>
              <a:chOff x="764169" y="4142235"/>
              <a:chExt cx="1636582" cy="107722"/>
            </a:xfrm>
          </p:grpSpPr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764169" y="4142235"/>
                <a:ext cx="359782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 err="1">
                    <a:latin typeface="+mn-ea"/>
                  </a:rPr>
                  <a:t>계약정보</a:t>
                </a:r>
                <a:endParaRPr lang="ko-KR" altLang="en-US" sz="700" dirty="0">
                  <a:latin typeface="+mn-ea"/>
                </a:endParaRP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1302043" y="4142235"/>
                <a:ext cx="556447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</a:rPr>
                  <a:t>대가지급업체</a:t>
                </a:r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036583" y="4142235"/>
                <a:ext cx="364168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b="1" dirty="0">
                    <a:latin typeface="+mn-ea"/>
                  </a:rPr>
                  <a:t>첨부파일</a:t>
                </a:r>
              </a:p>
            </p:txBody>
          </p:sp>
        </p:grpSp>
        <p:grpSp>
          <p:nvGrpSpPr>
            <p:cNvPr id="65" name="그룹 64"/>
            <p:cNvGrpSpPr/>
            <p:nvPr/>
          </p:nvGrpSpPr>
          <p:grpSpPr>
            <a:xfrm>
              <a:off x="2924086" y="4104112"/>
              <a:ext cx="422853" cy="187961"/>
              <a:chOff x="3641308" y="2234886"/>
              <a:chExt cx="422853" cy="187961"/>
            </a:xfrm>
          </p:grpSpPr>
          <p:sp>
            <p:nvSpPr>
              <p:cNvPr id="67" name="타원 66"/>
              <p:cNvSpPr/>
              <p:nvPr/>
            </p:nvSpPr>
            <p:spPr>
              <a:xfrm flipH="1">
                <a:off x="3641308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68" name="그룹 67"/>
              <p:cNvGrpSpPr/>
              <p:nvPr/>
            </p:nvGrpSpPr>
            <p:grpSpPr>
              <a:xfrm rot="5400000" flipH="1">
                <a:off x="3679895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73" name="직선 연결선 72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직선 연결선 73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9" name="타원 68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70" name="그룹 69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71" name="직선 연결선 70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직선 연결선 71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330288789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58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225278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dmt_ctrtInfo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1745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공사기간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bgncstYmd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공사기간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17478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rprsvNm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98314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244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검사일자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inspYmd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검사일자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87073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기성금액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pxcndAmt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기성금액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43443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지급구분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giveSecd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지급구분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UB56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96903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aplyAmt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9833430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B6FF90CD-D44A-772D-5AAF-1061FC3E2661}"/>
              </a:ext>
            </a:extLst>
          </p:cNvPr>
          <p:cNvSpPr txBox="1"/>
          <p:nvPr/>
        </p:nvSpPr>
        <p:spPr>
          <a:xfrm>
            <a:off x="458117" y="2844506"/>
            <a:ext cx="2783382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대가지급업체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dlt_giveBzentyList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D5D6353D-3F6D-611B-EA75-CF444460DF17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3055709"/>
          <a:ext cx="8994883" cy="1551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업체유형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fbctnSecd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업체유형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UB54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bzentyNm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9498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aplyAmt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8323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은행명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dlngFnstNm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은행명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9767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계좌번호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enacno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계좌번호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64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암호화계좌번호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79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계좌실명번호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enacno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계좌실명번호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64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암호화계좌번호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9902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예금주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dpstrNm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예금주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88700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586692DD-2BE6-B42B-B0B8-6EFA9C93C744}"/>
              </a:ext>
            </a:extLst>
          </p:cNvPr>
          <p:cNvSpPr txBox="1"/>
          <p:nvPr/>
        </p:nvSpPr>
        <p:spPr>
          <a:xfrm>
            <a:off x="458117" y="4678061"/>
            <a:ext cx="2201491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첨부서류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dlt_adocList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C86E9A2-63C6-E25A-5752-9C00FC9D6E00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4889264"/>
          <a:ext cx="8994883" cy="775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첨부서류명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docNm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첨부서류명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fileNm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0339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파일크기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fileSize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파일크기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3956986"/>
                  </a:ext>
                </a:extLst>
              </a:tr>
            </a:tbl>
          </a:graphicData>
        </a:graphic>
      </p:graphicFrame>
      <p:sp>
        <p:nvSpPr>
          <p:cNvPr id="6" name="Text Box 73">
            <a:extLst>
              <a:ext uri="{FF2B5EF4-FFF2-40B4-BE49-F238E27FC236}">
                <a16:creationId xmlns:a16="http://schemas.microsoft.com/office/drawing/2014/main" id="{C27F1755-0C59-34E4-D8B1-C5316286E2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C62573-9183-0B3A-6A93-3C857900E313}"/>
              </a:ext>
            </a:extLst>
          </p:cNvPr>
          <p:cNvSpPr txBox="1"/>
          <p:nvPr/>
        </p:nvSpPr>
        <p:spPr>
          <a:xfrm>
            <a:off x="458117" y="5758859"/>
            <a:ext cx="2469193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1.4. </a:t>
            </a:r>
            <a:r>
              <a:rPr lang="ko-KR" altLang="en-US" sz="900" b="1" dirty="0">
                <a:solidFill>
                  <a:prstClr val="black"/>
                </a:solidFill>
              </a:rPr>
              <a:t>비고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dmt_birqRmrkCnInfo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CDC18F62-DCE3-5DF3-65FE-05BBE562069C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5970062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birqRmrkCn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비고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581613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59</a:t>
            </a:fld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A8AB979B-14AB-5021-AD38-81AFF5B867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0541040"/>
              </p:ext>
            </p:extLst>
          </p:nvPr>
        </p:nvGraphicFramePr>
        <p:xfrm>
          <a:off x="453000" y="1042241"/>
          <a:ext cx="8995591" cy="509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3103963203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공통코드정보를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계약 정보를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조회한다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D0B2BC4-AD71-7E59-D96E-28B493C7629B}"/>
              </a:ext>
            </a:extLst>
          </p:cNvPr>
          <p:cNvSpPr txBox="1"/>
          <p:nvPr/>
        </p:nvSpPr>
        <p:spPr>
          <a:xfrm>
            <a:off x="458117" y="760911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sp>
        <p:nvSpPr>
          <p:cNvPr id="4" name="Text Box 73">
            <a:extLst>
              <a:ext uri="{FF2B5EF4-FFF2-40B4-BE49-F238E27FC236}">
                <a16:creationId xmlns:a16="http://schemas.microsoft.com/office/drawing/2014/main" id="{FB61C3E7-13C7-F5C3-BE78-71C249A4A6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9866" y="82802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4019284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60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대금청구상세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smtClean="0">
                <a:latin typeface="+mn-ea"/>
              </a:rPr>
              <a:t>대금청구상세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MUI-WM-01-M08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err="1">
                <a:latin typeface="+mn-ea"/>
              </a:rPr>
              <a:t>대금청구</a:t>
            </a:r>
            <a:r>
              <a:rPr lang="ko-KR" altLang="en-US" sz="800" dirty="0">
                <a:latin typeface="+mn-ea"/>
              </a:rPr>
              <a:t> </a:t>
            </a:r>
            <a:r>
              <a:rPr lang="ko-KR" altLang="en-US" sz="800" dirty="0" err="1">
                <a:latin typeface="+mn-ea"/>
              </a:rPr>
              <a:t>상세조회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462389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/>
              <a:t>물품구매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797454"/>
            <a:ext cx="307777" cy="39767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계약일자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발주기관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계약금액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596303" y="2782065"/>
            <a:ext cx="472886" cy="39767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제</a:t>
            </a:r>
            <a:r>
              <a:rPr lang="en-US" altLang="ko-KR" sz="600" dirty="0">
                <a:latin typeface="+mn-ea"/>
              </a:rPr>
              <a:t>8385</a:t>
            </a:r>
            <a:r>
              <a:rPr lang="ko-KR" altLang="en-US" sz="600" dirty="0">
                <a:latin typeface="+mn-ea"/>
              </a:rPr>
              <a:t>부대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11,616,000 </a:t>
            </a:r>
            <a:r>
              <a:rPr lang="ko-KR" altLang="en-US" sz="600" dirty="0">
                <a:latin typeface="+mn-ea"/>
              </a:rPr>
              <a:t>원</a:t>
            </a:r>
            <a:endParaRPr lang="en-US" altLang="ko-KR" sz="600" dirty="0">
              <a:latin typeface="+mn-ea"/>
            </a:endParaRPr>
          </a:p>
        </p:txBody>
      </p:sp>
      <p:sp>
        <p:nvSpPr>
          <p:cNvPr id="67" name="모서리가 둥근 직사각형 66"/>
          <p:cNvSpPr/>
          <p:nvPr/>
        </p:nvSpPr>
        <p:spPr>
          <a:xfrm>
            <a:off x="781461" y="227805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68" name="모서리가 둥근 직사각형 67"/>
          <p:cNvSpPr/>
          <p:nvPr/>
        </p:nvSpPr>
        <p:spPr>
          <a:xfrm>
            <a:off x="1075655" y="2278058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66319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00442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696944"/>
            <a:ext cx="4522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공지사항</a:t>
            </a:r>
          </a:p>
        </p:txBody>
      </p:sp>
      <p:sp>
        <p:nvSpPr>
          <p:cNvPr id="129" name="타원 128"/>
          <p:cNvSpPr/>
          <p:nvPr/>
        </p:nvSpPr>
        <p:spPr>
          <a:xfrm>
            <a:off x="783686" y="3728289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810275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35884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358842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1497778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185375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1853758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7" name="타원 276"/>
          <p:cNvSpPr/>
          <p:nvPr/>
        </p:nvSpPr>
        <p:spPr>
          <a:xfrm>
            <a:off x="6596790" y="515498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5272060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30551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7" name="모서리가 둥근 직사각형 336"/>
          <p:cNvSpPr/>
          <p:nvPr/>
        </p:nvSpPr>
        <p:spPr>
          <a:xfrm>
            <a:off x="781461" y="1944348"/>
            <a:ext cx="243478" cy="119400"/>
          </a:xfrm>
          <a:prstGeom prst="roundRect">
            <a:avLst>
              <a:gd name="adj" fmla="val 23409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>
                <a:solidFill>
                  <a:srgbClr val="FF0000"/>
                </a:solidFill>
              </a:rPr>
              <a:t>중요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33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1082843" y="1950187"/>
            <a:ext cx="220200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>
                <a:solidFill>
                  <a:prstClr val="black"/>
                </a:solidFill>
              </a:rPr>
              <a:t>대금 신청</a:t>
            </a:r>
            <a:r>
              <a:rPr lang="en-US" altLang="ko-KR" sz="700" dirty="0">
                <a:solidFill>
                  <a:prstClr val="black"/>
                </a:solidFill>
              </a:rPr>
              <a:t>, </a:t>
            </a:r>
            <a:r>
              <a:rPr lang="ko-KR" altLang="en-US" sz="700" dirty="0">
                <a:solidFill>
                  <a:prstClr val="black"/>
                </a:solidFill>
              </a:rPr>
              <a:t>청구는 </a:t>
            </a:r>
            <a:r>
              <a:rPr lang="en-US" altLang="ko-KR" sz="700" dirty="0">
                <a:solidFill>
                  <a:prstClr val="black"/>
                </a:solidFill>
              </a:rPr>
              <a:t>PC </a:t>
            </a:r>
            <a:r>
              <a:rPr lang="ko-KR" altLang="en-US" sz="700" dirty="0">
                <a:solidFill>
                  <a:prstClr val="black"/>
                </a:solidFill>
              </a:rPr>
              <a:t>버전에서 가능합니다</a:t>
            </a:r>
            <a:r>
              <a:rPr lang="en-US" altLang="ko-KR" sz="700" dirty="0">
                <a:solidFill>
                  <a:prstClr val="black"/>
                </a:solidFill>
              </a:rPr>
              <a:t>.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cxnSp>
        <p:nvCxnSpPr>
          <p:cNvPr id="340" name="직선 연결선 33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5091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6" name="그룹 5"/>
          <p:cNvGrpSpPr/>
          <p:nvPr/>
        </p:nvGrpSpPr>
        <p:grpSpPr>
          <a:xfrm>
            <a:off x="3836701" y="1926930"/>
            <a:ext cx="2630093" cy="1123811"/>
            <a:chOff x="3836701" y="2575831"/>
            <a:chExt cx="2630093" cy="1123811"/>
          </a:xfrm>
        </p:grpSpPr>
        <p:sp>
          <p:nvSpPr>
            <p:cNvPr id="252" name="TextBox 25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7672" y="2575831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대금신청</a:t>
              </a:r>
              <a:r>
                <a:rPr lang="ko-KR" altLang="en-US" sz="700" dirty="0">
                  <a:latin typeface="+mn-ea"/>
                </a:rPr>
                <a:t> 업체정보</a:t>
              </a:r>
            </a:p>
          </p:txBody>
        </p:sp>
        <p:sp>
          <p:nvSpPr>
            <p:cNvPr id="253" name="직사각형 252"/>
            <p:cNvSpPr/>
            <p:nvPr/>
          </p:nvSpPr>
          <p:spPr>
            <a:xfrm>
              <a:off x="3838794" y="2827415"/>
              <a:ext cx="792000" cy="87122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55" name="직선 연결선 2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6701" y="282741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5858" y="2827416"/>
              <a:ext cx="670770" cy="82747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상호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 err="1">
                  <a:latin typeface="+mn-ea"/>
                </a:rPr>
                <a:t>업체명</a:t>
              </a:r>
              <a:r>
                <a:rPr lang="en-US" altLang="ko-KR" sz="700" dirty="0">
                  <a:latin typeface="+mn-ea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대표명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청구인성명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연락처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261" name="TextBox 2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2706" y="2827416"/>
              <a:ext cx="1775839" cy="82747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010-1234-5678</a:t>
              </a:r>
            </a:p>
          </p:txBody>
        </p:sp>
        <p:cxnSp>
          <p:nvCxnSpPr>
            <p:cNvPr id="262" name="직선 연결선 2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0585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3" name="직선 연결선 2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2722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4" name="직선 연결선 2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4859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5" name="직선 연결선 2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6996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59" name="그룹 158"/>
            <p:cNvGrpSpPr/>
            <p:nvPr/>
          </p:nvGrpSpPr>
          <p:grpSpPr>
            <a:xfrm flipV="1">
              <a:off x="6259759" y="2635184"/>
              <a:ext cx="94010" cy="47005"/>
              <a:chOff x="6812560" y="3297172"/>
              <a:chExt cx="94010" cy="47005"/>
            </a:xfrm>
          </p:grpSpPr>
          <p:cxnSp>
            <p:nvCxnSpPr>
              <p:cNvPr id="160" name="직선 연결선 15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" name="그룹 7"/>
          <p:cNvGrpSpPr/>
          <p:nvPr/>
        </p:nvGrpSpPr>
        <p:grpSpPr>
          <a:xfrm>
            <a:off x="720490" y="4465173"/>
            <a:ext cx="2630093" cy="752297"/>
            <a:chOff x="720490" y="4465173"/>
            <a:chExt cx="2630093" cy="752297"/>
          </a:xfrm>
        </p:grpSpPr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4465173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07" name="그룹 106"/>
            <p:cNvGrpSpPr/>
            <p:nvPr/>
          </p:nvGrpSpPr>
          <p:grpSpPr>
            <a:xfrm flipV="1">
              <a:off x="3143548" y="4578504"/>
              <a:ext cx="94010" cy="47005"/>
              <a:chOff x="6812560" y="3297172"/>
              <a:chExt cx="94010" cy="47005"/>
            </a:xfrm>
          </p:grpSpPr>
          <p:cxnSp>
            <p:nvCxnSpPr>
              <p:cNvPr id="108" name="직선 연결선 10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" name="직선 연결선 10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" name="직사각형 15"/>
            <p:cNvSpPr/>
            <p:nvPr/>
          </p:nvSpPr>
          <p:spPr>
            <a:xfrm>
              <a:off x="722583" y="4772658"/>
              <a:ext cx="792000" cy="43958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5" name="직선 연결선 10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77265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772658"/>
              <a:ext cx="670770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계약명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772658"/>
              <a:ext cx="1784088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 0000 00 - 01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배추김치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15" name="직선 연결선 11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0037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6" name="직선 연결선 11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2174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75" name="TextBox 174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156" name="모서리가 둥근 직사각형 155"/>
          <p:cNvSpPr/>
          <p:nvPr/>
        </p:nvSpPr>
        <p:spPr>
          <a:xfrm>
            <a:off x="1522790" y="2278058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endParaRPr lang="ko-KR" altLang="en-US" sz="600" dirty="0"/>
          </a:p>
        </p:txBody>
      </p:sp>
      <p:grpSp>
        <p:nvGrpSpPr>
          <p:cNvPr id="5" name="그룹 4"/>
          <p:cNvGrpSpPr/>
          <p:nvPr/>
        </p:nvGrpSpPr>
        <p:grpSpPr>
          <a:xfrm>
            <a:off x="764169" y="4142235"/>
            <a:ext cx="2210802" cy="107722"/>
            <a:chOff x="764169" y="4142235"/>
            <a:chExt cx="2210802" cy="107722"/>
          </a:xfrm>
        </p:grpSpPr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4169" y="4142235"/>
              <a:ext cx="3597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b="1" dirty="0" err="1">
                  <a:latin typeface="+mn-ea"/>
                </a:rPr>
                <a:t>계약정보</a:t>
              </a:r>
              <a:endParaRPr lang="ko-KR" altLang="en-US" sz="700" b="1" dirty="0">
                <a:latin typeface="+mn-ea"/>
              </a:endParaRP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216001" y="4142235"/>
              <a:ext cx="7432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 err="1">
                  <a:latin typeface="+mn-ea"/>
                </a:rPr>
                <a:t>기성대가</a:t>
              </a:r>
              <a:r>
                <a:rPr lang="ko-KR" altLang="en-US" sz="700" dirty="0">
                  <a:latin typeface="+mn-ea"/>
                </a:rPr>
                <a:t> 신청금액</a:t>
              </a:r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051333" y="4142235"/>
              <a:ext cx="462705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>
                  <a:latin typeface="+mn-ea"/>
                </a:rPr>
                <a:t>세금계산서</a:t>
              </a: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606088" y="4142235"/>
              <a:ext cx="368883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>
                  <a:latin typeface="+mn-ea"/>
                </a:rPr>
                <a:t>첨부파일</a:t>
              </a:r>
              <a:endParaRPr lang="ko-KR" altLang="en-US" sz="700" dirty="0">
                <a:latin typeface="+mn-ea"/>
              </a:endParaRPr>
            </a:p>
          </p:txBody>
        </p:sp>
      </p:grpSp>
      <p:grpSp>
        <p:nvGrpSpPr>
          <p:cNvPr id="7" name="그룹 6"/>
          <p:cNvGrpSpPr/>
          <p:nvPr/>
        </p:nvGrpSpPr>
        <p:grpSpPr>
          <a:xfrm>
            <a:off x="2924086" y="4104112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80" name="그룹 179"/>
          <p:cNvGrpSpPr/>
          <p:nvPr/>
        </p:nvGrpSpPr>
        <p:grpSpPr>
          <a:xfrm>
            <a:off x="3866367" y="1638089"/>
            <a:ext cx="2210802" cy="107722"/>
            <a:chOff x="764169" y="4142235"/>
            <a:chExt cx="2210802" cy="107722"/>
          </a:xfrm>
        </p:grpSpPr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4169" y="4142235"/>
              <a:ext cx="3597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b="1" dirty="0" err="1">
                  <a:latin typeface="+mn-ea"/>
                </a:rPr>
                <a:t>계약정보</a:t>
              </a:r>
              <a:endParaRPr lang="ko-KR" altLang="en-US" sz="700" b="1" dirty="0">
                <a:latin typeface="+mn-ea"/>
              </a:endParaRPr>
            </a:p>
          </p:txBody>
        </p: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216001" y="4142235"/>
              <a:ext cx="7432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 err="1">
                  <a:latin typeface="+mn-ea"/>
                </a:rPr>
                <a:t>기성대가</a:t>
              </a:r>
              <a:r>
                <a:rPr lang="ko-KR" altLang="en-US" sz="700" dirty="0">
                  <a:latin typeface="+mn-ea"/>
                </a:rPr>
                <a:t> 신청금액</a:t>
              </a:r>
            </a:p>
          </p:txBody>
        </p: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051333" y="4142235"/>
              <a:ext cx="462705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>
                  <a:latin typeface="+mn-ea"/>
                </a:rPr>
                <a:t>세금계산서</a:t>
              </a:r>
            </a:p>
          </p:txBody>
        </p: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606088" y="4142235"/>
              <a:ext cx="368883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>
                  <a:latin typeface="+mn-ea"/>
                </a:rPr>
                <a:t>첨부파일</a:t>
              </a:r>
              <a:endParaRPr lang="ko-KR" altLang="en-US" sz="700" dirty="0">
                <a:latin typeface="+mn-ea"/>
              </a:endParaRPr>
            </a:p>
          </p:txBody>
        </p:sp>
      </p:grpSp>
      <p:grpSp>
        <p:nvGrpSpPr>
          <p:cNvPr id="209" name="그룹 208"/>
          <p:cNvGrpSpPr/>
          <p:nvPr/>
        </p:nvGrpSpPr>
        <p:grpSpPr>
          <a:xfrm>
            <a:off x="6027618" y="1599028"/>
            <a:ext cx="422853" cy="187961"/>
            <a:chOff x="3641308" y="2234886"/>
            <a:chExt cx="422853" cy="187961"/>
          </a:xfrm>
        </p:grpSpPr>
        <p:sp>
          <p:nvSpPr>
            <p:cNvPr id="210" name="타원 209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1" name="그룹 210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216" name="직선 연결선 21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7" name="직선 연결선 21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2" name="타원 211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3" name="그룹 212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214" name="직선 연결선 21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직선 연결선 21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0" name="그룹 139"/>
          <p:cNvGrpSpPr/>
          <p:nvPr/>
        </p:nvGrpSpPr>
        <p:grpSpPr>
          <a:xfrm>
            <a:off x="747925" y="3401909"/>
            <a:ext cx="2599014" cy="187961"/>
            <a:chOff x="747925" y="3393200"/>
            <a:chExt cx="2599014" cy="187961"/>
          </a:xfrm>
        </p:grpSpPr>
        <p:grpSp>
          <p:nvGrpSpPr>
            <p:cNvPr id="141" name="그룹 140"/>
            <p:cNvGrpSpPr/>
            <p:nvPr/>
          </p:nvGrpSpPr>
          <p:grpSpPr>
            <a:xfrm rot="16200000">
              <a:off x="1250697" y="3463679"/>
              <a:ext cx="94010" cy="47005"/>
              <a:chOff x="6812560" y="3297172"/>
              <a:chExt cx="94010" cy="47005"/>
            </a:xfrm>
          </p:grpSpPr>
          <p:cxnSp>
            <p:nvCxnSpPr>
              <p:cNvPr id="172" name="직선 연결선 17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3" name="직선 연결선 17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604170" y="3433319"/>
              <a:ext cx="40086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계약</a:t>
              </a:r>
            </a:p>
          </p:txBody>
        </p:sp>
        <p:sp>
          <p:nvSpPr>
            <p:cNvPr id="143" name="타원 142"/>
            <p:cNvSpPr/>
            <p:nvPr/>
          </p:nvSpPr>
          <p:spPr>
            <a:xfrm>
              <a:off x="1404035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459092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3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45" name="그룹 144"/>
            <p:cNvGrpSpPr/>
            <p:nvPr/>
          </p:nvGrpSpPr>
          <p:grpSpPr>
            <a:xfrm rot="16200000">
              <a:off x="1906808" y="3463679"/>
              <a:ext cx="94010" cy="47005"/>
              <a:chOff x="6812560" y="3297172"/>
              <a:chExt cx="94010" cy="47005"/>
            </a:xfrm>
          </p:grpSpPr>
          <p:cxnSp>
            <p:nvCxnSpPr>
              <p:cNvPr id="170" name="직선 연결선 16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1" name="직선 연결선 17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46" name="그룹 145"/>
            <p:cNvGrpSpPr/>
            <p:nvPr/>
          </p:nvGrpSpPr>
          <p:grpSpPr>
            <a:xfrm rot="16200000">
              <a:off x="2562920" y="3463679"/>
              <a:ext cx="94010" cy="47005"/>
              <a:chOff x="6812560" y="3297172"/>
              <a:chExt cx="94010" cy="47005"/>
            </a:xfrm>
          </p:grpSpPr>
          <p:cxnSp>
            <p:nvCxnSpPr>
              <p:cNvPr id="168" name="직선 연결선 16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9" name="직선 연결선 16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47" name="타원 146"/>
            <p:cNvSpPr/>
            <p:nvPr/>
          </p:nvSpPr>
          <p:spPr>
            <a:xfrm>
              <a:off x="747925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2982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2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51350" y="3433319"/>
              <a:ext cx="39757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입찰</a:t>
              </a:r>
            </a:p>
          </p:txBody>
        </p:sp>
        <p:sp>
          <p:nvSpPr>
            <p:cNvPr id="150" name="타원 149"/>
            <p:cNvSpPr/>
            <p:nvPr/>
          </p:nvSpPr>
          <p:spPr>
            <a:xfrm>
              <a:off x="2058749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113806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4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263899" y="343331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이행</a:t>
              </a:r>
            </a:p>
          </p:txBody>
        </p:sp>
        <p:sp>
          <p:nvSpPr>
            <p:cNvPr id="153" name="타원 152"/>
            <p:cNvSpPr/>
            <p:nvPr/>
          </p:nvSpPr>
          <p:spPr>
            <a:xfrm>
              <a:off x="2714860" y="3393200"/>
              <a:ext cx="187961" cy="187961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769917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bg1"/>
                  </a:solidFill>
                  <a:latin typeface="+mn-ea"/>
                </a:rPr>
                <a:t>5</a:t>
              </a:r>
              <a:endParaRPr lang="ko-KR" altLang="en-US" sz="7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20010" y="343331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대금</a:t>
              </a:r>
              <a:r>
                <a:rPr lang="en-US" altLang="ko-KR" sz="700" dirty="0">
                  <a:latin typeface="+mn-ea"/>
                </a:rPr>
                <a:t>/</a:t>
              </a:r>
              <a:r>
                <a:rPr lang="ko-KR" altLang="en-US" sz="700" dirty="0">
                  <a:latin typeface="+mn-ea"/>
                </a:rPr>
                <a:t>사후</a:t>
              </a:r>
            </a:p>
          </p:txBody>
        </p:sp>
        <p:grpSp>
          <p:nvGrpSpPr>
            <p:cNvPr id="157" name="그룹 156"/>
            <p:cNvGrpSpPr/>
            <p:nvPr/>
          </p:nvGrpSpPr>
          <p:grpSpPr>
            <a:xfrm rot="5400000">
              <a:off x="3158978" y="3393200"/>
              <a:ext cx="187961" cy="187961"/>
              <a:chOff x="3876200" y="2234886"/>
              <a:chExt cx="187961" cy="187961"/>
            </a:xfrm>
          </p:grpSpPr>
          <p:sp>
            <p:nvSpPr>
              <p:cNvPr id="158" name="타원 157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62" name="그룹 161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165" name="직선 연결선 164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67" name="직선 연결선 166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74" name="직사각형 173"/>
          <p:cNvSpPr/>
          <p:nvPr/>
        </p:nvSpPr>
        <p:spPr>
          <a:xfrm>
            <a:off x="7057780" y="6054387"/>
            <a:ext cx="2345790" cy="177911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ctr"/>
            <a:r>
              <a:rPr lang="en-US" altLang="ko-KR" sz="500" b="1" dirty="0" smtClean="0">
                <a:solidFill>
                  <a:schemeClr val="bg1"/>
                </a:solidFill>
              </a:rPr>
              <a:t>0706) </a:t>
            </a:r>
            <a:r>
              <a:rPr lang="ko-KR" altLang="en-US" sz="500" b="1" dirty="0" err="1" smtClean="0">
                <a:solidFill>
                  <a:schemeClr val="bg1"/>
                </a:solidFill>
              </a:rPr>
              <a:t>납품금액</a:t>
            </a:r>
            <a:r>
              <a:rPr lang="en-US" altLang="ko-KR" sz="500" b="1" dirty="0" smtClean="0">
                <a:solidFill>
                  <a:schemeClr val="bg1"/>
                </a:solidFill>
              </a:rPr>
              <a:t> </a:t>
            </a:r>
            <a:r>
              <a:rPr lang="ko-KR" altLang="en-US" sz="500" b="1" dirty="0" smtClean="0">
                <a:solidFill>
                  <a:schemeClr val="bg1"/>
                </a:solidFill>
              </a:rPr>
              <a:t>누락</a:t>
            </a:r>
            <a:endParaRPr lang="ko-KR" altLang="ko-KR" sz="500" dirty="0">
              <a:solidFill>
                <a:schemeClr val="bg1"/>
              </a:solidFill>
            </a:endParaRPr>
          </a:p>
        </p:txBody>
      </p:sp>
      <p:sp>
        <p:nvSpPr>
          <p:cNvPr id="176" name="타원 17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867770" y="519730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sp>
        <p:nvSpPr>
          <p:cNvPr id="177" name="타원 17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14618" y="220237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78" name="타원 17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12057" y="388431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79" name="타원 17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12057" y="426206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82" name="타원 18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12057" y="465186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83" name="타원 18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37073" y="238888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1-1</a:t>
            </a:r>
            <a:endParaRPr lang="ko-KR" altLang="en-US" sz="600" b="1" dirty="0"/>
          </a:p>
        </p:txBody>
      </p:sp>
      <p:sp>
        <p:nvSpPr>
          <p:cNvPr id="184" name="타원 18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799111" y="253568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1-2</a:t>
            </a:r>
            <a:endParaRPr lang="ko-KR" altLang="en-US" sz="600" b="1" dirty="0"/>
          </a:p>
        </p:txBody>
      </p:sp>
      <p:sp>
        <p:nvSpPr>
          <p:cNvPr id="186" name="타원 18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36599" y="275612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1-3</a:t>
            </a:r>
            <a:endParaRPr lang="ko-KR" altLang="en-US" sz="600" b="1" dirty="0"/>
          </a:p>
        </p:txBody>
      </p:sp>
      <p:sp>
        <p:nvSpPr>
          <p:cNvPr id="190" name="텍스트 개체 틀 2"/>
          <p:cNvSpPr txBox="1">
            <a:spLocks/>
          </p:cNvSpPr>
          <p:nvPr/>
        </p:nvSpPr>
        <p:spPr>
          <a:xfrm>
            <a:off x="7068896" y="1475995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 algn="l" defTabSz="914400" rtl="0" eaLnBrk="1" latinLnBrk="1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타이틀 영역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1-1] </a:t>
            </a:r>
            <a:r>
              <a:rPr lang="ko-KR" altLang="en-US" sz="800" dirty="0" smtClean="0"/>
              <a:t>레이블이 화면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화면 넘치는 경우 드래그하여 확인 가능 </a:t>
            </a:r>
            <a:r>
              <a:rPr lang="en-US" altLang="ko-KR" sz="800" dirty="0" smtClean="0"/>
              <a:t>(</a:t>
            </a:r>
            <a:r>
              <a:rPr lang="ko-KR" altLang="en-US" sz="800" dirty="0" err="1" smtClean="0"/>
              <a:t>스와이프기능</a:t>
            </a:r>
            <a:r>
              <a:rPr lang="ko-KR" altLang="en-US" sz="800" dirty="0" smtClean="0"/>
              <a:t> 반영 필요</a:t>
            </a:r>
            <a:r>
              <a:rPr lang="en-US" altLang="ko-KR" sz="800" dirty="0" smtClean="0"/>
              <a:t>)</a:t>
            </a:r>
            <a:br>
              <a:rPr lang="en-US" altLang="ko-KR" sz="800" dirty="0" smtClean="0"/>
            </a:br>
            <a:r>
              <a:rPr lang="en-US" altLang="ko-KR" sz="800" dirty="0" smtClean="0"/>
              <a:t>1-2] </a:t>
            </a:r>
            <a:r>
              <a:rPr lang="ko-KR" altLang="en-US" sz="800" dirty="0" smtClean="0"/>
              <a:t>문서 정보 영역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판단번호</a:t>
            </a:r>
            <a:r>
              <a:rPr lang="ko-KR" altLang="en-US" sz="800" dirty="0" smtClean="0"/>
              <a:t> </a:t>
            </a:r>
            <a:r>
              <a:rPr lang="en-US" altLang="ko-KR" sz="800" dirty="0" smtClean="0"/>
              <a:t>,  </a:t>
            </a:r>
            <a:r>
              <a:rPr lang="ko-KR" altLang="en-US" sz="800" dirty="0" err="1" smtClean="0"/>
              <a:t>계약번호</a:t>
            </a:r>
            <a:r>
              <a:rPr lang="ko-KR" altLang="en-US" sz="800" dirty="0" smtClean="0"/>
              <a:t> 노출 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판단번호</a:t>
            </a:r>
            <a:r>
              <a:rPr lang="ko-KR" altLang="en-US" sz="800" dirty="0" smtClean="0"/>
              <a:t> </a:t>
            </a:r>
            <a:r>
              <a:rPr lang="ko-KR" altLang="en-US" sz="800" dirty="0" err="1" smtClean="0"/>
              <a:t>전체노출</a:t>
            </a:r>
            <a:r>
              <a:rPr lang="ko-KR" altLang="en-US" sz="800" dirty="0" smtClean="0"/>
              <a:t> </a:t>
            </a:r>
            <a:r>
              <a:rPr lang="en-US" altLang="ko-KR" sz="800" dirty="0" smtClean="0"/>
              <a:t>/ </a:t>
            </a:r>
            <a:r>
              <a:rPr lang="ko-KR" altLang="en-US" sz="800" dirty="0" err="1" smtClean="0"/>
              <a:t>계약번호</a:t>
            </a:r>
            <a:r>
              <a:rPr lang="ko-KR" altLang="en-US" sz="800" dirty="0" smtClean="0"/>
              <a:t> </a:t>
            </a:r>
            <a:r>
              <a:rPr lang="ko-KR" altLang="en-US" sz="800" dirty="0" err="1" smtClean="0"/>
              <a:t>노출시</a:t>
            </a:r>
            <a:r>
              <a:rPr lang="ko-KR" altLang="en-US" sz="800" dirty="0" smtClean="0"/>
              <a:t> 해당 라인을 넘어가면 </a:t>
            </a:r>
            <a:r>
              <a:rPr lang="en-US" altLang="ko-KR" sz="800" dirty="0" smtClean="0"/>
              <a:t>(…) </a:t>
            </a:r>
            <a:r>
              <a:rPr lang="ko-KR" altLang="en-US" sz="800" dirty="0" err="1" smtClean="0"/>
              <a:t>말줄임</a:t>
            </a:r>
            <a:r>
              <a:rPr lang="ko-KR" altLang="en-US" sz="800" dirty="0" smtClean="0"/>
              <a:t> 표시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1-3] </a:t>
            </a:r>
            <a:r>
              <a:rPr lang="ko-KR" altLang="en-US" sz="800" dirty="0" smtClean="0"/>
              <a:t>문서 제목 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제목은 </a:t>
            </a:r>
            <a:r>
              <a:rPr lang="en-US" altLang="ko-KR" sz="800" dirty="0" smtClean="0"/>
              <a:t>2</a:t>
            </a:r>
            <a:r>
              <a:rPr lang="ko-KR" altLang="en-US" sz="800" dirty="0" smtClean="0"/>
              <a:t>줄 까지 노출 이후</a:t>
            </a:r>
            <a:r>
              <a:rPr lang="en-US" altLang="ko-KR" sz="800" dirty="0" smtClean="0"/>
              <a:t>(…) </a:t>
            </a:r>
            <a:r>
              <a:rPr lang="ko-KR" altLang="en-US" sz="800" dirty="0" err="1" smtClean="0"/>
              <a:t>말줄임</a:t>
            </a:r>
            <a:r>
              <a:rPr lang="ko-KR" altLang="en-US" sz="800" dirty="0" smtClean="0"/>
              <a:t> 표시</a:t>
            </a:r>
            <a:endParaRPr lang="en-US" altLang="ko-KR" sz="8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err="1" smtClean="0"/>
              <a:t>업무도움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기본값 </a:t>
            </a:r>
            <a:r>
              <a:rPr lang="en-US" altLang="ko-KR" sz="800" dirty="0" smtClean="0"/>
              <a:t>: </a:t>
            </a:r>
            <a:r>
              <a:rPr lang="ko-KR" altLang="en-US" sz="800" dirty="0" smtClean="0"/>
              <a:t>접힘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클릭시</a:t>
            </a:r>
            <a:r>
              <a:rPr lang="ko-KR" altLang="en-US" sz="800" dirty="0" smtClean="0"/>
              <a:t> 확장하여 정보 표시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</a:t>
            </a:r>
            <a:r>
              <a:rPr lang="ko-KR" altLang="en-US" sz="800" dirty="0" err="1" smtClean="0"/>
              <a:t>업무도움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&gt; </a:t>
            </a:r>
            <a:r>
              <a:rPr lang="ko-KR" altLang="en-US" sz="800" dirty="0" smtClean="0"/>
              <a:t>내역이 있는 경우 만 표시</a:t>
            </a:r>
            <a:endParaRPr lang="en-US" altLang="ko-KR" sz="8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탭 영역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신청정보</a:t>
            </a:r>
            <a:r>
              <a:rPr lang="ko-KR" altLang="en-US" sz="800" dirty="0" smtClean="0"/>
              <a:t> </a:t>
            </a:r>
            <a:r>
              <a:rPr lang="en-US" altLang="ko-KR" sz="800" dirty="0" smtClean="0"/>
              <a:t>Tab</a:t>
            </a:r>
            <a:r>
              <a:rPr lang="ko-KR" altLang="en-US" sz="800" dirty="0" smtClean="0"/>
              <a:t>은 진입 시 고정 노출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탭 내용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ko-KR" altLang="en-US" sz="800" dirty="0" err="1" smtClean="0"/>
              <a:t>계약정보</a:t>
            </a:r>
            <a:r>
              <a:rPr lang="en-US" altLang="ko-KR" sz="800" dirty="0" smtClean="0"/>
              <a:t>, </a:t>
            </a:r>
            <a:r>
              <a:rPr lang="ko-KR" altLang="en-US" sz="800" dirty="0" smtClean="0"/>
              <a:t>기성대가신청금액</a:t>
            </a:r>
            <a:r>
              <a:rPr lang="en-US" altLang="ko-KR" sz="800" dirty="0" smtClean="0"/>
              <a:t>, </a:t>
            </a:r>
            <a:r>
              <a:rPr lang="ko-KR" altLang="en-US" sz="800" dirty="0" smtClean="0"/>
              <a:t>세금계산서</a:t>
            </a:r>
            <a:r>
              <a:rPr lang="en-US" altLang="ko-KR" sz="800" dirty="0" smtClean="0"/>
              <a:t>, </a:t>
            </a:r>
            <a:r>
              <a:rPr lang="ko-KR" altLang="en-US" sz="800" dirty="0" smtClean="0"/>
              <a:t>첨부파일 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&gt; </a:t>
            </a:r>
            <a:r>
              <a:rPr lang="ko-KR" altLang="en-US" sz="800" dirty="0" smtClean="0"/>
              <a:t>로그인 필요 서비스 안내 표시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화면을 </a:t>
            </a:r>
            <a:r>
              <a:rPr lang="ko-KR" altLang="en-US" sz="800" dirty="0" err="1" smtClean="0"/>
              <a:t>넘치는경우</a:t>
            </a:r>
            <a:r>
              <a:rPr lang="ko-KR" altLang="en-US" sz="800" dirty="0" smtClean="0"/>
              <a:t> 드래그하여 확인</a:t>
            </a:r>
            <a:r>
              <a:rPr lang="en-US" altLang="ko-KR" sz="800" dirty="0" smtClean="0"/>
              <a:t>(</a:t>
            </a:r>
            <a:r>
              <a:rPr lang="ko-KR" altLang="en-US" sz="800" dirty="0" err="1" smtClean="0"/>
              <a:t>스와이프기능</a:t>
            </a:r>
            <a:r>
              <a:rPr lang="ko-KR" altLang="en-US" sz="800" dirty="0" smtClean="0"/>
              <a:t> 반영 필요</a:t>
            </a:r>
            <a:r>
              <a:rPr lang="en-US" altLang="ko-KR" sz="800" dirty="0" smtClean="0"/>
              <a:t>)</a:t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세금계산서인 경우</a:t>
            </a:r>
            <a:r>
              <a:rPr lang="en-US" altLang="ko-KR" sz="800" dirty="0" smtClean="0"/>
              <a:t>, </a:t>
            </a:r>
            <a:r>
              <a:rPr lang="ko-KR" altLang="en-US" sz="800" dirty="0" smtClean="0"/>
              <a:t>화면에서 </a:t>
            </a:r>
            <a:r>
              <a:rPr lang="en-US" altLang="ko-KR" sz="800" dirty="0" smtClean="0"/>
              <a:t>“</a:t>
            </a:r>
            <a:r>
              <a:rPr lang="ko-KR" altLang="en-US" sz="800" dirty="0" smtClean="0"/>
              <a:t>세금계산서번호 선택 을 체크한 경우 노출</a:t>
            </a:r>
            <a:r>
              <a:rPr lang="en-US" altLang="ko-KR" sz="800" dirty="0" smtClean="0"/>
              <a:t>＂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err="1" smtClean="0"/>
              <a:t>계약정보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각 공고에 맞춰 폼 변화에 유의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상세내용에</a:t>
            </a:r>
            <a:r>
              <a:rPr lang="ko-KR" altLang="en-US" sz="800" dirty="0" smtClean="0"/>
              <a:t> 포함된 정보 표시</a:t>
            </a:r>
            <a:endParaRPr lang="en-US" altLang="ko-KR" sz="8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상단 </a:t>
            </a:r>
            <a:r>
              <a:rPr lang="ko-KR" altLang="en-US" sz="800" dirty="0" smtClean="0"/>
              <a:t>이동 버튼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ko-KR" altLang="en-US" sz="800" dirty="0" smtClean="0"/>
              <a:t>현 상세내용 탭에서는 </a:t>
            </a:r>
            <a:r>
              <a:rPr lang="en-US" altLang="ko-KR" sz="800" dirty="0" smtClean="0"/>
              <a:t>(+)</a:t>
            </a:r>
            <a:r>
              <a:rPr lang="ko-KR" altLang="en-US" sz="800" dirty="0" smtClean="0"/>
              <a:t>더하기 버튼 없음</a:t>
            </a:r>
            <a:endParaRPr lang="en-US" altLang="ko-KR" sz="800" dirty="0" smtClean="0"/>
          </a:p>
          <a:p>
            <a:endParaRPr lang="ko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127426551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계약정보</a:t>
            </a:r>
            <a:r>
              <a:rPr lang="ko-KR" altLang="en-US" dirty="0"/>
              <a:t> 데이터 영역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대금신청대상목록 데이터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61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계약정보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MUI-WM-01-T16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4240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grpSp>
        <p:nvGrpSpPr>
          <p:cNvPr id="133" name="그룹 132"/>
          <p:cNvGrpSpPr/>
          <p:nvPr/>
        </p:nvGrpSpPr>
        <p:grpSpPr>
          <a:xfrm>
            <a:off x="716366" y="1894411"/>
            <a:ext cx="2630093" cy="752298"/>
            <a:chOff x="720490" y="4465173"/>
            <a:chExt cx="2630093" cy="752298"/>
          </a:xfrm>
        </p:grpSpPr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4465173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35" name="그룹 134"/>
            <p:cNvGrpSpPr/>
            <p:nvPr/>
          </p:nvGrpSpPr>
          <p:grpSpPr>
            <a:xfrm flipV="1">
              <a:off x="3143548" y="4578504"/>
              <a:ext cx="94010" cy="47005"/>
              <a:chOff x="6812560" y="3297172"/>
              <a:chExt cx="94010" cy="47005"/>
            </a:xfrm>
          </p:grpSpPr>
          <p:cxnSp>
            <p:nvCxnSpPr>
              <p:cNvPr id="147" name="직선 연결선 14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8" name="직선 연결선 14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36" name="직사각형 135"/>
            <p:cNvSpPr/>
            <p:nvPr/>
          </p:nvSpPr>
          <p:spPr>
            <a:xfrm>
              <a:off x="722583" y="4772659"/>
              <a:ext cx="792000" cy="44481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7" name="직선 연결선 13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77265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772658"/>
              <a:ext cx="670770" cy="39658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계약명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772658"/>
              <a:ext cx="1784088" cy="39658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 0000 00 - 01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배추김치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41" name="직선 연결선 14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0037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2" name="직선 연결선 14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2174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149" name="직선 연결선 14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720398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60" name="그룹 59"/>
          <p:cNvGrpSpPr/>
          <p:nvPr/>
        </p:nvGrpSpPr>
        <p:grpSpPr>
          <a:xfrm>
            <a:off x="716366" y="2799745"/>
            <a:ext cx="2630093" cy="1123811"/>
            <a:chOff x="3836701" y="2575831"/>
            <a:chExt cx="2630093" cy="1123811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7672" y="2575831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대금신청</a:t>
              </a:r>
              <a:r>
                <a:rPr lang="ko-KR" altLang="en-US" sz="700" dirty="0">
                  <a:latin typeface="+mn-ea"/>
                </a:rPr>
                <a:t> 업체정보</a:t>
              </a:r>
            </a:p>
          </p:txBody>
        </p:sp>
        <p:sp>
          <p:nvSpPr>
            <p:cNvPr id="62" name="직사각형 61"/>
            <p:cNvSpPr/>
            <p:nvPr/>
          </p:nvSpPr>
          <p:spPr>
            <a:xfrm>
              <a:off x="3838794" y="2827415"/>
              <a:ext cx="792000" cy="87222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6701" y="282741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5858" y="2827416"/>
              <a:ext cx="670770" cy="82747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상호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 err="1">
                  <a:latin typeface="+mn-ea"/>
                </a:rPr>
                <a:t>업체명</a:t>
              </a:r>
              <a:r>
                <a:rPr lang="en-US" altLang="ko-KR" sz="700" dirty="0">
                  <a:latin typeface="+mn-ea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대표명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청구인성명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연락처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2706" y="2827416"/>
              <a:ext cx="1775839" cy="82747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010-1234-5678</a:t>
              </a:r>
            </a:p>
          </p:txBody>
        </p:sp>
        <p:cxnSp>
          <p:nvCxnSpPr>
            <p:cNvPr id="66" name="직선 연결선 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0585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2722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4859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9" name="직선 연결선 6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6996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72" name="그룹 71"/>
            <p:cNvGrpSpPr/>
            <p:nvPr/>
          </p:nvGrpSpPr>
          <p:grpSpPr>
            <a:xfrm flipV="1">
              <a:off x="6259759" y="2635184"/>
              <a:ext cx="94010" cy="47005"/>
              <a:chOff x="6812560" y="3297172"/>
              <a:chExt cx="94010" cy="47005"/>
            </a:xfrm>
          </p:grpSpPr>
          <p:cxnSp>
            <p:nvCxnSpPr>
              <p:cNvPr id="75" name="직선 연결선 7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직선 연결선 7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55" name="타원 15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85611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grpSp>
        <p:nvGrpSpPr>
          <p:cNvPr id="3" name="그룹 2"/>
          <p:cNvGrpSpPr/>
          <p:nvPr/>
        </p:nvGrpSpPr>
        <p:grpSpPr>
          <a:xfrm>
            <a:off x="720490" y="1493927"/>
            <a:ext cx="2626449" cy="354413"/>
            <a:chOff x="720490" y="4004429"/>
            <a:chExt cx="2626449" cy="354413"/>
          </a:xfrm>
        </p:grpSpPr>
        <p:cxnSp>
          <p:nvCxnSpPr>
            <p:cNvPr id="37" name="직선 연결선 3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004429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358842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358842"/>
              <a:ext cx="435210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40" name="그룹 39"/>
            <p:cNvGrpSpPr/>
            <p:nvPr/>
          </p:nvGrpSpPr>
          <p:grpSpPr>
            <a:xfrm>
              <a:off x="764169" y="4142235"/>
              <a:ext cx="2210802" cy="107722"/>
              <a:chOff x="764169" y="4142235"/>
              <a:chExt cx="2210802" cy="107722"/>
            </a:xfrm>
          </p:grpSpPr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764169" y="4142235"/>
                <a:ext cx="359782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b="1" dirty="0" err="1">
                    <a:latin typeface="+mn-ea"/>
                  </a:rPr>
                  <a:t>계약정보</a:t>
                </a:r>
                <a:endParaRPr lang="ko-KR" altLang="en-US" sz="700" b="1" dirty="0">
                  <a:latin typeface="+mn-ea"/>
                </a:endParaRP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1216001" y="4142235"/>
                <a:ext cx="743282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 err="1">
                    <a:latin typeface="+mn-ea"/>
                  </a:rPr>
                  <a:t>기성대가</a:t>
                </a:r>
                <a:r>
                  <a:rPr lang="ko-KR" altLang="en-US" sz="700" dirty="0">
                    <a:latin typeface="+mn-ea"/>
                  </a:rPr>
                  <a:t> 신청금액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051333" y="4142235"/>
                <a:ext cx="462705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</a:rPr>
                  <a:t>세금계산서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606088" y="4142235"/>
                <a:ext cx="368883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>
                    <a:latin typeface="+mn-ea"/>
                  </a:rPr>
                  <a:t>첨부파일</a:t>
                </a:r>
                <a:endParaRPr lang="ko-KR" altLang="en-US" sz="700" dirty="0">
                  <a:latin typeface="+mn-ea"/>
                </a:endParaRPr>
              </a:p>
            </p:txBody>
          </p:sp>
        </p:grpSp>
        <p:grpSp>
          <p:nvGrpSpPr>
            <p:cNvPr id="45" name="그룹 44"/>
            <p:cNvGrpSpPr/>
            <p:nvPr/>
          </p:nvGrpSpPr>
          <p:grpSpPr>
            <a:xfrm>
              <a:off x="2924086" y="4104112"/>
              <a:ext cx="422853" cy="187961"/>
              <a:chOff x="3641308" y="2234886"/>
              <a:chExt cx="422853" cy="187961"/>
            </a:xfrm>
          </p:grpSpPr>
          <p:sp>
            <p:nvSpPr>
              <p:cNvPr id="46" name="타원 45"/>
              <p:cNvSpPr/>
              <p:nvPr/>
            </p:nvSpPr>
            <p:spPr>
              <a:xfrm flipH="1">
                <a:off x="3641308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47" name="그룹 46"/>
              <p:cNvGrpSpPr/>
              <p:nvPr/>
            </p:nvGrpSpPr>
            <p:grpSpPr>
              <a:xfrm rot="5400000" flipH="1">
                <a:off x="3679895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53" name="직선 연결선 52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직선 연결선 53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8" name="타원 47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49" name="그룹 48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50" name="직선 연결선 49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직선 연결선 51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285496061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62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Autofit/>
          </a:bodyPr>
          <a:lstStyle/>
          <a:p>
            <a:r>
              <a:rPr lang="ko-KR" altLang="en-US" dirty="0">
                <a:latin typeface="+mn-ea"/>
              </a:rPr>
              <a:t>기성대가신청금액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MUI-WM-01-T17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4" y="1924695"/>
            <a:ext cx="2456097" cy="181140"/>
            <a:chOff x="763157" y="1527996"/>
            <a:chExt cx="2456097" cy="18114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기성대가</a:t>
              </a:r>
              <a:r>
                <a:rPr lang="ko-KR" altLang="en-US" sz="700" dirty="0">
                  <a:latin typeface="+mn-ea"/>
                </a:rPr>
                <a:t> 신청 금액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2216848"/>
            <a:ext cx="2630093" cy="3662541"/>
            <a:chOff x="3865118" y="2946204"/>
            <a:chExt cx="2630093" cy="3662541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4"/>
              <a:ext cx="792000" cy="363159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4" y="2946204"/>
              <a:ext cx="715881" cy="366254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지급구분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세액여부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기성금액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공제금액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공제내역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실지급금액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신고구분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선급금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총기성율</a:t>
              </a:r>
              <a:r>
                <a:rPr lang="en-US" altLang="ko-KR" sz="700" dirty="0">
                  <a:latin typeface="+mn-ea"/>
                </a:rPr>
                <a:t>(%)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총기성금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선금정산액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금회정산액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366254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기성대가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00 %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7448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68818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90189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10535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31906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53276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73321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94692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615038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636409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657779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593666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75093" y="2499355"/>
            <a:ext cx="179536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과세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2371" y="4434927"/>
            <a:ext cx="179536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확정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2" name="그룹 61"/>
          <p:cNvGrpSpPr/>
          <p:nvPr/>
        </p:nvGrpSpPr>
        <p:grpSpPr>
          <a:xfrm>
            <a:off x="3923699" y="1915110"/>
            <a:ext cx="2456097" cy="181140"/>
            <a:chOff x="763157" y="1527996"/>
            <a:chExt cx="2456097" cy="181140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기성대가</a:t>
              </a:r>
              <a:r>
                <a:rPr lang="ko-KR" altLang="en-US" sz="700" dirty="0">
                  <a:latin typeface="+mn-ea"/>
                </a:rPr>
                <a:t> 신청 금액</a:t>
              </a:r>
            </a:p>
          </p:txBody>
        </p:sp>
        <p:grpSp>
          <p:nvGrpSpPr>
            <p:cNvPr id="64" name="그룹 63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65" name="직선 연결선 6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직선 연결선 6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8" name="그룹 67"/>
          <p:cNvGrpSpPr/>
          <p:nvPr/>
        </p:nvGrpSpPr>
        <p:grpSpPr>
          <a:xfrm>
            <a:off x="3836701" y="2207263"/>
            <a:ext cx="2630093" cy="3662541"/>
            <a:chOff x="3865118" y="2946204"/>
            <a:chExt cx="2630093" cy="3662541"/>
          </a:xfrm>
        </p:grpSpPr>
        <p:sp>
          <p:nvSpPr>
            <p:cNvPr id="69" name="직사각형 68"/>
            <p:cNvSpPr/>
            <p:nvPr/>
          </p:nvSpPr>
          <p:spPr>
            <a:xfrm>
              <a:off x="3867211" y="2946204"/>
              <a:ext cx="792000" cy="363159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0" name="직선 연결선 6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4" y="2946204"/>
              <a:ext cx="715881" cy="366254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지급구분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세액여부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기성금액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공제금액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공제내역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실지급금액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신고구분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선급금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총기성율</a:t>
              </a:r>
              <a:r>
                <a:rPr lang="en-US" altLang="ko-KR" sz="700" dirty="0">
                  <a:latin typeface="+mn-ea"/>
                </a:rPr>
                <a:t>(%)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총기성금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선금정산액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금회정산액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366254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기성대가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00 %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</p:txBody>
        </p:sp>
        <p:cxnSp>
          <p:nvCxnSpPr>
            <p:cNvPr id="73" name="직선 연결선 7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4" name="직선 연결선 7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5" name="직선 연결선 7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7" name="직선 연결선 7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9" name="직선 연결선 7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7448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0" name="직선 연결선 7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68818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90189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2" name="직선 연결선 8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10535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3" name="직선 연결선 8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31906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4" name="직선 연결선 8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53276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73321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6" name="직선 연결선 8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94692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7" name="직선 연결선 8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615038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8" name="직선 연결선 8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636409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9" name="직선 연결선 8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657779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5927080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79918" y="2490494"/>
            <a:ext cx="179536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면세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94576" y="4425342"/>
            <a:ext cx="179536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예정</a:t>
            </a:r>
          </a:p>
        </p:txBody>
      </p:sp>
      <p:sp>
        <p:nvSpPr>
          <p:cNvPr id="110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대금신청</a:t>
            </a:r>
            <a:r>
              <a:rPr lang="ko-KR" altLang="en-US" dirty="0"/>
              <a:t> 금액 데이터 </a:t>
            </a:r>
            <a:r>
              <a:rPr lang="ko-KR" altLang="en-US" dirty="0" smtClean="0"/>
              <a:t>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- 1-1] </a:t>
            </a:r>
            <a:r>
              <a:rPr lang="ko-KR" altLang="en-US" dirty="0" smtClean="0"/>
              <a:t>대금 </a:t>
            </a:r>
            <a:r>
              <a:rPr lang="ko-KR" altLang="en-US" dirty="0" err="1" smtClean="0"/>
              <a:t>신청시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지급구분별</a:t>
            </a:r>
            <a:r>
              <a:rPr lang="ko-KR" altLang="en-US" dirty="0" smtClean="0"/>
              <a:t> 항목 확인 필요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 smtClean="0"/>
              <a:t>- 1-2] </a:t>
            </a:r>
            <a:r>
              <a:rPr lang="ko-KR" altLang="en-US" dirty="0" err="1" smtClean="0"/>
              <a:t>세액여부별</a:t>
            </a:r>
            <a:r>
              <a:rPr lang="ko-KR" altLang="en-US" dirty="0" smtClean="0"/>
              <a:t> 항목 확인 필요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ko-KR" altLang="en-US" dirty="0" smtClean="0"/>
              <a:t>세액 여부</a:t>
            </a:r>
            <a:r>
              <a:rPr lang="en-US" altLang="ko-KR" dirty="0" smtClean="0"/>
              <a:t>) </a:t>
            </a:r>
            <a:r>
              <a:rPr lang="ko-KR" altLang="en-US" dirty="0" smtClean="0"/>
              <a:t>과세</a:t>
            </a:r>
            <a:r>
              <a:rPr lang="en-US" altLang="ko-KR" dirty="0" smtClean="0"/>
              <a:t>, </a:t>
            </a:r>
            <a:r>
              <a:rPr lang="ko-KR" altLang="en-US" dirty="0" smtClean="0"/>
              <a:t>면세</a:t>
            </a:r>
            <a:r>
              <a:rPr lang="en-US" altLang="ko-KR" dirty="0" smtClean="0"/>
              <a:t>, </a:t>
            </a:r>
            <a:r>
              <a:rPr lang="ko-KR" altLang="en-US" dirty="0" smtClean="0"/>
              <a:t>영세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 smtClean="0"/>
              <a:t>- 1-3] </a:t>
            </a:r>
            <a:r>
              <a:rPr lang="ko-KR" altLang="en-US" dirty="0" err="1" smtClean="0"/>
              <a:t>신고구분</a:t>
            </a:r>
            <a:r>
              <a:rPr lang="en-US" altLang="ko-KR" dirty="0"/>
              <a:t>: </a:t>
            </a:r>
            <a:r>
              <a:rPr lang="ko-KR" altLang="en-US" dirty="0"/>
              <a:t>확정</a:t>
            </a:r>
            <a:r>
              <a:rPr lang="en-US" altLang="ko-KR" dirty="0"/>
              <a:t>, </a:t>
            </a:r>
            <a:r>
              <a:rPr lang="ko-KR" altLang="en-US" dirty="0" smtClean="0"/>
              <a:t>예정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endParaRPr lang="en-US" altLang="ko-KR" dirty="0"/>
          </a:p>
        </p:txBody>
      </p:sp>
      <p:sp>
        <p:nvSpPr>
          <p:cNvPr id="111" name="타원 11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6160" y="1978375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112" name="타원 11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384262" y="2201177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1-1</a:t>
            </a:r>
            <a:endParaRPr lang="ko-KR" altLang="en-US" sz="500" b="1" dirty="0"/>
          </a:p>
        </p:txBody>
      </p:sp>
      <p:sp>
        <p:nvSpPr>
          <p:cNvPr id="114" name="타원 11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386222" y="2476938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1-2</a:t>
            </a:r>
            <a:endParaRPr lang="ko-KR" altLang="en-US" sz="500" b="1" dirty="0"/>
          </a:p>
        </p:txBody>
      </p:sp>
      <p:sp>
        <p:nvSpPr>
          <p:cNvPr id="115" name="타원 11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384262" y="4415305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1-3</a:t>
            </a:r>
            <a:endParaRPr lang="ko-KR" altLang="en-US" sz="500" b="1" dirty="0"/>
          </a:p>
        </p:txBody>
      </p:sp>
      <p:grpSp>
        <p:nvGrpSpPr>
          <p:cNvPr id="93" name="그룹 92"/>
          <p:cNvGrpSpPr/>
          <p:nvPr/>
        </p:nvGrpSpPr>
        <p:grpSpPr>
          <a:xfrm>
            <a:off x="720490" y="1493927"/>
            <a:ext cx="2626449" cy="354413"/>
            <a:chOff x="720490" y="4004429"/>
            <a:chExt cx="2626449" cy="354413"/>
          </a:xfrm>
        </p:grpSpPr>
        <p:cxnSp>
          <p:nvCxnSpPr>
            <p:cNvPr id="94" name="직선 연결선 9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004429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5" name="직선 연결선 9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358842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7" name="직선 연결선 9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1203209" y="4358842"/>
              <a:ext cx="747365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98" name="그룹 97"/>
            <p:cNvGrpSpPr/>
            <p:nvPr/>
          </p:nvGrpSpPr>
          <p:grpSpPr>
            <a:xfrm>
              <a:off x="764169" y="4142235"/>
              <a:ext cx="2210802" cy="107722"/>
              <a:chOff x="764169" y="4142235"/>
              <a:chExt cx="2210802" cy="107722"/>
            </a:xfrm>
          </p:grpSpPr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764169" y="4142235"/>
                <a:ext cx="359782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 err="1">
                    <a:latin typeface="+mn-ea"/>
                  </a:rPr>
                  <a:t>계약정보</a:t>
                </a:r>
                <a:endParaRPr lang="ko-KR" altLang="en-US" sz="700" dirty="0">
                  <a:latin typeface="+mn-ea"/>
                </a:endParaRPr>
              </a:p>
            </p:txBody>
          </p: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1216001" y="4142235"/>
                <a:ext cx="743282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b="1" dirty="0" err="1">
                    <a:latin typeface="+mn-ea"/>
                  </a:rPr>
                  <a:t>기성대가</a:t>
                </a:r>
                <a:r>
                  <a:rPr lang="ko-KR" altLang="en-US" sz="700" b="1" dirty="0">
                    <a:latin typeface="+mn-ea"/>
                  </a:rPr>
                  <a:t> 신청금액</a:t>
                </a:r>
              </a:p>
            </p:txBody>
          </p: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051333" y="4142235"/>
                <a:ext cx="462705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</a:rPr>
                  <a:t>세금계산서</a:t>
                </a:r>
              </a:p>
            </p:txBody>
          </p: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606088" y="4142235"/>
                <a:ext cx="368883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>
                    <a:latin typeface="+mn-ea"/>
                  </a:rPr>
                  <a:t>첨부파일</a:t>
                </a:r>
                <a:endParaRPr lang="ko-KR" altLang="en-US" sz="700" dirty="0">
                  <a:latin typeface="+mn-ea"/>
                </a:endParaRPr>
              </a:p>
            </p:txBody>
          </p:sp>
        </p:grpSp>
        <p:grpSp>
          <p:nvGrpSpPr>
            <p:cNvPr id="99" name="그룹 98"/>
            <p:cNvGrpSpPr/>
            <p:nvPr/>
          </p:nvGrpSpPr>
          <p:grpSpPr>
            <a:xfrm>
              <a:off x="2924086" y="4104112"/>
              <a:ext cx="422853" cy="187961"/>
              <a:chOff x="3641308" y="2234886"/>
              <a:chExt cx="422853" cy="187961"/>
            </a:xfrm>
          </p:grpSpPr>
          <p:sp>
            <p:nvSpPr>
              <p:cNvPr id="100" name="타원 99"/>
              <p:cNvSpPr/>
              <p:nvPr/>
            </p:nvSpPr>
            <p:spPr>
              <a:xfrm flipH="1">
                <a:off x="3641308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01" name="그룹 100"/>
              <p:cNvGrpSpPr/>
              <p:nvPr/>
            </p:nvGrpSpPr>
            <p:grpSpPr>
              <a:xfrm rot="5400000" flipH="1">
                <a:off x="3679895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108" name="직선 연결선 107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9" name="직선 연결선 108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2" name="타원 101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04" name="그룹 103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106" name="직선 연결선 105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7" name="직선 연결선 106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43" name="그룹 142"/>
          <p:cNvGrpSpPr/>
          <p:nvPr/>
        </p:nvGrpSpPr>
        <p:grpSpPr>
          <a:xfrm>
            <a:off x="3840345" y="1493927"/>
            <a:ext cx="2626449" cy="354413"/>
            <a:chOff x="720490" y="4004429"/>
            <a:chExt cx="2626449" cy="354413"/>
          </a:xfrm>
        </p:grpSpPr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004429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5" name="직선 연결선 14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358842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6" name="직선 연결선 14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1203209" y="4358842"/>
              <a:ext cx="747365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47" name="그룹 146"/>
            <p:cNvGrpSpPr/>
            <p:nvPr/>
          </p:nvGrpSpPr>
          <p:grpSpPr>
            <a:xfrm>
              <a:off x="764169" y="4142235"/>
              <a:ext cx="2210802" cy="107722"/>
              <a:chOff x="764169" y="4142235"/>
              <a:chExt cx="2210802" cy="107722"/>
            </a:xfrm>
          </p:grpSpPr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764169" y="4142235"/>
                <a:ext cx="359782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 err="1">
                    <a:latin typeface="+mn-ea"/>
                  </a:rPr>
                  <a:t>계약정보</a:t>
                </a:r>
                <a:endParaRPr lang="ko-KR" altLang="en-US" sz="700" dirty="0">
                  <a:latin typeface="+mn-ea"/>
                </a:endParaRPr>
              </a:p>
            </p:txBody>
          </p:sp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1216001" y="4142235"/>
                <a:ext cx="743282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b="1" dirty="0" err="1">
                    <a:latin typeface="+mn-ea"/>
                  </a:rPr>
                  <a:t>기성대가</a:t>
                </a:r>
                <a:r>
                  <a:rPr lang="ko-KR" altLang="en-US" sz="700" b="1" dirty="0">
                    <a:latin typeface="+mn-ea"/>
                  </a:rPr>
                  <a:t> 신청금액</a:t>
                </a:r>
              </a:p>
            </p:txBody>
          </p:sp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051333" y="4142235"/>
                <a:ext cx="462705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</a:rPr>
                  <a:t>세금계산서</a:t>
                </a:r>
              </a:p>
            </p:txBody>
          </p:sp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606088" y="4142235"/>
                <a:ext cx="368883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>
                    <a:latin typeface="+mn-ea"/>
                  </a:rPr>
                  <a:t>첨부파일</a:t>
                </a:r>
                <a:endParaRPr lang="ko-KR" altLang="en-US" sz="700" dirty="0">
                  <a:latin typeface="+mn-ea"/>
                </a:endParaRPr>
              </a:p>
            </p:txBody>
          </p:sp>
        </p:grpSp>
        <p:grpSp>
          <p:nvGrpSpPr>
            <p:cNvPr id="148" name="그룹 147"/>
            <p:cNvGrpSpPr/>
            <p:nvPr/>
          </p:nvGrpSpPr>
          <p:grpSpPr>
            <a:xfrm>
              <a:off x="2924086" y="4104112"/>
              <a:ext cx="422853" cy="187961"/>
              <a:chOff x="3641308" y="2234886"/>
              <a:chExt cx="422853" cy="187961"/>
            </a:xfrm>
          </p:grpSpPr>
          <p:sp>
            <p:nvSpPr>
              <p:cNvPr id="149" name="타원 148"/>
              <p:cNvSpPr/>
              <p:nvPr/>
            </p:nvSpPr>
            <p:spPr>
              <a:xfrm flipH="1">
                <a:off x="3641308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50" name="그룹 149"/>
              <p:cNvGrpSpPr/>
              <p:nvPr/>
            </p:nvGrpSpPr>
            <p:grpSpPr>
              <a:xfrm rot="5400000" flipH="1">
                <a:off x="3679895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156" name="직선 연결선 155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57" name="직선 연결선 156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51" name="타원 150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52" name="그룹 151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153" name="직선 연결선 152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54" name="직선 연결선 153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342139532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63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Autofit/>
          </a:bodyPr>
          <a:lstStyle/>
          <a:p>
            <a:r>
              <a:rPr lang="ko-KR" altLang="en-US" dirty="0">
                <a:latin typeface="+mn-ea"/>
              </a:rPr>
              <a:t>기성대가신청금액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MUI-WM-01-T17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4" y="1922965"/>
            <a:ext cx="2456097" cy="181140"/>
            <a:chOff x="763157" y="1527996"/>
            <a:chExt cx="2456097" cy="18114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기성대가</a:t>
              </a:r>
              <a:r>
                <a:rPr lang="ko-KR" altLang="en-US" sz="700" dirty="0">
                  <a:latin typeface="+mn-ea"/>
                </a:rPr>
                <a:t> 신청 금액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2215118"/>
            <a:ext cx="2630093" cy="3662541"/>
            <a:chOff x="3865118" y="2946204"/>
            <a:chExt cx="2630093" cy="3662541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4"/>
              <a:ext cx="792000" cy="363159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4" y="2946204"/>
              <a:ext cx="715881" cy="366254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지급구분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세액여부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기성금액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공제금액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공제내역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실지급금액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신고구분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선급금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총기성율</a:t>
              </a:r>
              <a:r>
                <a:rPr lang="en-US" altLang="ko-KR" sz="700" dirty="0">
                  <a:latin typeface="+mn-ea"/>
                </a:rPr>
                <a:t>(%)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총기성금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선금정산액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금회정산액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366254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기성대가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00 %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7448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68818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90189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10535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31906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53276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73321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94692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615038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636409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657779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593493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75093" y="2497625"/>
            <a:ext cx="179536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영세</a:t>
            </a:r>
            <a:endParaRPr lang="ko-KR" altLang="en-US" sz="700" dirty="0">
              <a:latin typeface="+mn-ea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2371" y="4433197"/>
            <a:ext cx="179536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예정</a:t>
            </a:r>
            <a:endParaRPr lang="ko-KR" altLang="en-US" sz="700" dirty="0">
              <a:latin typeface="+mn-ea"/>
            </a:endParaRPr>
          </a:p>
        </p:txBody>
      </p:sp>
      <p:sp>
        <p:nvSpPr>
          <p:cNvPr id="110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대금신청</a:t>
            </a:r>
            <a:r>
              <a:rPr lang="ko-KR" altLang="en-US" dirty="0"/>
              <a:t> 금액 데이터 </a:t>
            </a:r>
            <a:r>
              <a:rPr lang="ko-KR" altLang="en-US" dirty="0" smtClean="0"/>
              <a:t>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- 1-1] </a:t>
            </a:r>
            <a:r>
              <a:rPr lang="ko-KR" altLang="en-US" dirty="0" smtClean="0"/>
              <a:t>대금 </a:t>
            </a:r>
            <a:r>
              <a:rPr lang="ko-KR" altLang="en-US" dirty="0" err="1" smtClean="0"/>
              <a:t>신청시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지급구분별</a:t>
            </a:r>
            <a:r>
              <a:rPr lang="ko-KR" altLang="en-US" dirty="0" smtClean="0"/>
              <a:t> 항목 확인 필요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 smtClean="0"/>
              <a:t>- 1-2] </a:t>
            </a:r>
            <a:r>
              <a:rPr lang="ko-KR" altLang="en-US" dirty="0" err="1" smtClean="0"/>
              <a:t>세액여부별</a:t>
            </a:r>
            <a:r>
              <a:rPr lang="ko-KR" altLang="en-US" dirty="0" smtClean="0"/>
              <a:t> 항목 확인 필요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ko-KR" altLang="en-US" dirty="0" smtClean="0"/>
              <a:t>세액 여부</a:t>
            </a:r>
            <a:r>
              <a:rPr lang="en-US" altLang="ko-KR" dirty="0" smtClean="0"/>
              <a:t>) </a:t>
            </a:r>
            <a:r>
              <a:rPr lang="ko-KR" altLang="en-US" dirty="0" smtClean="0"/>
              <a:t>과세</a:t>
            </a:r>
            <a:r>
              <a:rPr lang="en-US" altLang="ko-KR" dirty="0" smtClean="0"/>
              <a:t>, </a:t>
            </a:r>
            <a:r>
              <a:rPr lang="ko-KR" altLang="en-US" dirty="0" smtClean="0"/>
              <a:t>면세</a:t>
            </a:r>
            <a:r>
              <a:rPr lang="en-US" altLang="ko-KR" dirty="0" smtClean="0"/>
              <a:t>, </a:t>
            </a:r>
            <a:r>
              <a:rPr lang="ko-KR" altLang="en-US" dirty="0" smtClean="0"/>
              <a:t>영세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 smtClean="0"/>
              <a:t>- 1-3] </a:t>
            </a:r>
            <a:r>
              <a:rPr lang="ko-KR" altLang="en-US" dirty="0" err="1" smtClean="0"/>
              <a:t>신고구분</a:t>
            </a:r>
            <a:r>
              <a:rPr lang="en-US" altLang="ko-KR" dirty="0"/>
              <a:t>: </a:t>
            </a:r>
            <a:r>
              <a:rPr lang="ko-KR" altLang="en-US" dirty="0"/>
              <a:t>확정</a:t>
            </a:r>
            <a:r>
              <a:rPr lang="en-US" altLang="ko-KR" dirty="0"/>
              <a:t>, </a:t>
            </a:r>
            <a:r>
              <a:rPr lang="ko-KR" altLang="en-US" dirty="0" smtClean="0"/>
              <a:t>예정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endParaRPr lang="en-US" altLang="ko-KR" dirty="0"/>
          </a:p>
        </p:txBody>
      </p:sp>
      <p:sp>
        <p:nvSpPr>
          <p:cNvPr id="111" name="타원 11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6160" y="1976645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112" name="타원 11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384262" y="2199447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1-1</a:t>
            </a:r>
            <a:endParaRPr lang="ko-KR" altLang="en-US" sz="500" b="1" dirty="0"/>
          </a:p>
        </p:txBody>
      </p:sp>
      <p:sp>
        <p:nvSpPr>
          <p:cNvPr id="114" name="타원 11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386222" y="2475208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1-2</a:t>
            </a:r>
            <a:endParaRPr lang="ko-KR" altLang="en-US" sz="500" b="1" dirty="0"/>
          </a:p>
        </p:txBody>
      </p:sp>
      <p:sp>
        <p:nvSpPr>
          <p:cNvPr id="115" name="타원 11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384262" y="4413575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1-3</a:t>
            </a:r>
            <a:endParaRPr lang="ko-KR" altLang="en-US" sz="500" b="1" dirty="0"/>
          </a:p>
        </p:txBody>
      </p:sp>
      <p:grpSp>
        <p:nvGrpSpPr>
          <p:cNvPr id="44" name="그룹 43"/>
          <p:cNvGrpSpPr/>
          <p:nvPr/>
        </p:nvGrpSpPr>
        <p:grpSpPr>
          <a:xfrm>
            <a:off x="720490" y="1493927"/>
            <a:ext cx="2626449" cy="354413"/>
            <a:chOff x="720490" y="4004429"/>
            <a:chExt cx="2626449" cy="354413"/>
          </a:xfrm>
        </p:grpSpPr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004429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8" name="직선 연결선 4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358842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1203209" y="4358842"/>
              <a:ext cx="747365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50" name="그룹 49"/>
            <p:cNvGrpSpPr/>
            <p:nvPr/>
          </p:nvGrpSpPr>
          <p:grpSpPr>
            <a:xfrm>
              <a:off x="764169" y="4142235"/>
              <a:ext cx="2210802" cy="107722"/>
              <a:chOff x="764169" y="4142235"/>
              <a:chExt cx="2210802" cy="107722"/>
            </a:xfrm>
          </p:grpSpPr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764169" y="4142235"/>
                <a:ext cx="359782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 err="1">
                    <a:latin typeface="+mn-ea"/>
                  </a:rPr>
                  <a:t>계약정보</a:t>
                </a:r>
                <a:endParaRPr lang="ko-KR" altLang="en-US" sz="700" dirty="0">
                  <a:latin typeface="+mn-ea"/>
                </a:endParaRP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1216001" y="4142235"/>
                <a:ext cx="743282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b="1" dirty="0" err="1">
                    <a:latin typeface="+mn-ea"/>
                  </a:rPr>
                  <a:t>기성대가</a:t>
                </a:r>
                <a:r>
                  <a:rPr lang="ko-KR" altLang="en-US" sz="700" b="1" dirty="0">
                    <a:latin typeface="+mn-ea"/>
                  </a:rPr>
                  <a:t> 신청금액</a:t>
                </a: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051333" y="4142235"/>
                <a:ext cx="462705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</a:rPr>
                  <a:t>세금계산서</a:t>
                </a: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606088" y="4142235"/>
                <a:ext cx="368883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>
                    <a:latin typeface="+mn-ea"/>
                  </a:rPr>
                  <a:t>첨부파일</a:t>
                </a:r>
                <a:endParaRPr lang="ko-KR" altLang="en-US" sz="700" dirty="0">
                  <a:latin typeface="+mn-ea"/>
                </a:endParaRPr>
              </a:p>
            </p:txBody>
          </p:sp>
        </p:grpSp>
        <p:grpSp>
          <p:nvGrpSpPr>
            <p:cNvPr id="51" name="그룹 50"/>
            <p:cNvGrpSpPr/>
            <p:nvPr/>
          </p:nvGrpSpPr>
          <p:grpSpPr>
            <a:xfrm>
              <a:off x="2924086" y="4104112"/>
              <a:ext cx="422853" cy="187961"/>
              <a:chOff x="3641308" y="2234886"/>
              <a:chExt cx="422853" cy="187961"/>
            </a:xfrm>
          </p:grpSpPr>
          <p:sp>
            <p:nvSpPr>
              <p:cNvPr id="52" name="타원 51"/>
              <p:cNvSpPr/>
              <p:nvPr/>
            </p:nvSpPr>
            <p:spPr>
              <a:xfrm flipH="1">
                <a:off x="3641308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53" name="그룹 52"/>
              <p:cNvGrpSpPr/>
              <p:nvPr/>
            </p:nvGrpSpPr>
            <p:grpSpPr>
              <a:xfrm rot="5400000" flipH="1">
                <a:off x="3679895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63" name="직선 연결선 62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직선 연결선 63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4" name="타원 53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56" name="그룹 55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61" name="직선 연결선 60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직선 연결선 61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4226764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Arial" panose="020B0604020202020204" pitchFamily="34" charset="0"/>
              <a:buAutoNum type="arabicPeriod"/>
            </a:pPr>
            <a:r>
              <a:rPr lang="en-US" altLang="ko-KR" dirty="0">
                <a:latin typeface="+mn-ea"/>
              </a:rPr>
              <a:t>PC</a:t>
            </a:r>
            <a:r>
              <a:rPr lang="ko-KR" altLang="en-US" dirty="0">
                <a:latin typeface="+mn-ea"/>
              </a:rPr>
              <a:t>에서 사후정산청구서 작성시</a:t>
            </a:r>
            <a:r>
              <a:rPr lang="en-US" altLang="ko-KR" dirty="0">
                <a:latin typeface="+mn-ea"/>
              </a:rPr>
              <a:t>(UI-WM-01-M47), </a:t>
            </a:r>
            <a:r>
              <a:rPr lang="ko-KR" altLang="en-US" dirty="0">
                <a:latin typeface="+mn-ea"/>
              </a:rPr>
              <a:t>세금계산서</a:t>
            </a:r>
            <a:r>
              <a:rPr lang="en-US" altLang="ko-KR" dirty="0">
                <a:latin typeface="+mn-ea"/>
              </a:rPr>
              <a:t> “</a:t>
            </a:r>
            <a:r>
              <a:rPr lang="ko-KR" altLang="en-US" dirty="0">
                <a:latin typeface="+mn-ea"/>
              </a:rPr>
              <a:t>선택</a:t>
            </a:r>
            <a:r>
              <a:rPr lang="en-US" altLang="ko-KR" dirty="0">
                <a:latin typeface="+mn-ea"/>
              </a:rPr>
              <a:t>” </a:t>
            </a:r>
            <a:r>
              <a:rPr lang="ko-KR" altLang="en-US" dirty="0">
                <a:latin typeface="+mn-ea"/>
              </a:rPr>
              <a:t>을 선택한 경우 노출 되는 항목</a:t>
            </a:r>
            <a:endParaRPr lang="en-US" altLang="ko-KR" dirty="0">
              <a:latin typeface="+mn-ea"/>
            </a:endParaRPr>
          </a:p>
          <a:p>
            <a:pPr marL="228600" indent="-228600">
              <a:buAutoNum type="arabicPeriod"/>
            </a:pPr>
            <a:endParaRPr lang="en-US" altLang="ko-KR" dirty="0">
              <a:latin typeface="+mn-ea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64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Autofit/>
          </a:bodyPr>
          <a:lstStyle/>
          <a:p>
            <a:r>
              <a:rPr lang="ko-KR" altLang="en-US" dirty="0">
                <a:latin typeface="+mn-ea"/>
              </a:rPr>
              <a:t>세금계산서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MUI-WM-01-T18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4" y="1919376"/>
            <a:ext cx="2456097" cy="181140"/>
            <a:chOff x="763157" y="1527996"/>
            <a:chExt cx="2456097" cy="18114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세금계산서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2211528"/>
            <a:ext cx="2630093" cy="235931"/>
            <a:chOff x="3865118" y="2946203"/>
            <a:chExt cx="2630093" cy="235931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3"/>
              <a:ext cx="792000" cy="23593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4" y="2946204"/>
              <a:ext cx="715881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세금계산서번호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7303" y="2946204"/>
              <a:ext cx="1769659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1234-5678-9012</a:t>
              </a:r>
              <a:endParaRPr lang="ko-KR" altLang="en-US" sz="700" dirty="0">
                <a:latin typeface="+mn-ea"/>
              </a:endParaRPr>
            </a:p>
          </p:txBody>
        </p: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6160" y="1973056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6082991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9" name="그룹 48"/>
          <p:cNvGrpSpPr/>
          <p:nvPr/>
        </p:nvGrpSpPr>
        <p:grpSpPr>
          <a:xfrm>
            <a:off x="716366" y="2781885"/>
            <a:ext cx="2630093" cy="1292663"/>
            <a:chOff x="3865118" y="2946203"/>
            <a:chExt cx="2630093" cy="1292663"/>
          </a:xfrm>
        </p:grpSpPr>
        <p:sp>
          <p:nvSpPr>
            <p:cNvPr id="50" name="직사각형 49"/>
            <p:cNvSpPr/>
            <p:nvPr/>
          </p:nvSpPr>
          <p:spPr>
            <a:xfrm>
              <a:off x="3867211" y="2946203"/>
              <a:ext cx="792000" cy="12926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4" y="2946204"/>
              <a:ext cx="715881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월일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품목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02-03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55" name="직선 연결선 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6" name="직선 연결선 5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3364" y="2508538"/>
            <a:ext cx="84376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품목 정보</a:t>
            </a:r>
          </a:p>
        </p:txBody>
      </p:sp>
      <p:grpSp>
        <p:nvGrpSpPr>
          <p:cNvPr id="71" name="그룹 70"/>
          <p:cNvGrpSpPr/>
          <p:nvPr/>
        </p:nvGrpSpPr>
        <p:grpSpPr>
          <a:xfrm>
            <a:off x="716366" y="4182258"/>
            <a:ext cx="2630093" cy="1292663"/>
            <a:chOff x="3865118" y="2946203"/>
            <a:chExt cx="2630093" cy="1292663"/>
          </a:xfrm>
        </p:grpSpPr>
        <p:sp>
          <p:nvSpPr>
            <p:cNvPr id="72" name="직사각형 71"/>
            <p:cNvSpPr/>
            <p:nvPr/>
          </p:nvSpPr>
          <p:spPr>
            <a:xfrm>
              <a:off x="3867211" y="2946203"/>
              <a:ext cx="792000" cy="12926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3" name="직선 연결선 7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4" y="2946204"/>
              <a:ext cx="715881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월일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품목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02-03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7" name="직선 연결선 7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9" name="직선 연결선 7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0" name="직선 연결선 7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671901"/>
            <a:ext cx="76863" cy="292489"/>
            <a:chOff x="3750067" y="4683795"/>
            <a:chExt cx="76863" cy="292489"/>
          </a:xfrm>
        </p:grpSpPr>
        <p:sp>
          <p:nvSpPr>
            <p:cNvPr id="83" name="타원 82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85" name="타원 84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61" name="그룹 60"/>
          <p:cNvGrpSpPr/>
          <p:nvPr/>
        </p:nvGrpSpPr>
        <p:grpSpPr>
          <a:xfrm>
            <a:off x="720490" y="1493927"/>
            <a:ext cx="2626449" cy="354413"/>
            <a:chOff x="720490" y="4004429"/>
            <a:chExt cx="2626449" cy="354413"/>
          </a:xfrm>
        </p:grpSpPr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004429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4" name="직선 연결선 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358842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5" name="직선 연결선 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2033915" y="4358842"/>
              <a:ext cx="480123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67" name="그룹 66"/>
            <p:cNvGrpSpPr/>
            <p:nvPr/>
          </p:nvGrpSpPr>
          <p:grpSpPr>
            <a:xfrm>
              <a:off x="764169" y="4142235"/>
              <a:ext cx="2210802" cy="107722"/>
              <a:chOff x="764169" y="4142235"/>
              <a:chExt cx="2210802" cy="107722"/>
            </a:xfrm>
          </p:grpSpPr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764169" y="4142235"/>
                <a:ext cx="359782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 err="1">
                    <a:latin typeface="+mn-ea"/>
                  </a:rPr>
                  <a:t>계약정보</a:t>
                </a:r>
                <a:endParaRPr lang="ko-KR" altLang="en-US" sz="700" dirty="0">
                  <a:latin typeface="+mn-ea"/>
                </a:endParaRPr>
              </a:p>
            </p:txBody>
          </p:sp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1216001" y="4142235"/>
                <a:ext cx="743282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 err="1">
                    <a:latin typeface="+mn-ea"/>
                  </a:rPr>
                  <a:t>기성대가</a:t>
                </a:r>
                <a:r>
                  <a:rPr lang="ko-KR" altLang="en-US" sz="700" dirty="0">
                    <a:latin typeface="+mn-ea"/>
                  </a:rPr>
                  <a:t> 신청금액</a:t>
                </a:r>
              </a:p>
            </p:txBody>
          </p: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051333" y="4142235"/>
                <a:ext cx="462705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b="1" dirty="0">
                    <a:latin typeface="+mn-ea"/>
                  </a:rPr>
                  <a:t>세금계산서</a:t>
                </a:r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606088" y="4142235"/>
                <a:ext cx="368883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>
                    <a:latin typeface="+mn-ea"/>
                  </a:rPr>
                  <a:t>첨부파일</a:t>
                </a:r>
                <a:endParaRPr lang="ko-KR" altLang="en-US" sz="700" dirty="0">
                  <a:latin typeface="+mn-ea"/>
                </a:endParaRPr>
              </a:p>
            </p:txBody>
          </p:sp>
        </p:grpSp>
        <p:grpSp>
          <p:nvGrpSpPr>
            <p:cNvPr id="68" name="그룹 67"/>
            <p:cNvGrpSpPr/>
            <p:nvPr/>
          </p:nvGrpSpPr>
          <p:grpSpPr>
            <a:xfrm>
              <a:off x="2924086" y="4104112"/>
              <a:ext cx="422853" cy="187961"/>
              <a:chOff x="3641308" y="2234886"/>
              <a:chExt cx="422853" cy="187961"/>
            </a:xfrm>
          </p:grpSpPr>
          <p:sp>
            <p:nvSpPr>
              <p:cNvPr id="69" name="타원 68"/>
              <p:cNvSpPr/>
              <p:nvPr/>
            </p:nvSpPr>
            <p:spPr>
              <a:xfrm flipH="1">
                <a:off x="3641308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86" name="그룹 85"/>
              <p:cNvGrpSpPr/>
              <p:nvPr/>
            </p:nvGrpSpPr>
            <p:grpSpPr>
              <a:xfrm rot="5400000" flipH="1">
                <a:off x="3679895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91" name="직선 연결선 90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직선 연결선 91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7" name="타원 86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88" name="그룹 87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89" name="직선 연결선 88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직선 연결선 89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179149004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sz="800" dirty="0"/>
              <a:t>계약에 등록된 </a:t>
            </a:r>
            <a:r>
              <a:rPr lang="ko-KR" altLang="en-US" sz="800" dirty="0" err="1"/>
              <a:t>계약관</a:t>
            </a:r>
            <a:r>
              <a:rPr lang="ko-KR" altLang="en-US" sz="800" dirty="0"/>
              <a:t> 첨부서류 </a:t>
            </a:r>
            <a:r>
              <a:rPr lang="ko-KR" altLang="en-US" sz="800" dirty="0" err="1"/>
              <a:t>목록조회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default) </a:t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아코디언 전체 펼침 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업로드 기능 </a:t>
            </a:r>
            <a:r>
              <a:rPr lang="ko-KR" altLang="en-US" sz="800" dirty="0" err="1"/>
              <a:t>미지원</a:t>
            </a:r>
            <a:r>
              <a:rPr lang="ko-KR" altLang="en-US" sz="800" dirty="0"/>
              <a:t> 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err="1"/>
              <a:t>대금청구</a:t>
            </a:r>
            <a:r>
              <a:rPr lang="ko-KR" altLang="en-US" sz="800" dirty="0"/>
              <a:t> 첨부서류에 첨부된 파일이 있는 경우에만 목록 노출</a:t>
            </a:r>
            <a:endParaRPr lang="en-US" altLang="ko-KR" sz="8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/>
              <a:t>파일 목록 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정렬</a:t>
            </a:r>
            <a:r>
              <a:rPr lang="en-US" altLang="ko-KR" sz="800" dirty="0"/>
              <a:t> : </a:t>
            </a:r>
            <a:r>
              <a:rPr lang="ko-KR" altLang="en-US" sz="800" dirty="0"/>
              <a:t>파일 업로드 시점의 </a:t>
            </a:r>
            <a:r>
              <a:rPr lang="ko-KR" altLang="en-US" sz="800" dirty="0" err="1"/>
              <a:t>등록일시</a:t>
            </a:r>
            <a:r>
              <a:rPr lang="ko-KR" altLang="en-US" sz="800" dirty="0"/>
              <a:t> 내림차순 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err="1"/>
              <a:t>계약서류명</a:t>
            </a:r>
            <a:r>
              <a:rPr lang="en-US" altLang="ko-KR" sz="800" dirty="0"/>
              <a:t>, </a:t>
            </a:r>
            <a:r>
              <a:rPr lang="ko-KR" altLang="en-US" sz="800" dirty="0" err="1"/>
              <a:t>첨부파일명</a:t>
            </a:r>
            <a:r>
              <a:rPr lang="en-US" altLang="ko-KR" sz="800" dirty="0"/>
              <a:t>, </a:t>
            </a:r>
            <a:r>
              <a:rPr lang="ko-KR" altLang="en-US" sz="800" dirty="0"/>
              <a:t>파일 크기 표시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파일 크기 정보가 없거나</a:t>
            </a:r>
            <a:r>
              <a:rPr lang="en-US" altLang="ko-KR" sz="800" dirty="0"/>
              <a:t>, </a:t>
            </a:r>
            <a:r>
              <a:rPr lang="ko-KR" altLang="en-US" sz="800" dirty="0"/>
              <a:t>첨부서류 파일명이 없는 경우 </a:t>
            </a:r>
            <a:r>
              <a:rPr lang="en-US" altLang="ko-KR" sz="800" dirty="0"/>
              <a:t>“-” </a:t>
            </a:r>
            <a:r>
              <a:rPr lang="ko-KR" altLang="en-US" sz="800" dirty="0"/>
              <a:t>표시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파일명이 긴 경우 </a:t>
            </a:r>
            <a:r>
              <a:rPr lang="ko-KR" altLang="en-US" sz="800" dirty="0" err="1"/>
              <a:t>말줄임</a:t>
            </a:r>
            <a:r>
              <a:rPr lang="ko-KR" altLang="en-US" sz="800" dirty="0"/>
              <a:t> 표시</a:t>
            </a:r>
            <a:endParaRPr lang="en-US" altLang="ko-KR" sz="8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/>
              <a:t>다운로드 아이콘 노출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다운로드 </a:t>
            </a:r>
            <a:r>
              <a:rPr lang="ko-KR" altLang="en-US" sz="800" dirty="0" err="1"/>
              <a:t>클릭시</a:t>
            </a:r>
            <a:r>
              <a:rPr lang="en-US" altLang="ko-KR" sz="800" dirty="0"/>
              <a:t>, </a:t>
            </a:r>
            <a:r>
              <a:rPr lang="ko-KR" altLang="en-US" sz="800" dirty="0"/>
              <a:t>즉시 다운로드 실행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파일 다운로드 </a:t>
            </a:r>
            <a:r>
              <a:rPr lang="ko-KR" altLang="en-US" sz="800" dirty="0" err="1"/>
              <a:t>실패시</a:t>
            </a:r>
            <a:r>
              <a:rPr lang="ko-KR" altLang="en-US" sz="800" dirty="0"/>
              <a:t> </a:t>
            </a:r>
            <a:r>
              <a:rPr lang="en-US" altLang="ko-KR" sz="800" dirty="0"/>
              <a:t>, “</a:t>
            </a:r>
            <a:r>
              <a:rPr lang="ko-KR" altLang="en-US" sz="800" dirty="0"/>
              <a:t>다운로드에 실패했습니다</a:t>
            </a:r>
            <a:r>
              <a:rPr lang="en-US" altLang="ko-KR" sz="800" dirty="0"/>
              <a:t>”</a:t>
            </a:r>
            <a:r>
              <a:rPr lang="ko-KR" altLang="en-US" sz="800" dirty="0"/>
              <a:t> 토스트 노출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다운로드 </a:t>
            </a:r>
            <a:r>
              <a:rPr lang="ko-KR" altLang="en-US" sz="800" dirty="0" err="1"/>
              <a:t>성공시</a:t>
            </a:r>
            <a:r>
              <a:rPr lang="ko-KR" altLang="en-US" sz="800" dirty="0"/>
              <a:t> </a:t>
            </a:r>
            <a:r>
              <a:rPr lang="en-US" altLang="ko-KR" sz="800" dirty="0"/>
              <a:t>“</a:t>
            </a:r>
            <a:r>
              <a:rPr lang="ko-KR" altLang="en-US" sz="800" dirty="0"/>
              <a:t>다운로드에 성공했습니다</a:t>
            </a:r>
            <a:r>
              <a:rPr lang="en-US" altLang="ko-KR" sz="800" dirty="0"/>
              <a:t>“ </a:t>
            </a:r>
            <a:r>
              <a:rPr lang="ko-KR" altLang="en-US" sz="800" dirty="0"/>
              <a:t>노출</a:t>
            </a:r>
            <a:endParaRPr lang="en-US" altLang="ko-KR" sz="8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65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Autofit/>
          </a:bodyPr>
          <a:lstStyle/>
          <a:p>
            <a:r>
              <a:rPr lang="ko-KR" altLang="en-US" dirty="0">
                <a:latin typeface="+mn-ea"/>
              </a:rPr>
              <a:t>첨부파일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MUI-WM-01-T19</a:t>
            </a:r>
            <a:endParaRPr lang="ko-KR" altLang="en-US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8613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1" name="그룹 60"/>
          <p:cNvGrpSpPr/>
          <p:nvPr/>
        </p:nvGrpSpPr>
        <p:grpSpPr>
          <a:xfrm>
            <a:off x="806578" y="1931604"/>
            <a:ext cx="2456097" cy="181140"/>
            <a:chOff x="763157" y="1527996"/>
            <a:chExt cx="2456097" cy="181140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첨부파일</a:t>
              </a:r>
            </a:p>
          </p:txBody>
        </p:sp>
        <p:grpSp>
          <p:nvGrpSpPr>
            <p:cNvPr id="70" name="그룹 69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71" name="직선 연결선 7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직선 연결선 71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73" name="타원 7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9374" y="1985284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grpSp>
        <p:nvGrpSpPr>
          <p:cNvPr id="74" name="그룹 73"/>
          <p:cNvGrpSpPr/>
          <p:nvPr/>
        </p:nvGrpSpPr>
        <p:grpSpPr>
          <a:xfrm>
            <a:off x="678614" y="2194872"/>
            <a:ext cx="2712026" cy="1339020"/>
            <a:chOff x="4063785" y="1972404"/>
            <a:chExt cx="2712026" cy="1339020"/>
          </a:xfrm>
        </p:grpSpPr>
        <p:grpSp>
          <p:nvGrpSpPr>
            <p:cNvPr id="75" name="그룹 74"/>
            <p:cNvGrpSpPr/>
            <p:nvPr/>
          </p:nvGrpSpPr>
          <p:grpSpPr>
            <a:xfrm>
              <a:off x="4063785" y="1972404"/>
              <a:ext cx="2712026" cy="1339020"/>
              <a:chOff x="3795735" y="3141693"/>
              <a:chExt cx="2712026" cy="1339020"/>
            </a:xfrm>
          </p:grpSpPr>
          <p:sp>
            <p:nvSpPr>
              <p:cNvPr id="78" name="모서리가 둥근 직사각형 77"/>
              <p:cNvSpPr/>
              <p:nvPr/>
            </p:nvSpPr>
            <p:spPr>
              <a:xfrm>
                <a:off x="3831550" y="3276811"/>
                <a:ext cx="2652743" cy="364486"/>
              </a:xfrm>
              <a:prstGeom prst="roundRect">
                <a:avLst>
                  <a:gd name="adj" fmla="val 9062"/>
                </a:avLst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208115" y="3412605"/>
                <a:ext cx="1682738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ko-KR" altLang="en-US" sz="7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첨부파일명</a:t>
                </a:r>
                <a:r>
                  <a:rPr lang="en-US" altLang="ko-KR" sz="7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.</a:t>
                </a:r>
                <a:r>
                  <a:rPr lang="en-US" altLang="ko-KR" sz="7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hwp</a:t>
                </a:r>
                <a:endPara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09746" y="3405193"/>
                <a:ext cx="247786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ko-KR" sz="7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1</a:t>
                </a:r>
                <a:endPara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81" name="타원 80"/>
              <p:cNvSpPr/>
              <p:nvPr/>
            </p:nvSpPr>
            <p:spPr>
              <a:xfrm>
                <a:off x="6240167" y="3387054"/>
                <a:ext cx="144000" cy="144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2" name="모서리가 둥근 직사각형 81"/>
              <p:cNvSpPr/>
              <p:nvPr/>
            </p:nvSpPr>
            <p:spPr>
              <a:xfrm>
                <a:off x="3831550" y="3683497"/>
                <a:ext cx="2652743" cy="364486"/>
              </a:xfrm>
              <a:prstGeom prst="roundRect">
                <a:avLst>
                  <a:gd name="adj" fmla="val 9062"/>
                </a:avLst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208115" y="3819291"/>
                <a:ext cx="1412785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ko-KR" altLang="en-US" sz="7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첨부파일명</a:t>
                </a:r>
                <a:r>
                  <a:rPr lang="en-US" altLang="ko-KR" sz="7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.</a:t>
                </a:r>
                <a:r>
                  <a:rPr lang="en-US" altLang="ko-KR" sz="7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hwp</a:t>
                </a:r>
                <a:endPara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09746" y="3811879"/>
                <a:ext cx="247786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ko-KR" sz="7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2</a:t>
                </a:r>
                <a:endPara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85" name="타원 84"/>
              <p:cNvSpPr/>
              <p:nvPr/>
            </p:nvSpPr>
            <p:spPr>
              <a:xfrm>
                <a:off x="6240167" y="3793740"/>
                <a:ext cx="144000" cy="144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94" name="직선 연결선 9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795735" y="4480713"/>
                <a:ext cx="2712026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332218" y="3141693"/>
                <a:ext cx="474348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ko-KR" altLang="en-US" sz="6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첨부파일명</a:t>
                </a:r>
                <a:endPara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6101185" y="3141693"/>
                <a:ext cx="324968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6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다운로드</a:t>
                </a:r>
                <a:endPara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838314" y="3141693"/>
                <a:ext cx="390650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6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항목번호</a:t>
                </a:r>
                <a:endPara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</p:grpSp>
        <p:sp>
          <p:nvSpPr>
            <p:cNvPr id="76" name="직사각형 75"/>
            <p:cNvSpPr/>
            <p:nvPr/>
          </p:nvSpPr>
          <p:spPr>
            <a:xfrm>
              <a:off x="5968922" y="2605294"/>
              <a:ext cx="546945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[</a:t>
              </a:r>
              <a:r>
                <a:rPr lang="ko-KR" altLang="en-US" sz="6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파일크기</a:t>
              </a:r>
              <a:r>
                <a:rPr lang="en-US" altLang="ko-KR" sz="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]</a:t>
              </a:r>
            </a:p>
          </p:txBody>
        </p:sp>
        <p:sp>
          <p:nvSpPr>
            <p:cNvPr id="77" name="직사각형 76"/>
            <p:cNvSpPr/>
            <p:nvPr/>
          </p:nvSpPr>
          <p:spPr>
            <a:xfrm>
              <a:off x="5965336" y="2159928"/>
              <a:ext cx="546945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[</a:t>
              </a:r>
              <a:r>
                <a:rPr lang="ko-KR" altLang="en-US" sz="6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파일크기</a:t>
              </a:r>
              <a:r>
                <a:rPr lang="en-US" altLang="ko-KR" sz="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]</a:t>
              </a:r>
            </a:p>
          </p:txBody>
        </p:sp>
      </p:grpSp>
      <p:sp>
        <p:nvSpPr>
          <p:cNvPr id="98" name="타원 9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10067" y="2334859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99" name="타원 9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177109" y="2967640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00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1128750" y="5933555"/>
            <a:ext cx="1890323" cy="186790"/>
          </a:xfrm>
          <a:prstGeom prst="roundRect">
            <a:avLst>
              <a:gd name="adj" fmla="val 50000"/>
            </a:avLst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kern="0" dirty="0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다운로드에 실패했습니다</a:t>
            </a:r>
            <a:r>
              <a:rPr kumimoji="1" lang="en-US" altLang="ko-KR" sz="700" kern="0" dirty="0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.</a:t>
            </a:r>
            <a:endParaRPr kumimoji="1" lang="en-US" sz="7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sp>
        <p:nvSpPr>
          <p:cNvPr id="101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1111842" y="5726035"/>
            <a:ext cx="1890323" cy="186790"/>
          </a:xfrm>
          <a:prstGeom prst="roundRect">
            <a:avLst>
              <a:gd name="adj" fmla="val 50000"/>
            </a:avLst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kern="0" dirty="0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다운로드에 성공했습니다</a:t>
            </a:r>
            <a:r>
              <a:rPr kumimoji="1" lang="en-US" altLang="ko-KR" sz="700" kern="0" dirty="0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.</a:t>
            </a:r>
            <a:endParaRPr kumimoji="1" lang="en-US" sz="7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sp>
        <p:nvSpPr>
          <p:cNvPr id="102" name="타원 10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056330" y="5837125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grpSp>
        <p:nvGrpSpPr>
          <p:cNvPr id="37" name="그룹 36"/>
          <p:cNvGrpSpPr/>
          <p:nvPr/>
        </p:nvGrpSpPr>
        <p:grpSpPr>
          <a:xfrm>
            <a:off x="720490" y="1493927"/>
            <a:ext cx="2626449" cy="354413"/>
            <a:chOff x="720490" y="4004429"/>
            <a:chExt cx="2626449" cy="354413"/>
          </a:xfrm>
        </p:grpSpPr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004429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358842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2580165" y="4358842"/>
              <a:ext cx="480123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41" name="그룹 40"/>
            <p:cNvGrpSpPr/>
            <p:nvPr/>
          </p:nvGrpSpPr>
          <p:grpSpPr>
            <a:xfrm>
              <a:off x="764169" y="4142235"/>
              <a:ext cx="2210802" cy="107722"/>
              <a:chOff x="764169" y="4142235"/>
              <a:chExt cx="2210802" cy="107722"/>
            </a:xfrm>
          </p:grpSpPr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764169" y="4142235"/>
                <a:ext cx="359782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 err="1">
                    <a:latin typeface="+mn-ea"/>
                  </a:rPr>
                  <a:t>계약정보</a:t>
                </a:r>
                <a:endParaRPr lang="ko-KR" altLang="en-US" sz="700" dirty="0">
                  <a:latin typeface="+mn-ea"/>
                </a:endParaRP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1216001" y="4142235"/>
                <a:ext cx="743282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 err="1">
                    <a:latin typeface="+mn-ea"/>
                  </a:rPr>
                  <a:t>기성대가</a:t>
                </a:r>
                <a:r>
                  <a:rPr lang="ko-KR" altLang="en-US" sz="700" dirty="0">
                    <a:latin typeface="+mn-ea"/>
                  </a:rPr>
                  <a:t> 신청금액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051333" y="4142235"/>
                <a:ext cx="462705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</a:rPr>
                  <a:t>세금계산서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606088" y="4142235"/>
                <a:ext cx="368883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b="1" dirty="0">
                    <a:latin typeface="+mn-ea"/>
                  </a:rPr>
                  <a:t>첨부파일</a:t>
                </a:r>
              </a:p>
            </p:txBody>
          </p:sp>
        </p:grpSp>
        <p:grpSp>
          <p:nvGrpSpPr>
            <p:cNvPr id="42" name="그룹 41"/>
            <p:cNvGrpSpPr/>
            <p:nvPr/>
          </p:nvGrpSpPr>
          <p:grpSpPr>
            <a:xfrm>
              <a:off x="2924086" y="4104112"/>
              <a:ext cx="422853" cy="187961"/>
              <a:chOff x="3641308" y="2234886"/>
              <a:chExt cx="422853" cy="187961"/>
            </a:xfrm>
          </p:grpSpPr>
          <p:sp>
            <p:nvSpPr>
              <p:cNvPr id="43" name="타원 42"/>
              <p:cNvSpPr/>
              <p:nvPr/>
            </p:nvSpPr>
            <p:spPr>
              <a:xfrm flipH="1">
                <a:off x="3641308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44" name="그룹 43"/>
              <p:cNvGrpSpPr/>
              <p:nvPr/>
            </p:nvGrpSpPr>
            <p:grpSpPr>
              <a:xfrm rot="5400000" flipH="1">
                <a:off x="3679895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49" name="직선 연결선 48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직선 연결선 49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5" name="타원 44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46" name="그룹 45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47" name="직선 연결선 46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직선 연결선 47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134337629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66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(1/2)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225278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dmt_ctrtInfo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581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174784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999250B-FAE2-1F51-9C67-0E7F19794195}"/>
              </a:ext>
            </a:extLst>
          </p:cNvPr>
          <p:cNvSpPr txBox="1"/>
          <p:nvPr/>
        </p:nvSpPr>
        <p:spPr>
          <a:xfrm>
            <a:off x="458117" y="1652198"/>
            <a:ext cx="341015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대금신청업체정보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dmt_pymtAplyBzentyInfo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D9B73F11-43C8-323E-2BCE-3FE211E579AC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863401"/>
          <a:ext cx="8994883" cy="969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bzentyNm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상호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대표명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rprsvNm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대표명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9498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청구인성명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clmtNm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청구인성명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8323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연락처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clmtTelno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연락처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976708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BC6AD7A-7FEA-F809-E71E-27313A032F8A}"/>
              </a:ext>
            </a:extLst>
          </p:cNvPr>
          <p:cNvSpPr txBox="1"/>
          <p:nvPr/>
        </p:nvSpPr>
        <p:spPr>
          <a:xfrm>
            <a:off x="462469" y="2845273"/>
            <a:ext cx="3570456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기성대가 신청 금액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dmt_PxcndCstAplyAmtInfo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A6E49579-C1CC-D6B3-07FE-10A047B3DC53}"/>
              </a:ext>
            </a:extLst>
          </p:cNvPr>
          <p:cNvGraphicFramePr>
            <a:graphicFrameLocks noGrp="1"/>
          </p:cNvGraphicFramePr>
          <p:nvPr/>
        </p:nvGraphicFramePr>
        <p:xfrm>
          <a:off x="457351" y="3056476"/>
          <a:ext cx="8994883" cy="34905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지급구분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giveSecd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지급구분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EPNC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vatSecd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세액여부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A 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있음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B 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없음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12454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62916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dlvgdsSplyEqvl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6502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dlvgdsTxamt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71064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공제금액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ddcAmt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공제금액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44754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ddcSplyEqvl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8305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ddcTxamt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0339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공제내역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ddcDsctnNm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공제내역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4180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실지급금액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giveClmAmt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실지급금액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62779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신고부분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cfmtnYn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신고부분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 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확정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N :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미확정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5329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선급금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prpamt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선급금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36474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총기성율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tpxcndRt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총기성율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9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96487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총기성금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tpxcndAmt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총기성금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35662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선금정산액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prpayClclnAmt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선금정산액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77556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금회정산액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tstmClclnAmt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금회정산액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8899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birqRmrkCn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4824845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D76F2115-AEA5-60DF-F20F-00DC038CEF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8519867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67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33490B-4478-F735-A295-62F7CD63369D}"/>
              </a:ext>
            </a:extLst>
          </p:cNvPr>
          <p:cNvSpPr txBox="1"/>
          <p:nvPr/>
        </p:nvSpPr>
        <p:spPr>
          <a:xfrm>
            <a:off x="458117" y="803113"/>
            <a:ext cx="2201491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1.4. </a:t>
            </a:r>
            <a:r>
              <a:rPr lang="ko-KR" altLang="en-US" sz="900" b="1" dirty="0">
                <a:solidFill>
                  <a:prstClr val="black"/>
                </a:solidFill>
              </a:rPr>
              <a:t>첨부서류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dlt_adocList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F6E19429-B9EE-3086-F85C-8D422E1AAC5F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3935"/>
          <a:ext cx="8994883" cy="775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첨부서류명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docNm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첨부서류명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fileNm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0339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파일크기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fileSize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파일크기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740325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5A458C6-2001-CF3F-FE8A-1FE6B042F616}"/>
              </a:ext>
            </a:extLst>
          </p:cNvPr>
          <p:cNvSpPr txBox="1"/>
          <p:nvPr/>
        </p:nvSpPr>
        <p:spPr>
          <a:xfrm>
            <a:off x="458117" y="1879207"/>
            <a:ext cx="227843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1.5. </a:t>
            </a:r>
            <a:r>
              <a:rPr lang="ko-KR" altLang="en-US" sz="900" b="1" dirty="0">
                <a:solidFill>
                  <a:prstClr val="black"/>
                </a:solidFill>
              </a:rPr>
              <a:t>세금계산서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dlt_txivList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A9933174-C333-B54F-7FFD-9E0BA3052E1D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2090410"/>
          <a:ext cx="8994883" cy="1551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세금계산서번호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txivChcYn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세금계산서번호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 :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N :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선택안함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월일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bllPblcnYmd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월일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yyyy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-mm-dd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0339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4180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dlvgdsQty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62779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ctrtUntprc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단가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5329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splyEqvl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1535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txamt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4824845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56D7E0CC-76BD-6960-A965-C8968E78B6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FD3C76-3065-7A09-0BCD-20F59635848B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(2/2)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366209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68</a:t>
            </a:fld>
            <a:endParaRPr lang="ko-KR" altLang="en-US" dirty="0"/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0D48BDBB-D0E4-C290-79F1-6E5379B7AF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1085978"/>
              </p:ext>
            </p:extLst>
          </p:nvPr>
        </p:nvGraphicFramePr>
        <p:xfrm>
          <a:off x="453000" y="1068364"/>
          <a:ext cx="8995591" cy="509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3103963203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공통코드정보를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계약 정보를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조회한다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570381A-11EA-037D-2035-048FAEF0D9C1}"/>
              </a:ext>
            </a:extLst>
          </p:cNvPr>
          <p:cNvSpPr txBox="1"/>
          <p:nvPr/>
        </p:nvSpPr>
        <p:spPr>
          <a:xfrm>
            <a:off x="458117" y="760911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sp>
        <p:nvSpPr>
          <p:cNvPr id="9" name="Text Box 73">
            <a:extLst>
              <a:ext uri="{FF2B5EF4-FFF2-40B4-BE49-F238E27FC236}">
                <a16:creationId xmlns:a16="http://schemas.microsoft.com/office/drawing/2014/main" id="{0564137D-18F6-F736-06A0-678331B91E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9866" y="82802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361738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안내문 데이터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69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안내문 팝업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화면의 </a:t>
            </a:r>
            <a:r>
              <a:rPr lang="ko-KR" altLang="en-US" dirty="0" err="1"/>
              <a:t>대금청구</a:t>
            </a:r>
            <a:r>
              <a:rPr lang="ko-KR" altLang="en-US" dirty="0"/>
              <a:t> 안내문 팝업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안내문 팝업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MUI-WM-01-P09</a:t>
            </a:r>
            <a:endParaRPr lang="ko-KR" altLang="en-US" dirty="0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296" name="양쪽 모서리가 둥근 사각형 295"/>
          <p:cNvSpPr/>
          <p:nvPr/>
        </p:nvSpPr>
        <p:spPr>
          <a:xfrm>
            <a:off x="3795734" y="2108521"/>
            <a:ext cx="2712027" cy="4123779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297" name="모서리가 둥근 직사각형 296"/>
          <p:cNvSpPr/>
          <p:nvPr/>
        </p:nvSpPr>
        <p:spPr>
          <a:xfrm>
            <a:off x="4881747" y="213891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298" name="그룹 297"/>
          <p:cNvGrpSpPr/>
          <p:nvPr/>
        </p:nvGrpSpPr>
        <p:grpSpPr>
          <a:xfrm>
            <a:off x="6284673" y="2273335"/>
            <a:ext cx="94010" cy="94010"/>
            <a:chOff x="6812560" y="3297172"/>
            <a:chExt cx="94010" cy="94010"/>
          </a:xfrm>
        </p:grpSpPr>
        <p:cxnSp>
          <p:nvCxnSpPr>
            <p:cNvPr id="299" name="직선 연결선 29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0" name="직선 연결선 299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01" name="TextBox 3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225401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대금청구</a:t>
            </a:r>
            <a:r>
              <a:rPr lang="ko-KR" altLang="en-US" sz="900" dirty="0">
                <a:latin typeface="+mn-ea"/>
              </a:rPr>
              <a:t> 안내문</a:t>
            </a:r>
          </a:p>
        </p:txBody>
      </p:sp>
      <p:cxnSp>
        <p:nvCxnSpPr>
          <p:cNvPr id="302" name="직선 연결선 30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51541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5" name="양쪽 모서리가 둥근 사각형 64"/>
          <p:cNvSpPr/>
          <p:nvPr/>
        </p:nvSpPr>
        <p:spPr>
          <a:xfrm>
            <a:off x="676601" y="2108521"/>
            <a:ext cx="2712027" cy="4123779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66" name="모서리가 둥근 직사각형 65"/>
          <p:cNvSpPr/>
          <p:nvPr/>
        </p:nvSpPr>
        <p:spPr>
          <a:xfrm>
            <a:off x="1762614" y="213891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67" name="그룹 66"/>
          <p:cNvGrpSpPr/>
          <p:nvPr/>
        </p:nvGrpSpPr>
        <p:grpSpPr>
          <a:xfrm>
            <a:off x="3165540" y="2273335"/>
            <a:ext cx="94010" cy="94010"/>
            <a:chOff x="6812560" y="3297172"/>
            <a:chExt cx="94010" cy="94010"/>
          </a:xfrm>
        </p:grpSpPr>
        <p:cxnSp>
          <p:nvCxnSpPr>
            <p:cNvPr id="68" name="직선 연결선 67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직선 연결선 68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5678" y="225401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대금청구</a:t>
            </a:r>
            <a:r>
              <a:rPr lang="ko-KR" altLang="en-US" sz="900" dirty="0">
                <a:latin typeface="+mn-ea"/>
              </a:rPr>
              <a:t> 안내문</a:t>
            </a: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6601" y="251541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8" name="모서리가 둥근 직사각형 97"/>
          <p:cNvSpPr/>
          <p:nvPr/>
        </p:nvSpPr>
        <p:spPr>
          <a:xfrm rot="5400000">
            <a:off x="2663444" y="3246783"/>
            <a:ext cx="1352376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225722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336" name="모서리가 둥근 직사각형 335"/>
          <p:cNvSpPr/>
          <p:nvPr/>
        </p:nvSpPr>
        <p:spPr>
          <a:xfrm rot="5400000">
            <a:off x="5782577" y="4236250"/>
            <a:ext cx="1352376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5" y="3423369"/>
            <a:ext cx="2712026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6270" y="2612075"/>
            <a:ext cx="2532688" cy="30469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900" dirty="0">
                <a:latin typeface="+mn-ea"/>
              </a:rPr>
              <a:t>&lt;</a:t>
            </a:r>
            <a:r>
              <a:rPr lang="ko-KR" altLang="en-US" sz="900" dirty="0">
                <a:latin typeface="+mn-ea"/>
              </a:rPr>
              <a:t>계약업체 </a:t>
            </a:r>
            <a:r>
              <a:rPr lang="ko-KR" altLang="en-US" sz="900" dirty="0" err="1">
                <a:latin typeface="+mn-ea"/>
              </a:rPr>
              <a:t>대금청구</a:t>
            </a:r>
            <a:r>
              <a:rPr lang="ko-KR" altLang="en-US" sz="900" dirty="0">
                <a:latin typeface="+mn-ea"/>
              </a:rPr>
              <a:t> 시 안내문</a:t>
            </a:r>
            <a:r>
              <a:rPr lang="en-US" altLang="ko-KR" sz="900" dirty="0">
                <a:latin typeface="+mn-ea"/>
              </a:rPr>
              <a:t>&gt;</a:t>
            </a:r>
          </a:p>
          <a:p>
            <a:endParaRPr lang="en-US" altLang="ko-KR" sz="700" dirty="0">
              <a:latin typeface="+mn-ea"/>
            </a:endParaRPr>
          </a:p>
          <a:p>
            <a:r>
              <a:rPr lang="en-US" altLang="ko-KR" sz="700" dirty="0">
                <a:latin typeface="+mn-ea"/>
              </a:rPr>
              <a:t>● </a:t>
            </a:r>
            <a:r>
              <a:rPr lang="ko-KR" altLang="en-US" sz="700" dirty="0">
                <a:latin typeface="+mn-ea"/>
              </a:rPr>
              <a:t>국민연금법 제</a:t>
            </a:r>
            <a:r>
              <a:rPr lang="en-US" altLang="ko-KR" sz="700" dirty="0">
                <a:latin typeface="+mn-ea"/>
              </a:rPr>
              <a:t>95</a:t>
            </a:r>
            <a:r>
              <a:rPr lang="ko-KR" altLang="en-US" sz="700" dirty="0">
                <a:latin typeface="+mn-ea"/>
              </a:rPr>
              <a:t>조의 </a:t>
            </a:r>
            <a:r>
              <a:rPr lang="en-US" altLang="ko-KR" sz="700" dirty="0">
                <a:latin typeface="+mn-ea"/>
              </a:rPr>
              <a:t>2(</a:t>
            </a:r>
            <a:r>
              <a:rPr lang="ko-KR" altLang="en-US" sz="700" dirty="0">
                <a:latin typeface="+mn-ea"/>
              </a:rPr>
              <a:t>연금보험료 등의 </a:t>
            </a:r>
            <a:r>
              <a:rPr lang="ko-KR" altLang="en-US" sz="700" dirty="0" err="1">
                <a:latin typeface="+mn-ea"/>
              </a:rPr>
              <a:t>납부증명</a:t>
            </a:r>
            <a:r>
              <a:rPr lang="en-US" altLang="ko-KR" sz="700" dirty="0">
                <a:latin typeface="+mn-ea"/>
              </a:rPr>
              <a:t>) </a:t>
            </a:r>
            <a:r>
              <a:rPr lang="ko-KR" altLang="en-US" sz="700" dirty="0">
                <a:latin typeface="+mn-ea"/>
              </a:rPr>
              <a:t>시행중인 제도</a:t>
            </a:r>
          </a:p>
          <a:p>
            <a:endParaRPr lang="ko-KR" altLang="en-US" sz="700" dirty="0">
              <a:latin typeface="+mn-ea"/>
            </a:endParaRPr>
          </a:p>
          <a:p>
            <a:r>
              <a:rPr lang="en-US" altLang="ko-KR" sz="700" dirty="0">
                <a:latin typeface="+mn-ea"/>
              </a:rPr>
              <a:t>- </a:t>
            </a:r>
            <a:r>
              <a:rPr lang="ko-KR" altLang="en-US" sz="700" dirty="0">
                <a:latin typeface="+mn-ea"/>
              </a:rPr>
              <a:t>국민연금보험료 </a:t>
            </a:r>
            <a:r>
              <a:rPr lang="ko-KR" altLang="en-US" sz="700" dirty="0" err="1">
                <a:latin typeface="+mn-ea"/>
              </a:rPr>
              <a:t>납부증명은</a:t>
            </a:r>
            <a:r>
              <a:rPr lang="ko-KR" altLang="en-US" sz="700" dirty="0">
                <a:latin typeface="+mn-ea"/>
              </a:rPr>
              <a:t> </a:t>
            </a:r>
            <a:r>
              <a:rPr lang="ko-KR" altLang="en-US" sz="700" dirty="0" err="1">
                <a:latin typeface="+mn-ea"/>
              </a:rPr>
              <a:t>대금청구시</a:t>
            </a:r>
            <a:r>
              <a:rPr lang="ko-KR" altLang="en-US" sz="700" dirty="0">
                <a:latin typeface="+mn-ea"/>
              </a:rPr>
              <a:t> </a:t>
            </a:r>
            <a:r>
              <a:rPr lang="ko-KR" altLang="en-US" sz="700" dirty="0" err="1">
                <a:latin typeface="+mn-ea"/>
              </a:rPr>
              <a:t>행정정보공동이용사전동의</a:t>
            </a:r>
            <a:r>
              <a:rPr lang="ko-KR" altLang="en-US" sz="700" dirty="0">
                <a:latin typeface="+mn-ea"/>
              </a:rPr>
              <a:t> 및 사업장관리번호 입력으로 갈음합니다</a:t>
            </a:r>
            <a:r>
              <a:rPr lang="en-US" altLang="ko-KR" sz="700" dirty="0">
                <a:latin typeface="+mn-ea"/>
              </a:rPr>
              <a:t>.(</a:t>
            </a:r>
            <a:r>
              <a:rPr lang="ko-KR" altLang="en-US" sz="700" dirty="0">
                <a:latin typeface="+mn-ea"/>
              </a:rPr>
              <a:t>사업장 관리번호 문의 </a:t>
            </a:r>
            <a:r>
              <a:rPr lang="en-US" altLang="ko-KR" sz="700" dirty="0">
                <a:latin typeface="+mn-ea"/>
              </a:rPr>
              <a:t>: </a:t>
            </a:r>
            <a:r>
              <a:rPr lang="ko-KR" altLang="en-US" sz="700" dirty="0">
                <a:latin typeface="+mn-ea"/>
              </a:rPr>
              <a:t>국민연금 콜센터 </a:t>
            </a:r>
            <a:r>
              <a:rPr lang="en-US" altLang="ko-KR" sz="700" dirty="0">
                <a:latin typeface="+mn-ea"/>
              </a:rPr>
              <a:t>1355)</a:t>
            </a:r>
          </a:p>
          <a:p>
            <a:endParaRPr lang="en-US" altLang="ko-KR" sz="700" dirty="0">
              <a:latin typeface="+mn-ea"/>
            </a:endParaRPr>
          </a:p>
          <a:p>
            <a:r>
              <a:rPr lang="en-US" altLang="ko-KR" sz="700" dirty="0">
                <a:latin typeface="+mn-ea"/>
              </a:rPr>
              <a:t>● </a:t>
            </a:r>
            <a:r>
              <a:rPr lang="ko-KR" altLang="en-US" sz="700" dirty="0">
                <a:latin typeface="+mn-ea"/>
              </a:rPr>
              <a:t>국민건강보험법 제</a:t>
            </a:r>
            <a:r>
              <a:rPr lang="en-US" altLang="ko-KR" sz="700" dirty="0">
                <a:latin typeface="+mn-ea"/>
              </a:rPr>
              <a:t>81</a:t>
            </a:r>
            <a:r>
              <a:rPr lang="ko-KR" altLang="en-US" sz="700" dirty="0">
                <a:latin typeface="+mn-ea"/>
              </a:rPr>
              <a:t>조의</a:t>
            </a:r>
            <a:r>
              <a:rPr lang="en-US" altLang="ko-KR" sz="700" dirty="0">
                <a:latin typeface="+mn-ea"/>
              </a:rPr>
              <a:t>3 </a:t>
            </a:r>
            <a:r>
              <a:rPr lang="ko-KR" altLang="en-US" sz="700" dirty="0">
                <a:latin typeface="+mn-ea"/>
              </a:rPr>
              <a:t>및 시행령 제</a:t>
            </a:r>
            <a:r>
              <a:rPr lang="en-US" altLang="ko-KR" sz="700" dirty="0">
                <a:latin typeface="+mn-ea"/>
              </a:rPr>
              <a:t>47</a:t>
            </a:r>
            <a:r>
              <a:rPr lang="ko-KR" altLang="en-US" sz="700" dirty="0">
                <a:latin typeface="+mn-ea"/>
              </a:rPr>
              <a:t>조의</a:t>
            </a:r>
            <a:r>
              <a:rPr lang="en-US" altLang="ko-KR" sz="700" dirty="0">
                <a:latin typeface="+mn-ea"/>
              </a:rPr>
              <a:t>3(</a:t>
            </a:r>
            <a:r>
              <a:rPr lang="ko-KR" altLang="en-US" sz="700" dirty="0">
                <a:latin typeface="+mn-ea"/>
              </a:rPr>
              <a:t>보험료의 </a:t>
            </a:r>
            <a:r>
              <a:rPr lang="ko-KR" altLang="en-US" sz="700" dirty="0" err="1">
                <a:latin typeface="+mn-ea"/>
              </a:rPr>
              <a:t>납부증명</a:t>
            </a:r>
            <a:r>
              <a:rPr lang="ko-KR" altLang="en-US" sz="700" dirty="0">
                <a:latin typeface="+mn-ea"/>
              </a:rPr>
              <a:t> 등</a:t>
            </a:r>
            <a:r>
              <a:rPr lang="en-US" altLang="ko-KR" sz="700" dirty="0">
                <a:latin typeface="+mn-ea"/>
              </a:rPr>
              <a:t>) '16.8.4.</a:t>
            </a:r>
            <a:r>
              <a:rPr lang="ko-KR" altLang="en-US" sz="700" dirty="0">
                <a:latin typeface="+mn-ea"/>
              </a:rPr>
              <a:t>시행</a:t>
            </a:r>
          </a:p>
          <a:p>
            <a:endParaRPr lang="ko-KR" altLang="en-US" sz="700" dirty="0">
              <a:latin typeface="+mn-ea"/>
            </a:endParaRPr>
          </a:p>
          <a:p>
            <a:r>
              <a:rPr lang="en-US" altLang="ko-KR" sz="700" dirty="0">
                <a:latin typeface="+mn-ea"/>
              </a:rPr>
              <a:t>- </a:t>
            </a:r>
            <a:r>
              <a:rPr lang="ko-KR" altLang="en-US" sz="700" dirty="0">
                <a:latin typeface="+mn-ea"/>
              </a:rPr>
              <a:t>대상 </a:t>
            </a:r>
            <a:r>
              <a:rPr lang="en-US" altLang="ko-KR" sz="700" dirty="0">
                <a:latin typeface="+mn-ea"/>
              </a:rPr>
              <a:t>: '16</a:t>
            </a:r>
            <a:r>
              <a:rPr lang="ko-KR" altLang="en-US" sz="700" dirty="0">
                <a:latin typeface="+mn-ea"/>
              </a:rPr>
              <a:t>년 </a:t>
            </a:r>
            <a:r>
              <a:rPr lang="en-US" altLang="ko-KR" sz="700" dirty="0">
                <a:latin typeface="+mn-ea"/>
              </a:rPr>
              <a:t>8</a:t>
            </a:r>
            <a:r>
              <a:rPr lang="ko-KR" altLang="en-US" sz="700" dirty="0">
                <a:latin typeface="+mn-ea"/>
              </a:rPr>
              <a:t>월 </a:t>
            </a:r>
            <a:r>
              <a:rPr lang="en-US" altLang="ko-KR" sz="700" dirty="0">
                <a:latin typeface="+mn-ea"/>
              </a:rPr>
              <a:t>4</a:t>
            </a:r>
            <a:r>
              <a:rPr lang="ko-KR" altLang="en-US" sz="700" dirty="0">
                <a:latin typeface="+mn-ea"/>
              </a:rPr>
              <a:t>일 이후 최초로 계약의 대가를 지급받는 자</a:t>
            </a:r>
          </a:p>
          <a:p>
            <a:endParaRPr lang="ko-KR" altLang="en-US" sz="700" dirty="0">
              <a:latin typeface="+mn-ea"/>
            </a:endParaRPr>
          </a:p>
          <a:p>
            <a:r>
              <a:rPr lang="en-US" altLang="ko-KR" sz="700" dirty="0">
                <a:latin typeface="+mn-ea"/>
              </a:rPr>
              <a:t>- </a:t>
            </a:r>
            <a:r>
              <a:rPr lang="ko-KR" altLang="en-US" sz="700" dirty="0">
                <a:latin typeface="+mn-ea"/>
              </a:rPr>
              <a:t>제출서류 </a:t>
            </a:r>
            <a:r>
              <a:rPr lang="en-US" altLang="ko-KR" sz="700" dirty="0">
                <a:latin typeface="+mn-ea"/>
              </a:rPr>
              <a:t>: </a:t>
            </a:r>
            <a:r>
              <a:rPr lang="ko-KR" altLang="en-US" sz="700" dirty="0">
                <a:latin typeface="+mn-ea"/>
              </a:rPr>
              <a:t>건강</a:t>
            </a:r>
            <a:r>
              <a:rPr lang="en-US" altLang="ko-KR" sz="700" dirty="0">
                <a:latin typeface="+mn-ea"/>
              </a:rPr>
              <a:t>·</a:t>
            </a:r>
            <a:r>
              <a:rPr lang="ko-KR" altLang="en-US" sz="700" dirty="0">
                <a:latin typeface="+mn-ea"/>
              </a:rPr>
              <a:t>장기요양보험료 </a:t>
            </a:r>
            <a:r>
              <a:rPr lang="ko-KR" altLang="en-US" sz="700" dirty="0" err="1">
                <a:latin typeface="+mn-ea"/>
              </a:rPr>
              <a:t>납부증명서</a:t>
            </a:r>
            <a:r>
              <a:rPr lang="ko-KR" altLang="en-US" sz="700" dirty="0">
                <a:latin typeface="+mn-ea"/>
              </a:rPr>
              <a:t> 또는 </a:t>
            </a:r>
            <a:r>
              <a:rPr lang="en-US" altLang="ko-KR" sz="700" dirty="0">
                <a:latin typeface="+mn-ea"/>
              </a:rPr>
              <a:t>4</a:t>
            </a:r>
            <a:r>
              <a:rPr lang="ko-KR" altLang="en-US" sz="700" dirty="0">
                <a:latin typeface="+mn-ea"/>
              </a:rPr>
              <a:t>대 사회보험료 </a:t>
            </a:r>
            <a:r>
              <a:rPr lang="ko-KR" altLang="en-US" sz="700" dirty="0" err="1">
                <a:latin typeface="+mn-ea"/>
              </a:rPr>
              <a:t>완납증명서</a:t>
            </a:r>
            <a:r>
              <a:rPr lang="ko-KR" altLang="en-US" sz="700" dirty="0">
                <a:latin typeface="+mn-ea"/>
              </a:rPr>
              <a:t> 발급 후 스캔하여 </a:t>
            </a:r>
            <a:r>
              <a:rPr lang="ko-KR" altLang="en-US" sz="700" dirty="0" err="1">
                <a:latin typeface="+mn-ea"/>
              </a:rPr>
              <a:t>대금청구</a:t>
            </a:r>
            <a:r>
              <a:rPr lang="ko-KR" altLang="en-US" sz="700" dirty="0">
                <a:latin typeface="+mn-ea"/>
              </a:rPr>
              <a:t> </a:t>
            </a:r>
            <a:r>
              <a:rPr lang="en-US" altLang="ko-KR" sz="700" dirty="0">
                <a:latin typeface="+mn-ea"/>
              </a:rPr>
              <a:t>"</a:t>
            </a:r>
            <a:r>
              <a:rPr lang="ko-KR" altLang="en-US" sz="700" dirty="0">
                <a:latin typeface="+mn-ea"/>
              </a:rPr>
              <a:t>첨부</a:t>
            </a:r>
            <a:r>
              <a:rPr lang="en-US" altLang="ko-KR" sz="700" dirty="0">
                <a:latin typeface="+mn-ea"/>
              </a:rPr>
              <a:t>"</a:t>
            </a:r>
            <a:r>
              <a:rPr lang="ko-KR" altLang="en-US" sz="700" dirty="0">
                <a:latin typeface="+mn-ea"/>
              </a:rPr>
              <a:t>란에 첨부하여 </a:t>
            </a:r>
            <a:r>
              <a:rPr lang="ko-KR" altLang="en-US" sz="700" dirty="0" err="1">
                <a:latin typeface="+mn-ea"/>
              </a:rPr>
              <a:t>대금청구</a:t>
            </a:r>
            <a:endParaRPr lang="ko-KR" altLang="en-US" sz="700" dirty="0">
              <a:latin typeface="+mn-ea"/>
            </a:endParaRPr>
          </a:p>
          <a:p>
            <a:endParaRPr lang="ko-KR" altLang="en-US" sz="700" dirty="0">
              <a:latin typeface="+mn-ea"/>
            </a:endParaRPr>
          </a:p>
          <a:p>
            <a:r>
              <a:rPr lang="ko-KR" altLang="en-US" sz="700" dirty="0">
                <a:latin typeface="+mn-ea"/>
              </a:rPr>
              <a:t>［인터넷 국민건강보험공단 사회보험징수포털</a:t>
            </a:r>
            <a:r>
              <a:rPr lang="en-US" altLang="ko-KR" sz="700" dirty="0">
                <a:latin typeface="+mn-ea"/>
              </a:rPr>
              <a:t>(</a:t>
            </a:r>
            <a:r>
              <a:rPr lang="en-US" altLang="ko-KR" sz="700" dirty="0">
                <a:solidFill>
                  <a:srgbClr val="0070C0"/>
                </a:solidFill>
                <a:latin typeface="+mn-ea"/>
              </a:rPr>
              <a:t>http://si4n.nhis.or.kr</a:t>
            </a:r>
            <a:r>
              <a:rPr lang="en-US" altLang="ko-KR" sz="700" dirty="0">
                <a:latin typeface="+mn-ea"/>
              </a:rPr>
              <a:t>), </a:t>
            </a:r>
            <a:r>
              <a:rPr lang="ko-KR" altLang="en-US" sz="700" dirty="0">
                <a:latin typeface="+mn-ea"/>
              </a:rPr>
              <a:t>지사 방문 등 발급］</a:t>
            </a:r>
          </a:p>
          <a:p>
            <a:endParaRPr lang="ko-KR" altLang="en-US" sz="700" dirty="0">
              <a:latin typeface="+mn-ea"/>
            </a:endParaRPr>
          </a:p>
          <a:p>
            <a:r>
              <a:rPr lang="en-US" altLang="ko-KR" sz="700" dirty="0">
                <a:latin typeface="+mn-ea"/>
              </a:rPr>
              <a:t>- </a:t>
            </a:r>
            <a:r>
              <a:rPr lang="ko-KR" altLang="en-US" sz="700" dirty="0" err="1">
                <a:latin typeface="+mn-ea"/>
              </a:rPr>
              <a:t>대금청구</a:t>
            </a:r>
            <a:r>
              <a:rPr lang="ko-KR" altLang="en-US" sz="700" dirty="0">
                <a:latin typeface="+mn-ea"/>
              </a:rPr>
              <a:t> 절차 </a:t>
            </a:r>
            <a:r>
              <a:rPr lang="en-US" altLang="ko-KR" sz="700" dirty="0">
                <a:latin typeface="+mn-ea"/>
              </a:rPr>
              <a:t>:</a:t>
            </a:r>
          </a:p>
          <a:p>
            <a:endParaRPr lang="en-US" altLang="ko-KR" sz="700" dirty="0">
              <a:latin typeface="+mn-ea"/>
            </a:endParaRPr>
          </a:p>
          <a:p>
            <a:r>
              <a:rPr lang="ko-KR" altLang="en-US" sz="700" dirty="0" err="1">
                <a:latin typeface="+mn-ea"/>
              </a:rPr>
              <a:t>방위사업청</a:t>
            </a:r>
            <a:r>
              <a:rPr lang="ko-KR" altLang="en-US" sz="700" dirty="0">
                <a:latin typeface="+mn-ea"/>
              </a:rPr>
              <a:t> 인터넷 홈페이지 국방전자조달시스템 → 물품</a:t>
            </a:r>
            <a:r>
              <a:rPr lang="en-US" altLang="ko-KR" sz="700" dirty="0">
                <a:latin typeface="+mn-ea"/>
              </a:rPr>
              <a:t>[</a:t>
            </a:r>
            <a:r>
              <a:rPr lang="ko-KR" altLang="en-US" sz="700" dirty="0">
                <a:latin typeface="+mn-ea"/>
              </a:rPr>
              <a:t>용역</a:t>
            </a:r>
            <a:r>
              <a:rPr lang="en-US" altLang="ko-KR" sz="700" dirty="0">
                <a:latin typeface="+mn-ea"/>
              </a:rPr>
              <a:t>/</a:t>
            </a:r>
            <a:r>
              <a:rPr lang="ko-KR" altLang="en-US" sz="700" dirty="0">
                <a:latin typeface="+mn-ea"/>
              </a:rPr>
              <a:t>공사</a:t>
            </a:r>
            <a:r>
              <a:rPr lang="en-US" altLang="ko-KR" sz="700" dirty="0">
                <a:latin typeface="+mn-ea"/>
              </a:rPr>
              <a:t>] → </a:t>
            </a:r>
            <a:r>
              <a:rPr lang="ko-KR" altLang="en-US" sz="700" dirty="0" err="1">
                <a:latin typeface="+mn-ea"/>
              </a:rPr>
              <a:t>대금청구</a:t>
            </a:r>
            <a:endParaRPr lang="ko-KR" altLang="en-US" sz="700" dirty="0">
              <a:latin typeface="+mn-ea"/>
            </a:endParaRPr>
          </a:p>
          <a:p>
            <a:endParaRPr lang="ko-KR" altLang="en-US" sz="700" dirty="0">
              <a:latin typeface="+mn-ea"/>
            </a:endParaRPr>
          </a:p>
          <a:p>
            <a:r>
              <a:rPr lang="ko-KR" altLang="en-US" sz="700" dirty="0">
                <a:latin typeface="+mn-ea"/>
              </a:rPr>
              <a:t>→ 대금</a:t>
            </a:r>
            <a:r>
              <a:rPr lang="en-US" altLang="ko-KR" sz="700" dirty="0">
                <a:latin typeface="+mn-ea"/>
              </a:rPr>
              <a:t>/</a:t>
            </a:r>
            <a:r>
              <a:rPr lang="ko-KR" altLang="en-US" sz="700" dirty="0">
                <a:latin typeface="+mn-ea"/>
              </a:rPr>
              <a:t>선금</a:t>
            </a:r>
            <a:r>
              <a:rPr lang="en-US" altLang="ko-KR" sz="700" dirty="0">
                <a:latin typeface="+mn-ea"/>
              </a:rPr>
              <a:t>/</a:t>
            </a:r>
            <a:r>
              <a:rPr lang="ko-KR" altLang="en-US" sz="700" dirty="0" err="1">
                <a:latin typeface="+mn-ea"/>
              </a:rPr>
              <a:t>착중도금</a:t>
            </a:r>
            <a:r>
              <a:rPr lang="ko-KR" altLang="en-US" sz="700" dirty="0">
                <a:latin typeface="+mn-ea"/>
              </a:rPr>
              <a:t> 신청 → 우측 </a:t>
            </a:r>
            <a:r>
              <a:rPr lang="en-US" altLang="ko-KR" sz="700" dirty="0">
                <a:latin typeface="+mn-ea"/>
              </a:rPr>
              <a:t>"</a:t>
            </a:r>
            <a:r>
              <a:rPr lang="ko-KR" altLang="en-US" sz="700" dirty="0">
                <a:latin typeface="+mn-ea"/>
              </a:rPr>
              <a:t>첨부</a:t>
            </a:r>
            <a:r>
              <a:rPr lang="en-US" altLang="ko-KR" sz="700" dirty="0">
                <a:latin typeface="+mn-ea"/>
              </a:rPr>
              <a:t>" </a:t>
            </a:r>
            <a:r>
              <a:rPr lang="ko-KR" altLang="en-US" sz="700" dirty="0">
                <a:latin typeface="+mn-ea"/>
              </a:rPr>
              <a:t>란</a:t>
            </a:r>
            <a:r>
              <a:rPr lang="en-US" altLang="ko-KR" sz="700" dirty="0">
                <a:latin typeface="+mn-ea"/>
              </a:rPr>
              <a:t>(</a:t>
            </a:r>
            <a:r>
              <a:rPr lang="ko-KR" altLang="en-US" sz="700" dirty="0" err="1">
                <a:latin typeface="+mn-ea"/>
              </a:rPr>
              <a:t>보험료납부</a:t>
            </a:r>
            <a:r>
              <a:rPr lang="ko-KR" altLang="en-US" sz="700" dirty="0">
                <a:latin typeface="+mn-ea"/>
              </a:rPr>
              <a:t> 증명서</a:t>
            </a:r>
            <a:r>
              <a:rPr lang="en-US" altLang="ko-KR" sz="700" dirty="0">
                <a:latin typeface="+mn-ea"/>
              </a:rPr>
              <a:t>) </a:t>
            </a:r>
            <a:r>
              <a:rPr lang="ko-KR" altLang="en-US" sz="700" dirty="0">
                <a:latin typeface="+mn-ea"/>
              </a:rPr>
              <a:t>첨부 제출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85403" y="2612075"/>
            <a:ext cx="2532688" cy="7540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대금청구</a:t>
            </a:r>
            <a:r>
              <a:rPr lang="ko-KR" altLang="en-US" sz="700" dirty="0">
                <a:latin typeface="+mn-ea"/>
              </a:rPr>
              <a:t> 신청 전 </a:t>
            </a:r>
            <a:r>
              <a:rPr lang="en-US" altLang="ko-KR" sz="700" dirty="0">
                <a:latin typeface="+mn-ea"/>
              </a:rPr>
              <a:t>: </a:t>
            </a:r>
          </a:p>
          <a:p>
            <a:r>
              <a:rPr lang="ko-KR" altLang="en-US" sz="700" dirty="0">
                <a:latin typeface="+mn-ea"/>
              </a:rPr>
              <a:t>기반</a:t>
            </a:r>
            <a:r>
              <a:rPr lang="en-US" altLang="ko-KR" sz="700" dirty="0">
                <a:latin typeface="+mn-ea"/>
              </a:rPr>
              <a:t>_</a:t>
            </a:r>
            <a:r>
              <a:rPr lang="ko-KR" altLang="en-US" sz="700" dirty="0" err="1">
                <a:latin typeface="+mn-ea"/>
              </a:rPr>
              <a:t>지출심사</a:t>
            </a:r>
            <a:r>
              <a:rPr lang="ko-KR" altLang="en-US" sz="700" dirty="0">
                <a:latin typeface="+mn-ea"/>
              </a:rPr>
              <a:t>［</a:t>
            </a:r>
            <a:r>
              <a:rPr lang="en-US" altLang="ko-KR" sz="700" dirty="0">
                <a:latin typeface="+mn-ea"/>
              </a:rPr>
              <a:t>Tel : 02)2079-4791,4793,4794</a:t>
            </a:r>
            <a:r>
              <a:rPr lang="ko-KR" altLang="en-US" sz="700" dirty="0">
                <a:latin typeface="+mn-ea"/>
              </a:rPr>
              <a:t>］</a:t>
            </a:r>
            <a:endParaRPr lang="en-US" altLang="ko-KR" sz="700" dirty="0">
              <a:latin typeface="+mn-ea"/>
            </a:endParaRPr>
          </a:p>
          <a:p>
            <a:r>
              <a:rPr lang="ko-KR" altLang="en-US" sz="700" dirty="0">
                <a:latin typeface="+mn-ea"/>
              </a:rPr>
              <a:t>미래</a:t>
            </a:r>
            <a:r>
              <a:rPr lang="en-US" altLang="ko-KR" sz="700" dirty="0">
                <a:latin typeface="+mn-ea"/>
              </a:rPr>
              <a:t>_</a:t>
            </a:r>
            <a:r>
              <a:rPr lang="ko-KR" altLang="en-US" sz="700" dirty="0" err="1">
                <a:latin typeface="+mn-ea"/>
              </a:rPr>
              <a:t>지출심사</a:t>
            </a:r>
            <a:r>
              <a:rPr lang="ko-KR" altLang="en-US" sz="700" dirty="0">
                <a:latin typeface="+mn-ea"/>
              </a:rPr>
              <a:t>［</a:t>
            </a:r>
            <a:r>
              <a:rPr lang="en-US" altLang="ko-KR" sz="700" dirty="0">
                <a:latin typeface="+mn-ea"/>
              </a:rPr>
              <a:t>Tel : 02)2079-4021,4023,4024</a:t>
            </a:r>
            <a:r>
              <a:rPr lang="ko-KR" altLang="en-US" sz="700" dirty="0">
                <a:latin typeface="+mn-ea"/>
              </a:rPr>
              <a:t>］</a:t>
            </a:r>
          </a:p>
          <a:p>
            <a:endParaRPr lang="ko-KR" altLang="en-US" sz="700" dirty="0">
              <a:latin typeface="+mn-ea"/>
            </a:endParaRPr>
          </a:p>
          <a:p>
            <a:r>
              <a:rPr lang="ko-KR" altLang="en-US" sz="700" dirty="0" err="1">
                <a:latin typeface="+mn-ea"/>
              </a:rPr>
              <a:t>대금청구</a:t>
            </a:r>
            <a:r>
              <a:rPr lang="ko-KR" altLang="en-US" sz="700" dirty="0">
                <a:latin typeface="+mn-ea"/>
              </a:rPr>
              <a:t> 신청 후 </a:t>
            </a:r>
            <a:r>
              <a:rPr lang="en-US" altLang="ko-KR" sz="700" dirty="0">
                <a:latin typeface="+mn-ea"/>
              </a:rPr>
              <a:t>: </a:t>
            </a:r>
          </a:p>
          <a:p>
            <a:r>
              <a:rPr lang="ko-KR" altLang="en-US" sz="700" dirty="0">
                <a:latin typeface="+mn-ea"/>
              </a:rPr>
              <a:t>운영지원과 </a:t>
            </a:r>
            <a:r>
              <a:rPr lang="ko-KR" altLang="en-US" sz="700" dirty="0" err="1">
                <a:latin typeface="+mn-ea"/>
              </a:rPr>
              <a:t>재무팀</a:t>
            </a:r>
            <a:r>
              <a:rPr lang="ko-KR" altLang="en-US" sz="700" dirty="0">
                <a:latin typeface="+mn-ea"/>
              </a:rPr>
              <a:t>［</a:t>
            </a:r>
            <a:r>
              <a:rPr lang="en-US" altLang="ko-KR" sz="700" dirty="0">
                <a:latin typeface="+mn-ea"/>
              </a:rPr>
              <a:t>Tel : 02)2079-6680,6681(</a:t>
            </a:r>
            <a:r>
              <a:rPr lang="ko-KR" altLang="en-US" sz="700" dirty="0">
                <a:latin typeface="+mn-ea"/>
              </a:rPr>
              <a:t>내자</a:t>
            </a:r>
            <a:r>
              <a:rPr lang="en-US" altLang="ko-KR" sz="700" dirty="0">
                <a:latin typeface="+mn-ea"/>
              </a:rPr>
              <a:t>), 02)2079-6670(</a:t>
            </a:r>
            <a:r>
              <a:rPr lang="ko-KR" altLang="en-US" sz="700" dirty="0">
                <a:latin typeface="+mn-ea"/>
              </a:rPr>
              <a:t>외자</a:t>
            </a:r>
            <a:r>
              <a:rPr lang="en-US" altLang="ko-KR" sz="700" dirty="0">
                <a:latin typeface="+mn-ea"/>
              </a:rPr>
              <a:t>)</a:t>
            </a:r>
            <a:r>
              <a:rPr lang="ko-KR" altLang="en-US" sz="700" dirty="0">
                <a:latin typeface="+mn-ea"/>
              </a:rPr>
              <a:t>］</a:t>
            </a:r>
          </a:p>
        </p:txBody>
      </p:sp>
      <p:grpSp>
        <p:nvGrpSpPr>
          <p:cNvPr id="93" name="그룹 92"/>
          <p:cNvGrpSpPr/>
          <p:nvPr/>
        </p:nvGrpSpPr>
        <p:grpSpPr>
          <a:xfrm>
            <a:off x="3795734" y="5614711"/>
            <a:ext cx="2712027" cy="617588"/>
            <a:chOff x="675399" y="5614711"/>
            <a:chExt cx="2712027" cy="617588"/>
          </a:xfrm>
        </p:grpSpPr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1" y="5745391"/>
              <a:ext cx="2527419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latin typeface="맑은 고딕"/>
                  <a:ea typeface="맑은 고딕" panose="020B0503020000020004" pitchFamily="50" charset="-127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3107124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70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240667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입찰</a:t>
            </a:r>
            <a:r>
              <a:rPr lang="en-US" altLang="ko-KR" sz="900" b="1" dirty="0">
                <a:solidFill>
                  <a:prstClr val="black"/>
                </a:solidFill>
              </a:rPr>
              <a:t>-</a:t>
            </a:r>
            <a:r>
              <a:rPr lang="ko-KR" altLang="en-US" sz="900" b="1" dirty="0">
                <a:solidFill>
                  <a:prstClr val="black"/>
                </a:solidFill>
              </a:rPr>
              <a:t>계약체결단계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안내문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gdntc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안내문 내용 출력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N/A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화면에 텍스트로 입력되어 있는 내용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6AEF4FEA-15CD-69A2-4C8C-8BABCE3423EC}"/>
              </a:ext>
            </a:extLst>
          </p:cNvPr>
          <p:cNvSpPr txBox="1"/>
          <p:nvPr/>
        </p:nvSpPr>
        <p:spPr>
          <a:xfrm>
            <a:off x="458117" y="1504773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2. </a:t>
            </a:r>
            <a:r>
              <a:rPr lang="ko-KR" altLang="en-US" sz="1000" b="1" dirty="0">
                <a:solidFill>
                  <a:prstClr val="black"/>
                </a:solidFill>
              </a:rPr>
              <a:t>이벤트 설명</a:t>
            </a: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23D2C0FD-B7E6-BFF5-E0B8-21BA70A735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5817151"/>
              </p:ext>
            </p:extLst>
          </p:nvPr>
        </p:nvGraphicFramePr>
        <p:xfrm>
          <a:off x="453000" y="1808593"/>
          <a:ext cx="8995591" cy="703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3103963203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대금청구 안내문 내용이 출력된다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닫기 클릭 이벤트</a:t>
                      </a:r>
                      <a:endParaRPr lang="en-US" altLang="ko-KR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scwin.btn_Idnty_onclick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안내문 팝업이 닫힌다</a:t>
                      </a:r>
                      <a:r>
                        <a:rPr lang="en-US" altLang="ko-KR" sz="800" dirty="0"/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1183062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46D6EB85-208E-BA56-0A60-736C4614C7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1601178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71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사후정산청구상세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 smtClean="0"/>
              <a:t>– </a:t>
            </a:r>
            <a:r>
              <a:rPr lang="ko-KR" altLang="en-US" dirty="0" smtClean="0">
                <a:latin typeface="+mn-ea"/>
              </a:rPr>
              <a:t>사후정산청구 상세 </a:t>
            </a:r>
            <a:r>
              <a:rPr lang="ko-KR" altLang="en-US" dirty="0" smtClean="0"/>
              <a:t>조회 </a:t>
            </a:r>
            <a:r>
              <a:rPr lang="ko-KR" altLang="en-US" dirty="0"/>
              <a:t>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smtClean="0">
                <a:latin typeface="+mn-ea"/>
              </a:rPr>
              <a:t>사후정산청구상세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MUI-WM-01-M13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smtClean="0">
                <a:latin typeface="+mn-ea"/>
              </a:rPr>
              <a:t>사후정산 </a:t>
            </a:r>
            <a:r>
              <a:rPr lang="ko-KR" altLang="en-US" sz="800" dirty="0" err="1" smtClean="0">
                <a:latin typeface="+mn-ea"/>
              </a:rPr>
              <a:t>청구상세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462389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/>
              <a:t>물품구매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797454"/>
            <a:ext cx="307777" cy="39767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계약일자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발주기관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계약금액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596303" y="2782065"/>
            <a:ext cx="472886" cy="39767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제</a:t>
            </a:r>
            <a:r>
              <a:rPr lang="en-US" altLang="ko-KR" sz="600" dirty="0">
                <a:latin typeface="+mn-ea"/>
              </a:rPr>
              <a:t>8385</a:t>
            </a:r>
            <a:r>
              <a:rPr lang="ko-KR" altLang="en-US" sz="600" dirty="0">
                <a:latin typeface="+mn-ea"/>
              </a:rPr>
              <a:t>부대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11,616,000 </a:t>
            </a:r>
            <a:r>
              <a:rPr lang="ko-KR" altLang="en-US" sz="600" dirty="0">
                <a:latin typeface="+mn-ea"/>
              </a:rPr>
              <a:t>원</a:t>
            </a:r>
            <a:endParaRPr lang="en-US" altLang="ko-KR" sz="600" dirty="0">
              <a:latin typeface="+mn-ea"/>
            </a:endParaRPr>
          </a:p>
        </p:txBody>
      </p:sp>
      <p:sp>
        <p:nvSpPr>
          <p:cNvPr id="67" name="모서리가 둥근 직사각형 66"/>
          <p:cNvSpPr/>
          <p:nvPr/>
        </p:nvSpPr>
        <p:spPr>
          <a:xfrm>
            <a:off x="781461" y="227805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68" name="모서리가 둥근 직사각형 67"/>
          <p:cNvSpPr/>
          <p:nvPr/>
        </p:nvSpPr>
        <p:spPr>
          <a:xfrm>
            <a:off x="1075655" y="2278058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66319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00442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696944"/>
            <a:ext cx="4522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공지사항</a:t>
            </a:r>
          </a:p>
        </p:txBody>
      </p:sp>
      <p:sp>
        <p:nvSpPr>
          <p:cNvPr id="129" name="타원 128"/>
          <p:cNvSpPr/>
          <p:nvPr/>
        </p:nvSpPr>
        <p:spPr>
          <a:xfrm>
            <a:off x="783686" y="3728289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810275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35884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4142235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err="1">
                <a:latin typeface="+mn-ea"/>
              </a:rPr>
              <a:t>계약정보</a:t>
            </a:r>
            <a:endParaRPr lang="ko-KR" altLang="en-US" sz="700" b="1" dirty="0">
              <a:latin typeface="+mn-ea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358842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3150467" y="3992719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150129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185727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4" name="TextBox 20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67701" y="1640670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err="1">
                <a:latin typeface="+mn-ea"/>
              </a:rPr>
              <a:t>계약정보</a:t>
            </a:r>
            <a:endParaRPr lang="ko-KR" altLang="en-US" sz="700" b="1" dirty="0">
              <a:latin typeface="+mn-ea"/>
            </a:endParaRPr>
          </a:p>
        </p:txBody>
      </p: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1857277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09" name="그룹 208"/>
          <p:cNvGrpSpPr/>
          <p:nvPr/>
        </p:nvGrpSpPr>
        <p:grpSpPr>
          <a:xfrm>
            <a:off x="6084908" y="1526167"/>
            <a:ext cx="422853" cy="187961"/>
            <a:chOff x="3641308" y="2234886"/>
            <a:chExt cx="422853" cy="187961"/>
          </a:xfrm>
        </p:grpSpPr>
        <p:sp>
          <p:nvSpPr>
            <p:cNvPr id="210" name="타원 209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1" name="그룹 210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216" name="직선 연결선 21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7" name="직선 연결선 21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2" name="타원 211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3" name="그룹 212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214" name="직선 연결선 21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직선 연결선 21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77" name="타원 276"/>
          <p:cNvSpPr/>
          <p:nvPr/>
        </p:nvSpPr>
        <p:spPr>
          <a:xfrm>
            <a:off x="6596790" y="515498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5272060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4" name="타원 283"/>
          <p:cNvSpPr/>
          <p:nvPr/>
        </p:nvSpPr>
        <p:spPr>
          <a:xfrm>
            <a:off x="6596790" y="564023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8" name="그룹 27"/>
          <p:cNvGrpSpPr/>
          <p:nvPr/>
        </p:nvGrpSpPr>
        <p:grpSpPr>
          <a:xfrm>
            <a:off x="6726257" y="5769705"/>
            <a:ext cx="124144" cy="124144"/>
            <a:chOff x="162544" y="5299917"/>
            <a:chExt cx="124144" cy="124144"/>
          </a:xfrm>
        </p:grpSpPr>
        <p:cxnSp>
          <p:nvCxnSpPr>
            <p:cNvPr id="288" name="직선 연결선 287"/>
            <p:cNvCxnSpPr/>
            <p:nvPr/>
          </p:nvCxnSpPr>
          <p:spPr>
            <a:xfrm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9" name="직선 연결선 288"/>
            <p:cNvCxnSpPr/>
            <p:nvPr/>
          </p:nvCxnSpPr>
          <p:spPr>
            <a:xfrm rot="16200000"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30551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7" name="모서리가 둥근 직사각형 336"/>
          <p:cNvSpPr/>
          <p:nvPr/>
        </p:nvSpPr>
        <p:spPr>
          <a:xfrm>
            <a:off x="781461" y="1944348"/>
            <a:ext cx="243478" cy="119400"/>
          </a:xfrm>
          <a:prstGeom prst="roundRect">
            <a:avLst>
              <a:gd name="adj" fmla="val 23409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>
                <a:solidFill>
                  <a:srgbClr val="FF0000"/>
                </a:solidFill>
              </a:rPr>
              <a:t>중요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33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1082843" y="1950187"/>
            <a:ext cx="220200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>
                <a:solidFill>
                  <a:prstClr val="black"/>
                </a:solidFill>
              </a:rPr>
              <a:t>대금 신청</a:t>
            </a:r>
            <a:r>
              <a:rPr lang="en-US" altLang="ko-KR" sz="700" dirty="0">
                <a:solidFill>
                  <a:prstClr val="black"/>
                </a:solidFill>
              </a:rPr>
              <a:t>, </a:t>
            </a:r>
            <a:r>
              <a:rPr lang="ko-KR" altLang="en-US" sz="700" dirty="0">
                <a:solidFill>
                  <a:prstClr val="black"/>
                </a:solidFill>
              </a:rPr>
              <a:t>청구는 </a:t>
            </a:r>
            <a:r>
              <a:rPr lang="en-US" altLang="ko-KR" sz="700" dirty="0">
                <a:solidFill>
                  <a:prstClr val="black"/>
                </a:solidFill>
              </a:rPr>
              <a:t>PC </a:t>
            </a:r>
            <a:r>
              <a:rPr lang="ko-KR" altLang="en-US" sz="700" dirty="0">
                <a:solidFill>
                  <a:prstClr val="black"/>
                </a:solidFill>
              </a:rPr>
              <a:t>버전에서 가능합니다</a:t>
            </a:r>
            <a:r>
              <a:rPr lang="en-US" altLang="ko-KR" sz="700" dirty="0">
                <a:solidFill>
                  <a:prstClr val="black"/>
                </a:solidFill>
              </a:rPr>
              <a:t>.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cxnSp>
        <p:nvCxnSpPr>
          <p:cNvPr id="340" name="직선 연결선 33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5091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8" name="그룹 7"/>
          <p:cNvGrpSpPr/>
          <p:nvPr/>
        </p:nvGrpSpPr>
        <p:grpSpPr>
          <a:xfrm>
            <a:off x="720490" y="4465173"/>
            <a:ext cx="2630093" cy="1600147"/>
            <a:chOff x="720490" y="4465173"/>
            <a:chExt cx="2630093" cy="1600147"/>
          </a:xfrm>
        </p:grpSpPr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4465173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07" name="그룹 106"/>
            <p:cNvGrpSpPr/>
            <p:nvPr/>
          </p:nvGrpSpPr>
          <p:grpSpPr>
            <a:xfrm flipV="1">
              <a:off x="3143548" y="4578504"/>
              <a:ext cx="94010" cy="47005"/>
              <a:chOff x="6812560" y="3297172"/>
              <a:chExt cx="94010" cy="47005"/>
            </a:xfrm>
          </p:grpSpPr>
          <p:cxnSp>
            <p:nvCxnSpPr>
              <p:cNvPr id="108" name="직선 연결선 10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" name="직선 연결선 10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" name="직사각형 15"/>
            <p:cNvSpPr/>
            <p:nvPr/>
          </p:nvSpPr>
          <p:spPr>
            <a:xfrm>
              <a:off x="722583" y="4772658"/>
              <a:ext cx="792000" cy="129266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5" name="직선 연결선 10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77265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772658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계약일자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계약금액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납기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772658"/>
              <a:ext cx="1784088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 0000 00 - 01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배추김치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2026-01-30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10,000,000 </a:t>
              </a:r>
              <a:r>
                <a:rPr lang="ko-KR" altLang="en-US" sz="700" dirty="0" smtClean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2026-01-01 ~ 2026-12-31</a:t>
              </a:r>
            </a:p>
            <a:p>
              <a:pPr>
                <a:lnSpc>
                  <a:spcPct val="200000"/>
                </a:lnSpc>
              </a:pPr>
              <a:endParaRPr lang="en-US" altLang="ko-KR" sz="700" dirty="0" smtClean="0">
                <a:latin typeface="+mn-ea"/>
              </a:endParaRPr>
            </a:p>
          </p:txBody>
        </p:sp>
        <p:cxnSp>
          <p:nvCxnSpPr>
            <p:cNvPr id="115" name="직선 연결선 11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0037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6" name="직선 연결선 11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2174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7" name="직선 연결선 11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43117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0" name="직선 연결선 16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6260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8" name="직선 연결선 1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83751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9" name="직선 연결선 16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606532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75" name="TextBox 174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156" name="모서리가 둥근 직사각형 155"/>
          <p:cNvSpPr/>
          <p:nvPr/>
        </p:nvSpPr>
        <p:spPr>
          <a:xfrm>
            <a:off x="1522790" y="2278058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 smtClean="0"/>
              <a:t>사후청구</a:t>
            </a:r>
            <a:endParaRPr lang="ko-KR" altLang="en-US" sz="600" dirty="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366970" y="4142235"/>
            <a:ext cx="57536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 smtClean="0">
                <a:latin typeface="+mn-ea"/>
              </a:rPr>
              <a:t>신청내역</a:t>
            </a:r>
            <a:endParaRPr lang="ko-KR" altLang="en-US" sz="700" dirty="0">
              <a:latin typeface="+mn-ea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185357" y="4142235"/>
            <a:ext cx="4544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세금계산서</a:t>
            </a:r>
          </a:p>
        </p:txBody>
      </p:sp>
      <p:grpSp>
        <p:nvGrpSpPr>
          <p:cNvPr id="148" name="그룹 147"/>
          <p:cNvGrpSpPr/>
          <p:nvPr/>
        </p:nvGrpSpPr>
        <p:grpSpPr>
          <a:xfrm>
            <a:off x="747925" y="3401909"/>
            <a:ext cx="2599014" cy="187961"/>
            <a:chOff x="747925" y="3393200"/>
            <a:chExt cx="2599014" cy="187961"/>
          </a:xfrm>
        </p:grpSpPr>
        <p:grpSp>
          <p:nvGrpSpPr>
            <p:cNvPr id="149" name="그룹 148"/>
            <p:cNvGrpSpPr/>
            <p:nvPr/>
          </p:nvGrpSpPr>
          <p:grpSpPr>
            <a:xfrm rot="16200000">
              <a:off x="1250697" y="3463679"/>
              <a:ext cx="94010" cy="47005"/>
              <a:chOff x="6812560" y="3297172"/>
              <a:chExt cx="94010" cy="47005"/>
            </a:xfrm>
          </p:grpSpPr>
          <p:cxnSp>
            <p:nvCxnSpPr>
              <p:cNvPr id="222" name="직선 연결선 22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3" name="직선 연결선 22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604170" y="3433319"/>
              <a:ext cx="40086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계약</a:t>
              </a:r>
            </a:p>
          </p:txBody>
        </p:sp>
        <p:sp>
          <p:nvSpPr>
            <p:cNvPr id="151" name="타원 150"/>
            <p:cNvSpPr/>
            <p:nvPr/>
          </p:nvSpPr>
          <p:spPr>
            <a:xfrm>
              <a:off x="1404035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459092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3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53" name="그룹 152"/>
            <p:cNvGrpSpPr/>
            <p:nvPr/>
          </p:nvGrpSpPr>
          <p:grpSpPr>
            <a:xfrm rot="16200000">
              <a:off x="1906808" y="3463679"/>
              <a:ext cx="94010" cy="47005"/>
              <a:chOff x="6812560" y="3297172"/>
              <a:chExt cx="94010" cy="47005"/>
            </a:xfrm>
          </p:grpSpPr>
          <p:cxnSp>
            <p:nvCxnSpPr>
              <p:cNvPr id="220" name="직선 연결선 21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1" name="직선 연결선 22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54" name="그룹 153"/>
            <p:cNvGrpSpPr/>
            <p:nvPr/>
          </p:nvGrpSpPr>
          <p:grpSpPr>
            <a:xfrm rot="16200000">
              <a:off x="2562920" y="3463679"/>
              <a:ext cx="94010" cy="47005"/>
              <a:chOff x="6812560" y="3297172"/>
              <a:chExt cx="94010" cy="47005"/>
            </a:xfrm>
          </p:grpSpPr>
          <p:cxnSp>
            <p:nvCxnSpPr>
              <p:cNvPr id="218" name="직선 연결선 21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9" name="직선 연결선 21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55" name="타원 154"/>
            <p:cNvSpPr/>
            <p:nvPr/>
          </p:nvSpPr>
          <p:spPr>
            <a:xfrm>
              <a:off x="747925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2982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2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51350" y="3433319"/>
              <a:ext cx="39757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입찰</a:t>
              </a:r>
            </a:p>
          </p:txBody>
        </p:sp>
        <p:sp>
          <p:nvSpPr>
            <p:cNvPr id="162" name="타원 161"/>
            <p:cNvSpPr/>
            <p:nvPr/>
          </p:nvSpPr>
          <p:spPr>
            <a:xfrm>
              <a:off x="2058749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113806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4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263899" y="343331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이행</a:t>
              </a:r>
            </a:p>
          </p:txBody>
        </p:sp>
        <p:sp>
          <p:nvSpPr>
            <p:cNvPr id="179" name="타원 178"/>
            <p:cNvSpPr/>
            <p:nvPr/>
          </p:nvSpPr>
          <p:spPr>
            <a:xfrm>
              <a:off x="2714860" y="3393200"/>
              <a:ext cx="187961" cy="187961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769917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bg1"/>
                  </a:solidFill>
                  <a:latin typeface="+mn-ea"/>
                </a:rPr>
                <a:t>5</a:t>
              </a:r>
              <a:endParaRPr lang="ko-KR" altLang="en-US" sz="7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20010" y="343331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대금</a:t>
              </a:r>
              <a:r>
                <a:rPr lang="en-US" altLang="ko-KR" sz="700" dirty="0">
                  <a:latin typeface="+mn-ea"/>
                </a:rPr>
                <a:t>/</a:t>
              </a:r>
              <a:r>
                <a:rPr lang="ko-KR" altLang="en-US" sz="700" dirty="0">
                  <a:latin typeface="+mn-ea"/>
                </a:rPr>
                <a:t>사후</a:t>
              </a:r>
            </a:p>
          </p:txBody>
        </p:sp>
        <p:grpSp>
          <p:nvGrpSpPr>
            <p:cNvPr id="185" name="그룹 184"/>
            <p:cNvGrpSpPr/>
            <p:nvPr/>
          </p:nvGrpSpPr>
          <p:grpSpPr>
            <a:xfrm rot="5400000">
              <a:off x="3158978" y="3393200"/>
              <a:ext cx="187961" cy="187961"/>
              <a:chOff x="3876200" y="2234886"/>
              <a:chExt cx="187961" cy="187961"/>
            </a:xfrm>
          </p:grpSpPr>
          <p:sp>
            <p:nvSpPr>
              <p:cNvPr id="187" name="타원 186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05" name="그룹 204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206" name="직선 연결선 205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7" name="직선 연결선 206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82" name="TextBox 18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882824" y="4142235"/>
            <a:ext cx="4544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smtClean="0">
                <a:latin typeface="+mn-ea"/>
              </a:rPr>
              <a:t>진행상태</a:t>
            </a:r>
            <a:endParaRPr lang="ko-KR" altLang="en-US" sz="700" dirty="0">
              <a:latin typeface="+mn-ea"/>
            </a:endParaRPr>
          </a:p>
        </p:txBody>
      </p:sp>
      <p:sp>
        <p:nvSpPr>
          <p:cNvPr id="183" name="타원 18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715370" y="504490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sp>
        <p:nvSpPr>
          <p:cNvPr id="184" name="타원 18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688" y="204634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86" name="타원 18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72828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89" name="타원 18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10603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90" name="타원 18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49583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94" name="타원 19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96143" y="223285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1-1</a:t>
            </a:r>
            <a:endParaRPr lang="ko-KR" altLang="en-US" sz="600" b="1" dirty="0"/>
          </a:p>
        </p:txBody>
      </p:sp>
      <p:sp>
        <p:nvSpPr>
          <p:cNvPr id="195" name="타원 19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758181" y="237965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1-2</a:t>
            </a:r>
            <a:endParaRPr lang="ko-KR" altLang="en-US" sz="600" b="1" dirty="0"/>
          </a:p>
        </p:txBody>
      </p:sp>
      <p:sp>
        <p:nvSpPr>
          <p:cNvPr id="196" name="타원 19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95669" y="260009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1-3</a:t>
            </a:r>
            <a:endParaRPr lang="ko-KR" altLang="en-US" sz="600" b="1" dirty="0"/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478107" y="1647997"/>
            <a:ext cx="57536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err="1">
                <a:latin typeface="+mn-ea"/>
              </a:rPr>
              <a:t>대금신청</a:t>
            </a:r>
            <a:r>
              <a:rPr lang="ko-KR" altLang="en-US" sz="700" dirty="0">
                <a:latin typeface="+mn-ea"/>
              </a:rPr>
              <a:t> 금액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304099" y="1647997"/>
            <a:ext cx="4544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세금계산서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6009170" y="1647997"/>
            <a:ext cx="4544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smtClean="0">
                <a:latin typeface="+mn-ea"/>
              </a:rPr>
              <a:t>진행상태</a:t>
            </a:r>
            <a:endParaRPr lang="ko-KR" altLang="en-US" sz="700" dirty="0">
              <a:latin typeface="+mn-ea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sz="800" dirty="0"/>
              <a:t>타이틀 영역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1-1] </a:t>
            </a:r>
            <a:r>
              <a:rPr lang="ko-KR" altLang="en-US" sz="800" dirty="0"/>
              <a:t>레이블이 화면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화면 넘치는 경우 드래그하여 확인 가능 </a:t>
            </a:r>
            <a:r>
              <a:rPr lang="en-US" altLang="ko-KR" sz="800" dirty="0"/>
              <a:t>(</a:t>
            </a:r>
            <a:r>
              <a:rPr lang="ko-KR" altLang="en-US" sz="800" dirty="0" err="1"/>
              <a:t>스와이프기능</a:t>
            </a:r>
            <a:r>
              <a:rPr lang="ko-KR" altLang="en-US" sz="800" dirty="0"/>
              <a:t> 반영 필요</a:t>
            </a:r>
            <a:r>
              <a:rPr lang="en-US" altLang="ko-KR" sz="800" dirty="0"/>
              <a:t>)</a:t>
            </a:r>
            <a:br>
              <a:rPr lang="en-US" altLang="ko-KR" sz="800" dirty="0"/>
            </a:br>
            <a:r>
              <a:rPr lang="en-US" altLang="ko-KR" sz="800" dirty="0"/>
              <a:t>1-2] </a:t>
            </a:r>
            <a:r>
              <a:rPr lang="ko-KR" altLang="en-US" sz="800" dirty="0"/>
              <a:t>문서 정보 영역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err="1"/>
              <a:t>판단번호</a:t>
            </a:r>
            <a:r>
              <a:rPr lang="ko-KR" altLang="en-US" sz="800" dirty="0"/>
              <a:t> </a:t>
            </a:r>
            <a:r>
              <a:rPr lang="en-US" altLang="ko-KR" sz="800" dirty="0"/>
              <a:t>,  </a:t>
            </a:r>
            <a:r>
              <a:rPr lang="ko-KR" altLang="en-US" sz="800" dirty="0" err="1"/>
              <a:t>계약번호</a:t>
            </a:r>
            <a:r>
              <a:rPr lang="ko-KR" altLang="en-US" sz="800" dirty="0"/>
              <a:t> 노출 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err="1"/>
              <a:t>판단번호</a:t>
            </a:r>
            <a:r>
              <a:rPr lang="ko-KR" altLang="en-US" sz="800" dirty="0"/>
              <a:t> </a:t>
            </a:r>
            <a:r>
              <a:rPr lang="ko-KR" altLang="en-US" sz="800" dirty="0" err="1"/>
              <a:t>전체노출</a:t>
            </a:r>
            <a:r>
              <a:rPr lang="ko-KR" altLang="en-US" sz="800" dirty="0"/>
              <a:t> </a:t>
            </a:r>
            <a:r>
              <a:rPr lang="en-US" altLang="ko-KR" sz="800" dirty="0"/>
              <a:t>/ </a:t>
            </a:r>
            <a:r>
              <a:rPr lang="ko-KR" altLang="en-US" sz="800" dirty="0" err="1"/>
              <a:t>계약번호</a:t>
            </a:r>
            <a:r>
              <a:rPr lang="ko-KR" altLang="en-US" sz="800" dirty="0"/>
              <a:t> </a:t>
            </a:r>
            <a:r>
              <a:rPr lang="ko-KR" altLang="en-US" sz="800" dirty="0" err="1"/>
              <a:t>노출시</a:t>
            </a:r>
            <a:r>
              <a:rPr lang="ko-KR" altLang="en-US" sz="800" dirty="0"/>
              <a:t> 해당 라인을 넘어가면 </a:t>
            </a:r>
            <a:r>
              <a:rPr lang="en-US" altLang="ko-KR" sz="800" dirty="0"/>
              <a:t>(…) </a:t>
            </a:r>
            <a:r>
              <a:rPr lang="ko-KR" altLang="en-US" sz="800" dirty="0" err="1"/>
              <a:t>말줄임</a:t>
            </a:r>
            <a:r>
              <a:rPr lang="ko-KR" altLang="en-US" sz="800" dirty="0"/>
              <a:t> 표시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1-3] </a:t>
            </a:r>
            <a:r>
              <a:rPr lang="ko-KR" altLang="en-US" sz="800" dirty="0"/>
              <a:t>문서 제목 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제목은 </a:t>
            </a:r>
            <a:r>
              <a:rPr lang="en-US" altLang="ko-KR" sz="800" dirty="0"/>
              <a:t>2</a:t>
            </a:r>
            <a:r>
              <a:rPr lang="ko-KR" altLang="en-US" sz="800" dirty="0"/>
              <a:t>줄 까지 노출 이후</a:t>
            </a:r>
            <a:r>
              <a:rPr lang="en-US" altLang="ko-KR" sz="800" dirty="0"/>
              <a:t>(…) </a:t>
            </a:r>
            <a:r>
              <a:rPr lang="ko-KR" altLang="en-US" sz="800" dirty="0" err="1"/>
              <a:t>말줄임</a:t>
            </a:r>
            <a:r>
              <a:rPr lang="ko-KR" altLang="en-US" sz="800" dirty="0"/>
              <a:t> 표시</a:t>
            </a:r>
            <a:endParaRPr lang="en-US" altLang="ko-KR" sz="8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err="1"/>
              <a:t>업무도움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기본값 </a:t>
            </a:r>
            <a:r>
              <a:rPr lang="en-US" altLang="ko-KR" sz="800" dirty="0"/>
              <a:t>: </a:t>
            </a:r>
            <a:r>
              <a:rPr lang="ko-KR" altLang="en-US" sz="800" dirty="0"/>
              <a:t>접힘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err="1"/>
              <a:t>클릭시</a:t>
            </a:r>
            <a:r>
              <a:rPr lang="ko-KR" altLang="en-US" sz="800" dirty="0"/>
              <a:t> 확장하여 정보 표시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</a:t>
            </a:r>
            <a:r>
              <a:rPr lang="ko-KR" altLang="en-US" sz="800" dirty="0" err="1"/>
              <a:t>업무도움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&gt; </a:t>
            </a:r>
            <a:r>
              <a:rPr lang="ko-KR" altLang="en-US" sz="800" dirty="0"/>
              <a:t>내역이 있는 경우 만 표시</a:t>
            </a:r>
            <a:endParaRPr lang="en-US" altLang="ko-KR" sz="8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/>
              <a:t>탭 영역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err="1"/>
              <a:t>신청정보</a:t>
            </a:r>
            <a:r>
              <a:rPr lang="ko-KR" altLang="en-US" sz="800" dirty="0"/>
              <a:t> </a:t>
            </a:r>
            <a:r>
              <a:rPr lang="en-US" altLang="ko-KR" sz="800" dirty="0"/>
              <a:t>Tab</a:t>
            </a:r>
            <a:r>
              <a:rPr lang="ko-KR" altLang="en-US" sz="800" dirty="0"/>
              <a:t>은 진입 시 고정 노출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탭 내용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ko-KR" altLang="en-US" sz="800" dirty="0" err="1" smtClean="0"/>
              <a:t>계약정보</a:t>
            </a:r>
            <a:r>
              <a:rPr lang="en-US" altLang="ko-KR" sz="800" dirty="0" smtClean="0"/>
              <a:t>, </a:t>
            </a:r>
            <a:r>
              <a:rPr lang="ko-KR" altLang="en-US" sz="800" dirty="0" err="1" smtClean="0"/>
              <a:t>공급자정보</a:t>
            </a:r>
            <a:r>
              <a:rPr lang="en-US" altLang="ko-KR" sz="800" dirty="0" smtClean="0"/>
              <a:t>,</a:t>
            </a:r>
            <a:r>
              <a:rPr lang="ko-KR" altLang="en-US" sz="800" dirty="0" smtClean="0"/>
              <a:t>대금신청금액</a:t>
            </a:r>
            <a:r>
              <a:rPr lang="en-US" altLang="ko-KR" sz="800" dirty="0" smtClean="0"/>
              <a:t>, </a:t>
            </a:r>
            <a:r>
              <a:rPr lang="ko-KR" altLang="en-US" sz="800" dirty="0" smtClean="0"/>
              <a:t>세금계산서</a:t>
            </a:r>
            <a:r>
              <a:rPr lang="en-US" altLang="ko-KR" sz="800" dirty="0" smtClean="0"/>
              <a:t>, </a:t>
            </a:r>
            <a:r>
              <a:rPr lang="ko-KR" altLang="en-US" sz="800" dirty="0" smtClean="0"/>
              <a:t>진행상태  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&gt; </a:t>
            </a:r>
            <a:r>
              <a:rPr lang="ko-KR" altLang="en-US" sz="800" dirty="0"/>
              <a:t>로그인 필요 서비스 안내 표시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화면을 </a:t>
            </a:r>
            <a:r>
              <a:rPr lang="ko-KR" altLang="en-US" sz="800" dirty="0" err="1"/>
              <a:t>넘치는경우</a:t>
            </a:r>
            <a:r>
              <a:rPr lang="ko-KR" altLang="en-US" sz="800" dirty="0"/>
              <a:t> 드래그하여 확인</a:t>
            </a:r>
            <a:r>
              <a:rPr lang="en-US" altLang="ko-KR" sz="800" dirty="0"/>
              <a:t>(</a:t>
            </a:r>
            <a:r>
              <a:rPr lang="ko-KR" altLang="en-US" sz="800" dirty="0" err="1"/>
              <a:t>스와이프기능</a:t>
            </a:r>
            <a:r>
              <a:rPr lang="ko-KR" altLang="en-US" sz="800" dirty="0"/>
              <a:t> 반영 필요</a:t>
            </a:r>
            <a:r>
              <a:rPr lang="en-US" altLang="ko-KR" sz="800" dirty="0" smtClean="0"/>
              <a:t>)</a:t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세금계산서인 경우</a:t>
            </a:r>
            <a:r>
              <a:rPr lang="en-US" altLang="ko-KR" sz="800" dirty="0" smtClean="0"/>
              <a:t>, </a:t>
            </a:r>
            <a:r>
              <a:rPr lang="ko-KR" altLang="en-US" sz="800" dirty="0" smtClean="0"/>
              <a:t>화면에서 </a:t>
            </a:r>
            <a:r>
              <a:rPr lang="en-US" altLang="ko-KR" sz="800" dirty="0" smtClean="0"/>
              <a:t>“</a:t>
            </a:r>
            <a:r>
              <a:rPr lang="ko-KR" altLang="en-US" sz="800" dirty="0" smtClean="0"/>
              <a:t>세금계산서번호 선택 을 체크한 경우 노출</a:t>
            </a:r>
            <a:r>
              <a:rPr lang="en-US" altLang="ko-KR" sz="800" dirty="0" smtClean="0"/>
              <a:t>＂</a:t>
            </a:r>
            <a:endParaRPr lang="en-US" altLang="ko-KR" sz="8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/>
              <a:t>신청 정보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각 공고에 맞춰 폼 변화에 유의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err="1"/>
              <a:t>상세내용에</a:t>
            </a:r>
            <a:r>
              <a:rPr lang="ko-KR" altLang="en-US" sz="800" dirty="0"/>
              <a:t> 포함된 정보 표시</a:t>
            </a:r>
            <a:endParaRPr lang="en-US" altLang="ko-KR" sz="8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/>
              <a:t>기본값은 상단 이동 버튼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ko-KR" altLang="en-US" sz="800" dirty="0"/>
              <a:t>현 상세내용 탭에서는 </a:t>
            </a:r>
            <a:endParaRPr lang="en-US" altLang="ko-KR" sz="800" dirty="0"/>
          </a:p>
          <a:p>
            <a:endParaRPr lang="ko-KR" altLang="en-US" sz="800" dirty="0"/>
          </a:p>
        </p:txBody>
      </p:sp>
      <p:sp>
        <p:nvSpPr>
          <p:cNvPr id="167" name="직사각형 166"/>
          <p:cNvSpPr/>
          <p:nvPr/>
        </p:nvSpPr>
        <p:spPr>
          <a:xfrm>
            <a:off x="7103286" y="6104709"/>
            <a:ext cx="2275404" cy="15681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500" smtClean="0"/>
              <a:t>화면수정</a:t>
            </a:r>
            <a:endParaRPr lang="ko-KR" altLang="en-US" sz="500" dirty="0"/>
          </a:p>
        </p:txBody>
      </p:sp>
      <p:grpSp>
        <p:nvGrpSpPr>
          <p:cNvPr id="201" name="그룹 200"/>
          <p:cNvGrpSpPr/>
          <p:nvPr/>
        </p:nvGrpSpPr>
        <p:grpSpPr>
          <a:xfrm>
            <a:off x="3836701" y="1988929"/>
            <a:ext cx="2630093" cy="1600147"/>
            <a:chOff x="720490" y="4465173"/>
            <a:chExt cx="2630093" cy="1600147"/>
          </a:xfrm>
        </p:grpSpPr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4465173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224" name="그룹 223"/>
            <p:cNvGrpSpPr/>
            <p:nvPr/>
          </p:nvGrpSpPr>
          <p:grpSpPr>
            <a:xfrm flipV="1">
              <a:off x="3143548" y="4578504"/>
              <a:ext cx="94010" cy="47005"/>
              <a:chOff x="6812560" y="3297172"/>
              <a:chExt cx="94010" cy="47005"/>
            </a:xfrm>
          </p:grpSpPr>
          <p:cxnSp>
            <p:nvCxnSpPr>
              <p:cNvPr id="235" name="직선 연결선 23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6" name="직선 연결선 23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25" name="직사각형 224"/>
            <p:cNvSpPr/>
            <p:nvPr/>
          </p:nvSpPr>
          <p:spPr>
            <a:xfrm>
              <a:off x="722583" y="4772658"/>
              <a:ext cx="792000" cy="129266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26" name="직선 연결선 22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77265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772658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계약일자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계약금액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납기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228" name="TextBox 22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772658"/>
              <a:ext cx="1784088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 0000 00 - 01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배추김치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2026-01-30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10,000,000 </a:t>
              </a:r>
              <a:r>
                <a:rPr lang="ko-KR" altLang="en-US" sz="700" dirty="0" smtClean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2026-01-01 ~ 2026-12-31</a:t>
              </a:r>
            </a:p>
            <a:p>
              <a:pPr>
                <a:lnSpc>
                  <a:spcPct val="200000"/>
                </a:lnSpc>
              </a:pPr>
              <a:endParaRPr lang="en-US" altLang="ko-KR" sz="700" dirty="0" smtClean="0">
                <a:latin typeface="+mn-ea"/>
              </a:endParaRPr>
            </a:p>
          </p:txBody>
        </p:sp>
        <p:cxnSp>
          <p:nvCxnSpPr>
            <p:cNvPr id="229" name="직선 연결선 22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0037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30" name="직선 연결선 22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2174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31" name="직선 연결선 23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43117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32" name="직선 연결선 23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6260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33" name="직선 연결선 23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83751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34" name="직선 연결선 23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606532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237" name="그룹 236"/>
          <p:cNvGrpSpPr/>
          <p:nvPr/>
        </p:nvGrpSpPr>
        <p:grpSpPr>
          <a:xfrm>
            <a:off x="3919539" y="3735455"/>
            <a:ext cx="2456097" cy="181140"/>
            <a:chOff x="763157" y="1527996"/>
            <a:chExt cx="2456097" cy="181140"/>
          </a:xfrm>
        </p:grpSpPr>
        <p:sp>
          <p:nvSpPr>
            <p:cNvPr id="238" name="TextBox 23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공급자 정보</a:t>
              </a:r>
            </a:p>
          </p:txBody>
        </p:sp>
        <p:grpSp>
          <p:nvGrpSpPr>
            <p:cNvPr id="239" name="그룹 23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240" name="직선 연결선 23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1" name="직선 연결선 24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42" name="그룹 241"/>
          <p:cNvGrpSpPr/>
          <p:nvPr/>
        </p:nvGrpSpPr>
        <p:grpSpPr>
          <a:xfrm>
            <a:off x="3832541" y="4027607"/>
            <a:ext cx="2630093" cy="861981"/>
            <a:chOff x="3865118" y="2946203"/>
            <a:chExt cx="2630093" cy="861981"/>
          </a:xfrm>
        </p:grpSpPr>
        <p:sp>
          <p:nvSpPr>
            <p:cNvPr id="243" name="직사각형 242"/>
            <p:cNvSpPr/>
            <p:nvPr/>
          </p:nvSpPr>
          <p:spPr>
            <a:xfrm>
              <a:off x="3867211" y="2946203"/>
              <a:ext cx="792000" cy="86177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44" name="직선 연결선 2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45" name="TextBox 24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상호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 err="1">
                  <a:latin typeface="+mn-ea"/>
                </a:rPr>
                <a:t>업체명</a:t>
              </a:r>
              <a:r>
                <a:rPr lang="en-US" altLang="ko-KR" sz="700" dirty="0" smtClean="0">
                  <a:latin typeface="+mn-ea"/>
                </a:rPr>
                <a:t>)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작성자 성명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직책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연락처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246" name="TextBox 24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010-1234-5678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서울특별시 종로구</a:t>
              </a:r>
              <a:r>
                <a:rPr lang="en-US" altLang="ko-KR" sz="700" dirty="0">
                  <a:latin typeface="+mn-ea"/>
                </a:rPr>
                <a:t>…</a:t>
              </a:r>
            </a:p>
          </p:txBody>
        </p:sp>
        <p:cxnSp>
          <p:nvCxnSpPr>
            <p:cNvPr id="247" name="직선 연결선 2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48" name="직선 연결선 24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49" name="직선 연결선 24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50" name="직선 연결선 24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251" name="직선 연결선 25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1574" y="366709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385584913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계약정보</a:t>
            </a:r>
            <a:r>
              <a:rPr lang="ko-KR" altLang="en-US" dirty="0"/>
              <a:t> 데이터 영역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대금신청대상목록 데이터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72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계약정보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– </a:t>
            </a:r>
            <a:r>
              <a:rPr lang="ko-KR" altLang="en-US" dirty="0">
                <a:latin typeface="+mn-ea"/>
              </a:rPr>
              <a:t>사후정산청구 상세 </a:t>
            </a:r>
            <a:r>
              <a:rPr lang="ko-KR" altLang="en-US" dirty="0"/>
              <a:t>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사후정산청구상세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MUI-WM-01-T20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50123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85565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1639043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err="1">
                <a:latin typeface="+mn-ea"/>
              </a:rPr>
              <a:t>계약정보</a:t>
            </a:r>
            <a:endParaRPr lang="ko-KR" altLang="en-US" sz="700" b="1" dirty="0">
              <a:latin typeface="+mn-ea"/>
            </a:endParaRP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855650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53" name="그룹 52"/>
          <p:cNvGrpSpPr/>
          <p:nvPr/>
        </p:nvGrpSpPr>
        <p:grpSpPr>
          <a:xfrm>
            <a:off x="720490" y="1961981"/>
            <a:ext cx="2630093" cy="1600147"/>
            <a:chOff x="720490" y="4465173"/>
            <a:chExt cx="2630093" cy="1600147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4465173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55" name="그룹 54"/>
            <p:cNvGrpSpPr/>
            <p:nvPr/>
          </p:nvGrpSpPr>
          <p:grpSpPr>
            <a:xfrm flipV="1">
              <a:off x="3143548" y="4578504"/>
              <a:ext cx="94010" cy="47005"/>
              <a:chOff x="6812560" y="3297172"/>
              <a:chExt cx="94010" cy="47005"/>
            </a:xfrm>
          </p:grpSpPr>
          <p:cxnSp>
            <p:nvCxnSpPr>
              <p:cNvPr id="87" name="직선 연결선 8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" name="직선 연결선 8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56" name="직사각형 55"/>
            <p:cNvSpPr/>
            <p:nvPr/>
          </p:nvSpPr>
          <p:spPr>
            <a:xfrm>
              <a:off x="722583" y="4772658"/>
              <a:ext cx="792000" cy="129266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77265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772658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계약일자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계약금액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납기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772658"/>
              <a:ext cx="1784088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 0000 00 - 01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배추김치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2026-01-30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10,000,000 </a:t>
              </a:r>
              <a:r>
                <a:rPr lang="ko-KR" altLang="en-US" sz="700" dirty="0" smtClean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2026-01-01 ~ 2026-12-31</a:t>
              </a:r>
            </a:p>
            <a:p>
              <a:pPr>
                <a:lnSpc>
                  <a:spcPct val="200000"/>
                </a:lnSpc>
              </a:pPr>
              <a:endParaRPr lang="en-US" altLang="ko-KR" sz="700" dirty="0" smtClean="0">
                <a:latin typeface="+mn-ea"/>
              </a:endParaRPr>
            </a:p>
          </p:txBody>
        </p: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0037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2" name="직선 연결선 8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2174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3" name="직선 연결선 8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43117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4" name="직선 연결선 8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6260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83751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6" name="직선 연결선 8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606532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89" name="TextBox 8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366970" y="1639043"/>
            <a:ext cx="57536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 smtClean="0">
                <a:latin typeface="+mn-ea"/>
              </a:rPr>
              <a:t>신청내역</a:t>
            </a:r>
            <a:endParaRPr lang="ko-KR" altLang="en-US" sz="700" dirty="0">
              <a:latin typeface="+mn-ea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185357" y="1639043"/>
            <a:ext cx="4544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세금계산서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882824" y="1639043"/>
            <a:ext cx="4544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smtClean="0">
                <a:latin typeface="+mn-ea"/>
              </a:rPr>
              <a:t>진행상태</a:t>
            </a:r>
            <a:endParaRPr lang="ko-KR" altLang="en-US" sz="700" dirty="0">
              <a:latin typeface="+mn-ea"/>
            </a:endParaRPr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155" name="타원 15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87320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grpSp>
        <p:nvGrpSpPr>
          <p:cNvPr id="92" name="그룹 91"/>
          <p:cNvGrpSpPr/>
          <p:nvPr/>
        </p:nvGrpSpPr>
        <p:grpSpPr>
          <a:xfrm>
            <a:off x="803364" y="3735455"/>
            <a:ext cx="2456097" cy="181140"/>
            <a:chOff x="763157" y="1527996"/>
            <a:chExt cx="2456097" cy="181140"/>
          </a:xfrm>
        </p:grpSpPr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공급자 정보</a:t>
              </a:r>
            </a:p>
          </p:txBody>
        </p:sp>
        <p:grpSp>
          <p:nvGrpSpPr>
            <p:cNvPr id="94" name="그룹 93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95" name="직선 연결선 9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직선 연결선 9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7" name="그룹 96"/>
          <p:cNvGrpSpPr/>
          <p:nvPr/>
        </p:nvGrpSpPr>
        <p:grpSpPr>
          <a:xfrm>
            <a:off x="716366" y="4027607"/>
            <a:ext cx="2630093" cy="861981"/>
            <a:chOff x="3865118" y="2946203"/>
            <a:chExt cx="2630093" cy="861981"/>
          </a:xfrm>
        </p:grpSpPr>
        <p:sp>
          <p:nvSpPr>
            <p:cNvPr id="98" name="직사각형 97"/>
            <p:cNvSpPr/>
            <p:nvPr/>
          </p:nvSpPr>
          <p:spPr>
            <a:xfrm>
              <a:off x="3867211" y="2946203"/>
              <a:ext cx="792000" cy="86177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99" name="직선 연결선 9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상호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 err="1">
                  <a:latin typeface="+mn-ea"/>
                </a:rPr>
                <a:t>업체명</a:t>
              </a:r>
              <a:r>
                <a:rPr lang="en-US" altLang="ko-KR" sz="700" dirty="0" smtClean="0">
                  <a:latin typeface="+mn-ea"/>
                </a:rPr>
                <a:t>)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작성자 성명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직책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연락처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010-1234-5678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서울특별시 종로구</a:t>
              </a:r>
              <a:r>
                <a:rPr lang="en-US" altLang="ko-KR" sz="700" dirty="0">
                  <a:latin typeface="+mn-ea"/>
                </a:rPr>
                <a:t>…</a:t>
              </a:r>
            </a:p>
          </p:txBody>
        </p:sp>
        <p:cxnSp>
          <p:nvCxnSpPr>
            <p:cNvPr id="102" name="직선 연결선 10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3" name="직선 연결선 10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4" name="직선 연결선 10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5" name="직선 연결선 10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66709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51140642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신청내역</a:t>
            </a:r>
            <a:r>
              <a:rPr lang="ko-KR" altLang="en-US" dirty="0"/>
              <a:t>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73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신청금액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– </a:t>
            </a:r>
            <a:r>
              <a:rPr lang="ko-KR" altLang="en-US" dirty="0">
                <a:latin typeface="+mn-ea"/>
              </a:rPr>
              <a:t>사후정산청구 상세 </a:t>
            </a:r>
            <a:r>
              <a:rPr lang="ko-KR" altLang="en-US" dirty="0"/>
              <a:t>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사후정산청구상세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MUI-WM-01-T21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5" name="그룹 4"/>
          <p:cNvGrpSpPr/>
          <p:nvPr/>
        </p:nvGrpSpPr>
        <p:grpSpPr>
          <a:xfrm>
            <a:off x="803364" y="2788354"/>
            <a:ext cx="2456097" cy="181140"/>
            <a:chOff x="763157" y="1527996"/>
            <a:chExt cx="2456097" cy="18114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신청내역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3266146"/>
            <a:ext cx="2630093" cy="1292663"/>
            <a:chOff x="3865118" y="2946203"/>
            <a:chExt cx="2630093" cy="1292663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3"/>
              <a:ext cx="792000" cy="128939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대상금액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신청금액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 err="1">
                  <a:latin typeface="+mn-ea"/>
                </a:rPr>
                <a:t>기사용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 err="1">
                  <a:latin typeface="+mn-ea"/>
                </a:rPr>
                <a:t>사용예정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신청금액의</a:t>
              </a:r>
              <a:r>
                <a:rPr lang="ko-KR" altLang="en-US" sz="700" dirty="0">
                  <a:latin typeface="+mn-ea"/>
                </a:rPr>
                <a:t> 비율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00 %</a:t>
              </a: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07117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3363" y="3010073"/>
            <a:ext cx="130897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- </a:t>
            </a:r>
            <a:r>
              <a:rPr lang="ko-KR" altLang="en-US" sz="700" dirty="0">
                <a:latin typeface="+mn-ea"/>
              </a:rPr>
              <a:t>재료비 </a:t>
            </a:r>
            <a:r>
              <a:rPr lang="en-US" altLang="ko-KR" sz="700" dirty="0">
                <a:latin typeface="+mn-ea"/>
              </a:rPr>
              <a:t>- </a:t>
            </a:r>
            <a:r>
              <a:rPr lang="ko-KR" altLang="en-US" sz="700" dirty="0">
                <a:latin typeface="+mn-ea"/>
              </a:rPr>
              <a:t>수입 재료비</a:t>
            </a:r>
          </a:p>
        </p:txBody>
      </p:sp>
      <p:grpSp>
        <p:nvGrpSpPr>
          <p:cNvPr id="6" name="그룹 5"/>
          <p:cNvGrpSpPr/>
          <p:nvPr/>
        </p:nvGrpSpPr>
        <p:grpSpPr>
          <a:xfrm>
            <a:off x="716366" y="4640400"/>
            <a:ext cx="2630093" cy="1548736"/>
            <a:chOff x="716366" y="3441403"/>
            <a:chExt cx="2630093" cy="1548736"/>
          </a:xfrm>
        </p:grpSpPr>
        <p:grpSp>
          <p:nvGrpSpPr>
            <p:cNvPr id="53" name="그룹 52"/>
            <p:cNvGrpSpPr/>
            <p:nvPr/>
          </p:nvGrpSpPr>
          <p:grpSpPr>
            <a:xfrm>
              <a:off x="716366" y="3697476"/>
              <a:ext cx="2630093" cy="1292663"/>
              <a:chOff x="3865118" y="2946203"/>
              <a:chExt cx="2630093" cy="1292663"/>
            </a:xfrm>
          </p:grpSpPr>
          <p:sp>
            <p:nvSpPr>
              <p:cNvPr id="54" name="직사각형 53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55" name="직선 연결선 5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58" name="직선 연결선 5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9" name="직선 연결선 5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0" name="직선 연결선 5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1" name="직선 연결선 6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2" name="직선 연결선 6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3" name="직선 연결선 6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3363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재료비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국내 재료비</a:t>
              </a:r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3836701" y="1893756"/>
            <a:ext cx="2630093" cy="1548736"/>
            <a:chOff x="3795734" y="3441403"/>
            <a:chExt cx="2630093" cy="1548736"/>
          </a:xfrm>
        </p:grpSpPr>
        <p:grpSp>
          <p:nvGrpSpPr>
            <p:cNvPr id="67" name="그룹 66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68" name="직사각형 67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69" name="직선 연결선 6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72" name="직선 연결선 7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3" name="직선 연결선 7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4" name="직선 연결선 7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5" name="직선 연결선 7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6" name="직선 연결선 7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7" name="직선 연결선 7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재료비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간접 재료비</a:t>
              </a:r>
            </a:p>
          </p:txBody>
        </p:sp>
      </p:grpSp>
      <p:grpSp>
        <p:nvGrpSpPr>
          <p:cNvPr id="79" name="그룹 78"/>
          <p:cNvGrpSpPr/>
          <p:nvPr/>
        </p:nvGrpSpPr>
        <p:grpSpPr>
          <a:xfrm>
            <a:off x="3836701" y="3519974"/>
            <a:ext cx="2630093" cy="1548736"/>
            <a:chOff x="3795734" y="3441403"/>
            <a:chExt cx="2630093" cy="1548736"/>
          </a:xfrm>
        </p:grpSpPr>
        <p:grpSp>
          <p:nvGrpSpPr>
            <p:cNvPr id="80" name="그룹 79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82" name="직사각형 81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83" name="직선 연결선 8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86" name="직선 연결선 8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7" name="직선 연결선 8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8" name="직선 연결선 8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9" name="직선 연결선 8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0" name="직선 연결선 8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1" name="직선 연결선 9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 err="1">
                  <a:latin typeface="+mn-ea"/>
                </a:rPr>
                <a:t>노무비</a:t>
              </a:r>
              <a:r>
                <a:rPr lang="ko-KR" altLang="en-US" sz="700" dirty="0">
                  <a:latin typeface="+mn-ea"/>
                </a:rPr>
                <a:t> </a:t>
              </a:r>
              <a:r>
                <a:rPr lang="en-US" altLang="ko-KR" sz="700" dirty="0">
                  <a:latin typeface="+mn-ea"/>
                </a:rPr>
                <a:t>– </a:t>
              </a:r>
              <a:r>
                <a:rPr lang="ko-KR" altLang="en-US" sz="700" dirty="0">
                  <a:latin typeface="+mn-ea"/>
                </a:rPr>
                <a:t>직접 </a:t>
              </a:r>
              <a:r>
                <a:rPr lang="ko-KR" altLang="en-US" sz="700" dirty="0" err="1">
                  <a:latin typeface="+mn-ea"/>
                </a:rPr>
                <a:t>노무비</a:t>
              </a:r>
              <a:endParaRPr lang="ko-KR" altLang="en-US" sz="700" dirty="0">
                <a:latin typeface="+mn-ea"/>
              </a:endParaRPr>
            </a:p>
          </p:txBody>
        </p:sp>
      </p:grpSp>
      <p:grpSp>
        <p:nvGrpSpPr>
          <p:cNvPr id="92" name="그룹 91"/>
          <p:cNvGrpSpPr/>
          <p:nvPr/>
        </p:nvGrpSpPr>
        <p:grpSpPr>
          <a:xfrm>
            <a:off x="3836701" y="5150729"/>
            <a:ext cx="2630093" cy="1548736"/>
            <a:chOff x="3795734" y="3441403"/>
            <a:chExt cx="2630093" cy="1548736"/>
          </a:xfrm>
        </p:grpSpPr>
        <p:grpSp>
          <p:nvGrpSpPr>
            <p:cNvPr id="93" name="그룹 92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95" name="직사각형 94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96" name="직선 연결선 9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99" name="직선 연결선 9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0" name="직선 연결선 9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1" name="직선 연결선 10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2" name="직선 연결선 10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3" name="직선 연결선 10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4" name="직선 연결선 10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 err="1">
                  <a:latin typeface="+mn-ea"/>
                </a:rPr>
                <a:t>노무비</a:t>
              </a:r>
              <a:r>
                <a:rPr lang="ko-KR" altLang="en-US" sz="700" dirty="0">
                  <a:latin typeface="+mn-ea"/>
                </a:rPr>
                <a:t> </a:t>
              </a:r>
              <a:r>
                <a:rPr lang="en-US" altLang="ko-KR" sz="700" dirty="0">
                  <a:latin typeface="+mn-ea"/>
                </a:rPr>
                <a:t>– </a:t>
              </a:r>
              <a:r>
                <a:rPr lang="ko-KR" altLang="en-US" sz="700" dirty="0">
                  <a:latin typeface="+mn-ea"/>
                </a:rPr>
                <a:t>간접 </a:t>
              </a:r>
              <a:r>
                <a:rPr lang="ko-KR" altLang="en-US" sz="700" dirty="0" err="1">
                  <a:latin typeface="+mn-ea"/>
                </a:rPr>
                <a:t>노무비</a:t>
              </a:r>
              <a:endParaRPr lang="ko-KR" altLang="en-US" sz="700" dirty="0">
                <a:latin typeface="+mn-ea"/>
              </a:endParaRPr>
            </a:p>
          </p:txBody>
        </p:sp>
      </p:grp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50123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85565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1639043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계약정보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1303798" y="1855650"/>
            <a:ext cx="63854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366970" y="1639043"/>
            <a:ext cx="57536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err="1" smtClean="0">
                <a:latin typeface="+mn-ea"/>
              </a:rPr>
              <a:t>신청내역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185357" y="1639043"/>
            <a:ext cx="4544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세금계산서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882824" y="1639043"/>
            <a:ext cx="4544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smtClean="0">
                <a:latin typeface="+mn-ea"/>
              </a:rPr>
              <a:t>진행상태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6701" y="150123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6701" y="185565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80380" y="1639043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계약정보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4420009" y="1855650"/>
            <a:ext cx="63854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483181" y="1639043"/>
            <a:ext cx="57536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err="1">
                <a:latin typeface="+mn-ea"/>
              </a:rPr>
              <a:t>신청내역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301568" y="1639043"/>
            <a:ext cx="4544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세금계산서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999035" y="1639043"/>
            <a:ext cx="4544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smtClean="0">
                <a:latin typeface="+mn-ea"/>
              </a:rPr>
              <a:t>진행상태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20" name="그룹 119"/>
          <p:cNvGrpSpPr/>
          <p:nvPr/>
        </p:nvGrpSpPr>
        <p:grpSpPr>
          <a:xfrm>
            <a:off x="797261" y="1853291"/>
            <a:ext cx="2456097" cy="181140"/>
            <a:chOff x="763157" y="1527996"/>
            <a:chExt cx="2456097" cy="181140"/>
          </a:xfrm>
        </p:grpSpPr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신청금액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22" name="그룹 121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23" name="직선 연결선 122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4" name="직선 연결선 123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5" name="그룹 124"/>
          <p:cNvGrpSpPr/>
          <p:nvPr/>
        </p:nvGrpSpPr>
        <p:grpSpPr>
          <a:xfrm>
            <a:off x="710263" y="2110577"/>
            <a:ext cx="2630093" cy="658520"/>
            <a:chOff x="3865118" y="2946204"/>
            <a:chExt cx="2630093" cy="658520"/>
          </a:xfrm>
        </p:grpSpPr>
        <p:sp>
          <p:nvSpPr>
            <p:cNvPr id="126" name="직사각형 125"/>
            <p:cNvSpPr/>
            <p:nvPr/>
          </p:nvSpPr>
          <p:spPr>
            <a:xfrm>
              <a:off x="3867211" y="2946204"/>
              <a:ext cx="792000" cy="6585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27" name="직선 연결선 12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64633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일금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일금 </a:t>
              </a:r>
              <a:r>
                <a:rPr lang="en-US" altLang="ko-KR" sz="700" dirty="0" smtClean="0">
                  <a:latin typeface="+mn-ea"/>
                </a:rPr>
                <a:t>(</a:t>
              </a:r>
              <a:r>
                <a:rPr lang="ko-KR" altLang="en-US" sz="700" dirty="0" smtClean="0">
                  <a:latin typeface="+mn-ea"/>
                </a:rPr>
                <a:t>한글</a:t>
              </a:r>
              <a:r>
                <a:rPr lang="en-US" altLang="ko-KR" sz="700" dirty="0" smtClean="0">
                  <a:latin typeface="+mn-ea"/>
                </a:rPr>
                <a:t>)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지출원인금액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64633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10,000,000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\ </a:t>
              </a:r>
              <a:r>
                <a:rPr lang="ko-KR" altLang="en-US" sz="700" dirty="0" smtClean="0">
                  <a:latin typeface="+mn-ea"/>
                </a:rPr>
                <a:t>일천만</a:t>
              </a:r>
              <a:r>
                <a:rPr lang="en-US" altLang="ko-KR" sz="700" dirty="0" smtClean="0">
                  <a:latin typeface="+mn-ea"/>
                </a:rPr>
                <a:t> </a:t>
              </a:r>
              <a:r>
                <a:rPr lang="ko-KR" altLang="en-US" sz="700" dirty="0" smtClean="0">
                  <a:latin typeface="+mn-ea"/>
                </a:rPr>
                <a:t>원정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10,000,000 </a:t>
              </a:r>
              <a:r>
                <a:rPr lang="ko-KR" altLang="en-US" sz="700" dirty="0" smtClean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32" name="직선 연결선 13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3" name="직선 연결선 13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4" name="직선 연결선 13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427004774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신청내역</a:t>
            </a:r>
            <a:r>
              <a:rPr lang="ko-KR" altLang="en-US" dirty="0"/>
              <a:t>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74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신청금액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– </a:t>
            </a:r>
            <a:r>
              <a:rPr lang="ko-KR" altLang="en-US" dirty="0">
                <a:latin typeface="+mn-ea"/>
              </a:rPr>
              <a:t>사후정산청구 상세 </a:t>
            </a:r>
            <a:r>
              <a:rPr lang="ko-KR" altLang="en-US" dirty="0"/>
              <a:t>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사후정산청구상세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MUI-WM-01-T21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3836701" y="1831489"/>
            <a:ext cx="2630093" cy="1548736"/>
            <a:chOff x="3795734" y="3441403"/>
            <a:chExt cx="2630093" cy="1548736"/>
          </a:xfrm>
        </p:grpSpPr>
        <p:grpSp>
          <p:nvGrpSpPr>
            <p:cNvPr id="67" name="그룹 66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68" name="직사각형 67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69" name="직선 연결선 6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72" name="직선 연결선 7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3" name="직선 연결선 7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4" name="직선 연결선 7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5" name="직선 연결선 7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6" name="직선 연결선 7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7" name="직선 연결선 7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기타</a:t>
              </a:r>
            </a:p>
          </p:txBody>
        </p:sp>
      </p:grpSp>
      <p:grpSp>
        <p:nvGrpSpPr>
          <p:cNvPr id="79" name="그룹 78"/>
          <p:cNvGrpSpPr/>
          <p:nvPr/>
        </p:nvGrpSpPr>
        <p:grpSpPr>
          <a:xfrm>
            <a:off x="3836701" y="3457707"/>
            <a:ext cx="2630093" cy="1548736"/>
            <a:chOff x="3795734" y="3441403"/>
            <a:chExt cx="2630093" cy="1548736"/>
          </a:xfrm>
        </p:grpSpPr>
        <p:grpSp>
          <p:nvGrpSpPr>
            <p:cNvPr id="80" name="그룹 79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82" name="직사각형 81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83" name="직선 연결선 8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86" name="직선 연결선 8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7" name="직선 연결선 8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8" name="직선 연결선 8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9" name="직선 연결선 8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0" name="직선 연결선 8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1" name="직선 연결선 9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합계</a:t>
              </a:r>
            </a:p>
          </p:txBody>
        </p:sp>
      </p:grpSp>
      <p:grpSp>
        <p:nvGrpSpPr>
          <p:cNvPr id="105" name="그룹 104"/>
          <p:cNvGrpSpPr/>
          <p:nvPr/>
        </p:nvGrpSpPr>
        <p:grpSpPr>
          <a:xfrm>
            <a:off x="716366" y="1831489"/>
            <a:ext cx="2630093" cy="1548736"/>
            <a:chOff x="3795734" y="3441403"/>
            <a:chExt cx="2630093" cy="1548736"/>
          </a:xfrm>
        </p:grpSpPr>
        <p:grpSp>
          <p:nvGrpSpPr>
            <p:cNvPr id="106" name="그룹 105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108" name="직사각형 107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09" name="직선 연결선 10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112" name="직선 연결선 11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4" name="직선 연결선 11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5" name="직선 연결선 11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6" name="직선 연결선 11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7" name="직선 연결선 11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8" name="직선 연결선 11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경비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직접 경비</a:t>
              </a:r>
            </a:p>
          </p:txBody>
        </p:sp>
      </p:grpSp>
      <p:grpSp>
        <p:nvGrpSpPr>
          <p:cNvPr id="119" name="그룹 118"/>
          <p:cNvGrpSpPr/>
          <p:nvPr/>
        </p:nvGrpSpPr>
        <p:grpSpPr>
          <a:xfrm>
            <a:off x="716366" y="3457707"/>
            <a:ext cx="2630093" cy="1548736"/>
            <a:chOff x="3795734" y="3441403"/>
            <a:chExt cx="2630093" cy="1548736"/>
          </a:xfrm>
        </p:grpSpPr>
        <p:grpSp>
          <p:nvGrpSpPr>
            <p:cNvPr id="120" name="그룹 119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122" name="직사각형 121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23" name="직선 연결선 12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126" name="직선 연결선 12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27" name="직선 연결선 12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28" name="직선 연결선 12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30" name="직선 연결선 12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32" name="직선 연결선 13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33" name="직선 연결선 13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경비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간접 경비</a:t>
              </a:r>
            </a:p>
          </p:txBody>
        </p:sp>
      </p:grpSp>
      <p:grpSp>
        <p:nvGrpSpPr>
          <p:cNvPr id="134" name="그룹 133"/>
          <p:cNvGrpSpPr/>
          <p:nvPr/>
        </p:nvGrpSpPr>
        <p:grpSpPr>
          <a:xfrm>
            <a:off x="716366" y="5088462"/>
            <a:ext cx="2630093" cy="1548736"/>
            <a:chOff x="3795734" y="3441403"/>
            <a:chExt cx="2630093" cy="1548736"/>
          </a:xfrm>
        </p:grpSpPr>
        <p:grpSp>
          <p:nvGrpSpPr>
            <p:cNvPr id="135" name="그룹 134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137" name="직사각형 136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40" name="직선 연결선 13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145" name="직선 연결선 14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46" name="직선 연결선 14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47" name="직선 연결선 14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48" name="직선 연결선 14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49" name="직선 연결선 14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50" name="직선 연결선 14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일반 관리비</a:t>
              </a:r>
            </a:p>
          </p:txBody>
        </p: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50123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85565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1639043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계약정보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1303798" y="1855650"/>
            <a:ext cx="63854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366970" y="1639043"/>
            <a:ext cx="57536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err="1" smtClean="0">
                <a:latin typeface="+mn-ea"/>
              </a:rPr>
              <a:t>신청내역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185357" y="1639043"/>
            <a:ext cx="4544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세금계산서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882824" y="1639043"/>
            <a:ext cx="4544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smtClean="0">
                <a:latin typeface="+mn-ea"/>
              </a:rPr>
              <a:t>진행상태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6701" y="150123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6701" y="185565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80380" y="1639043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계약정보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4420009" y="1855650"/>
            <a:ext cx="63854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483181" y="1639043"/>
            <a:ext cx="57536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err="1">
                <a:latin typeface="+mn-ea"/>
              </a:rPr>
              <a:t>신청내역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301568" y="1639043"/>
            <a:ext cx="4544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세금계산서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999035" y="1639043"/>
            <a:ext cx="4544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smtClean="0">
                <a:latin typeface="+mn-ea"/>
              </a:rPr>
              <a:t>진행상태</a:t>
            </a:r>
            <a:endParaRPr lang="ko-KR" altLang="en-US" sz="7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0611180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Arial" panose="020B0604020202020204" pitchFamily="34" charset="0"/>
              <a:buAutoNum type="arabicPeriod"/>
            </a:pPr>
            <a:r>
              <a:rPr lang="en-US" altLang="ko-KR" dirty="0" smtClean="0">
                <a:latin typeface="+mn-ea"/>
              </a:rPr>
              <a:t>PC</a:t>
            </a:r>
            <a:r>
              <a:rPr lang="ko-KR" altLang="en-US" dirty="0" smtClean="0">
                <a:latin typeface="+mn-ea"/>
              </a:rPr>
              <a:t>에서 사후정산청구서 작성시</a:t>
            </a:r>
            <a:r>
              <a:rPr lang="en-US" altLang="ko-KR" dirty="0" smtClean="0">
                <a:latin typeface="+mn-ea"/>
              </a:rPr>
              <a:t>(UI-WM-01-M47), </a:t>
            </a:r>
            <a:r>
              <a:rPr lang="ko-KR" altLang="en-US" dirty="0" smtClean="0">
                <a:latin typeface="+mn-ea"/>
              </a:rPr>
              <a:t>세금계산서</a:t>
            </a:r>
            <a:r>
              <a:rPr lang="en-US" altLang="ko-KR" dirty="0">
                <a:latin typeface="+mn-ea"/>
              </a:rPr>
              <a:t> </a:t>
            </a:r>
            <a:r>
              <a:rPr lang="en-US" altLang="ko-KR" dirty="0" smtClean="0">
                <a:latin typeface="+mn-ea"/>
              </a:rPr>
              <a:t>“</a:t>
            </a:r>
            <a:r>
              <a:rPr lang="ko-KR" altLang="en-US" dirty="0" smtClean="0">
                <a:latin typeface="+mn-ea"/>
              </a:rPr>
              <a:t>선택</a:t>
            </a:r>
            <a:r>
              <a:rPr lang="en-US" altLang="ko-KR" dirty="0" smtClean="0">
                <a:latin typeface="+mn-ea"/>
              </a:rPr>
              <a:t>” </a:t>
            </a:r>
            <a:r>
              <a:rPr lang="ko-KR" altLang="en-US" dirty="0" smtClean="0">
                <a:latin typeface="+mn-ea"/>
              </a:rPr>
              <a:t>을 선택한 경우 노출 되는 항목</a:t>
            </a:r>
            <a:endParaRPr lang="en-US" altLang="ko-KR" dirty="0" smtClean="0">
              <a:latin typeface="+mn-ea"/>
            </a:endParaRPr>
          </a:p>
          <a:p>
            <a:pPr marL="228600" indent="-228600">
              <a:buAutoNum type="arabicPeriod"/>
            </a:pPr>
            <a:endParaRPr lang="en-US" altLang="ko-KR" dirty="0">
              <a:latin typeface="+mn-ea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75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Autofit/>
          </a:bodyPr>
          <a:lstStyle/>
          <a:p>
            <a:r>
              <a:rPr lang="ko-KR" altLang="en-US" dirty="0">
                <a:latin typeface="+mn-ea"/>
              </a:rPr>
              <a:t>세금계산서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– </a:t>
            </a:r>
            <a:r>
              <a:rPr lang="ko-KR" altLang="en-US" dirty="0">
                <a:latin typeface="+mn-ea"/>
              </a:rPr>
              <a:t>사후정산청구 상세 </a:t>
            </a:r>
            <a:r>
              <a:rPr lang="ko-KR" altLang="en-US" dirty="0"/>
              <a:t>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사후정산청구상세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MUI-WM-01-T22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4" y="1891115"/>
            <a:ext cx="2456097" cy="181140"/>
            <a:chOff x="763157" y="1527996"/>
            <a:chExt cx="2456097" cy="18114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세금계산서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2183267"/>
            <a:ext cx="2630093" cy="235931"/>
            <a:chOff x="3865118" y="2946203"/>
            <a:chExt cx="2630093" cy="235931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3"/>
              <a:ext cx="792000" cy="23593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4" y="2946204"/>
              <a:ext cx="715881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세금계산서번호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7303" y="2946204"/>
              <a:ext cx="1769659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1234-5678-9012</a:t>
              </a:r>
              <a:endParaRPr lang="ko-KR" altLang="en-US" sz="700" dirty="0">
                <a:latin typeface="+mn-ea"/>
              </a:endParaRPr>
            </a:p>
          </p:txBody>
        </p: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6160" y="1944795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6069681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9" name="그룹 48"/>
          <p:cNvGrpSpPr/>
          <p:nvPr/>
        </p:nvGrpSpPr>
        <p:grpSpPr>
          <a:xfrm>
            <a:off x="716366" y="2727004"/>
            <a:ext cx="2630093" cy="1292663"/>
            <a:chOff x="3865118" y="2946203"/>
            <a:chExt cx="2630093" cy="1292663"/>
          </a:xfrm>
        </p:grpSpPr>
        <p:sp>
          <p:nvSpPr>
            <p:cNvPr id="50" name="직사각형 49"/>
            <p:cNvSpPr/>
            <p:nvPr/>
          </p:nvSpPr>
          <p:spPr>
            <a:xfrm>
              <a:off x="3867211" y="2946203"/>
              <a:ext cx="792000" cy="12926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4" y="2946204"/>
              <a:ext cx="715881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월일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품목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02-03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55" name="직선 연결선 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6" name="직선 연결선 5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3364" y="2453657"/>
            <a:ext cx="84376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품목 정보</a:t>
            </a:r>
          </a:p>
        </p:txBody>
      </p:sp>
      <p:grpSp>
        <p:nvGrpSpPr>
          <p:cNvPr id="71" name="그룹 70"/>
          <p:cNvGrpSpPr/>
          <p:nvPr/>
        </p:nvGrpSpPr>
        <p:grpSpPr>
          <a:xfrm>
            <a:off x="716366" y="4127377"/>
            <a:ext cx="2630093" cy="1292663"/>
            <a:chOff x="3865118" y="2946203"/>
            <a:chExt cx="2630093" cy="1292663"/>
          </a:xfrm>
        </p:grpSpPr>
        <p:sp>
          <p:nvSpPr>
            <p:cNvPr id="72" name="직사각형 71"/>
            <p:cNvSpPr/>
            <p:nvPr/>
          </p:nvSpPr>
          <p:spPr>
            <a:xfrm>
              <a:off x="3867211" y="2946203"/>
              <a:ext cx="792000" cy="12926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3" name="직선 연결선 7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4" y="2946204"/>
              <a:ext cx="715881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월일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품목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02-03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7" name="직선 연결선 7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9" name="직선 연결선 7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0" name="직선 연결선 7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617020"/>
            <a:ext cx="76863" cy="292489"/>
            <a:chOff x="3750067" y="4683795"/>
            <a:chExt cx="76863" cy="292489"/>
          </a:xfrm>
        </p:grpSpPr>
        <p:sp>
          <p:nvSpPr>
            <p:cNvPr id="83" name="타원 82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85" name="타원 84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sp>
        <p:nvSpPr>
          <p:cNvPr id="63" name="직사각형 62"/>
          <p:cNvSpPr/>
          <p:nvPr/>
        </p:nvSpPr>
        <p:spPr>
          <a:xfrm>
            <a:off x="7103286" y="6036456"/>
            <a:ext cx="2275404" cy="1958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500" smtClean="0"/>
              <a:t>화면수정</a:t>
            </a:r>
            <a:endParaRPr lang="ko-KR" altLang="en-US" sz="500" dirty="0"/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50123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85565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1639043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계약정보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2150521" y="1855650"/>
            <a:ext cx="489284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366970" y="1639043"/>
            <a:ext cx="57536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대금신청</a:t>
            </a:r>
            <a:r>
              <a:rPr lang="ko-KR" altLang="en-US" sz="700" dirty="0">
                <a:latin typeface="+mn-ea"/>
              </a:rPr>
              <a:t> 금액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185357" y="1639043"/>
            <a:ext cx="4544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세금계산서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882824" y="1639043"/>
            <a:ext cx="4544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smtClean="0">
                <a:latin typeface="+mn-ea"/>
              </a:rPr>
              <a:t>진행상태</a:t>
            </a:r>
            <a:endParaRPr lang="ko-KR" altLang="en-US" sz="7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8219525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76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(1/2)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3810906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사후정산청구서 차수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dmt_epfcClclnClmDocCyclInfo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271CA1-8B7B-01B8-8587-605BE3417C65}"/>
              </a:ext>
            </a:extLst>
          </p:cNvPr>
          <p:cNvSpPr txBox="1"/>
          <p:nvPr/>
        </p:nvSpPr>
        <p:spPr>
          <a:xfrm>
            <a:off x="458117" y="1817648"/>
            <a:ext cx="239705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계약내용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dmt_ctrtCnInfo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6663884"/>
              </p:ext>
            </p:extLst>
          </p:nvPr>
        </p:nvGraphicFramePr>
        <p:xfrm>
          <a:off x="452999" y="1014316"/>
          <a:ext cx="8994883" cy="775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차수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ctrtCycl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</a:t>
                      </a:r>
                      <a:r>
                        <a:rPr lang="en-US" altLang="ko-KR" sz="800" dirty="0">
                          <a:latin typeface="+mn-ea"/>
                        </a:rPr>
                        <a:t>-</a:t>
                      </a:r>
                      <a:r>
                        <a:rPr lang="ko-KR" altLang="en-US" sz="800" dirty="0" err="1">
                          <a:latin typeface="+mn-ea"/>
                        </a:rPr>
                        <a:t>신청차수</a:t>
                      </a:r>
                      <a:r>
                        <a:rPr lang="ko-KR" altLang="en-US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 smtClean="0">
                          <a:latin typeface="+mn-ea"/>
                        </a:rPr>
                        <a:t>조회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수신자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rcptnOgnzCd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수신자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:RIC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aplyYmd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 smtClean="0">
                          <a:latin typeface="+mn-ea"/>
                        </a:rPr>
                        <a:t>신청일자</a:t>
                      </a:r>
                      <a:r>
                        <a:rPr lang="ko-KR" altLang="en-US" sz="800" dirty="0" smtClean="0">
                          <a:latin typeface="+mn-ea"/>
                        </a:rPr>
                        <a:t> 조회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FC692424-6A27-FF04-83B1-DBDD428A585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2049148"/>
          <a:ext cx="8994883" cy="1357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40355524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계약일자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02719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60920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계약금액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83692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dudtPrdCn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납기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50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-mm-dd(From-To)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rmrkCn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4000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DCD4A05-B1B2-6704-0345-7056CB08D3D5}"/>
              </a:ext>
            </a:extLst>
          </p:cNvPr>
          <p:cNvSpPr txBox="1"/>
          <p:nvPr/>
        </p:nvSpPr>
        <p:spPr>
          <a:xfrm>
            <a:off x="458117" y="3466653"/>
            <a:ext cx="2525298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신청금액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dmt_aplyAmtInfo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F33B436-336A-B501-0BE2-1B19942B1F99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3698153"/>
          <a:ext cx="8994883" cy="581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40355524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aplyAmt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신청금액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지출원인금액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expndCsAmt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지출원인금액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027192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F6F026C-B651-7520-0A7A-01E73FC938FC}"/>
              </a:ext>
            </a:extLst>
          </p:cNvPr>
          <p:cNvSpPr txBox="1"/>
          <p:nvPr/>
        </p:nvSpPr>
        <p:spPr>
          <a:xfrm>
            <a:off x="458117" y="4326026"/>
            <a:ext cx="260384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1.4. </a:t>
            </a:r>
            <a:r>
              <a:rPr lang="ko-KR" altLang="en-US" sz="900" b="1" dirty="0">
                <a:solidFill>
                  <a:prstClr val="black"/>
                </a:solidFill>
              </a:rPr>
              <a:t>신청내역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dmt_aplyDsctnInfo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7EE4C8C-1596-E135-E8B4-EB82C0699BF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4557526"/>
          <a:ext cx="8994883" cy="1479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40355524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aplySeCd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재료비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노무비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경비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일반관리비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기타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합계 구분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N/A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금액구분명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컬럼별로 분리되어 있음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대상금액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trgtAmt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재료비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노무비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경비 일반관리비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기타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합계의 대상금액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98951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0" dirty="0">
                          <a:latin typeface="+mn-ea"/>
                          <a:ea typeface="+mn-ea"/>
                        </a:rPr>
                        <a:t>신청금액 </a:t>
                      </a:r>
                      <a:r>
                        <a:rPr lang="ko-KR" altLang="en-US" sz="800" spc="0" dirty="0" err="1">
                          <a:latin typeface="+mn-ea"/>
                          <a:ea typeface="+mn-ea"/>
                        </a:rPr>
                        <a:t>기사용</a:t>
                      </a:r>
                      <a:endParaRPr lang="ko-KR" altLang="en-US" sz="800" spc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arusAplyAmt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재료비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노무비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경비 일반관리비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기타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합계의 </a:t>
                      </a:r>
                      <a:r>
                        <a:rPr lang="ko-KR" altLang="en-US" sz="800" dirty="0" err="1">
                          <a:latin typeface="+mn-ea"/>
                        </a:rPr>
                        <a:t>기사용</a:t>
                      </a:r>
                      <a:r>
                        <a:rPr lang="ko-KR" altLang="en-US" sz="800" dirty="0">
                          <a:latin typeface="+mn-ea"/>
                        </a:rPr>
                        <a:t> 금액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35504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신청금액 사용예정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usePrnmntAplyAmt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재료비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노무비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경비 일반관리비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기타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합계의 사용예정 금액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8657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0" dirty="0">
                          <a:latin typeface="+mn-ea"/>
                          <a:ea typeface="+mn-ea"/>
                        </a:rPr>
                        <a:t>신청금액 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aplySumAmt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재료비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노무비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경비 일반관리비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기타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합계의 </a:t>
                      </a:r>
                      <a:r>
                        <a:rPr lang="ko-KR" altLang="en-US" sz="800" dirty="0" err="1">
                          <a:latin typeface="+mn-ea"/>
                        </a:rPr>
                        <a:t>기사용</a:t>
                      </a:r>
                      <a:r>
                        <a:rPr lang="ko-KR" altLang="en-US" sz="800" dirty="0">
                          <a:latin typeface="+mn-ea"/>
                        </a:rPr>
                        <a:t> 신청금액과 사용예정 신청금액의 합계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02719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0" dirty="0">
                          <a:latin typeface="+mn-ea"/>
                          <a:ea typeface="+mn-ea"/>
                        </a:rPr>
                        <a:t>신청금액의 비율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aplyAmtRt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재료비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노무비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경비 일반관리비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기타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합계의 신청금액의 비율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N/A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신청금액계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대상금액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*100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3449522"/>
                  </a:ext>
                </a:extLst>
              </a:tr>
            </a:tbl>
          </a:graphicData>
        </a:graphic>
      </p:graphicFrame>
      <p:sp>
        <p:nvSpPr>
          <p:cNvPr id="10" name="Text Box 73">
            <a:extLst>
              <a:ext uri="{FF2B5EF4-FFF2-40B4-BE49-F238E27FC236}">
                <a16:creationId xmlns:a16="http://schemas.microsoft.com/office/drawing/2014/main" id="{5FFE7C35-2362-9481-0F6A-DA2217795C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7389105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77</a:t>
            </a:fld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2414691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1.5. </a:t>
            </a:r>
            <a:r>
              <a:rPr lang="ko-KR" altLang="en-US" sz="900" b="1" dirty="0">
                <a:solidFill>
                  <a:prstClr val="black"/>
                </a:solidFill>
              </a:rPr>
              <a:t>공급자 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dmt_splrInfo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1014316"/>
          <a:ext cx="8994883" cy="775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차수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ctrtCycl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</a:t>
                      </a:r>
                      <a:r>
                        <a:rPr lang="en-US" altLang="ko-KR" sz="800" dirty="0">
                          <a:latin typeface="+mn-ea"/>
                        </a:rPr>
                        <a:t>-</a:t>
                      </a:r>
                      <a:r>
                        <a:rPr lang="ko-KR" altLang="en-US" sz="800" dirty="0" err="1">
                          <a:latin typeface="+mn-ea"/>
                        </a:rPr>
                        <a:t>신청차수</a:t>
                      </a:r>
                      <a:r>
                        <a:rPr lang="ko-KR" altLang="en-US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 smtClean="0">
                          <a:latin typeface="+mn-ea"/>
                        </a:rPr>
                        <a:t>조회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수신자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rcptnOgnzCd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수신자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:RIC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aplyYmd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신청일자</a:t>
                      </a:r>
                      <a:r>
                        <a:rPr lang="ko-KR" altLang="en-US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 smtClean="0">
                          <a:latin typeface="+mn-ea"/>
                        </a:rPr>
                        <a:t>조회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DEF13B1B-9846-067B-08DD-AB98FCEB3C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3C33E4-E4DC-F17B-082F-B9C39DF76C95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(2/2)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FB8C94-46FF-7D29-7A9C-D4F6C039167C}"/>
              </a:ext>
            </a:extLst>
          </p:cNvPr>
          <p:cNvSpPr txBox="1"/>
          <p:nvPr/>
        </p:nvSpPr>
        <p:spPr>
          <a:xfrm>
            <a:off x="458117" y="1856477"/>
            <a:ext cx="227843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1.6. </a:t>
            </a:r>
            <a:r>
              <a:rPr lang="ko-KR" altLang="en-US" sz="900" b="1" dirty="0">
                <a:solidFill>
                  <a:prstClr val="black"/>
                </a:solidFill>
              </a:rPr>
              <a:t>세금계산서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dlt_txivList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3C21507C-ACEB-32D5-61C3-00031118E488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2067680"/>
          <a:ext cx="8994883" cy="1551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세금계산서번호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txivChcYn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세금계산서번호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 :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N :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선택안함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월일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bllPblcnYmd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월일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yyyy-mm-dd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0339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itemNm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4180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dlvgdsQty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62779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ctrtUntprc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단가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5329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splyEqvl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1535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txamt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48248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707323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78</a:t>
            </a:fld>
            <a:endParaRPr lang="ko-KR" altLang="en-US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F0E94EC-9BAC-208C-9C16-356647B1F8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1051238"/>
              </p:ext>
            </p:extLst>
          </p:nvPr>
        </p:nvGraphicFramePr>
        <p:xfrm>
          <a:off x="453000" y="1049851"/>
          <a:ext cx="8995591" cy="509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3103963203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 smtClean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 smtClean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 smtClean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공통코드정보를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차수정보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계약정보 를 조회한다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CE4A288-7AB3-FB2A-21DF-A951B1303538}"/>
              </a:ext>
            </a:extLst>
          </p:cNvPr>
          <p:cNvSpPr txBox="1"/>
          <p:nvPr/>
        </p:nvSpPr>
        <p:spPr>
          <a:xfrm>
            <a:off x="458117" y="760911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sp>
        <p:nvSpPr>
          <p:cNvPr id="6" name="Text Box 73">
            <a:extLst>
              <a:ext uri="{FF2B5EF4-FFF2-40B4-BE49-F238E27FC236}">
                <a16:creationId xmlns:a16="http://schemas.microsoft.com/office/drawing/2014/main" id="{BC2CA564-7302-5E8B-9DF2-1E1715C112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9866" y="82802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3188599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대금청구</a:t>
            </a:r>
            <a:r>
              <a:rPr lang="ko-KR" altLang="en-US" dirty="0" smtClean="0"/>
              <a:t> </a:t>
            </a:r>
            <a:r>
              <a:rPr lang="ko-KR" altLang="en-US" dirty="0" smtClean="0"/>
              <a:t>각 화면에서 보여지는 </a:t>
            </a:r>
            <a:r>
              <a:rPr lang="ko-KR" altLang="en-US" dirty="0" err="1" smtClean="0"/>
              <a:t>지급상태</a:t>
            </a:r>
            <a:r>
              <a:rPr lang="ko-KR" altLang="en-US" dirty="0" smtClean="0"/>
              <a:t> 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79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smtClean="0">
                <a:latin typeface="+mn-ea"/>
              </a:rPr>
              <a:t>진행</a:t>
            </a:r>
            <a:r>
              <a:rPr lang="ko-KR" altLang="en-US" dirty="0" smtClean="0">
                <a:latin typeface="+mn-ea"/>
              </a:rPr>
              <a:t>상태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 smtClean="0">
                <a:latin typeface="+mn-ea"/>
              </a:rPr>
              <a:t>대금사후</a:t>
            </a:r>
            <a:r>
              <a:rPr lang="ko-KR" altLang="en-US" dirty="0" smtClean="0">
                <a:latin typeface="+mn-ea"/>
              </a:rPr>
              <a:t> 상세 </a:t>
            </a:r>
            <a:r>
              <a:rPr lang="ko-KR" altLang="en-US" dirty="0" smtClean="0">
                <a:latin typeface="+mn-ea"/>
              </a:rPr>
              <a:t>중 </a:t>
            </a:r>
            <a:r>
              <a:rPr lang="ko-KR" altLang="en-US" dirty="0" smtClean="0">
                <a:latin typeface="+mn-ea"/>
              </a:rPr>
              <a:t>진행상태 </a:t>
            </a:r>
            <a:r>
              <a:rPr lang="ko-KR" altLang="en-US" dirty="0" smtClean="0"/>
              <a:t>탭 화면 </a:t>
            </a:r>
            <a:endParaRPr lang="ko-KR" altLang="en-US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75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 smtClean="0">
                <a:latin typeface="+mn-ea"/>
              </a:rPr>
              <a:t>대금사후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MUI-WM-01-T24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105" name="그룹 104"/>
          <p:cNvGrpSpPr/>
          <p:nvPr/>
        </p:nvGrpSpPr>
        <p:grpSpPr>
          <a:xfrm>
            <a:off x="716366" y="1527996"/>
            <a:ext cx="2630093" cy="1118054"/>
            <a:chOff x="3795734" y="3441403"/>
            <a:chExt cx="2630093" cy="1118054"/>
          </a:xfrm>
        </p:grpSpPr>
        <p:grpSp>
          <p:nvGrpSpPr>
            <p:cNvPr id="106" name="그룹 105"/>
            <p:cNvGrpSpPr/>
            <p:nvPr/>
          </p:nvGrpSpPr>
          <p:grpSpPr>
            <a:xfrm>
              <a:off x="3795734" y="3697477"/>
              <a:ext cx="2630093" cy="861980"/>
              <a:chOff x="3865118" y="2946204"/>
              <a:chExt cx="2630093" cy="861980"/>
            </a:xfrm>
          </p:grpSpPr>
          <p:sp>
            <p:nvSpPr>
              <p:cNvPr id="108" name="직사각형 107"/>
              <p:cNvSpPr/>
              <p:nvPr/>
            </p:nvSpPr>
            <p:spPr>
              <a:xfrm>
                <a:off x="3867211" y="2946205"/>
                <a:ext cx="792000" cy="86177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09" name="직선 연결선 10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86177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smtClean="0">
                    <a:latin typeface="+mn-ea"/>
                  </a:rPr>
                  <a:t>진행상태</a:t>
                </a:r>
                <a:endParaRPr lang="en-US" altLang="ko-KR" sz="700" dirty="0" smtClean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 smtClean="0">
                    <a:latin typeface="+mn-ea"/>
                  </a:rPr>
                  <a:t>처리일시</a:t>
                </a:r>
                <a:endParaRPr lang="en-US" altLang="ko-KR" sz="700" dirty="0" smtClean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 smtClean="0">
                    <a:latin typeface="+mn-ea"/>
                  </a:rPr>
                  <a:t>처리부대</a:t>
                </a:r>
                <a:r>
                  <a:rPr lang="en-US" altLang="ko-KR" sz="700" dirty="0" smtClean="0">
                    <a:latin typeface="+mn-ea"/>
                  </a:rPr>
                  <a:t>/</a:t>
                </a:r>
                <a:r>
                  <a:rPr lang="ko-KR" altLang="en-US" sz="700" dirty="0" smtClean="0">
                    <a:latin typeface="+mn-ea"/>
                  </a:rPr>
                  <a:t>업체</a:t>
                </a:r>
                <a:endParaRPr lang="en-US" altLang="ko-KR" sz="700" dirty="0" smtClean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 smtClean="0">
                    <a:latin typeface="+mn-ea"/>
                  </a:rPr>
                  <a:t>처리담당자</a:t>
                </a:r>
                <a:endParaRPr lang="en-US" altLang="ko-KR" sz="700" dirty="0" smtClean="0">
                  <a:latin typeface="+mn-ea"/>
                </a:endParaRPr>
              </a:p>
            </p:txBody>
          </p:sp>
          <p:cxnSp>
            <p:nvCxnSpPr>
              <p:cNvPr id="112" name="직선 연결선 11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4" name="직선 연결선 11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5" name="직선 연결선 11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6" name="직선 연결선 11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89335" y="2946204"/>
                <a:ext cx="1644143" cy="86177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altLang="ko-KR" sz="700" dirty="0" smtClean="0">
                    <a:latin typeface="+mn-ea"/>
                  </a:rPr>
                  <a:t>-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 smtClean="0">
                    <a:latin typeface="+mn-ea"/>
                  </a:rPr>
                  <a:t>-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 smtClean="0">
                    <a:latin typeface="+mn-ea"/>
                  </a:rPr>
                  <a:t>-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</a:t>
                </a:r>
                <a:endParaRPr lang="en-US" altLang="ko-KR" sz="700" dirty="0" smtClean="0">
                  <a:latin typeface="+mn-ea"/>
                </a:endParaRPr>
              </a:p>
            </p:txBody>
          </p:sp>
        </p:grp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진행상태</a:t>
              </a:r>
              <a:endParaRPr lang="ko-KR" altLang="en-US" sz="700" dirty="0">
                <a:latin typeface="+mn-ea"/>
              </a:endParaRPr>
            </a:p>
          </p:txBody>
        </p: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24" name="직사각형 23"/>
          <p:cNvSpPr/>
          <p:nvPr/>
        </p:nvSpPr>
        <p:spPr>
          <a:xfrm>
            <a:off x="7100725" y="6130834"/>
            <a:ext cx="2302845" cy="14837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500" smtClean="0"/>
              <a:t>화면수정</a:t>
            </a:r>
            <a:endParaRPr lang="ko-KR" altLang="en-US" sz="500" dirty="0"/>
          </a:p>
        </p:txBody>
      </p:sp>
      <p:grpSp>
        <p:nvGrpSpPr>
          <p:cNvPr id="26" name="그룹 25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27" name="직사각형 26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2026-08-05 </a:t>
              </a:r>
              <a:r>
                <a:rPr lang="ko-KR" altLang="en-US" dirty="0"/>
                <a:t>화면 </a:t>
              </a:r>
              <a:r>
                <a:rPr lang="ko-KR" altLang="en-US" dirty="0" smtClean="0"/>
                <a:t>추가</a:t>
              </a:r>
              <a:endParaRPr lang="ko-KR" altLang="en-US" dirty="0"/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err="1" smtClean="0"/>
                <a:t>대금청구</a:t>
              </a:r>
              <a:r>
                <a:rPr lang="ko-KR" altLang="en-US" sz="700" dirty="0" smtClean="0"/>
                <a:t> 진행상태 탭 화면 추가</a:t>
              </a:r>
              <a:endParaRPr lang="ko-KR" altLang="en-US" sz="700" dirty="0"/>
            </a:p>
          </p:txBody>
        </p:sp>
      </p:grpSp>
    </p:spTree>
    <p:extLst>
      <p:ext uri="{BB962C8B-B14F-4D97-AF65-F5344CB8AC3E}">
        <p14:creationId xmlns:p14="http://schemas.microsoft.com/office/powerpoint/2010/main" val="53164405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80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75A36F-8CF4-EB9C-5A08-D4ED701E4D3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03113"/>
            <a:ext cx="4264556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시설용역 대금청구 진행상태별 정보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</a:t>
            </a:r>
            <a:r>
              <a:rPr lang="en-US" altLang="ko-KR" sz="900" b="1" dirty="0">
                <a:solidFill>
                  <a:prstClr val="black"/>
                </a:solidFill>
              </a:rPr>
              <a:t>_ </a:t>
            </a:r>
            <a:r>
              <a:rPr lang="en-US" altLang="ko-KR" sz="900" b="1" dirty="0" err="1">
                <a:solidFill>
                  <a:prstClr val="black"/>
                </a:solidFill>
              </a:rPr>
              <a:t>pymtClmPrgrsSttList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969C2BD-BAE7-E4E1-6BA5-91005212D745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1049346"/>
          <a:ext cx="8994883" cy="1285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3168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071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4089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12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02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04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964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dlvdocPrgrsSt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처리상태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:UA34(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부대조달대금청구진행상태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),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UB58(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부대조달시설용역대금청구진행상태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833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진행상태 처리일시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prcsDt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처리일시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 </a:t>
                      </a: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hh:mm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96775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진행상태 처리부대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prcsUnitBzentyNm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처리부대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65576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진행상태 처리담당자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prcsPicNm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처리담당자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874229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406C419-581B-B071-DD01-2B3425C31AA5}"/>
              </a:ext>
            </a:extLst>
          </p:cNvPr>
          <p:cNvSpPr txBox="1"/>
          <p:nvPr/>
        </p:nvSpPr>
        <p:spPr>
          <a:xfrm>
            <a:off x="458117" y="2952088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2. </a:t>
            </a:r>
            <a:r>
              <a:rPr lang="ko-KR" altLang="en-US" sz="1000" b="1" dirty="0">
                <a:solidFill>
                  <a:prstClr val="black"/>
                </a:solidFill>
              </a:rPr>
              <a:t>이벤트 설명</a:t>
            </a:r>
          </a:p>
        </p:txBody>
      </p:sp>
      <p:sp>
        <p:nvSpPr>
          <p:cNvPr id="7" name="Text Box 73">
            <a:extLst>
              <a:ext uri="{FF2B5EF4-FFF2-40B4-BE49-F238E27FC236}">
                <a16:creationId xmlns:a16="http://schemas.microsoft.com/office/drawing/2014/main" id="{71646BA9-ABFF-1794-8AE4-F502103D44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B59D83A4-5828-98C4-8ECD-BF7B6AF8ED1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3000" y="3265765"/>
          <a:ext cx="8995591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697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9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대금청구 진행상태별 정보를 조회한다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1" name="그룹 10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12" name="직사각형 11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2026-08-05 </a:t>
              </a:r>
              <a:r>
                <a:rPr lang="ko-KR" altLang="en-US" dirty="0"/>
                <a:t>화면 </a:t>
              </a:r>
              <a:r>
                <a:rPr lang="ko-KR" altLang="en-US" dirty="0" smtClean="0"/>
                <a:t>추가</a:t>
              </a:r>
              <a:endParaRPr lang="ko-KR" altLang="en-US" dirty="0"/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err="1" smtClean="0"/>
                <a:t>대금청구</a:t>
              </a:r>
              <a:r>
                <a:rPr lang="ko-KR" altLang="en-US" sz="700" dirty="0" smtClean="0"/>
                <a:t> 진행상태 탭 화면 추가</a:t>
              </a:r>
              <a:endParaRPr lang="ko-KR" altLang="en-US" sz="700" dirty="0"/>
            </a:p>
          </p:txBody>
        </p:sp>
      </p:grpSp>
    </p:spTree>
    <p:extLst>
      <p:ext uri="{BB962C8B-B14F-4D97-AF65-F5344CB8AC3E}">
        <p14:creationId xmlns:p14="http://schemas.microsoft.com/office/powerpoint/2010/main" val="138897197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sz="650" dirty="0"/>
              <a:t>상단 </a:t>
            </a:r>
            <a:r>
              <a:rPr lang="ko-KR" altLang="en-US" sz="650" dirty="0" err="1"/>
              <a:t>업무도움은</a:t>
            </a:r>
            <a:r>
              <a:rPr lang="ko-KR" altLang="en-US" sz="650" dirty="0"/>
              <a:t> 기본 값으로 접힘 상태로 정보 제공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/>
              <a:t>페이지 </a:t>
            </a:r>
            <a:r>
              <a:rPr lang="ko-KR" altLang="en-US" sz="650" dirty="0" err="1"/>
              <a:t>호출시</a:t>
            </a:r>
            <a:r>
              <a:rPr lang="ko-KR" altLang="en-US" sz="650" dirty="0"/>
              <a:t> </a:t>
            </a:r>
            <a:r>
              <a:rPr lang="en-US" altLang="ko-KR" sz="650" dirty="0"/>
              <a:t>: </a:t>
            </a:r>
            <a:r>
              <a:rPr lang="ko-KR" altLang="en-US" sz="650" dirty="0"/>
              <a:t>해당 업체에서 진행중인 모든 </a:t>
            </a:r>
            <a:r>
              <a:rPr lang="ko-KR" altLang="en-US" sz="650" dirty="0" err="1"/>
              <a:t>계약건이</a:t>
            </a:r>
            <a:r>
              <a:rPr lang="ko-KR" altLang="en-US" sz="650" dirty="0"/>
              <a:t> 노출됨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/>
              <a:t>계약일자기준 당일 포함 이전 </a:t>
            </a:r>
            <a:r>
              <a:rPr lang="en-US" altLang="ko-KR" sz="650" dirty="0"/>
              <a:t>30</a:t>
            </a:r>
            <a:r>
              <a:rPr lang="ko-KR" altLang="en-US" sz="650" dirty="0"/>
              <a:t>일 동안 신청된 계약 건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/>
              <a:t>기본값 </a:t>
            </a:r>
            <a:r>
              <a:rPr lang="en-US" altLang="ko-KR" sz="650" dirty="0"/>
              <a:t>: </a:t>
            </a:r>
            <a:r>
              <a:rPr lang="ko-KR" altLang="en-US" sz="650" dirty="0"/>
              <a:t>접힘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/>
              <a:t>사용자 </a:t>
            </a:r>
            <a:r>
              <a:rPr lang="ko-KR" altLang="en-US" sz="650" dirty="0" err="1"/>
              <a:t>클릭시</a:t>
            </a:r>
            <a:r>
              <a:rPr lang="ko-KR" altLang="en-US" sz="650" dirty="0"/>
              <a:t> 확장하여 정보 표시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 err="1"/>
              <a:t>업무도움</a:t>
            </a:r>
            <a:r>
              <a:rPr lang="en-US" altLang="ko-KR" sz="650" dirty="0"/>
              <a:t> &gt; </a:t>
            </a:r>
            <a:r>
              <a:rPr lang="ko-KR" altLang="en-US" sz="650" dirty="0"/>
              <a:t>내역이 있는 경우 표시</a:t>
            </a:r>
            <a:r>
              <a:rPr lang="en-US" altLang="ko-KR" sz="650" dirty="0"/>
              <a:t>, </a:t>
            </a:r>
            <a:r>
              <a:rPr lang="ko-KR" altLang="en-US" sz="650" dirty="0"/>
              <a:t>내역이 없으면 항목을 표시하지 않음</a:t>
            </a:r>
            <a:r>
              <a:rPr lang="en-US" altLang="ko-KR" sz="650" dirty="0"/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650" dirty="0" err="1"/>
              <a:t>검색필터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2-1] </a:t>
            </a:r>
            <a:r>
              <a:rPr lang="ko-KR" altLang="en-US" sz="650" dirty="0"/>
              <a:t>통합참조정보</a:t>
            </a:r>
            <a:r>
              <a:rPr lang="en-US" altLang="ko-KR" sz="650" dirty="0"/>
              <a:t>, </a:t>
            </a:r>
            <a:r>
              <a:rPr lang="ko-KR" altLang="en-US" sz="650" dirty="0" err="1"/>
              <a:t>예약번호중</a:t>
            </a:r>
            <a:r>
              <a:rPr lang="ko-KR" altLang="en-US" sz="650" dirty="0"/>
              <a:t> 선택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2-2] </a:t>
            </a:r>
            <a:r>
              <a:rPr lang="ko-KR" altLang="en-US" sz="650" dirty="0" err="1"/>
              <a:t>검색어</a:t>
            </a:r>
            <a:r>
              <a:rPr lang="ko-KR" altLang="en-US" sz="650" dirty="0"/>
              <a:t> 입력</a:t>
            </a:r>
            <a:endParaRPr lang="en-US" altLang="ko-KR" sz="65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650" dirty="0">
                <a:latin typeface="+mn-ea"/>
              </a:rPr>
              <a:t>검색 필터 호출</a:t>
            </a:r>
            <a:r>
              <a:rPr lang="en-US" altLang="ko-KR" sz="650" dirty="0">
                <a:latin typeface="+mn-ea"/>
              </a:rPr>
              <a:t/>
            </a:r>
            <a:br>
              <a:rPr lang="en-US" altLang="ko-KR" sz="650" dirty="0">
                <a:latin typeface="+mn-ea"/>
              </a:rPr>
            </a:br>
            <a:r>
              <a:rPr lang="ko-KR" altLang="en-US" sz="650" dirty="0">
                <a:latin typeface="+mn-ea"/>
              </a:rPr>
              <a:t> </a:t>
            </a:r>
            <a:r>
              <a:rPr lang="en-US" altLang="ko-KR" sz="650" dirty="0">
                <a:latin typeface="+mn-ea"/>
              </a:rPr>
              <a:t>– </a:t>
            </a:r>
            <a:r>
              <a:rPr lang="ko-KR" altLang="en-US" sz="650" dirty="0">
                <a:latin typeface="+mn-ea"/>
              </a:rPr>
              <a:t>계약 페이지 참고</a:t>
            </a:r>
            <a:endParaRPr lang="en-US" altLang="ko-KR" sz="65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650" dirty="0"/>
              <a:t>표시 개수 영역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/>
              <a:t>총 개수 표시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/>
              <a:t>표시 개수 </a:t>
            </a:r>
            <a:r>
              <a:rPr lang="en-US" altLang="ko-KR" sz="650" dirty="0"/>
              <a:t>(</a:t>
            </a:r>
            <a:r>
              <a:rPr lang="ko-KR" altLang="en-US" sz="650" dirty="0"/>
              <a:t>선택한 건수 만큼 보여주고 </a:t>
            </a:r>
            <a:r>
              <a:rPr lang="ko-KR" altLang="en-US" sz="650" dirty="0" err="1"/>
              <a:t>더보기시</a:t>
            </a:r>
            <a:r>
              <a:rPr lang="ko-KR" altLang="en-US" sz="650" dirty="0"/>
              <a:t> 추가로 불러옴</a:t>
            </a:r>
            <a:r>
              <a:rPr lang="en-US" altLang="ko-KR" sz="650" dirty="0"/>
              <a:t>)</a:t>
            </a:r>
            <a:br>
              <a:rPr lang="en-US" altLang="ko-KR" sz="650" dirty="0"/>
            </a:br>
            <a:r>
              <a:rPr lang="ko-KR" altLang="en-US" sz="650" dirty="0"/>
              <a:t>목록 카드 표시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/>
              <a:t>카드 </a:t>
            </a:r>
            <a:r>
              <a:rPr lang="ko-KR" altLang="en-US" sz="650" dirty="0" err="1"/>
              <a:t>클릭시</a:t>
            </a:r>
            <a:r>
              <a:rPr lang="ko-KR" altLang="en-US" sz="650" dirty="0"/>
              <a:t> </a:t>
            </a:r>
            <a:r>
              <a:rPr lang="ko-KR" altLang="en-US" sz="650" dirty="0" err="1"/>
              <a:t>바텀시트</a:t>
            </a:r>
            <a:r>
              <a:rPr lang="ko-KR" altLang="en-US" sz="650" dirty="0"/>
              <a:t> 호출</a:t>
            </a:r>
            <a:r>
              <a:rPr lang="en-US" altLang="ko-KR" sz="650" dirty="0"/>
              <a:t>(</a:t>
            </a:r>
            <a:r>
              <a:rPr lang="en-US" altLang="ko-KR" sz="650" dirty="0">
                <a:latin typeface="+mn-ea"/>
              </a:rPr>
              <a:t>MUI-WM-01-P13)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4-1] </a:t>
            </a:r>
            <a:r>
              <a:rPr lang="ko-KR" altLang="en-US" sz="650" dirty="0" err="1"/>
              <a:t>표시레이블</a:t>
            </a:r>
            <a:r>
              <a:rPr lang="ko-KR" altLang="en-US" sz="650" dirty="0"/>
              <a:t> 영역 항목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/>
              <a:t>레이블이 화면을 넘치는 경우 드래그하여 확인 가능 </a:t>
            </a:r>
            <a:r>
              <a:rPr lang="en-US" altLang="ko-KR" sz="650" dirty="0"/>
              <a:t>(</a:t>
            </a:r>
            <a:r>
              <a:rPr lang="ko-KR" altLang="en-US" sz="650" dirty="0" err="1"/>
              <a:t>스와이프기능</a:t>
            </a:r>
            <a:r>
              <a:rPr lang="ko-KR" altLang="en-US" sz="650" dirty="0"/>
              <a:t> 반영 필요</a:t>
            </a:r>
            <a:r>
              <a:rPr lang="en-US" altLang="ko-KR" sz="650" dirty="0"/>
              <a:t>)</a:t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 err="1"/>
              <a:t>업무구분</a:t>
            </a:r>
            <a:r>
              <a:rPr lang="ko-KR" altLang="en-US" sz="650" dirty="0"/>
              <a:t> </a:t>
            </a:r>
            <a:r>
              <a:rPr lang="en-US" altLang="ko-KR" sz="650" dirty="0"/>
              <a:t>:  </a:t>
            </a:r>
            <a:r>
              <a:rPr lang="ko-KR" altLang="en-US" sz="650" dirty="0"/>
              <a:t>전체</a:t>
            </a:r>
            <a:r>
              <a:rPr lang="en-US" altLang="ko-KR" sz="650" dirty="0"/>
              <a:t>, </a:t>
            </a:r>
            <a:r>
              <a:rPr lang="ko-KR" altLang="en-US" sz="650" dirty="0"/>
              <a:t>물품</a:t>
            </a:r>
            <a:r>
              <a:rPr lang="en-US" altLang="ko-KR" sz="650" dirty="0"/>
              <a:t>, </a:t>
            </a:r>
            <a:r>
              <a:rPr lang="ko-KR" altLang="en-US" sz="650" dirty="0"/>
              <a:t>용역</a:t>
            </a:r>
            <a:r>
              <a:rPr lang="en-US" altLang="ko-KR" sz="650" dirty="0"/>
              <a:t>, </a:t>
            </a:r>
            <a:r>
              <a:rPr lang="ko-KR" altLang="en-US" sz="650" dirty="0"/>
              <a:t>공사</a:t>
            </a:r>
            <a:r>
              <a:rPr lang="en-US" altLang="ko-KR" sz="650" dirty="0"/>
              <a:t>, </a:t>
            </a:r>
            <a:r>
              <a:rPr lang="ko-KR" altLang="en-US" sz="650" dirty="0"/>
              <a:t>국외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 err="1"/>
              <a:t>입찰구분</a:t>
            </a:r>
            <a:r>
              <a:rPr lang="ko-KR" altLang="en-US" sz="650" dirty="0"/>
              <a:t> </a:t>
            </a:r>
            <a:r>
              <a:rPr lang="en-US" altLang="ko-KR" sz="650" dirty="0"/>
              <a:t>: </a:t>
            </a:r>
            <a:r>
              <a:rPr lang="ko-KR" altLang="en-US" sz="650" dirty="0" err="1"/>
              <a:t>총액제</a:t>
            </a:r>
            <a:r>
              <a:rPr lang="en-US" altLang="ko-KR" sz="650" dirty="0"/>
              <a:t>, </a:t>
            </a:r>
            <a:r>
              <a:rPr lang="ko-KR" altLang="en-US" sz="650" dirty="0" err="1"/>
              <a:t>단가제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 err="1"/>
              <a:t>대금상태</a:t>
            </a:r>
            <a:r>
              <a:rPr lang="ko-KR" altLang="en-US" sz="650" dirty="0"/>
              <a:t> </a:t>
            </a:r>
            <a:r>
              <a:rPr lang="en-US" altLang="ko-KR" sz="650" dirty="0"/>
              <a:t>: </a:t>
            </a:r>
            <a:r>
              <a:rPr lang="ko-KR" altLang="en-US" sz="650" dirty="0" err="1"/>
              <a:t>선금신청</a:t>
            </a:r>
            <a:r>
              <a:rPr lang="en-US" altLang="ko-KR" sz="650" dirty="0"/>
              <a:t>, </a:t>
            </a:r>
            <a:r>
              <a:rPr lang="ko-KR" altLang="en-US" sz="650" dirty="0" err="1"/>
              <a:t>착중도금신청</a:t>
            </a:r>
            <a:r>
              <a:rPr lang="en-US" altLang="ko-KR" sz="650" dirty="0"/>
              <a:t>, </a:t>
            </a:r>
            <a:r>
              <a:rPr lang="ko-KR" altLang="en-US" sz="650" dirty="0" err="1"/>
              <a:t>대금청구</a:t>
            </a:r>
            <a:r>
              <a:rPr lang="en-US" altLang="ko-KR" sz="650" dirty="0"/>
              <a:t>, </a:t>
            </a:r>
            <a:r>
              <a:rPr lang="ko-KR" altLang="en-US" sz="650" dirty="0" err="1"/>
              <a:t>대금수정</a:t>
            </a:r>
            <a:r>
              <a:rPr lang="en-US" altLang="ko-KR" sz="650" dirty="0"/>
              <a:t>, </a:t>
            </a:r>
            <a:r>
              <a:rPr lang="ko-KR" altLang="en-US" sz="650" dirty="0" err="1"/>
              <a:t>대금확정</a:t>
            </a:r>
            <a:r>
              <a:rPr lang="en-US" altLang="ko-KR" sz="650" dirty="0"/>
              <a:t>, </a:t>
            </a:r>
            <a:r>
              <a:rPr lang="ko-KR" altLang="en-US" sz="650" dirty="0"/>
              <a:t>사후정산</a:t>
            </a:r>
            <a:br>
              <a:rPr lang="ko-KR" altLang="en-US" sz="650" dirty="0"/>
            </a:br>
            <a:r>
              <a:rPr lang="en-US" altLang="ko-KR" sz="650" dirty="0"/>
              <a:t>4-2] </a:t>
            </a:r>
            <a:r>
              <a:rPr lang="ko-KR" altLang="en-US" sz="650" dirty="0"/>
              <a:t>문서 정보 영역 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 err="1"/>
              <a:t>계약번호</a:t>
            </a:r>
            <a:r>
              <a:rPr lang="en-US" altLang="ko-KR" sz="650" dirty="0"/>
              <a:t>+</a:t>
            </a:r>
            <a:r>
              <a:rPr lang="ko-KR" altLang="en-US" sz="650" dirty="0" err="1"/>
              <a:t>회차노출</a:t>
            </a:r>
            <a:r>
              <a:rPr lang="ko-KR" altLang="en-US" sz="650" dirty="0"/>
              <a:t> 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 err="1"/>
              <a:t>계약번호</a:t>
            </a:r>
            <a:r>
              <a:rPr lang="ko-KR" altLang="en-US" sz="650" dirty="0"/>
              <a:t> </a:t>
            </a:r>
            <a:r>
              <a:rPr lang="ko-KR" altLang="en-US" sz="650" dirty="0" err="1"/>
              <a:t>노출시</a:t>
            </a:r>
            <a:r>
              <a:rPr lang="ko-KR" altLang="en-US" sz="650" dirty="0"/>
              <a:t> 해당 라인을 넘어가면 </a:t>
            </a:r>
            <a:r>
              <a:rPr lang="en-US" altLang="ko-KR" sz="650" dirty="0"/>
              <a:t>(…) </a:t>
            </a:r>
            <a:r>
              <a:rPr lang="ko-KR" altLang="en-US" sz="650" dirty="0" err="1"/>
              <a:t>말줄임</a:t>
            </a:r>
            <a:r>
              <a:rPr lang="ko-KR" altLang="en-US" sz="650" dirty="0"/>
              <a:t> 표시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 err="1"/>
              <a:t>계약번호</a:t>
            </a:r>
            <a:r>
              <a:rPr lang="en-US" altLang="ko-KR" sz="650" dirty="0"/>
              <a:t>:</a:t>
            </a:r>
            <a:r>
              <a:rPr lang="ko-KR" altLang="en-US" sz="650" dirty="0"/>
              <a:t> </a:t>
            </a:r>
            <a:r>
              <a:rPr lang="ko-KR" altLang="en-US" sz="650" dirty="0" err="1"/>
              <a:t>계약번호</a:t>
            </a:r>
            <a:r>
              <a:rPr lang="en-US" altLang="ko-KR" sz="650" dirty="0"/>
              <a:t>+</a:t>
            </a:r>
            <a:r>
              <a:rPr lang="ko-KR" altLang="en-US" sz="650" dirty="0"/>
              <a:t>계약번호차수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4-3] </a:t>
            </a:r>
            <a:r>
              <a:rPr lang="ko-KR" altLang="en-US" sz="650" dirty="0"/>
              <a:t>문서 제목 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/>
              <a:t>제목은 </a:t>
            </a:r>
            <a:r>
              <a:rPr lang="en-US" altLang="ko-KR" sz="650" dirty="0"/>
              <a:t>2</a:t>
            </a:r>
            <a:r>
              <a:rPr lang="ko-KR" altLang="en-US" sz="650" dirty="0"/>
              <a:t>줄 까지 노출 이후</a:t>
            </a:r>
            <a:r>
              <a:rPr lang="en-US" altLang="ko-KR" sz="650" dirty="0"/>
              <a:t>(…) </a:t>
            </a:r>
            <a:r>
              <a:rPr lang="ko-KR" altLang="en-US" sz="650" dirty="0" err="1"/>
              <a:t>말줄임</a:t>
            </a:r>
            <a:r>
              <a:rPr lang="ko-KR" altLang="en-US" sz="650" dirty="0"/>
              <a:t> 표시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/>
              <a:t>대금청구상세 페이지로 이동 </a:t>
            </a:r>
            <a:endParaRPr lang="en-US" altLang="ko-KR" sz="65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650" dirty="0" err="1"/>
              <a:t>더보기</a:t>
            </a:r>
            <a:r>
              <a:rPr lang="ko-KR" altLang="en-US" sz="650" dirty="0"/>
              <a:t> 기능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- 3</a:t>
            </a:r>
            <a:r>
              <a:rPr lang="ko-KR" altLang="en-US" sz="650" dirty="0" err="1"/>
              <a:t>번항목</a:t>
            </a:r>
            <a:r>
              <a:rPr lang="ko-KR" altLang="en-US" sz="650" dirty="0"/>
              <a:t> 표시 개수 영역에서 선택한 개수로 증가</a:t>
            </a:r>
            <a:r>
              <a:rPr lang="en-US" altLang="ko-KR" sz="650" dirty="0"/>
              <a:t>.</a:t>
            </a:r>
            <a:br>
              <a:rPr lang="en-US" altLang="ko-KR" sz="650" dirty="0"/>
            </a:br>
            <a:r>
              <a:rPr lang="ko-KR" altLang="en-US" sz="650" dirty="0"/>
              <a:t>예</a:t>
            </a:r>
            <a:r>
              <a:rPr lang="en-US" altLang="ko-KR" sz="650" dirty="0"/>
              <a:t>) 10</a:t>
            </a:r>
            <a:r>
              <a:rPr lang="ko-KR" altLang="en-US" sz="650" dirty="0"/>
              <a:t>개 노출 이후 </a:t>
            </a:r>
            <a:r>
              <a:rPr lang="ko-KR" altLang="en-US" sz="650" dirty="0" err="1"/>
              <a:t>더보기</a:t>
            </a:r>
            <a:r>
              <a:rPr lang="ko-KR" altLang="en-US" sz="650" dirty="0"/>
              <a:t> 버튼 클릭으로 </a:t>
            </a:r>
            <a:r>
              <a:rPr lang="en-US" altLang="ko-KR" sz="650" dirty="0"/>
              <a:t>10</a:t>
            </a:r>
            <a:r>
              <a:rPr lang="ko-KR" altLang="en-US" sz="650" dirty="0"/>
              <a:t>개씩 추가 로드</a:t>
            </a:r>
            <a:endParaRPr lang="en-US" altLang="ko-KR" sz="65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650" dirty="0"/>
              <a:t>대금청구관련 안내문을 호출한다</a:t>
            </a:r>
            <a:r>
              <a:rPr lang="en-US" altLang="ko-KR" sz="650" dirty="0"/>
              <a:t>.</a:t>
            </a:r>
            <a:r>
              <a:rPr lang="en-US" altLang="ko-KR" sz="650" dirty="0">
                <a:latin typeface="+mn-ea"/>
              </a:rPr>
              <a:t> (MUI-WM-01-P09)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endParaRPr lang="en-US" altLang="ko-KR" sz="65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81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대금청구진행현황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대금청구진행현황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대금청구진행현황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MUI-WM-01-M11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/>
              <a:t>대금청구진행현황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214303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37" name="그룹 36"/>
          <p:cNvGrpSpPr/>
          <p:nvPr/>
        </p:nvGrpSpPr>
        <p:grpSpPr>
          <a:xfrm>
            <a:off x="3143548" y="3008641"/>
            <a:ext cx="94010" cy="47005"/>
            <a:chOff x="6812560" y="3297172"/>
            <a:chExt cx="94010" cy="47005"/>
          </a:xfrm>
        </p:grpSpPr>
        <p:cxnSp>
          <p:nvCxnSpPr>
            <p:cNvPr id="42" name="직선 연결선 4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직선 연결선 4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41494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781461" y="3389315"/>
            <a:ext cx="2473257" cy="1237060"/>
            <a:chOff x="781461" y="3087955"/>
            <a:chExt cx="2473257" cy="1237060"/>
          </a:xfrm>
        </p:grpSpPr>
        <p:sp>
          <p:nvSpPr>
            <p:cNvPr id="55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3272286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 smtClean="0"/>
                <a:t>계약번호</a:t>
              </a:r>
              <a:r>
                <a:rPr lang="ko-KR" altLang="en-US" sz="700" dirty="0" smtClean="0"/>
                <a:t> </a:t>
              </a:r>
              <a:r>
                <a:rPr lang="en-US" altLang="ko-KR" sz="700" dirty="0"/>
                <a:t>2025000000 - 01</a:t>
              </a:r>
            </a:p>
            <a:p>
              <a:r>
                <a:rPr lang="ko-KR" altLang="en-US" sz="900" b="1" dirty="0">
                  <a:solidFill>
                    <a:srgbClr val="0070C0"/>
                  </a:solidFill>
                </a:rPr>
                <a:t>물품</a:t>
              </a:r>
              <a:r>
                <a:rPr lang="ko-KR" altLang="en-US" sz="900" b="1" dirty="0"/>
                <a:t>구매</a:t>
              </a:r>
            </a:p>
          </p:txBody>
        </p:sp>
        <p:sp>
          <p:nvSpPr>
            <p:cNvPr id="56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632518"/>
              <a:ext cx="307777" cy="69249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/>
                <a:t>신청번호</a:t>
              </a:r>
              <a:endParaRPr lang="en-US" altLang="ko-KR" sz="600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smtClean="0">
                  <a:latin typeface="+mn-ea"/>
                </a:rPr>
                <a:t>계약금액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 smtClean="0">
                  <a:latin typeface="+mn-ea"/>
                </a:rPr>
                <a:t>수령금액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smtClean="0">
                  <a:latin typeface="+mn-ea"/>
                </a:rPr>
                <a:t>청구금액</a:t>
              </a:r>
              <a:endParaRPr lang="en-US" altLang="ko-KR" sz="600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 smtClean="0">
                  <a:latin typeface="+mn-ea"/>
                </a:rPr>
                <a:t>청구일자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57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239" y="3617129"/>
              <a:ext cx="472950" cy="69249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/>
                <a:t>1234-5678</a:t>
              </a:r>
              <a:endParaRPr lang="en-US" altLang="ko-KR" sz="600" dirty="0" smtClean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11,616,000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11,616,000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11,616,000 </a:t>
              </a:r>
              <a:r>
                <a:rPr lang="ko-KR" altLang="en-US" sz="600" dirty="0" smtClean="0">
                  <a:latin typeface="+mn-ea"/>
                </a:rPr>
                <a:t>원</a:t>
              </a:r>
              <a:endParaRPr lang="en-US" altLang="ko-KR" sz="600" dirty="0" smtClean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2026-02-05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67" name="모서리가 둥근 직사각형 66"/>
            <p:cNvSpPr/>
            <p:nvPr/>
          </p:nvSpPr>
          <p:spPr>
            <a:xfrm>
              <a:off x="781461" y="3087955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물품</a:t>
              </a:r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015426"/>
            <a:ext cx="76863" cy="292489"/>
            <a:chOff x="3750067" y="4683795"/>
            <a:chExt cx="76863" cy="292489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733816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4188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공지사항</a:t>
            </a:r>
          </a:p>
        </p:txBody>
      </p:sp>
      <p:sp>
        <p:nvSpPr>
          <p:cNvPr id="129" name="타원 128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9808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2910872"/>
            <a:ext cx="130550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10903098" y="2146386"/>
            <a:ext cx="2849517" cy="1297490"/>
            <a:chOff x="3840447" y="4794923"/>
            <a:chExt cx="2849517" cy="1297490"/>
          </a:xfrm>
        </p:grpSpPr>
        <p:sp>
          <p:nvSpPr>
            <p:cNvPr id="80" name="모서리가 둥근 직사각형 79"/>
            <p:cNvSpPr/>
            <p:nvPr/>
          </p:nvSpPr>
          <p:spPr>
            <a:xfrm>
              <a:off x="4614060" y="5105666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물품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40447" y="4794923"/>
              <a:ext cx="54734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표시 레이블</a:t>
              </a:r>
            </a:p>
          </p:txBody>
        </p:sp>
        <p:sp>
          <p:nvSpPr>
            <p:cNvPr id="84" name="모서리가 둥근 직사각형 83"/>
            <p:cNvSpPr/>
            <p:nvPr/>
          </p:nvSpPr>
          <p:spPr>
            <a:xfrm>
              <a:off x="4914986" y="5105666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용역</a:t>
              </a:r>
            </a:p>
          </p:txBody>
        </p:sp>
        <p:sp>
          <p:nvSpPr>
            <p:cNvPr id="85" name="모서리가 둥근 직사각형 84"/>
            <p:cNvSpPr/>
            <p:nvPr/>
          </p:nvSpPr>
          <p:spPr>
            <a:xfrm>
              <a:off x="5215975" y="5105666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공사</a:t>
              </a:r>
            </a:p>
          </p:txBody>
        </p:sp>
        <p:sp>
          <p:nvSpPr>
            <p:cNvPr id="86" name="모서리가 둥근 직사각형 85"/>
            <p:cNvSpPr/>
            <p:nvPr/>
          </p:nvSpPr>
          <p:spPr>
            <a:xfrm>
              <a:off x="5519047" y="5105666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국외</a:t>
              </a:r>
            </a:p>
          </p:txBody>
        </p:sp>
        <p:sp>
          <p:nvSpPr>
            <p:cNvPr id="87" name="모서리가 둥근 직사각형 86"/>
            <p:cNvSpPr/>
            <p:nvPr/>
          </p:nvSpPr>
          <p:spPr>
            <a:xfrm>
              <a:off x="4318635" y="5105666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전체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40447" y="5111505"/>
              <a:ext cx="54734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 err="1">
                  <a:latin typeface="+mn-ea"/>
                </a:rPr>
                <a:t>업무구분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80" name="모서리가 둥근 직사각형 179"/>
            <p:cNvSpPr/>
            <p:nvPr/>
          </p:nvSpPr>
          <p:spPr>
            <a:xfrm>
              <a:off x="4318635" y="5438197"/>
              <a:ext cx="325832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err="1"/>
                <a:t>총액제</a:t>
              </a:r>
              <a:endParaRPr lang="ko-KR" altLang="en-US" sz="600" dirty="0"/>
            </a:p>
          </p:txBody>
        </p:sp>
        <p:sp>
          <p:nvSpPr>
            <p:cNvPr id="181" name="모서리가 둥근 직사각형 180"/>
            <p:cNvSpPr/>
            <p:nvPr/>
          </p:nvSpPr>
          <p:spPr>
            <a:xfrm>
              <a:off x="4695883" y="5439645"/>
              <a:ext cx="325832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err="1"/>
                <a:t>단가제</a:t>
              </a:r>
              <a:endParaRPr lang="ko-KR" altLang="en-US" sz="600" dirty="0"/>
            </a:p>
          </p:txBody>
        </p: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40447" y="5444036"/>
              <a:ext cx="54734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 err="1">
                  <a:latin typeface="+mn-ea"/>
                </a:rPr>
                <a:t>입찰구분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40447" y="5784276"/>
              <a:ext cx="54734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 err="1">
                  <a:latin typeface="+mn-ea"/>
                </a:rPr>
                <a:t>대금상태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12" name="모서리가 둥근 직사각형 111"/>
            <p:cNvSpPr/>
            <p:nvPr/>
          </p:nvSpPr>
          <p:spPr>
            <a:xfrm>
              <a:off x="4318634" y="5780346"/>
              <a:ext cx="39641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err="1"/>
                <a:t>선금신청</a:t>
              </a:r>
              <a:endParaRPr lang="ko-KR" altLang="en-US" sz="600" dirty="0"/>
            </a:p>
          </p:txBody>
        </p:sp>
        <p:sp>
          <p:nvSpPr>
            <p:cNvPr id="113" name="모서리가 둥근 직사각형 112"/>
            <p:cNvSpPr/>
            <p:nvPr/>
          </p:nvSpPr>
          <p:spPr>
            <a:xfrm>
              <a:off x="4762118" y="5781794"/>
              <a:ext cx="555911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err="1"/>
                <a:t>착중도금신청</a:t>
              </a:r>
              <a:endParaRPr lang="ko-KR" altLang="en-US" sz="600" dirty="0"/>
            </a:p>
          </p:txBody>
        </p:sp>
        <p:sp>
          <p:nvSpPr>
            <p:cNvPr id="115" name="모서리가 둥근 직사각형 114"/>
            <p:cNvSpPr/>
            <p:nvPr/>
          </p:nvSpPr>
          <p:spPr>
            <a:xfrm>
              <a:off x="5833259" y="5781794"/>
              <a:ext cx="403390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err="1"/>
                <a:t>대금수정</a:t>
              </a:r>
              <a:endParaRPr lang="ko-KR" altLang="en-US" sz="600" dirty="0"/>
            </a:p>
          </p:txBody>
        </p:sp>
        <p:sp>
          <p:nvSpPr>
            <p:cNvPr id="118" name="모서리가 둥근 직사각형 117"/>
            <p:cNvSpPr/>
            <p:nvPr/>
          </p:nvSpPr>
          <p:spPr>
            <a:xfrm>
              <a:off x="5364593" y="5781794"/>
              <a:ext cx="403390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err="1"/>
                <a:t>대금청구</a:t>
              </a:r>
              <a:r>
                <a:rPr lang="ko-KR" altLang="en-US" sz="600" dirty="0"/>
                <a:t>                          </a:t>
              </a:r>
            </a:p>
          </p:txBody>
        </p:sp>
        <p:sp>
          <p:nvSpPr>
            <p:cNvPr id="123" name="모서리가 둥근 직사각형 122"/>
            <p:cNvSpPr/>
            <p:nvPr/>
          </p:nvSpPr>
          <p:spPr>
            <a:xfrm>
              <a:off x="6286574" y="5781794"/>
              <a:ext cx="403390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err="1"/>
                <a:t>대금확정</a:t>
              </a:r>
              <a:endParaRPr lang="ko-KR" altLang="en-US" sz="600" dirty="0"/>
            </a:p>
          </p:txBody>
        </p:sp>
        <p:sp>
          <p:nvSpPr>
            <p:cNvPr id="125" name="모서리가 둥근 직사각형 124"/>
            <p:cNvSpPr/>
            <p:nvPr/>
          </p:nvSpPr>
          <p:spPr>
            <a:xfrm>
              <a:off x="4318634" y="5973013"/>
              <a:ext cx="39641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사후정산</a:t>
              </a:r>
            </a:p>
          </p:txBody>
        </p:sp>
      </p:grpSp>
      <p:sp>
        <p:nvSpPr>
          <p:cNvPr id="185" name="타원 184"/>
          <p:cNvSpPr/>
          <p:nvPr/>
        </p:nvSpPr>
        <p:spPr>
          <a:xfrm>
            <a:off x="2741767" y="1580377"/>
            <a:ext cx="108000" cy="108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699587" y="1709526"/>
            <a:ext cx="192360" cy="769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500" dirty="0">
                <a:latin typeface="+mn-ea"/>
              </a:rPr>
              <a:t>안내문</a:t>
            </a:r>
          </a:p>
        </p:txBody>
      </p:sp>
      <p:grpSp>
        <p:nvGrpSpPr>
          <p:cNvPr id="126" name="그룹 125"/>
          <p:cNvGrpSpPr/>
          <p:nvPr/>
        </p:nvGrpSpPr>
        <p:grpSpPr>
          <a:xfrm>
            <a:off x="767702" y="2270279"/>
            <a:ext cx="2527420" cy="477995"/>
            <a:chOff x="786326" y="2270279"/>
            <a:chExt cx="2527420" cy="477995"/>
          </a:xfrm>
        </p:grpSpPr>
        <p:sp>
          <p:nvSpPr>
            <p:cNvPr id="133" name="모서리가 둥근 직사각형 132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" name="타원 139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grpSp>
          <p:nvGrpSpPr>
            <p:cNvPr id="144" name="그룹 143"/>
            <p:cNvGrpSpPr/>
            <p:nvPr/>
          </p:nvGrpSpPr>
          <p:grpSpPr>
            <a:xfrm>
              <a:off x="795624" y="2274581"/>
              <a:ext cx="1299303" cy="155984"/>
              <a:chOff x="808107" y="2288229"/>
              <a:chExt cx="1189739" cy="168318"/>
            </a:xfrm>
          </p:grpSpPr>
          <p:sp>
            <p:nvSpPr>
              <p:cNvPr id="190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808107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계약명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/>
                </a:endParaRPr>
              </a:p>
            </p:txBody>
          </p:sp>
          <p:sp>
            <p:nvSpPr>
              <p:cNvPr id="191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1434352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latin typeface="맑은 고딕"/>
                    <a:ea typeface="맑은 고딕" panose="020B0503020000020004" pitchFamily="50" charset="-127"/>
                  </a:rPr>
                  <a:t>계약번호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</p:grpSp>
        <p:sp>
          <p:nvSpPr>
            <p:cNvPr id="148" name="타원 147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182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2726021" y="2270279"/>
              <a:ext cx="582849" cy="15479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 err="1">
                  <a:latin typeface="맑은 고딕"/>
                  <a:ea typeface="맑은 고딕" panose="020B0503020000020004" pitchFamily="50" charset="-127"/>
                </a:rPr>
                <a:t>검색필터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186" name="타원 185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87" name="그룹 186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88" name="직선 연결선 187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9" name="직선 연결선 188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92" name="TextBox 19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2890210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2890210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194" name="그룹 193"/>
          <p:cNvGrpSpPr/>
          <p:nvPr/>
        </p:nvGrpSpPr>
        <p:grpSpPr>
          <a:xfrm>
            <a:off x="3004764" y="3105654"/>
            <a:ext cx="776938" cy="1131139"/>
            <a:chOff x="3004764" y="2490533"/>
            <a:chExt cx="776938" cy="1131139"/>
          </a:xfrm>
        </p:grpSpPr>
        <p:sp>
          <p:nvSpPr>
            <p:cNvPr id="195" name="사각형: 둥근 모서리 222">
              <a:extLst>
                <a:ext uri="{FF2B5EF4-FFF2-40B4-BE49-F238E27FC236}">
                  <a16:creationId xmlns:a16="http://schemas.microsoft.com/office/drawing/2014/main" id="{8AF9D577-0373-21E1-F7E1-B17AE839E882}"/>
                </a:ext>
              </a:extLst>
            </p:cNvPr>
            <p:cNvSpPr/>
            <p:nvPr/>
          </p:nvSpPr>
          <p:spPr>
            <a:xfrm>
              <a:off x="3004764" y="2833887"/>
              <a:ext cx="776938" cy="787785"/>
            </a:xfrm>
            <a:prstGeom prst="roundRect">
              <a:avLst>
                <a:gd name="adj" fmla="val 389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6" name="사각형: 둥근 모서리 224">
              <a:extLst>
                <a:ext uri="{FF2B5EF4-FFF2-40B4-BE49-F238E27FC236}">
                  <a16:creationId xmlns:a16="http://schemas.microsoft.com/office/drawing/2014/main" id="{3EFB2C27-9C6F-8886-4247-7900976F7BD2}"/>
                </a:ext>
              </a:extLst>
            </p:cNvPr>
            <p:cNvSpPr/>
            <p:nvPr/>
          </p:nvSpPr>
          <p:spPr>
            <a:xfrm>
              <a:off x="3004764" y="2490533"/>
              <a:ext cx="775390" cy="343356"/>
            </a:xfrm>
            <a:prstGeom prst="roundRect">
              <a:avLst/>
            </a:prstGeom>
            <a:solidFill>
              <a:sysClr val="window" lastClr="FFFFFF"/>
            </a:solidFill>
            <a:ln w="952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10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개</a:t>
              </a:r>
              <a:endPara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197" name="TextBox 226">
              <a:extLst>
                <a:ext uri="{FF2B5EF4-FFF2-40B4-BE49-F238E27FC236}">
                  <a16:creationId xmlns:a16="http://schemas.microsoft.com/office/drawing/2014/main" id="{2D0EB093-7669-C055-4901-B28C987E9EF9}"/>
                </a:ext>
              </a:extLst>
            </p:cNvPr>
            <p:cNvSpPr txBox="1"/>
            <p:nvPr/>
          </p:nvSpPr>
          <p:spPr>
            <a:xfrm>
              <a:off x="3063151" y="2833887"/>
              <a:ext cx="641770" cy="6740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10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개</a:t>
              </a:r>
              <a:endPara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30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 개</a:t>
              </a:r>
              <a:endParaRPr lang="en-US" altLang="ko-KR" sz="700" kern="0" dirty="0">
                <a:solidFill>
                  <a:prstClr val="black"/>
                </a:solidFill>
              </a:endParaRPr>
            </a:p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50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개</a:t>
              </a:r>
              <a:endPara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grpSp>
          <p:nvGrpSpPr>
            <p:cNvPr id="198" name="그룹 197"/>
            <p:cNvGrpSpPr/>
            <p:nvPr/>
          </p:nvGrpSpPr>
          <p:grpSpPr>
            <a:xfrm flipV="1">
              <a:off x="3584851" y="2638708"/>
              <a:ext cx="94010" cy="47005"/>
              <a:chOff x="6615710" y="3297172"/>
              <a:chExt cx="94010" cy="47005"/>
            </a:xfrm>
          </p:grpSpPr>
          <p:cxnSp>
            <p:nvCxnSpPr>
              <p:cNvPr id="199" name="직선 연결선 198"/>
              <p:cNvCxnSpPr/>
              <p:nvPr/>
            </p:nvCxnSpPr>
            <p:spPr>
              <a:xfrm>
                <a:off x="661571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0" name="직선 연결선 199"/>
              <p:cNvCxnSpPr/>
              <p:nvPr/>
            </p:nvCxnSpPr>
            <p:spPr>
              <a:xfrm flipH="1">
                <a:off x="666271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14" name="타원 11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5884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17" name="타원 11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90465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20" name="타원 11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58819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  <p:sp>
        <p:nvSpPr>
          <p:cNvPr id="121" name="타원 12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42020" y="143860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4-1</a:t>
            </a:r>
            <a:endParaRPr lang="ko-KR" altLang="en-US" sz="600" b="1" dirty="0"/>
          </a:p>
        </p:txBody>
      </p:sp>
      <p:sp>
        <p:nvSpPr>
          <p:cNvPr id="122" name="타원 12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06935" y="326122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4-1</a:t>
            </a:r>
          </a:p>
        </p:txBody>
      </p:sp>
      <p:sp>
        <p:nvSpPr>
          <p:cNvPr id="136" name="타원 13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52055" y="223388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37" name="타원 13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463636" y="223388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2-1</a:t>
            </a:r>
            <a:endParaRPr lang="ko-KR" altLang="en-US" sz="600" b="1" dirty="0"/>
          </a:p>
        </p:txBody>
      </p:sp>
      <p:sp>
        <p:nvSpPr>
          <p:cNvPr id="138" name="타원 13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2684573" y="222479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</a:p>
        </p:txBody>
      </p:sp>
      <p:sp>
        <p:nvSpPr>
          <p:cNvPr id="139" name="타원 13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06935" y="250441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2-2</a:t>
            </a:r>
            <a:endParaRPr lang="ko-KR" altLang="en-US" sz="600" b="1" dirty="0"/>
          </a:p>
        </p:txBody>
      </p:sp>
      <p:sp>
        <p:nvSpPr>
          <p:cNvPr id="142" name="타원 14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2650531" y="146183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6</a:t>
            </a:r>
            <a:endParaRPr lang="ko-KR" altLang="en-US" sz="900" b="1" dirty="0"/>
          </a:p>
        </p:txBody>
      </p:sp>
      <p:sp>
        <p:nvSpPr>
          <p:cNvPr id="156" name="타원 15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06935" y="350959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4-2</a:t>
            </a:r>
          </a:p>
        </p:txBody>
      </p:sp>
      <p:sp>
        <p:nvSpPr>
          <p:cNvPr id="159" name="타원 15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06935" y="374701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4-3</a:t>
            </a:r>
          </a:p>
        </p:txBody>
      </p:sp>
      <p:sp>
        <p:nvSpPr>
          <p:cNvPr id="171" name="직사각형 170"/>
          <p:cNvSpPr/>
          <p:nvPr/>
        </p:nvSpPr>
        <p:spPr>
          <a:xfrm>
            <a:off x="7067290" y="6120986"/>
            <a:ext cx="2336280" cy="17214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ctr"/>
            <a:r>
              <a:rPr lang="en-US" altLang="ko-KR" sz="500" b="1" dirty="0" smtClean="0">
                <a:solidFill>
                  <a:schemeClr val="bg1"/>
                </a:solidFill>
              </a:rPr>
              <a:t>0706) </a:t>
            </a:r>
            <a:r>
              <a:rPr lang="ko-KR" altLang="en-US" sz="500" b="1" dirty="0" err="1" smtClean="0">
                <a:solidFill>
                  <a:schemeClr val="bg1"/>
                </a:solidFill>
              </a:rPr>
              <a:t>계약일자</a:t>
            </a:r>
            <a:r>
              <a:rPr lang="en-US" altLang="ko-KR" sz="500" b="1" dirty="0" smtClean="0">
                <a:solidFill>
                  <a:schemeClr val="bg1"/>
                </a:solidFill>
              </a:rPr>
              <a:t>, </a:t>
            </a:r>
            <a:r>
              <a:rPr lang="ko-KR" altLang="en-US" sz="500" b="1" dirty="0" err="1" smtClean="0">
                <a:solidFill>
                  <a:schemeClr val="bg1"/>
                </a:solidFill>
              </a:rPr>
              <a:t>청구일자</a:t>
            </a:r>
            <a:r>
              <a:rPr lang="en-US" altLang="ko-KR" sz="500" b="1" dirty="0" smtClean="0">
                <a:solidFill>
                  <a:schemeClr val="bg1"/>
                </a:solidFill>
              </a:rPr>
              <a:t>,</a:t>
            </a:r>
            <a:r>
              <a:rPr lang="ko-KR" altLang="en-US" sz="500" b="1" dirty="0" err="1" smtClean="0">
                <a:solidFill>
                  <a:schemeClr val="bg1"/>
                </a:solidFill>
              </a:rPr>
              <a:t>수령금액</a:t>
            </a:r>
            <a:r>
              <a:rPr lang="ko-KR" altLang="en-US" sz="500" b="1" dirty="0" smtClean="0">
                <a:solidFill>
                  <a:schemeClr val="bg1"/>
                </a:solidFill>
              </a:rPr>
              <a:t> 누락</a:t>
            </a:r>
            <a:endParaRPr lang="ko-KR" altLang="ko-KR" sz="500" dirty="0">
              <a:solidFill>
                <a:schemeClr val="bg1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10036" y="1349367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표시 레이블</a:t>
            </a:r>
            <a:endParaRPr lang="ko-KR" altLang="en-US" sz="700" dirty="0">
              <a:latin typeface="+mn-ea"/>
            </a:endParaRPr>
          </a:p>
        </p:txBody>
      </p:sp>
      <p:graphicFrame>
        <p:nvGraphicFramePr>
          <p:cNvPr id="96" name="표 9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7267903"/>
              </p:ext>
            </p:extLst>
          </p:nvPr>
        </p:nvGraphicFramePr>
        <p:xfrm>
          <a:off x="3801286" y="1616448"/>
          <a:ext cx="3069778" cy="74168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34889">
                  <a:extLst>
                    <a:ext uri="{9D8B030D-6E8A-4147-A177-3AD203B41FA5}">
                      <a16:colId xmlns:a16="http://schemas.microsoft.com/office/drawing/2014/main" val="3115782702"/>
                    </a:ext>
                  </a:extLst>
                </a:gridCol>
                <a:gridCol w="1534889">
                  <a:extLst>
                    <a:ext uri="{9D8B030D-6E8A-4147-A177-3AD203B41FA5}">
                      <a16:colId xmlns:a16="http://schemas.microsoft.com/office/drawing/2014/main" val="3935822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항목명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표시 값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709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>
                          <a:latin typeface="+mn-ea"/>
                        </a:rPr>
                        <a:t>업무구분</a:t>
                      </a:r>
                      <a:r>
                        <a:rPr lang="ko-KR" altLang="en-US" sz="700" dirty="0" smtClean="0"/>
                        <a:t> 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en-US" altLang="ko-KR" sz="7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taskSecd</a:t>
                      </a:r>
                      <a:r>
                        <a:rPr lang="en-US" altLang="ko-KR" sz="700" dirty="0" smtClean="0"/>
                        <a:t>)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물품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smtClean="0"/>
                        <a:t>용역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smtClean="0"/>
                        <a:t>공사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0468422"/>
                  </a:ext>
                </a:extLst>
              </a:tr>
            </a:tbl>
          </a:graphicData>
        </a:graphic>
      </p:graphicFrame>
      <p:grpSp>
        <p:nvGrpSpPr>
          <p:cNvPr id="99" name="그룹 98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101" name="직사각형 100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2026-08-05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102" name="직사각형 101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레이블</a:t>
              </a:r>
              <a:r>
                <a:rPr lang="en-US" altLang="ko-KR" sz="700" dirty="0" smtClean="0"/>
                <a:t>(</a:t>
              </a:r>
              <a:r>
                <a:rPr lang="ko-KR" altLang="en-US" sz="700" dirty="0" err="1" smtClean="0"/>
                <a:t>뱃지</a:t>
              </a:r>
              <a:r>
                <a:rPr lang="en-US" altLang="ko-KR" sz="700" dirty="0" smtClean="0"/>
                <a:t>)</a:t>
              </a:r>
              <a:r>
                <a:rPr lang="ko-KR" altLang="en-US" sz="700" dirty="0" smtClean="0"/>
                <a:t> 설명 추가</a:t>
              </a:r>
              <a:r>
                <a:rPr lang="en-US" altLang="ko-KR" sz="700" dirty="0" smtClean="0"/>
                <a:t>,</a:t>
              </a:r>
              <a:r>
                <a:rPr lang="ko-KR" altLang="en-US" sz="700" dirty="0" smtClean="0"/>
                <a:t> 변경</a:t>
              </a:r>
              <a:endParaRPr lang="en-US" altLang="ko-KR" sz="700" dirty="0" smtClean="0"/>
            </a:p>
            <a:p>
              <a:pPr marL="228600" indent="-228600">
                <a:buAutoNum type="arabicPeriod"/>
              </a:pPr>
              <a:r>
                <a:rPr lang="ko-KR" altLang="en-US" sz="700" dirty="0" smtClean="0"/>
                <a:t>카드 목록 </a:t>
              </a:r>
              <a:r>
                <a:rPr lang="en-US" altLang="ko-KR" sz="700" dirty="0" smtClean="0"/>
                <a:t>–</a:t>
              </a:r>
              <a:r>
                <a:rPr lang="ko-KR" altLang="en-US" sz="700" dirty="0" smtClean="0"/>
                <a:t> </a:t>
              </a:r>
              <a:r>
                <a:rPr lang="ko-KR" altLang="en-US" sz="700" dirty="0" err="1" smtClean="0"/>
                <a:t>청구일자</a:t>
              </a:r>
              <a:r>
                <a:rPr lang="ko-KR" altLang="en-US" sz="700" dirty="0" smtClean="0"/>
                <a:t> 추가</a:t>
              </a:r>
              <a:endParaRPr lang="ko-KR" altLang="en-US" sz="700" dirty="0"/>
            </a:p>
          </p:txBody>
        </p:sp>
      </p:grpSp>
    </p:spTree>
    <p:extLst>
      <p:ext uri="{BB962C8B-B14F-4D97-AF65-F5344CB8AC3E}">
        <p14:creationId xmlns:p14="http://schemas.microsoft.com/office/powerpoint/2010/main" val="71169794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82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1E579C-7AF3-7BFE-7013-093144AFB794}"/>
              </a:ext>
            </a:extLst>
          </p:cNvPr>
          <p:cNvSpPr txBox="1"/>
          <p:nvPr/>
        </p:nvSpPr>
        <p:spPr>
          <a:xfrm>
            <a:off x="458117" y="803113"/>
            <a:ext cx="3360463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대금청구진행현황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dmt_pymtClmPrgrsPrstSrch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9C383C-55E0-D07A-4E04-846216D6522D}"/>
              </a:ext>
            </a:extLst>
          </p:cNvPr>
          <p:cNvSpPr txBox="1"/>
          <p:nvPr/>
        </p:nvSpPr>
        <p:spPr>
          <a:xfrm>
            <a:off x="458117" y="2490877"/>
            <a:ext cx="2664759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대금청구목록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dlt_pymtClmList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76A37DB3-05EE-95CD-48CB-E4E9ABDEE5BE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1407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ctrtBngnYmd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ctrtEndYmd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계약일자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</a:p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-mm-dd(From-To)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계약번호검색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공통팝업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4773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</a:rPr>
                        <a:t>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taskSeCd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업무구분을 선택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clmBngnYmd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clmEndYmd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청구일자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</a:p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-mm-dd(From-To)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0006116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F5D46A5E-37F4-8517-D03E-37CE77A215D9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2740763"/>
          <a:ext cx="8994883" cy="21331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40355524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조회결과 자료 순번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N/A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rownum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taskSeCd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996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birqNo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83255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clmYmd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청구일자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51094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0316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차수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ctrtCycl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차수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2881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23475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19156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수령금액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trgtAmt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수령금액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clmAmt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93F0D25-F0ED-6C90-FFD8-CA354714AFA7}"/>
              </a:ext>
            </a:extLst>
          </p:cNvPr>
          <p:cNvSpPr txBox="1"/>
          <p:nvPr/>
        </p:nvSpPr>
        <p:spPr>
          <a:xfrm>
            <a:off x="458117" y="4974426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2. </a:t>
            </a:r>
            <a:r>
              <a:rPr lang="ko-KR" altLang="en-US" sz="1000" b="1" dirty="0">
                <a:solidFill>
                  <a:prstClr val="black"/>
                </a:solidFill>
              </a:rPr>
              <a:t>이벤트 설명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A926DA9-86BF-3A57-B2B3-A50D61CC8A52}"/>
              </a:ext>
            </a:extLst>
          </p:cNvPr>
          <p:cNvGraphicFramePr>
            <a:graphicFrameLocks noGrp="1"/>
          </p:cNvGraphicFramePr>
          <p:nvPr/>
        </p:nvGraphicFramePr>
        <p:xfrm>
          <a:off x="453000" y="5278246"/>
          <a:ext cx="8995591" cy="1141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3103963203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공통코드를 조회한다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상세 클릭 이벤트</a:t>
                      </a:r>
                      <a:endParaRPr lang="en-US" altLang="ko-KR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scwin.btn_dtl_onclick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대금청구 상세조회 화면을 호출한다</a:t>
                      </a:r>
                      <a:r>
                        <a:rPr lang="en-US" altLang="ko-KR" sz="800" dirty="0"/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(UI-WM-01-M17)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대금청구상세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중앙조달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(UI-WM-01-M18)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대금청구상세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부대조달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(UI-WM-01-M19)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대금청구상세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(UI-WM-01-M20)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대금청구상세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기성대가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11830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검색 클릭 이벤트</a:t>
                      </a:r>
                      <a:endParaRPr lang="en-US" altLang="ko-KR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scwin.btn_srch_onclick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대금청구진행현황 목록을 조회한다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7564871"/>
                  </a:ext>
                </a:extLst>
              </a:tr>
            </a:tbl>
          </a:graphicData>
        </a:graphic>
      </p:graphicFrame>
      <p:sp>
        <p:nvSpPr>
          <p:cNvPr id="5" name="Text Box 73">
            <a:extLst>
              <a:ext uri="{FF2B5EF4-FFF2-40B4-BE49-F238E27FC236}">
                <a16:creationId xmlns:a16="http://schemas.microsoft.com/office/drawing/2014/main" id="{BF0BCD30-B7AD-5863-DCBB-C31A8722B3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4753387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83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대금지불정보</a:t>
            </a:r>
            <a:r>
              <a:rPr lang="en-US" altLang="ko-KR" dirty="0"/>
              <a:t>(</a:t>
            </a:r>
            <a:r>
              <a:rPr lang="ko-KR" altLang="en-US" dirty="0"/>
              <a:t>반납</a:t>
            </a:r>
            <a:r>
              <a:rPr lang="en-US" altLang="ko-KR" dirty="0"/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대금지불정보</a:t>
            </a:r>
            <a:r>
              <a:rPr lang="en-US" altLang="ko-KR" dirty="0"/>
              <a:t>(</a:t>
            </a:r>
            <a:r>
              <a:rPr lang="ko-KR" altLang="en-US" dirty="0"/>
              <a:t>반납</a:t>
            </a:r>
            <a:r>
              <a:rPr lang="en-US" altLang="ko-KR" dirty="0"/>
              <a:t>)</a:t>
            </a:r>
            <a:r>
              <a:rPr lang="ko-KR" altLang="en-US" dirty="0"/>
              <a:t>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대금지불정보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반납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MUI-WM-01-M10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>
                <a:latin typeface="+mn-ea"/>
              </a:rPr>
              <a:t>대금지불정보</a:t>
            </a:r>
            <a:r>
              <a:rPr lang="en-US" altLang="ko-KR" sz="800" dirty="0">
                <a:latin typeface="+mn-ea"/>
              </a:rPr>
              <a:t>(</a:t>
            </a:r>
            <a:r>
              <a:rPr lang="ko-KR" altLang="en-US" sz="800" dirty="0">
                <a:latin typeface="+mn-ea"/>
              </a:rPr>
              <a:t>반납</a:t>
            </a:r>
            <a:r>
              <a:rPr lang="en-US" altLang="ko-KR" sz="800" dirty="0">
                <a:latin typeface="+mn-ea"/>
              </a:rPr>
              <a:t>)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214303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37" name="그룹 36"/>
          <p:cNvGrpSpPr/>
          <p:nvPr/>
        </p:nvGrpSpPr>
        <p:grpSpPr>
          <a:xfrm>
            <a:off x="3143548" y="3008641"/>
            <a:ext cx="94010" cy="47005"/>
            <a:chOff x="6812560" y="3297172"/>
            <a:chExt cx="94010" cy="47005"/>
          </a:xfrm>
        </p:grpSpPr>
        <p:cxnSp>
          <p:nvCxnSpPr>
            <p:cNvPr id="42" name="직선 연결선 4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직선 연결선 4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41494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781461" y="3389662"/>
            <a:ext cx="2473257" cy="1080735"/>
            <a:chOff x="781461" y="3087955"/>
            <a:chExt cx="2473257" cy="1080735"/>
          </a:xfrm>
        </p:grpSpPr>
        <p:sp>
          <p:nvSpPr>
            <p:cNvPr id="55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3272286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 smtClean="0"/>
                <a:t>계약번호</a:t>
              </a:r>
              <a:r>
                <a:rPr lang="ko-KR" altLang="en-US" sz="700" dirty="0" smtClean="0"/>
                <a:t> </a:t>
              </a:r>
              <a:r>
                <a:rPr lang="en-US" altLang="ko-KR" sz="700" dirty="0"/>
                <a:t>2025000000 - 01</a:t>
              </a:r>
            </a:p>
            <a:p>
              <a:r>
                <a:rPr lang="ko-KR" altLang="en-US" sz="900" b="1" dirty="0">
                  <a:solidFill>
                    <a:srgbClr val="0070C0"/>
                  </a:solidFill>
                </a:rPr>
                <a:t>물품</a:t>
              </a:r>
              <a:r>
                <a:rPr lang="ko-KR" altLang="en-US" sz="900" b="1" dirty="0"/>
                <a:t>구매</a:t>
              </a:r>
            </a:p>
          </p:txBody>
        </p:sp>
        <p:sp>
          <p:nvSpPr>
            <p:cNvPr id="56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632518"/>
              <a:ext cx="307777" cy="5361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/>
                <a:t>신청번호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계약금액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수령금액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청구금액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57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617129"/>
              <a:ext cx="472886" cy="5361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/>
                <a:t>1234-5678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11,616,000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11,616,000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11,616,000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67" name="모서리가 둥근 직사각형 66"/>
            <p:cNvSpPr/>
            <p:nvPr/>
          </p:nvSpPr>
          <p:spPr>
            <a:xfrm>
              <a:off x="781461" y="3087955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물품</a:t>
              </a:r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015426"/>
            <a:ext cx="76863" cy="292489"/>
            <a:chOff x="3750067" y="4683795"/>
            <a:chExt cx="76863" cy="292489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603703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4188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공지사항</a:t>
            </a:r>
          </a:p>
        </p:txBody>
      </p:sp>
      <p:sp>
        <p:nvSpPr>
          <p:cNvPr id="129" name="타원 128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9808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2910872"/>
            <a:ext cx="127319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grpSp>
        <p:nvGrpSpPr>
          <p:cNvPr id="4" name="그룹 3"/>
          <p:cNvGrpSpPr/>
          <p:nvPr/>
        </p:nvGrpSpPr>
        <p:grpSpPr>
          <a:xfrm>
            <a:off x="10356927" y="2118048"/>
            <a:ext cx="2855757" cy="1227135"/>
            <a:chOff x="3834207" y="2304240"/>
            <a:chExt cx="2855757" cy="1227135"/>
          </a:xfrm>
        </p:grpSpPr>
        <p:sp>
          <p:nvSpPr>
            <p:cNvPr id="80" name="모서리가 둥근 직사각형 79"/>
            <p:cNvSpPr/>
            <p:nvPr/>
          </p:nvSpPr>
          <p:spPr>
            <a:xfrm>
              <a:off x="4614060" y="2544628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물품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34207" y="2304240"/>
              <a:ext cx="54734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표시 레이블</a:t>
              </a:r>
            </a:p>
          </p:txBody>
        </p:sp>
        <p:sp>
          <p:nvSpPr>
            <p:cNvPr id="84" name="모서리가 둥근 직사각형 83"/>
            <p:cNvSpPr/>
            <p:nvPr/>
          </p:nvSpPr>
          <p:spPr>
            <a:xfrm>
              <a:off x="4914986" y="2544628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용역</a:t>
              </a:r>
            </a:p>
          </p:txBody>
        </p:sp>
        <p:sp>
          <p:nvSpPr>
            <p:cNvPr id="85" name="모서리가 둥근 직사각형 84"/>
            <p:cNvSpPr/>
            <p:nvPr/>
          </p:nvSpPr>
          <p:spPr>
            <a:xfrm>
              <a:off x="5215975" y="2544628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공사</a:t>
              </a:r>
            </a:p>
          </p:txBody>
        </p:sp>
        <p:sp>
          <p:nvSpPr>
            <p:cNvPr id="86" name="모서리가 둥근 직사각형 85"/>
            <p:cNvSpPr/>
            <p:nvPr/>
          </p:nvSpPr>
          <p:spPr>
            <a:xfrm>
              <a:off x="5519047" y="2544628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국외</a:t>
              </a:r>
            </a:p>
          </p:txBody>
        </p:sp>
        <p:sp>
          <p:nvSpPr>
            <p:cNvPr id="87" name="모서리가 둥근 직사각형 86"/>
            <p:cNvSpPr/>
            <p:nvPr/>
          </p:nvSpPr>
          <p:spPr>
            <a:xfrm>
              <a:off x="4318635" y="2544628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전체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40447" y="2550467"/>
              <a:ext cx="54734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 err="1">
                  <a:latin typeface="+mn-ea"/>
                </a:rPr>
                <a:t>업무구분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80" name="모서리가 둥근 직사각형 179"/>
            <p:cNvSpPr/>
            <p:nvPr/>
          </p:nvSpPr>
          <p:spPr>
            <a:xfrm>
              <a:off x="4318635" y="2877159"/>
              <a:ext cx="325832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err="1"/>
                <a:t>총액제</a:t>
              </a:r>
              <a:endParaRPr lang="ko-KR" altLang="en-US" sz="600" dirty="0"/>
            </a:p>
          </p:txBody>
        </p:sp>
        <p:sp>
          <p:nvSpPr>
            <p:cNvPr id="181" name="모서리가 둥근 직사각형 180"/>
            <p:cNvSpPr/>
            <p:nvPr/>
          </p:nvSpPr>
          <p:spPr>
            <a:xfrm>
              <a:off x="4695883" y="2878607"/>
              <a:ext cx="325832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err="1"/>
                <a:t>단가제</a:t>
              </a:r>
              <a:endParaRPr lang="ko-KR" altLang="en-US" sz="600" dirty="0"/>
            </a:p>
          </p:txBody>
        </p: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40447" y="2882998"/>
              <a:ext cx="54734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 err="1">
                  <a:latin typeface="+mn-ea"/>
                </a:rPr>
                <a:t>입찰구분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40447" y="3223238"/>
              <a:ext cx="54734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 err="1">
                  <a:latin typeface="+mn-ea"/>
                </a:rPr>
                <a:t>대금상태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12" name="모서리가 둥근 직사각형 111"/>
            <p:cNvSpPr/>
            <p:nvPr/>
          </p:nvSpPr>
          <p:spPr>
            <a:xfrm>
              <a:off x="4318634" y="3219308"/>
              <a:ext cx="39641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err="1"/>
                <a:t>선금신청</a:t>
              </a:r>
              <a:endParaRPr lang="ko-KR" altLang="en-US" sz="600" dirty="0"/>
            </a:p>
          </p:txBody>
        </p:sp>
        <p:sp>
          <p:nvSpPr>
            <p:cNvPr id="113" name="모서리가 둥근 직사각형 112"/>
            <p:cNvSpPr/>
            <p:nvPr/>
          </p:nvSpPr>
          <p:spPr>
            <a:xfrm>
              <a:off x="4762118" y="3220756"/>
              <a:ext cx="555911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err="1"/>
                <a:t>착중도금신청</a:t>
              </a:r>
              <a:endParaRPr lang="ko-KR" altLang="en-US" sz="600" dirty="0"/>
            </a:p>
          </p:txBody>
        </p:sp>
        <p:sp>
          <p:nvSpPr>
            <p:cNvPr id="115" name="모서리가 둥근 직사각형 114"/>
            <p:cNvSpPr/>
            <p:nvPr/>
          </p:nvSpPr>
          <p:spPr>
            <a:xfrm>
              <a:off x="5833259" y="3220756"/>
              <a:ext cx="403390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err="1"/>
                <a:t>대금수정</a:t>
              </a:r>
              <a:endParaRPr lang="ko-KR" altLang="en-US" sz="600" dirty="0"/>
            </a:p>
          </p:txBody>
        </p:sp>
        <p:sp>
          <p:nvSpPr>
            <p:cNvPr id="118" name="모서리가 둥근 직사각형 117"/>
            <p:cNvSpPr/>
            <p:nvPr/>
          </p:nvSpPr>
          <p:spPr>
            <a:xfrm>
              <a:off x="5364593" y="3220756"/>
              <a:ext cx="403390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err="1"/>
                <a:t>대금청구</a:t>
              </a:r>
              <a:r>
                <a:rPr lang="ko-KR" altLang="en-US" sz="600" dirty="0"/>
                <a:t>                          </a:t>
              </a:r>
            </a:p>
          </p:txBody>
        </p:sp>
        <p:sp>
          <p:nvSpPr>
            <p:cNvPr id="123" name="모서리가 둥근 직사각형 122"/>
            <p:cNvSpPr/>
            <p:nvPr/>
          </p:nvSpPr>
          <p:spPr>
            <a:xfrm>
              <a:off x="6286574" y="3220756"/>
              <a:ext cx="403390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err="1"/>
                <a:t>대금확정</a:t>
              </a:r>
              <a:endParaRPr lang="ko-KR" altLang="en-US" sz="600" dirty="0"/>
            </a:p>
          </p:txBody>
        </p:sp>
        <p:sp>
          <p:nvSpPr>
            <p:cNvPr id="125" name="모서리가 둥근 직사각형 124"/>
            <p:cNvSpPr/>
            <p:nvPr/>
          </p:nvSpPr>
          <p:spPr>
            <a:xfrm>
              <a:off x="4318634" y="3411975"/>
              <a:ext cx="39641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사후정산</a:t>
              </a:r>
            </a:p>
          </p:txBody>
        </p:sp>
      </p:grpSp>
      <p:sp>
        <p:nvSpPr>
          <p:cNvPr id="185" name="타원 184"/>
          <p:cNvSpPr/>
          <p:nvPr/>
        </p:nvSpPr>
        <p:spPr>
          <a:xfrm>
            <a:off x="2741767" y="1580377"/>
            <a:ext cx="108000" cy="108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699587" y="1709526"/>
            <a:ext cx="192360" cy="769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500" dirty="0">
                <a:latin typeface="+mn-ea"/>
              </a:rPr>
              <a:t>안내문</a:t>
            </a:r>
          </a:p>
        </p:txBody>
      </p:sp>
      <p:grpSp>
        <p:nvGrpSpPr>
          <p:cNvPr id="126" name="그룹 125"/>
          <p:cNvGrpSpPr/>
          <p:nvPr/>
        </p:nvGrpSpPr>
        <p:grpSpPr>
          <a:xfrm>
            <a:off x="767702" y="2270279"/>
            <a:ext cx="2527420" cy="477995"/>
            <a:chOff x="786326" y="2270279"/>
            <a:chExt cx="2527420" cy="477995"/>
          </a:xfrm>
        </p:grpSpPr>
        <p:sp>
          <p:nvSpPr>
            <p:cNvPr id="133" name="모서리가 둥근 직사각형 132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" name="타원 139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grpSp>
          <p:nvGrpSpPr>
            <p:cNvPr id="144" name="그룹 143"/>
            <p:cNvGrpSpPr/>
            <p:nvPr/>
          </p:nvGrpSpPr>
          <p:grpSpPr>
            <a:xfrm>
              <a:off x="795624" y="2274581"/>
              <a:ext cx="1299303" cy="155984"/>
              <a:chOff x="808107" y="2288229"/>
              <a:chExt cx="1189739" cy="168318"/>
            </a:xfrm>
          </p:grpSpPr>
          <p:sp>
            <p:nvSpPr>
              <p:cNvPr id="190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808107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계약명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/>
                </a:endParaRPr>
              </a:p>
            </p:txBody>
          </p:sp>
          <p:sp>
            <p:nvSpPr>
              <p:cNvPr id="191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1434352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latin typeface="맑은 고딕"/>
                    <a:ea typeface="맑은 고딕" panose="020B0503020000020004" pitchFamily="50" charset="-127"/>
                  </a:rPr>
                  <a:t>계약번호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</p:grpSp>
        <p:sp>
          <p:nvSpPr>
            <p:cNvPr id="148" name="타원 147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182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2726021" y="2270279"/>
              <a:ext cx="582849" cy="15479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 err="1">
                  <a:latin typeface="맑은 고딕"/>
                  <a:ea typeface="맑은 고딕" panose="020B0503020000020004" pitchFamily="50" charset="-127"/>
                </a:rPr>
                <a:t>검색필터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186" name="타원 185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87" name="그룹 186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88" name="직선 연결선 187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9" name="직선 연결선 188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92" name="TextBox 19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2890210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2890210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194" name="그룹 193"/>
          <p:cNvGrpSpPr/>
          <p:nvPr/>
        </p:nvGrpSpPr>
        <p:grpSpPr>
          <a:xfrm>
            <a:off x="3004764" y="3105654"/>
            <a:ext cx="776938" cy="1131139"/>
            <a:chOff x="3004764" y="2490533"/>
            <a:chExt cx="776938" cy="1131139"/>
          </a:xfrm>
        </p:grpSpPr>
        <p:sp>
          <p:nvSpPr>
            <p:cNvPr id="195" name="사각형: 둥근 모서리 222">
              <a:extLst>
                <a:ext uri="{FF2B5EF4-FFF2-40B4-BE49-F238E27FC236}">
                  <a16:creationId xmlns:a16="http://schemas.microsoft.com/office/drawing/2014/main" id="{8AF9D577-0373-21E1-F7E1-B17AE839E882}"/>
                </a:ext>
              </a:extLst>
            </p:cNvPr>
            <p:cNvSpPr/>
            <p:nvPr/>
          </p:nvSpPr>
          <p:spPr>
            <a:xfrm>
              <a:off x="3004764" y="2833887"/>
              <a:ext cx="776938" cy="787785"/>
            </a:xfrm>
            <a:prstGeom prst="roundRect">
              <a:avLst>
                <a:gd name="adj" fmla="val 389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6" name="사각형: 둥근 모서리 224">
              <a:extLst>
                <a:ext uri="{FF2B5EF4-FFF2-40B4-BE49-F238E27FC236}">
                  <a16:creationId xmlns:a16="http://schemas.microsoft.com/office/drawing/2014/main" id="{3EFB2C27-9C6F-8886-4247-7900976F7BD2}"/>
                </a:ext>
              </a:extLst>
            </p:cNvPr>
            <p:cNvSpPr/>
            <p:nvPr/>
          </p:nvSpPr>
          <p:spPr>
            <a:xfrm>
              <a:off x="3004764" y="2490533"/>
              <a:ext cx="775390" cy="343356"/>
            </a:xfrm>
            <a:prstGeom prst="roundRect">
              <a:avLst/>
            </a:prstGeom>
            <a:solidFill>
              <a:sysClr val="window" lastClr="FFFFFF"/>
            </a:solidFill>
            <a:ln w="952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10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개</a:t>
              </a:r>
              <a:endPara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197" name="TextBox 226">
              <a:extLst>
                <a:ext uri="{FF2B5EF4-FFF2-40B4-BE49-F238E27FC236}">
                  <a16:creationId xmlns:a16="http://schemas.microsoft.com/office/drawing/2014/main" id="{2D0EB093-7669-C055-4901-B28C987E9EF9}"/>
                </a:ext>
              </a:extLst>
            </p:cNvPr>
            <p:cNvSpPr txBox="1"/>
            <p:nvPr/>
          </p:nvSpPr>
          <p:spPr>
            <a:xfrm>
              <a:off x="3063151" y="2833887"/>
              <a:ext cx="641770" cy="6740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10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개</a:t>
              </a:r>
              <a:endPara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30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 개</a:t>
              </a:r>
              <a:endParaRPr lang="en-US" altLang="ko-KR" sz="700" kern="0" dirty="0">
                <a:solidFill>
                  <a:prstClr val="black"/>
                </a:solidFill>
              </a:endParaRPr>
            </a:p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50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개</a:t>
              </a:r>
              <a:endPara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grpSp>
          <p:nvGrpSpPr>
            <p:cNvPr id="198" name="그룹 197"/>
            <p:cNvGrpSpPr/>
            <p:nvPr/>
          </p:nvGrpSpPr>
          <p:grpSpPr>
            <a:xfrm flipV="1">
              <a:off x="3584851" y="2638708"/>
              <a:ext cx="94010" cy="47005"/>
              <a:chOff x="6615710" y="3297172"/>
              <a:chExt cx="94010" cy="47005"/>
            </a:xfrm>
          </p:grpSpPr>
          <p:cxnSp>
            <p:nvCxnSpPr>
              <p:cNvPr id="199" name="직선 연결선 198"/>
              <p:cNvCxnSpPr/>
              <p:nvPr/>
            </p:nvCxnSpPr>
            <p:spPr>
              <a:xfrm>
                <a:off x="661571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0" name="직선 연결선 199"/>
              <p:cNvCxnSpPr/>
              <p:nvPr/>
            </p:nvCxnSpPr>
            <p:spPr>
              <a:xfrm flipH="1">
                <a:off x="666271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14" name="타원 11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5884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17" name="타원 11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90465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20" name="타원 11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58819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  <p:sp>
        <p:nvSpPr>
          <p:cNvPr id="121" name="타원 12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42020" y="22046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4-1</a:t>
            </a:r>
            <a:endParaRPr lang="ko-KR" altLang="en-US" sz="600" b="1" dirty="0"/>
          </a:p>
        </p:txBody>
      </p:sp>
      <p:sp>
        <p:nvSpPr>
          <p:cNvPr id="122" name="타원 12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06935" y="326122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4-1</a:t>
            </a:r>
          </a:p>
        </p:txBody>
      </p:sp>
      <p:sp>
        <p:nvSpPr>
          <p:cNvPr id="136" name="텍스트 개체 틀 5"/>
          <p:cNvSpPr txBox="1">
            <a:spLocks/>
          </p:cNvSpPr>
          <p:nvPr/>
        </p:nvSpPr>
        <p:spPr>
          <a:xfrm>
            <a:off x="7103286" y="1493927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 algn="l" defTabSz="914400" rtl="0" eaLnBrk="1" latinLnBrk="1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+mj-lt"/>
              <a:buAutoNum type="arabicPeriod"/>
            </a:pPr>
            <a:r>
              <a:rPr lang="ko-KR" altLang="en-US" sz="700" dirty="0" smtClean="0"/>
              <a:t>상단 </a:t>
            </a:r>
            <a:r>
              <a:rPr lang="ko-KR" altLang="en-US" sz="700" dirty="0" err="1" smtClean="0"/>
              <a:t>업무도움은</a:t>
            </a:r>
            <a:r>
              <a:rPr lang="ko-KR" altLang="en-US" sz="700" dirty="0" smtClean="0"/>
              <a:t> 기본 값으로 접힘 상태로 정보 제공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페이지 </a:t>
            </a:r>
            <a:r>
              <a:rPr lang="ko-KR" altLang="en-US" sz="700" dirty="0" err="1" smtClean="0"/>
              <a:t>호출시</a:t>
            </a:r>
            <a:r>
              <a:rPr lang="ko-KR" altLang="en-US" sz="700" dirty="0" smtClean="0"/>
              <a:t> </a:t>
            </a:r>
            <a:r>
              <a:rPr lang="en-US" altLang="ko-KR" sz="700" dirty="0" smtClean="0"/>
              <a:t>: </a:t>
            </a:r>
            <a:r>
              <a:rPr lang="ko-KR" altLang="en-US" sz="700" dirty="0" smtClean="0"/>
              <a:t>해당 업체에서 진행중인 모든 </a:t>
            </a:r>
            <a:r>
              <a:rPr lang="ko-KR" altLang="en-US" sz="700" dirty="0" err="1" smtClean="0"/>
              <a:t>계약건이</a:t>
            </a:r>
            <a:r>
              <a:rPr lang="ko-KR" altLang="en-US" sz="700" dirty="0" smtClean="0"/>
              <a:t> 노출됨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계약일자기준 당일 포함 이전 </a:t>
            </a:r>
            <a:r>
              <a:rPr lang="en-US" altLang="ko-KR" sz="700" dirty="0" smtClean="0"/>
              <a:t>30</a:t>
            </a:r>
            <a:r>
              <a:rPr lang="ko-KR" altLang="en-US" sz="700" dirty="0" smtClean="0"/>
              <a:t>일 동안 신청된 계약 건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기본값 </a:t>
            </a:r>
            <a:r>
              <a:rPr lang="en-US" altLang="ko-KR" sz="700" dirty="0" smtClean="0"/>
              <a:t>: </a:t>
            </a:r>
            <a:r>
              <a:rPr lang="ko-KR" altLang="en-US" sz="700" dirty="0" smtClean="0"/>
              <a:t>접힘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사용자 </a:t>
            </a:r>
            <a:r>
              <a:rPr lang="ko-KR" altLang="en-US" sz="700" dirty="0" err="1" smtClean="0"/>
              <a:t>클릭시</a:t>
            </a:r>
            <a:r>
              <a:rPr lang="ko-KR" altLang="en-US" sz="700" dirty="0" smtClean="0"/>
              <a:t> 확장하여 정보 표시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err="1" smtClean="0"/>
              <a:t>업무도움</a:t>
            </a:r>
            <a:r>
              <a:rPr lang="en-US" altLang="ko-KR" sz="700" dirty="0" smtClean="0"/>
              <a:t> &gt; </a:t>
            </a:r>
            <a:r>
              <a:rPr lang="ko-KR" altLang="en-US" sz="700" dirty="0" smtClean="0"/>
              <a:t>내역이 있는 경우 표시</a:t>
            </a:r>
            <a:r>
              <a:rPr lang="en-US" altLang="ko-KR" sz="700" dirty="0" smtClean="0"/>
              <a:t>, </a:t>
            </a:r>
            <a:r>
              <a:rPr lang="ko-KR" altLang="en-US" sz="700" dirty="0" smtClean="0"/>
              <a:t>내역이 없으면 항목을 표시하지 않음</a:t>
            </a:r>
            <a:r>
              <a:rPr lang="en-US" altLang="ko-KR" sz="700" dirty="0" smtClean="0"/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700" dirty="0" err="1" smtClean="0"/>
              <a:t>검색필터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2-1] </a:t>
            </a:r>
            <a:r>
              <a:rPr lang="ko-KR" altLang="en-US" sz="700" dirty="0" smtClean="0"/>
              <a:t>통합참조정보</a:t>
            </a:r>
            <a:r>
              <a:rPr lang="en-US" altLang="ko-KR" sz="700" dirty="0" smtClean="0"/>
              <a:t>, </a:t>
            </a:r>
            <a:r>
              <a:rPr lang="ko-KR" altLang="en-US" sz="700" dirty="0" err="1" smtClean="0"/>
              <a:t>예약번호중</a:t>
            </a:r>
            <a:r>
              <a:rPr lang="ko-KR" altLang="en-US" sz="700" dirty="0" smtClean="0"/>
              <a:t> 선택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2-2] </a:t>
            </a:r>
            <a:r>
              <a:rPr lang="ko-KR" altLang="en-US" sz="700" dirty="0" err="1" smtClean="0"/>
              <a:t>검색어</a:t>
            </a:r>
            <a:r>
              <a:rPr lang="ko-KR" altLang="en-US" sz="700" dirty="0" smtClean="0"/>
              <a:t> 입력</a:t>
            </a:r>
            <a:endParaRPr lang="en-US" altLang="ko-KR" sz="7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700" dirty="0" smtClean="0">
                <a:latin typeface="+mn-ea"/>
              </a:rPr>
              <a:t>검색 필터 호출</a:t>
            </a:r>
            <a:r>
              <a:rPr lang="en-US" altLang="ko-KR" sz="700" dirty="0" smtClean="0">
                <a:latin typeface="+mn-ea"/>
              </a:rPr>
              <a:t/>
            </a:r>
            <a:br>
              <a:rPr lang="en-US" altLang="ko-KR" sz="700" dirty="0" smtClean="0">
                <a:latin typeface="+mn-ea"/>
              </a:rPr>
            </a:br>
            <a:r>
              <a:rPr lang="ko-KR" altLang="en-US" sz="700" dirty="0" smtClean="0">
                <a:latin typeface="+mn-ea"/>
              </a:rPr>
              <a:t> </a:t>
            </a:r>
            <a:r>
              <a:rPr lang="en-US" altLang="ko-KR" sz="700" dirty="0" smtClean="0">
                <a:latin typeface="+mn-ea"/>
              </a:rPr>
              <a:t>– </a:t>
            </a:r>
            <a:r>
              <a:rPr lang="ko-KR" altLang="en-US" sz="700" dirty="0" smtClean="0">
                <a:latin typeface="+mn-ea"/>
              </a:rPr>
              <a:t>계약 페이지 참고</a:t>
            </a:r>
            <a:endParaRPr lang="en-US" altLang="ko-KR" sz="7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700" dirty="0" smtClean="0"/>
              <a:t>표시 개수 영역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총 개수 표시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표시 개수 </a:t>
            </a:r>
            <a:r>
              <a:rPr lang="en-US" altLang="ko-KR" sz="700" dirty="0" smtClean="0"/>
              <a:t>(</a:t>
            </a:r>
            <a:r>
              <a:rPr lang="ko-KR" altLang="en-US" sz="700" dirty="0" smtClean="0"/>
              <a:t>선택한 건수 만큼 보여주고 </a:t>
            </a:r>
            <a:r>
              <a:rPr lang="ko-KR" altLang="en-US" sz="700" dirty="0" err="1" smtClean="0"/>
              <a:t>더보기시</a:t>
            </a:r>
            <a:r>
              <a:rPr lang="ko-KR" altLang="en-US" sz="700" dirty="0" smtClean="0"/>
              <a:t> 추가로 불러옴</a:t>
            </a:r>
            <a:r>
              <a:rPr lang="en-US" altLang="ko-KR" sz="700" dirty="0" smtClean="0"/>
              <a:t>)</a:t>
            </a:r>
            <a:br>
              <a:rPr lang="en-US" altLang="ko-KR" sz="700" dirty="0" smtClean="0"/>
            </a:br>
            <a:r>
              <a:rPr lang="ko-KR" altLang="en-US" sz="700" dirty="0" smtClean="0"/>
              <a:t>목록 카드 표시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카드 </a:t>
            </a:r>
            <a:r>
              <a:rPr lang="ko-KR" altLang="en-US" sz="700" dirty="0" err="1" smtClean="0"/>
              <a:t>클릭시</a:t>
            </a:r>
            <a:r>
              <a:rPr lang="ko-KR" altLang="en-US" sz="700" dirty="0" smtClean="0"/>
              <a:t> </a:t>
            </a:r>
            <a:r>
              <a:rPr lang="ko-KR" altLang="en-US" sz="700" dirty="0" err="1" smtClean="0"/>
              <a:t>바텀시트</a:t>
            </a:r>
            <a:r>
              <a:rPr lang="ko-KR" altLang="en-US" sz="700" dirty="0" smtClean="0"/>
              <a:t> 호출</a:t>
            </a:r>
            <a:r>
              <a:rPr lang="en-US" altLang="ko-KR" sz="700" dirty="0" smtClean="0"/>
              <a:t>(</a:t>
            </a:r>
            <a:r>
              <a:rPr lang="en-US" altLang="ko-KR" sz="700" dirty="0" smtClean="0">
                <a:latin typeface="+mn-ea"/>
              </a:rPr>
              <a:t>MUI-WM-01-P13)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4-1] </a:t>
            </a:r>
            <a:r>
              <a:rPr lang="ko-KR" altLang="en-US" sz="700" dirty="0" err="1" smtClean="0"/>
              <a:t>표시레이블</a:t>
            </a:r>
            <a:r>
              <a:rPr lang="ko-KR" altLang="en-US" sz="700" dirty="0" smtClean="0"/>
              <a:t> 영역 항목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레이블이 화면을 넘치는 경우 드래그하여 확인 가능 </a:t>
            </a:r>
            <a:r>
              <a:rPr lang="en-US" altLang="ko-KR" sz="700" dirty="0" smtClean="0"/>
              <a:t>(</a:t>
            </a:r>
            <a:r>
              <a:rPr lang="ko-KR" altLang="en-US" sz="700" dirty="0" err="1" smtClean="0"/>
              <a:t>스와이프기능</a:t>
            </a:r>
            <a:r>
              <a:rPr lang="ko-KR" altLang="en-US" sz="700" dirty="0" smtClean="0"/>
              <a:t> 반영 필요</a:t>
            </a:r>
            <a:r>
              <a:rPr lang="en-US" altLang="ko-KR" sz="700" dirty="0" smtClean="0"/>
              <a:t>)</a:t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err="1" smtClean="0"/>
              <a:t>업무구분</a:t>
            </a:r>
            <a:r>
              <a:rPr lang="ko-KR" altLang="en-US" sz="700" dirty="0" smtClean="0"/>
              <a:t> </a:t>
            </a:r>
            <a:r>
              <a:rPr lang="en-US" altLang="ko-KR" sz="700" dirty="0" smtClean="0"/>
              <a:t>:  </a:t>
            </a:r>
            <a:r>
              <a:rPr lang="ko-KR" altLang="en-US" sz="700" dirty="0" smtClean="0"/>
              <a:t>전체</a:t>
            </a:r>
            <a:r>
              <a:rPr lang="en-US" altLang="ko-KR" sz="700" dirty="0" smtClean="0"/>
              <a:t>, </a:t>
            </a:r>
            <a:r>
              <a:rPr lang="ko-KR" altLang="en-US" sz="700" dirty="0" smtClean="0"/>
              <a:t>물품</a:t>
            </a:r>
            <a:r>
              <a:rPr lang="en-US" altLang="ko-KR" sz="700" dirty="0" smtClean="0"/>
              <a:t>, </a:t>
            </a:r>
            <a:r>
              <a:rPr lang="ko-KR" altLang="en-US" sz="700" dirty="0" smtClean="0"/>
              <a:t>용역</a:t>
            </a:r>
            <a:r>
              <a:rPr lang="en-US" altLang="ko-KR" sz="700" dirty="0" smtClean="0"/>
              <a:t>, </a:t>
            </a:r>
            <a:r>
              <a:rPr lang="ko-KR" altLang="en-US" sz="700" dirty="0" smtClean="0"/>
              <a:t>공사</a:t>
            </a:r>
            <a:r>
              <a:rPr lang="en-US" altLang="ko-KR" sz="700" dirty="0" smtClean="0"/>
              <a:t>, </a:t>
            </a:r>
            <a:r>
              <a:rPr lang="ko-KR" altLang="en-US" sz="700" dirty="0" smtClean="0"/>
              <a:t>국외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err="1" smtClean="0"/>
              <a:t>입찰구분</a:t>
            </a:r>
            <a:r>
              <a:rPr lang="ko-KR" altLang="en-US" sz="700" dirty="0" smtClean="0"/>
              <a:t> </a:t>
            </a:r>
            <a:r>
              <a:rPr lang="en-US" altLang="ko-KR" sz="700" dirty="0" smtClean="0"/>
              <a:t>: </a:t>
            </a:r>
            <a:r>
              <a:rPr lang="ko-KR" altLang="en-US" sz="700" dirty="0" err="1" smtClean="0"/>
              <a:t>총액제</a:t>
            </a:r>
            <a:r>
              <a:rPr lang="en-US" altLang="ko-KR" sz="700" dirty="0" smtClean="0"/>
              <a:t>, </a:t>
            </a:r>
            <a:r>
              <a:rPr lang="ko-KR" altLang="en-US" sz="700" dirty="0" err="1" smtClean="0"/>
              <a:t>단가제</a:t>
            </a:r>
            <a:r>
              <a:rPr lang="en-US" altLang="ko-KR" sz="700" dirty="0"/>
              <a:t/>
            </a:r>
            <a:br>
              <a:rPr lang="en-US" altLang="ko-KR" sz="700" dirty="0"/>
            </a:br>
            <a:r>
              <a:rPr lang="en-US" altLang="ko-KR" sz="700" dirty="0" smtClean="0"/>
              <a:t>- </a:t>
            </a:r>
            <a:r>
              <a:rPr lang="ko-KR" altLang="en-US" sz="700" dirty="0" err="1" smtClean="0"/>
              <a:t>대금상태</a:t>
            </a:r>
            <a:r>
              <a:rPr lang="ko-KR" altLang="en-US" sz="700" dirty="0" smtClean="0"/>
              <a:t> </a:t>
            </a:r>
            <a:r>
              <a:rPr lang="en-US" altLang="ko-KR" sz="700" dirty="0" smtClean="0"/>
              <a:t>: </a:t>
            </a:r>
            <a:r>
              <a:rPr lang="ko-KR" altLang="en-US" sz="700" dirty="0" err="1" smtClean="0"/>
              <a:t>선금신청</a:t>
            </a:r>
            <a:r>
              <a:rPr lang="en-US" altLang="ko-KR" sz="700" dirty="0" smtClean="0"/>
              <a:t>, </a:t>
            </a:r>
            <a:r>
              <a:rPr lang="ko-KR" altLang="en-US" sz="700" dirty="0" err="1" smtClean="0"/>
              <a:t>착중도금신청</a:t>
            </a:r>
            <a:r>
              <a:rPr lang="en-US" altLang="ko-KR" sz="700" dirty="0" smtClean="0"/>
              <a:t>, </a:t>
            </a:r>
            <a:r>
              <a:rPr lang="ko-KR" altLang="en-US" sz="700" dirty="0" err="1" smtClean="0"/>
              <a:t>대금청구</a:t>
            </a:r>
            <a:r>
              <a:rPr lang="en-US" altLang="ko-KR" sz="700" dirty="0" smtClean="0"/>
              <a:t>, </a:t>
            </a:r>
            <a:r>
              <a:rPr lang="ko-KR" altLang="en-US" sz="700" dirty="0" err="1" smtClean="0"/>
              <a:t>대금수정</a:t>
            </a:r>
            <a:r>
              <a:rPr lang="en-US" altLang="ko-KR" sz="700" dirty="0" smtClean="0"/>
              <a:t>, </a:t>
            </a:r>
            <a:r>
              <a:rPr lang="ko-KR" altLang="en-US" sz="700" dirty="0" err="1" smtClean="0"/>
              <a:t>대금확정</a:t>
            </a:r>
            <a:r>
              <a:rPr lang="en-US" altLang="ko-KR" sz="700" dirty="0" smtClean="0"/>
              <a:t>, </a:t>
            </a:r>
            <a:r>
              <a:rPr lang="ko-KR" altLang="en-US" sz="700" dirty="0" smtClean="0"/>
              <a:t>사후정산</a:t>
            </a:r>
            <a:br>
              <a:rPr lang="ko-KR" altLang="en-US" sz="700" dirty="0" smtClean="0"/>
            </a:br>
            <a:r>
              <a:rPr lang="en-US" altLang="ko-KR" sz="700" dirty="0" smtClean="0"/>
              <a:t>4-2] </a:t>
            </a:r>
            <a:r>
              <a:rPr lang="ko-KR" altLang="en-US" sz="700" dirty="0" smtClean="0"/>
              <a:t>문서 정보 영역 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err="1" smtClean="0"/>
              <a:t>계약번호</a:t>
            </a:r>
            <a:r>
              <a:rPr lang="en-US" altLang="ko-KR" sz="700" dirty="0" smtClean="0"/>
              <a:t>+</a:t>
            </a:r>
            <a:r>
              <a:rPr lang="ko-KR" altLang="en-US" sz="700" dirty="0" err="1" smtClean="0"/>
              <a:t>회차노출</a:t>
            </a:r>
            <a:r>
              <a:rPr lang="ko-KR" altLang="en-US" sz="700" dirty="0" smtClean="0"/>
              <a:t> 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err="1" smtClean="0"/>
              <a:t>계약번호</a:t>
            </a:r>
            <a:r>
              <a:rPr lang="ko-KR" altLang="en-US" sz="700" dirty="0" smtClean="0"/>
              <a:t> </a:t>
            </a:r>
            <a:r>
              <a:rPr lang="ko-KR" altLang="en-US" sz="700" dirty="0" err="1" smtClean="0"/>
              <a:t>노출시</a:t>
            </a:r>
            <a:r>
              <a:rPr lang="ko-KR" altLang="en-US" sz="700" dirty="0" smtClean="0"/>
              <a:t> 해당 라인을 넘어가면 </a:t>
            </a:r>
            <a:r>
              <a:rPr lang="en-US" altLang="ko-KR" sz="700" dirty="0" smtClean="0"/>
              <a:t>(…) </a:t>
            </a:r>
            <a:r>
              <a:rPr lang="ko-KR" altLang="en-US" sz="700" dirty="0" err="1" smtClean="0"/>
              <a:t>말줄임</a:t>
            </a:r>
            <a:r>
              <a:rPr lang="ko-KR" altLang="en-US" sz="700" dirty="0" smtClean="0"/>
              <a:t> 표시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err="1" smtClean="0"/>
              <a:t>계약번호</a:t>
            </a:r>
            <a:r>
              <a:rPr lang="en-US" altLang="ko-KR" sz="700" dirty="0" smtClean="0"/>
              <a:t>:</a:t>
            </a:r>
            <a:r>
              <a:rPr lang="ko-KR" altLang="en-US" sz="700" dirty="0" smtClean="0"/>
              <a:t> </a:t>
            </a:r>
            <a:r>
              <a:rPr lang="ko-KR" altLang="en-US" sz="700" dirty="0" err="1" smtClean="0"/>
              <a:t>계약번호</a:t>
            </a:r>
            <a:r>
              <a:rPr lang="en-US" altLang="ko-KR" sz="700" dirty="0" smtClean="0"/>
              <a:t>+</a:t>
            </a:r>
            <a:r>
              <a:rPr lang="ko-KR" altLang="en-US" sz="700" dirty="0" smtClean="0"/>
              <a:t>계약번호차수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4-3] </a:t>
            </a:r>
            <a:r>
              <a:rPr lang="ko-KR" altLang="en-US" sz="700" dirty="0" smtClean="0"/>
              <a:t>문서 제목 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제목은 </a:t>
            </a:r>
            <a:r>
              <a:rPr lang="en-US" altLang="ko-KR" sz="700" dirty="0" smtClean="0"/>
              <a:t>2</a:t>
            </a:r>
            <a:r>
              <a:rPr lang="ko-KR" altLang="en-US" sz="700" dirty="0" smtClean="0"/>
              <a:t>줄 까지 노출 이후</a:t>
            </a:r>
            <a:r>
              <a:rPr lang="en-US" altLang="ko-KR" sz="700" dirty="0" smtClean="0"/>
              <a:t>(…) </a:t>
            </a:r>
            <a:r>
              <a:rPr lang="ko-KR" altLang="en-US" sz="700" dirty="0" err="1" smtClean="0"/>
              <a:t>말줄임</a:t>
            </a:r>
            <a:r>
              <a:rPr lang="ko-KR" altLang="en-US" sz="700" dirty="0" smtClean="0"/>
              <a:t> 표시</a:t>
            </a:r>
            <a:r>
              <a:rPr lang="en-US" altLang="ko-KR" sz="700" dirty="0"/>
              <a:t/>
            </a:r>
            <a:br>
              <a:rPr lang="en-US" altLang="ko-KR" sz="700" dirty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대금청구상세 페이지로 이동 </a:t>
            </a:r>
            <a:endParaRPr lang="en-US" altLang="ko-KR" sz="7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700" dirty="0" err="1" smtClean="0"/>
              <a:t>더보기</a:t>
            </a:r>
            <a:r>
              <a:rPr lang="ko-KR" altLang="en-US" sz="700" dirty="0" smtClean="0"/>
              <a:t> 기능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- 3</a:t>
            </a:r>
            <a:r>
              <a:rPr lang="ko-KR" altLang="en-US" sz="700" dirty="0" err="1" smtClean="0"/>
              <a:t>번항목</a:t>
            </a:r>
            <a:r>
              <a:rPr lang="ko-KR" altLang="en-US" sz="700" dirty="0" smtClean="0"/>
              <a:t> 표시 개수 영역에서 선택한 개수로 증가</a:t>
            </a:r>
            <a:r>
              <a:rPr lang="en-US" altLang="ko-KR" sz="700" dirty="0" smtClean="0"/>
              <a:t>.</a:t>
            </a:r>
            <a:br>
              <a:rPr lang="en-US" altLang="ko-KR" sz="700" dirty="0" smtClean="0"/>
            </a:br>
            <a:r>
              <a:rPr lang="ko-KR" altLang="en-US" sz="700" dirty="0" smtClean="0"/>
              <a:t>예</a:t>
            </a:r>
            <a:r>
              <a:rPr lang="en-US" altLang="ko-KR" sz="700" dirty="0" smtClean="0"/>
              <a:t>) 10</a:t>
            </a:r>
            <a:r>
              <a:rPr lang="ko-KR" altLang="en-US" sz="700" dirty="0" smtClean="0"/>
              <a:t>개 노출 이후 </a:t>
            </a:r>
            <a:r>
              <a:rPr lang="ko-KR" altLang="en-US" sz="700" dirty="0" err="1" smtClean="0"/>
              <a:t>더보기</a:t>
            </a:r>
            <a:r>
              <a:rPr lang="ko-KR" altLang="en-US" sz="700" dirty="0" smtClean="0"/>
              <a:t> 버튼 클릭으로 </a:t>
            </a:r>
            <a:r>
              <a:rPr lang="en-US" altLang="ko-KR" sz="700" dirty="0" smtClean="0"/>
              <a:t>10</a:t>
            </a:r>
            <a:r>
              <a:rPr lang="ko-KR" altLang="en-US" sz="700" dirty="0" smtClean="0"/>
              <a:t>개씩 추가 로드</a:t>
            </a:r>
            <a:endParaRPr lang="en-US" altLang="ko-KR" sz="7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700" dirty="0" smtClean="0"/>
              <a:t>대금청구관련 안내문을 호출한다</a:t>
            </a:r>
            <a:r>
              <a:rPr lang="en-US" altLang="ko-KR" sz="700" dirty="0" smtClean="0"/>
              <a:t>.</a:t>
            </a:r>
            <a:r>
              <a:rPr lang="en-US" altLang="ko-KR" dirty="0" smtClean="0">
                <a:latin typeface="+mn-ea"/>
              </a:rPr>
              <a:t> (</a:t>
            </a:r>
            <a:r>
              <a:rPr lang="en-US" altLang="ko-KR" sz="700" dirty="0" smtClean="0">
                <a:latin typeface="+mn-ea"/>
              </a:rPr>
              <a:t>MUI-WM-01-P09)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endParaRPr lang="en-US" altLang="ko-KR" sz="700" dirty="0"/>
          </a:p>
        </p:txBody>
      </p:sp>
      <p:sp>
        <p:nvSpPr>
          <p:cNvPr id="137" name="타원 13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52055" y="223388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38" name="타원 13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463636" y="223388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2-1</a:t>
            </a:r>
            <a:endParaRPr lang="ko-KR" altLang="en-US" sz="600" b="1" dirty="0"/>
          </a:p>
        </p:txBody>
      </p:sp>
      <p:sp>
        <p:nvSpPr>
          <p:cNvPr id="139" name="타원 13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2684573" y="222479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</a:p>
        </p:txBody>
      </p:sp>
      <p:sp>
        <p:nvSpPr>
          <p:cNvPr id="142" name="타원 14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06935" y="250441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2-2</a:t>
            </a:r>
            <a:endParaRPr lang="ko-KR" altLang="en-US" sz="600" b="1" dirty="0"/>
          </a:p>
        </p:txBody>
      </p:sp>
      <p:sp>
        <p:nvSpPr>
          <p:cNvPr id="156" name="타원 15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2650531" y="146183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6</a:t>
            </a:r>
            <a:endParaRPr lang="ko-KR" altLang="en-US" sz="900" b="1" dirty="0"/>
          </a:p>
        </p:txBody>
      </p:sp>
      <p:sp>
        <p:nvSpPr>
          <p:cNvPr id="159" name="타원 15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06935" y="350959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4-2</a:t>
            </a:r>
          </a:p>
        </p:txBody>
      </p:sp>
      <p:sp>
        <p:nvSpPr>
          <p:cNvPr id="171" name="타원 17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06935" y="374701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4-3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10036" y="1349367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표시 레이블</a:t>
            </a:r>
            <a:endParaRPr lang="ko-KR" altLang="en-US" sz="700" dirty="0">
              <a:latin typeface="+mn-ea"/>
            </a:endParaRPr>
          </a:p>
        </p:txBody>
      </p:sp>
      <p:graphicFrame>
        <p:nvGraphicFramePr>
          <p:cNvPr id="96" name="표 9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4918479"/>
              </p:ext>
            </p:extLst>
          </p:nvPr>
        </p:nvGraphicFramePr>
        <p:xfrm>
          <a:off x="3801286" y="1616448"/>
          <a:ext cx="3069778" cy="74168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34889">
                  <a:extLst>
                    <a:ext uri="{9D8B030D-6E8A-4147-A177-3AD203B41FA5}">
                      <a16:colId xmlns:a16="http://schemas.microsoft.com/office/drawing/2014/main" val="3115782702"/>
                    </a:ext>
                  </a:extLst>
                </a:gridCol>
                <a:gridCol w="1534889">
                  <a:extLst>
                    <a:ext uri="{9D8B030D-6E8A-4147-A177-3AD203B41FA5}">
                      <a16:colId xmlns:a16="http://schemas.microsoft.com/office/drawing/2014/main" val="3935822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항목명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표시 값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709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>
                          <a:latin typeface="+mn-ea"/>
                        </a:rPr>
                        <a:t>업무구분</a:t>
                      </a:r>
                      <a:r>
                        <a:rPr lang="ko-KR" altLang="en-US" sz="700" dirty="0" smtClean="0"/>
                        <a:t> 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en-US" altLang="ko-KR" sz="7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taskSecd</a:t>
                      </a:r>
                      <a:r>
                        <a:rPr lang="en-US" altLang="ko-KR" sz="700" dirty="0" smtClean="0"/>
                        <a:t>)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물품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smtClean="0"/>
                        <a:t>용역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smtClean="0"/>
                        <a:t>공사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0468422"/>
                  </a:ext>
                </a:extLst>
              </a:tr>
            </a:tbl>
          </a:graphicData>
        </a:graphic>
      </p:graphicFrame>
      <p:grpSp>
        <p:nvGrpSpPr>
          <p:cNvPr id="97" name="그룹 96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98" name="직사각형 97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2026-08-05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99" name="직사각형 98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레이블</a:t>
              </a:r>
              <a:r>
                <a:rPr lang="en-US" altLang="ko-KR" sz="700" dirty="0" smtClean="0"/>
                <a:t>(</a:t>
              </a:r>
              <a:r>
                <a:rPr lang="ko-KR" altLang="en-US" sz="700" dirty="0" err="1" smtClean="0"/>
                <a:t>뱃지</a:t>
              </a:r>
              <a:r>
                <a:rPr lang="en-US" altLang="ko-KR" sz="700" dirty="0" smtClean="0"/>
                <a:t>)</a:t>
              </a:r>
              <a:r>
                <a:rPr lang="ko-KR" altLang="en-US" sz="700" dirty="0" smtClean="0"/>
                <a:t> 설명 추가</a:t>
              </a:r>
              <a:r>
                <a:rPr lang="en-US" altLang="ko-KR" sz="700" dirty="0" smtClean="0"/>
                <a:t>,</a:t>
              </a:r>
              <a:r>
                <a:rPr lang="ko-KR" altLang="en-US" sz="700" dirty="0" smtClean="0"/>
                <a:t> 변경</a:t>
              </a:r>
              <a:endParaRPr lang="en-US" altLang="ko-KR" sz="700" dirty="0" smtClean="0"/>
            </a:p>
            <a:p>
              <a:pPr marL="228600" indent="-228600">
                <a:buAutoNum type="arabicPeriod"/>
              </a:pPr>
              <a:r>
                <a:rPr lang="ko-KR" altLang="en-US" sz="700" dirty="0" smtClean="0"/>
                <a:t>카드 목록 </a:t>
              </a:r>
              <a:r>
                <a:rPr lang="en-US" altLang="ko-KR" sz="700" dirty="0" smtClean="0"/>
                <a:t>–</a:t>
              </a:r>
              <a:r>
                <a:rPr lang="ko-KR" altLang="en-US" sz="700" dirty="0" smtClean="0"/>
                <a:t> </a:t>
              </a:r>
              <a:r>
                <a:rPr lang="ko-KR" altLang="en-US" sz="700" dirty="0" err="1" smtClean="0"/>
                <a:t>청구일자</a:t>
              </a:r>
              <a:r>
                <a:rPr lang="ko-KR" altLang="en-US" sz="700" dirty="0" smtClean="0"/>
                <a:t> 추가</a:t>
              </a:r>
              <a:endParaRPr lang="ko-KR" altLang="en-US" sz="700" dirty="0"/>
            </a:p>
          </p:txBody>
        </p:sp>
      </p:grpSp>
    </p:spTree>
    <p:extLst>
      <p:ext uri="{BB962C8B-B14F-4D97-AF65-F5344CB8AC3E}">
        <p14:creationId xmlns:p14="http://schemas.microsoft.com/office/powerpoint/2010/main" val="327559358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84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1E579C-7AF3-7BFE-7013-093144AFB794}"/>
              </a:ext>
            </a:extLst>
          </p:cNvPr>
          <p:cNvSpPr txBox="1"/>
          <p:nvPr/>
        </p:nvSpPr>
        <p:spPr>
          <a:xfrm>
            <a:off x="458117" y="803113"/>
            <a:ext cx="319214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대금지불정보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반납</a:t>
            </a:r>
            <a:r>
              <a:rPr lang="en-US" altLang="ko-KR" sz="900" b="1" dirty="0">
                <a:solidFill>
                  <a:prstClr val="black"/>
                </a:solidFill>
              </a:rPr>
              <a:t>)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dmt_pymtDfryInfoSrch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9C383C-55E0-D07A-4E04-846216D6522D}"/>
              </a:ext>
            </a:extLst>
          </p:cNvPr>
          <p:cNvSpPr txBox="1"/>
          <p:nvPr/>
        </p:nvSpPr>
        <p:spPr>
          <a:xfrm>
            <a:off x="458117" y="2157281"/>
            <a:ext cx="3456643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대금지불정보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반납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r>
              <a:rPr lang="ko-KR" altLang="en-US" sz="900" b="1" dirty="0">
                <a:solidFill>
                  <a:prstClr val="black"/>
                </a:solidFill>
              </a:rPr>
              <a:t>목록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dlt_pymtDfryInfoList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76A37DB3-05EE-95CD-48CB-E4E9ABDEE5BE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1091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ctrtBgngYmd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ctrtEndYmd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계약일자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</a:p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-mm-dd(From-To)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계약번호검색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공통팝업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4773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</a:rPr>
                        <a:t>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taskSeCd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업무구분을 선택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F5D46A5E-37F4-8517-D03E-37CE77A215D9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2441035"/>
          <a:ext cx="8994883" cy="19392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40355524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조회결과 자료 순번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N/A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rownum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taskSeCd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996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birqNo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83255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0316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차수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ctrtCycl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차수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2881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23475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19156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수령금액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trgtAmt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수령금액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반납금액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rtnAmt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반납금액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8E50FD7A-00F1-4BD9-507D-2C54F12D04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682DD0-1779-5E39-E529-9DDFC164E65F}"/>
              </a:ext>
            </a:extLst>
          </p:cNvPr>
          <p:cNvSpPr txBox="1"/>
          <p:nvPr/>
        </p:nvSpPr>
        <p:spPr>
          <a:xfrm>
            <a:off x="458117" y="4465696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2. </a:t>
            </a:r>
            <a:r>
              <a:rPr lang="ko-KR" altLang="en-US" sz="1000" b="1" dirty="0">
                <a:solidFill>
                  <a:prstClr val="black"/>
                </a:solidFill>
              </a:rPr>
              <a:t>이벤트 설명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C1C11CE2-7F70-9E45-8C39-23589E2A9923}"/>
              </a:ext>
            </a:extLst>
          </p:cNvPr>
          <p:cNvGraphicFramePr>
            <a:graphicFrameLocks noGrp="1"/>
          </p:cNvGraphicFramePr>
          <p:nvPr/>
        </p:nvGraphicFramePr>
        <p:xfrm>
          <a:off x="453000" y="4769516"/>
          <a:ext cx="8995591" cy="703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3103963203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공통코드를 조회한다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검색 클릭 이벤트</a:t>
                      </a:r>
                      <a:endParaRPr lang="en-US" altLang="ko-KR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scwin.btn_srch_onclick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대금지불정보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반납</a:t>
                      </a:r>
                      <a:r>
                        <a:rPr lang="en-US" altLang="ko-KR" sz="800" dirty="0"/>
                        <a:t>) </a:t>
                      </a:r>
                      <a:r>
                        <a:rPr lang="ko-KR" altLang="en-US" sz="800" dirty="0"/>
                        <a:t>목록을 조회한다</a:t>
                      </a:r>
                      <a:r>
                        <a:rPr lang="en-US" altLang="ko-KR" sz="800" dirty="0"/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11830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15424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15473</TotalTime>
  <Words>10902</Words>
  <Application>Microsoft Office PowerPoint</Application>
  <PresentationFormat>A4 용지(210x297mm)</PresentationFormat>
  <Paragraphs>5238</Paragraphs>
  <Slides>85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85</vt:i4>
      </vt:variant>
    </vt:vector>
  </HeadingPairs>
  <TitlesOfParts>
    <vt:vector size="93" baseType="lpstr">
      <vt:lpstr>HG꼬딕씨_Pro 40g</vt:lpstr>
      <vt:lpstr>Pretendard Medium</vt:lpstr>
      <vt:lpstr>맑은 고딕</vt:lpstr>
      <vt:lpstr>Arial</vt:lpstr>
      <vt:lpstr>Times New Roman</vt:lpstr>
      <vt:lpstr>Verdana</vt:lpstr>
      <vt:lpstr>Wingdings</vt:lpstr>
      <vt:lpstr>Office 테마</vt:lpstr>
      <vt:lpstr>사용자인터페이스 설계서 - 모바일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LIG SYSTEM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표준서식-PPTX-A4-Landscape</dc:title>
  <dc:subject>프로젝트 명</dc:subject>
  <dc:creator>LIG SYSTEM</dc:creator>
  <cp:keywords>표준서식-PPTX-A4-Landscape</cp:keywords>
  <cp:lastModifiedBy>User</cp:lastModifiedBy>
  <cp:revision>907</cp:revision>
  <cp:lastPrinted>2016-10-27T08:57:39Z</cp:lastPrinted>
  <dcterms:created xsi:type="dcterms:W3CDTF">2016-10-27T07:41:55Z</dcterms:created>
  <dcterms:modified xsi:type="dcterms:W3CDTF">2026-08-05T07:30:30Z</dcterms:modified>
  <cp:category>서브시스템/업무명</cp:category>
  <cp:contentStatus>0.1</cp:contentStatus>
</cp:coreProperties>
</file>